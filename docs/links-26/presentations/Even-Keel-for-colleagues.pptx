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Say straight away this is a proposal, not a decision. The aim tonight is to answer the questions people actually ask about a new link: will I work more, will my shifts be longer, will I know the times, what happens to my weekends and my leave. Every number in these slides comes from the rota calculations and has been independently checked; the slides themselves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pitch on one slide. Same 35-hour week as now. Never more than five days in a row in the fixed duties, six if a cover week falls badly. Seven full weekends off in every 26 weeks, against four in 20 today, and never more than five weeks apart — though each person works about two more Saturdays a year. 18 of the 21 working weeks keep one shift time Monday to Friday. Eight of the fifteen shift times are ones people already work. And every closing shift is shorter: the weekday and Saturday closers by 30 minutes, the Sunday closer by 45. Say the leave cost here too, before anyone asks: four full weeks off, Sunday to Saturday, takes 15 days’ leave rather than 14, and the best 14-day stretch is 28 days off rather than 30; the average is the same and the worst a day better. A cover week is one of the five weeks in 26 with no fixed shifts: its four duties are placed later to cover leave and sickness; the fixed rota is the other 21 weeks, whose shifts are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change is coming whatever we do: the December 2026 timetable and the new staffing levels mean the link has to be redrawn. The question is which version we want. The staffing levels and the Sunday cover were confirmed verbally on 29 September 2026, and the 26-person link, its five cover weeks and a ceiling of 219 contracted days a year on 1 October 2026: nine rules the proposal is scored on. Fourteen on a Saturday is one of three flexible aims, worked towards but not scored.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Monday to Saturday, counting a cover week as four days worked, the same way the clerks do. Sundays are overtime by agreement, so they are not in these figures — today or in Even Keel. Exactly, Even Keel works out at 218.6 days a year: just under today’s 219, which is also the most the 26-week link is allowed (agreed 1 October 2026). The average shift is about two minutes longer, which is on slide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Basic pay follows the 35-hour week, which does not change; overtime and premium duties vary person to person. The Saturday and Sunday counts are the link’s fixed duties and leave out anything later given in a cover week. Saturdays in the contract are paid at time and a quarter, and on average a person is rostered about 28 a year instead of 26. Sundays stay overtime: 10 a week shared among 26 people instead of 8 among 20, so about the same each (20 a year, against 21). These are averages across the whole link — your own depends on which line you start on — and they are not a payslip; the Pay Calculator in the app does that. The yearly figures are averages from the fixed rota; a cover week’s duties are not known yet and are left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closers: they are the shifts people dislike most, and every one of them is shorter. Weekday 15:45 to 23:55 instead of 15:15 (8h 10m, not 8h 40m); Saturday 15:15 instead of 14:45 (8h 40m, not 9h 10m); Sunday 15:15 to 23:25 instead of 14:30 (8h 10m, not 8h 55m). Be upfront about the two minutes on the average: the 26-week link may have no more than 219 contracted days a year, so the same 35 hours go into slightly fewer, slightly longer shifts. Nothing runs over 9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 about this one. About five more a year each finish at 23:00 or later. Three of those come from the December rules — three on duty to the close every day, where today’s weekdays have two — and two from Even Keel’s Saturday, which has four to the close rather than three. Finishes at 22:00 or later go up more, from 78 to 94 a year: the rules also want five still on duty after 22:00, and two weekday lates finish at 22:30 with the ticket office. Early 06:20 starts hardly change. And because the shortest gap between two shifts is 14h 35m, nobody finishes late and starts early the next morning. The yearly figures are averages from the fixed rota; a cover week’s duties are not known yet and are left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Even Keel uses fifteen shift times, fewer than today’s eighteen, and eight of them are worked today. Several of the new times are shorter versions of today’s lates: the weekday and Sunday closers start later, and the Sunday office late finishes earlier. The full list is on the slide. The other new ones are a weekday late finishing with the ticket office, two Saturday earlies and a Sunday 09:00 start. The Sunday opener stays today’s 07:15–15:45.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full weekend is Saturday and the following Sunday both off. Today that is 4 weekends in a 20-week cycle; Even Keel gives 7 in 26, and they are never more than five weeks apart, against seven today. Five is as close as they can be: a full weekend cannot start in a cover week or the week before one, so only 16 of the 26 weeks can begin one. 18 of the 21 working weeks keep the same shift time Monday to Friday — today it is seven weeks in 16 — and only one week mixes earlies and lates. Rest days mostly come in pairs: 22 of the 26 rest-day breaks are two days or more, against 13 of 17 today, and single rest days stay at four, as today. Never more than five days in a row in the fixed duties; six at most if a cover week’s four duties fall badly.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strip left to right; week 27 is week 1 again. A cover week has no fixed shifts of its own — its four duties are placed later to cover leave and sickness, which is why it is drawn empty. Earlies here means a start before 11:00. A weekday has 7 earlies and 8 lates; a Saturday 7 and 7; a Sunday 5 and 5. Sundays stay overtime, 20 a year each (today 21), and still finish at 23:25. Who starts on which week is decided after the link is chosen. A block is weeks in a row all on earlies or all on lates. On the fixed rota the longest is 5 weeks (today 2); because a cover week’s duties are placed later, a block can run to 12 if the cover weeks beside it are given the same kind (today 3). Fewer switches between earlies and lates, but someone who prefers one kind waits longer for it to come 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is only needed on working days Monday to Saturday; rest days and Sundays cost nothing. Today there is one unusual stretch of the roster where 14 days buys 30 days off — Even Keel spreads rest days more evenly, so its best is 28. On average it is the same, 23.4 days, and at its worst it is a day better than today. Four full weeks off (Sunday to Saturday) takes at least 15 days of leave, instead of 14 at best today. Say the four-weeks figure plainly: all four shortlisted links are worse than today here (Long Break, the leave-first design in the pack, keeps the 14), and people plan a year around it. The averages depend on where you count a booking as starting, so quote those as “about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Office of Rail and Road and the rail industry publish lists of rota patterns that tend to tire people. Today’s link shows four of them in the fixed rota (up to five where a cover week falls badly); Even Keel shows none. Two more — early starts and a weekly rotation — come with every weekly link at a 06:20 station, so they are listed on the sheet for information but not counted against any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the downsides out loud is what makes the rest believable. None of these is hidden on the full proposal sheet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to leave on screen during questions. Every figure is on the earlier slides and on the full proposal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or point people at the eight-page proposal sheet. Collect questions — the ones nobody asks in the room are usually about a particular week, so encourage people to look up the line they would start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 Id="rIdStrip" Type="http://schemas.openxmlformats.org/officeDocument/2006/relationships/image" Target="../media/rota-strip.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Even Keel</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Our December 2026 link — what changes for you, in plain English</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A proposal for discussion · CEA link · 26 weeks · code EK-26-H1</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Five things to take away if you remember nothing else</a:t>
            </a:r>
            <a:endParaRPr lang="en-US" sz="1500" dirty="0"/>
          </a:p>
        </p:txBody>
      </p:sp>
      <p:sp>
        <p:nvSpPr>
          <p:cNvPr id="4" name="Shape 2"/>
          <p:cNvSpPr/>
          <p:nvPr/>
        </p:nvSpPr>
        <p:spPr>
          <a:xfrm>
            <a:off x="457200" y="1463040"/>
            <a:ext cx="1536192" cy="2377440"/>
          </a:xfrm>
          <a:prstGeom prst="roundRect">
            <a:avLst>
              <a:gd name="adj" fmla="val 7143"/>
            </a:avLst>
          </a:prstGeom>
          <a:solidFill>
            <a:srgbClr val="EEF2F7"/>
          </a:solidFill>
          <a:ln w="12700">
            <a:solidFill>
              <a:srgbClr val="EEF2F7"/>
            </a:solidFill>
            <a:prstDash val="solid"/>
          </a:ln>
        </p:spPr>
      </p:sp>
      <p:sp>
        <p:nvSpPr>
          <p:cNvPr id="5" name="Text 3"/>
          <p:cNvSpPr txBox="1"/>
          <p:nvPr/>
        </p:nvSpPr>
        <p:spPr>
          <a:xfrm>
            <a:off x="457200"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35h</a:t>
            </a:r>
            <a:endParaRPr lang="en-US" sz="3000" dirty="0"/>
          </a:p>
        </p:txBody>
      </p:sp>
      <p:sp>
        <p:nvSpPr>
          <p:cNvPr id="6" name="Text 4"/>
          <p:cNvSpPr txBox="1"/>
          <p:nvPr/>
        </p:nvSpPr>
        <p:spPr>
          <a:xfrm>
            <a:off x="512064"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the contracted</a:t>
            </a:r>
            <a:br/>
            <a:r>
              <a:rPr lang="en-US" sz="1400" b="1" dirty="0">
                <a:solidFill>
                  <a:srgbClr val="1B2533"/>
                </a:solidFill>
                <a:latin typeface="Inter" pitchFamily="34" charset="0"/>
                <a:ea typeface="Inter" pitchFamily="34" charset="-122"/>
                <a:cs typeface="Inter" pitchFamily="34" charset="-120"/>
              </a:rPr>
              <a:t>week, as now</a:t>
            </a:r>
            <a:endParaRPr lang="en-US" sz="1400" dirty="0"/>
          </a:p>
        </p:txBody>
      </p:sp>
      <p:sp>
        <p:nvSpPr>
          <p:cNvPr id="7" name="Text 5"/>
          <p:cNvSpPr txBox="1"/>
          <p:nvPr/>
        </p:nvSpPr>
        <p:spPr>
          <a:xfrm>
            <a:off x="512064"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no extra hours</a:t>
            </a:r>
            <a:endParaRPr lang="en-US" sz="1200" dirty="0"/>
          </a:p>
        </p:txBody>
      </p:sp>
      <p:sp>
        <p:nvSpPr>
          <p:cNvPr id="8" name="Shape 6"/>
          <p:cNvSpPr/>
          <p:nvPr/>
        </p:nvSpPr>
        <p:spPr>
          <a:xfrm>
            <a:off x="2130552" y="1463040"/>
            <a:ext cx="1536192" cy="2377440"/>
          </a:xfrm>
          <a:prstGeom prst="roundRect">
            <a:avLst>
              <a:gd name="adj" fmla="val 7143"/>
            </a:avLst>
          </a:prstGeom>
          <a:solidFill>
            <a:srgbClr val="EEF2F7"/>
          </a:solidFill>
          <a:ln w="12700">
            <a:solidFill>
              <a:srgbClr val="EEF2F7"/>
            </a:solidFill>
            <a:prstDash val="solid"/>
          </a:ln>
        </p:spPr>
      </p:sp>
      <p:sp>
        <p:nvSpPr>
          <p:cNvPr id="9" name="Text 7"/>
          <p:cNvSpPr txBox="1"/>
          <p:nvPr/>
        </p:nvSpPr>
        <p:spPr>
          <a:xfrm>
            <a:off x="2130552"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5</a:t>
            </a:r>
            <a:endParaRPr lang="en-US" sz="3000" dirty="0"/>
          </a:p>
        </p:txBody>
      </p:sp>
      <p:sp>
        <p:nvSpPr>
          <p:cNvPr id="10" name="Text 8"/>
          <p:cNvSpPr txBox="1"/>
          <p:nvPr/>
        </p:nvSpPr>
        <p:spPr>
          <a:xfrm>
            <a:off x="2185416"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most days</a:t>
            </a:r>
            <a:br/>
            <a:r>
              <a:rPr lang="en-US" sz="1400" b="1" dirty="0">
                <a:solidFill>
                  <a:srgbClr val="1B2533"/>
                </a:solidFill>
                <a:latin typeface="Inter" pitchFamily="34" charset="0"/>
                <a:ea typeface="Inter" pitchFamily="34" charset="-122"/>
                <a:cs typeface="Inter" pitchFamily="34" charset="-120"/>
              </a:rPr>
              <a:t>in a row</a:t>
            </a:r>
            <a:endParaRPr lang="en-US" sz="1400" dirty="0"/>
          </a:p>
        </p:txBody>
      </p:sp>
      <p:sp>
        <p:nvSpPr>
          <p:cNvPr id="11" name="Text 9"/>
          <p:cNvSpPr txBox="1"/>
          <p:nvPr/>
        </p:nvSpPr>
        <p:spPr>
          <a:xfrm>
            <a:off x="2185416"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up to 6 · today 7</a:t>
            </a:r>
            <a:endParaRPr lang="en-US" sz="1200" dirty="0"/>
          </a:p>
        </p:txBody>
      </p:sp>
      <p:sp>
        <p:nvSpPr>
          <p:cNvPr id="12" name="Shape 10"/>
          <p:cNvSpPr/>
          <p:nvPr/>
        </p:nvSpPr>
        <p:spPr>
          <a:xfrm>
            <a:off x="3803904" y="1463040"/>
            <a:ext cx="1536192" cy="2377440"/>
          </a:xfrm>
          <a:prstGeom prst="roundRect">
            <a:avLst>
              <a:gd name="adj" fmla="val 7143"/>
            </a:avLst>
          </a:prstGeom>
          <a:solidFill>
            <a:srgbClr val="EEF2F7"/>
          </a:solidFill>
          <a:ln w="12700">
            <a:solidFill>
              <a:srgbClr val="EEF2F7"/>
            </a:solidFill>
            <a:prstDash val="solid"/>
          </a:ln>
        </p:spPr>
      </p:sp>
      <p:sp>
        <p:nvSpPr>
          <p:cNvPr id="13" name="Text 11"/>
          <p:cNvSpPr txBox="1"/>
          <p:nvPr/>
        </p:nvSpPr>
        <p:spPr>
          <a:xfrm>
            <a:off x="3803904"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14</a:t>
            </a:r>
            <a:endParaRPr lang="en-US" sz="3000" dirty="0"/>
          </a:p>
        </p:txBody>
      </p:sp>
      <p:sp>
        <p:nvSpPr>
          <p:cNvPr id="14" name="Text 12"/>
          <p:cNvSpPr txBox="1"/>
          <p:nvPr/>
        </p:nvSpPr>
        <p:spPr>
          <a:xfrm>
            <a:off x="3858768"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full weekends</a:t>
            </a:r>
            <a:br/>
            <a:r>
              <a:rPr lang="en-US" sz="1400" b="1" dirty="0">
                <a:solidFill>
                  <a:srgbClr val="1B2533"/>
                </a:solidFill>
                <a:latin typeface="Inter" pitchFamily="34" charset="0"/>
                <a:ea typeface="Inter" pitchFamily="34" charset="-122"/>
                <a:cs typeface="Inter" pitchFamily="34" charset="-120"/>
              </a:rPr>
              <a:t>off a year</a:t>
            </a:r>
            <a:endParaRPr lang="en-US" sz="1400" dirty="0"/>
          </a:p>
        </p:txBody>
      </p:sp>
      <p:sp>
        <p:nvSpPr>
          <p:cNvPr id="15" name="Text 13"/>
          <p:cNvSpPr txBox="1"/>
          <p:nvPr/>
        </p:nvSpPr>
        <p:spPr>
          <a:xfrm>
            <a:off x="3858768"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10 · 7 in 26</a:t>
            </a:r>
            <a:endParaRPr lang="en-US" sz="1200" dirty="0"/>
          </a:p>
        </p:txBody>
      </p:sp>
      <p:sp>
        <p:nvSpPr>
          <p:cNvPr id="16" name="Shape 14"/>
          <p:cNvSpPr/>
          <p:nvPr/>
        </p:nvSpPr>
        <p:spPr>
          <a:xfrm>
            <a:off x="5477256" y="1463040"/>
            <a:ext cx="1536192" cy="2377440"/>
          </a:xfrm>
          <a:prstGeom prst="roundRect">
            <a:avLst>
              <a:gd name="adj" fmla="val 7143"/>
            </a:avLst>
          </a:prstGeom>
          <a:solidFill>
            <a:srgbClr val="EEF2F7"/>
          </a:solidFill>
          <a:ln w="12700">
            <a:solidFill>
              <a:srgbClr val="EEF2F7"/>
            </a:solidFill>
            <a:prstDash val="solid"/>
          </a:ln>
        </p:spPr>
      </p:sp>
      <p:sp>
        <p:nvSpPr>
          <p:cNvPr id="17" name="Text 15"/>
          <p:cNvSpPr txBox="1"/>
          <p:nvPr/>
        </p:nvSpPr>
        <p:spPr>
          <a:xfrm>
            <a:off x="5477256"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8 of 15</a:t>
            </a:r>
            <a:endParaRPr lang="en-US" sz="3000" dirty="0"/>
          </a:p>
        </p:txBody>
      </p:sp>
      <p:sp>
        <p:nvSpPr>
          <p:cNvPr id="18" name="Text 16"/>
          <p:cNvSpPr txBox="1"/>
          <p:nvPr/>
        </p:nvSpPr>
        <p:spPr>
          <a:xfrm>
            <a:off x="5532120"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shift times you</a:t>
            </a:r>
            <a:br/>
            <a:r>
              <a:rPr lang="en-US" sz="1400" b="1" dirty="0">
                <a:solidFill>
                  <a:srgbClr val="1B2533"/>
                </a:solidFill>
                <a:latin typeface="Inter" pitchFamily="34" charset="0"/>
                <a:ea typeface="Inter" pitchFamily="34" charset="-122"/>
                <a:cs typeface="Inter" pitchFamily="34" charset="-120"/>
              </a:rPr>
              <a:t>already work</a:t>
            </a:r>
            <a:endParaRPr lang="en-US" sz="1400" dirty="0"/>
          </a:p>
        </p:txBody>
      </p:sp>
      <p:sp>
        <p:nvSpPr>
          <p:cNvPr id="19" name="Text 17"/>
          <p:cNvSpPr txBox="1"/>
          <p:nvPr/>
        </p:nvSpPr>
        <p:spPr>
          <a:xfrm>
            <a:off x="5532120"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7 new ones</a:t>
            </a:r>
            <a:endParaRPr lang="en-US" sz="1200" dirty="0"/>
          </a:p>
        </p:txBody>
      </p:sp>
      <p:sp>
        <p:nvSpPr>
          <p:cNvPr id="20" name="Shape 18"/>
          <p:cNvSpPr/>
          <p:nvPr/>
        </p:nvSpPr>
        <p:spPr>
          <a:xfrm>
            <a:off x="7150608" y="1463040"/>
            <a:ext cx="1536192" cy="2377440"/>
          </a:xfrm>
          <a:prstGeom prst="roundRect">
            <a:avLst>
              <a:gd name="adj" fmla="val 7143"/>
            </a:avLst>
          </a:prstGeom>
          <a:solidFill>
            <a:srgbClr val="EEF2F7"/>
          </a:solidFill>
          <a:ln w="12700">
            <a:solidFill>
              <a:srgbClr val="EEF2F7"/>
            </a:solidFill>
            <a:prstDash val="solid"/>
          </a:ln>
        </p:spPr>
      </p:sp>
      <p:sp>
        <p:nvSpPr>
          <p:cNvPr id="21" name="Text 19"/>
          <p:cNvSpPr txBox="1"/>
          <p:nvPr/>
        </p:nvSpPr>
        <p:spPr>
          <a:xfrm>
            <a:off x="7150608"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30 min</a:t>
            </a:r>
            <a:endParaRPr lang="en-US" sz="3000" dirty="0"/>
          </a:p>
        </p:txBody>
      </p:sp>
      <p:sp>
        <p:nvSpPr>
          <p:cNvPr id="22" name="Text 20"/>
          <p:cNvSpPr txBox="1"/>
          <p:nvPr/>
        </p:nvSpPr>
        <p:spPr>
          <a:xfrm>
            <a:off x="7205472"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off every</a:t>
            </a:r>
            <a:br/>
            <a:r>
              <a:rPr lang="en-US" sz="1400" b="1" dirty="0">
                <a:solidFill>
                  <a:srgbClr val="1B2533"/>
                </a:solidFill>
                <a:latin typeface="Inter" pitchFamily="34" charset="0"/>
                <a:ea typeface="Inter" pitchFamily="34" charset="-122"/>
                <a:cs typeface="Inter" pitchFamily="34" charset="-120"/>
              </a:rPr>
              <a:t>closing shift</a:t>
            </a:r>
            <a:endParaRPr lang="en-US" sz="1400" dirty="0"/>
          </a:p>
        </p:txBody>
      </p:sp>
      <p:sp>
        <p:nvSpPr>
          <p:cNvPr id="23" name="Text 21"/>
          <p:cNvSpPr txBox="1"/>
          <p:nvPr/>
        </p:nvSpPr>
        <p:spPr>
          <a:xfrm>
            <a:off x="7205472"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Sundays: 45 min</a:t>
            </a:r>
            <a:endParaRPr lang="en-US" sz="1200" dirty="0"/>
          </a:p>
        </p:txBody>
      </p:sp>
      <p:sp>
        <p:nvSpPr>
          <p:cNvPr id="24" name="Shape 2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5" name="Text 2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shorter closers, weekends off never more than five weeks apart, and one shift time most weeks.</a:t>
            </a:r>
            <a:endParaRPr lang="en-US" sz="1400" dirty="0"/>
          </a:p>
        </p:txBody>
      </p:sp>
      <p:sp>
        <p:nvSpPr>
          <p:cNvPr id="26" name="Text 2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the link has to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Nobody is changing it for the sake of it</a:t>
            </a:r>
            <a:endParaRPr lang="en-US" sz="1500" dirty="0"/>
          </a:p>
        </p:txBody>
      </p:sp>
      <p:sp>
        <p:nvSpPr>
          <p:cNvPr id="4" name="Shape 2"/>
          <p:cNvSpPr/>
          <p:nvPr/>
        </p:nvSpPr>
        <p:spPr>
          <a:xfrm>
            <a:off x="457200" y="1371600"/>
            <a:ext cx="457200" cy="457200"/>
          </a:xfrm>
          <a:prstGeom prst="ellipse">
            <a:avLst/>
          </a:prstGeom>
          <a:solidFill>
            <a:srgbClr val="F5C800"/>
          </a:solidFill>
          <a:ln w="12700">
            <a:solidFill>
              <a:srgbClr val="F5C800"/>
            </a:solidFill>
            <a:prstDash val="solid"/>
          </a:ln>
        </p:spPr>
      </p:sp>
      <p:pic>
        <p:nvPicPr>
          <p:cNvPr id="5" name="Image 0" descr="preencoded.png">    </p:cNvPr>
          <p:cNvPicPr>
            <a:picLocks noChangeAspect="1"/>
          </p:cNvPicPr>
          <p:nvPr/>
        </p:nvPicPr>
        <p:blipFill>
          <a:blip r:embed="rId1"/>
          <a:stretch>
            <a:fillRect/>
          </a:stretch>
        </p:blipFill>
        <p:spPr>
          <a:xfrm>
            <a:off x="557784" y="1472184"/>
            <a:ext cx="256032" cy="256032"/>
          </a:xfrm>
          <a:prstGeom prst="rect">
            <a:avLst/>
          </a:prstGeom>
        </p:spPr>
      </p:pic>
      <p:sp>
        <p:nvSpPr>
          <p:cNvPr id="6" name="Text 3"/>
          <p:cNvSpPr txBox="1"/>
          <p:nvPr/>
        </p:nvSpPr>
        <p:spPr>
          <a:xfrm>
            <a:off x="1097280" y="13350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 new timetable in December 2026</a:t>
            </a:r>
            <a:endParaRPr lang="en-US" sz="1600" dirty="0"/>
          </a:p>
        </p:txBody>
      </p:sp>
      <p:sp>
        <p:nvSpPr>
          <p:cNvPr id="7" name="Text 4"/>
          <p:cNvSpPr txBox="1"/>
          <p:nvPr/>
        </p:nvSpPr>
        <p:spPr>
          <a:xfrm>
            <a:off x="1097280" y="16184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More trains, at new times — the link has to follow them.</a:t>
            </a:r>
            <a:endParaRPr lang="en-US" sz="1300" dirty="0"/>
          </a:p>
        </p:txBody>
      </p:sp>
      <p:sp>
        <p:nvSpPr>
          <p:cNvPr id="8" name="Shape 5"/>
          <p:cNvSpPr/>
          <p:nvPr/>
        </p:nvSpPr>
        <p:spPr>
          <a:xfrm>
            <a:off x="457200" y="2084832"/>
            <a:ext cx="457200" cy="457200"/>
          </a:xfrm>
          <a:prstGeom prst="ellipse">
            <a:avLst/>
          </a:prstGeom>
          <a:solidFill>
            <a:srgbClr val="F5C800"/>
          </a:solidFill>
          <a:ln w="12700">
            <a:solidFill>
              <a:srgbClr val="F5C800"/>
            </a:solidFill>
            <a:prstDash val="solid"/>
          </a:ln>
        </p:spPr>
      </p:sp>
      <p:pic>
        <p:nvPicPr>
          <p:cNvPr id="9" name="Image 1" descr="preencoded.png">    </p:cNvPr>
          <p:cNvPicPr>
            <a:picLocks noChangeAspect="1"/>
          </p:cNvPicPr>
          <p:nvPr/>
        </p:nvPicPr>
        <p:blipFill>
          <a:blip r:embed="rId2"/>
          <a:stretch>
            <a:fillRect/>
          </a:stretch>
        </p:blipFill>
        <p:spPr>
          <a:xfrm>
            <a:off x="557784" y="2185416"/>
            <a:ext cx="256032" cy="256032"/>
          </a:xfrm>
          <a:prstGeom prst="rect">
            <a:avLst/>
          </a:prstGeom>
        </p:spPr>
      </p:pic>
      <p:sp>
        <p:nvSpPr>
          <p:cNvPr id="10" name="Text 6"/>
          <p:cNvSpPr txBox="1"/>
          <p:nvPr/>
        </p:nvSpPr>
        <p:spPr>
          <a:xfrm>
            <a:off x="1097280" y="2048256"/>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More of us on the link</a:t>
            </a:r>
            <a:endParaRPr lang="en-US" sz="1600" dirty="0"/>
          </a:p>
        </p:txBody>
      </p:sp>
      <p:sp>
        <p:nvSpPr>
          <p:cNvPr id="11" name="Text 7"/>
          <p:cNvSpPr txBox="1"/>
          <p:nvPr/>
        </p:nvSpPr>
        <p:spPr>
          <a:xfrm>
            <a:off x="1097280" y="2331720"/>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It grows from 20 weeks to 26, so six more colleagues join it.</a:t>
            </a:r>
            <a:endParaRPr lang="en-US" sz="1300" dirty="0"/>
          </a:p>
        </p:txBody>
      </p:sp>
      <p:sp>
        <p:nvSpPr>
          <p:cNvPr id="12" name="Shape 8"/>
          <p:cNvSpPr/>
          <p:nvPr/>
        </p:nvSpPr>
        <p:spPr>
          <a:xfrm>
            <a:off x="457200" y="2798064"/>
            <a:ext cx="457200" cy="457200"/>
          </a:xfrm>
          <a:prstGeom prst="ellipse">
            <a:avLst/>
          </a:prstGeom>
          <a:solidFill>
            <a:srgbClr val="F5C800"/>
          </a:solidFill>
          <a:ln w="12700">
            <a:solidFill>
              <a:srgbClr val="F5C800"/>
            </a:solidFill>
            <a:prstDash val="solid"/>
          </a:ln>
        </p:spPr>
      </p:sp>
      <p:pic>
        <p:nvPicPr>
          <p:cNvPr id="13" name="Image 2" descr="preencoded.png">    </p:cNvPr>
          <p:cNvPicPr>
            <a:picLocks noChangeAspect="1"/>
          </p:cNvPicPr>
          <p:nvPr/>
        </p:nvPicPr>
        <p:blipFill>
          <a:blip r:embed="rId3"/>
          <a:stretch>
            <a:fillRect/>
          </a:stretch>
        </p:blipFill>
        <p:spPr>
          <a:xfrm>
            <a:off x="557784" y="2898648"/>
            <a:ext cx="256032" cy="256032"/>
          </a:xfrm>
          <a:prstGeom prst="rect">
            <a:avLst/>
          </a:prstGeom>
        </p:spPr>
      </p:pic>
      <p:sp>
        <p:nvSpPr>
          <p:cNvPr id="14" name="Text 9"/>
          <p:cNvSpPr txBox="1"/>
          <p:nvPr/>
        </p:nvSpPr>
        <p:spPr>
          <a:xfrm>
            <a:off x="1097280" y="2761488"/>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New staffing levels</a:t>
            </a:r>
            <a:endParaRPr lang="en-US" sz="1600" dirty="0"/>
          </a:p>
        </p:txBody>
      </p:sp>
      <p:sp>
        <p:nvSpPr>
          <p:cNvPr id="15" name="Text 10"/>
          <p:cNvSpPr txBox="1"/>
          <p:nvPr/>
        </p:nvSpPr>
        <p:spPr>
          <a:xfrm>
            <a:off x="1097280" y="3044952"/>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At least 10 on a Sunday, and more at the open and the close. We also aim for 14 on a Saturday.</a:t>
            </a:r>
            <a:endParaRPr lang="en-US" sz="1300" dirty="0"/>
          </a:p>
        </p:txBody>
      </p:sp>
      <p:sp>
        <p:nvSpPr>
          <p:cNvPr id="16" name="Shape 11"/>
          <p:cNvSpPr/>
          <p:nvPr/>
        </p:nvSpPr>
        <p:spPr>
          <a:xfrm>
            <a:off x="457200" y="3511296"/>
            <a:ext cx="457200" cy="457200"/>
          </a:xfrm>
          <a:prstGeom prst="ellipse">
            <a:avLst/>
          </a:prstGeom>
          <a:solidFill>
            <a:srgbClr val="F5C800"/>
          </a:solidFill>
          <a:ln w="12700">
            <a:solidFill>
              <a:srgbClr val="F5C800"/>
            </a:solidFill>
            <a:prstDash val="solid"/>
          </a:ln>
        </p:spPr>
      </p:sp>
      <p:pic>
        <p:nvPicPr>
          <p:cNvPr id="17" name="Image 3" descr="preencoded.png">    </p:cNvPr>
          <p:cNvPicPr>
            <a:picLocks noChangeAspect="1"/>
          </p:cNvPicPr>
          <p:nvPr/>
        </p:nvPicPr>
        <p:blipFill>
          <a:blip r:embed="rId4"/>
          <a:stretch>
            <a:fillRect/>
          </a:stretch>
        </p:blipFill>
        <p:spPr>
          <a:xfrm>
            <a:off x="557784" y="3611880"/>
            <a:ext cx="256032" cy="256032"/>
          </a:xfrm>
          <a:prstGeom prst="rect">
            <a:avLst/>
          </a:prstGeom>
        </p:spPr>
      </p:pic>
      <p:sp>
        <p:nvSpPr>
          <p:cNvPr id="18" name="Text 12"/>
          <p:cNvSpPr txBox="1"/>
          <p:nvPr/>
        </p:nvSpPr>
        <p:spPr>
          <a:xfrm>
            <a:off x="1097280" y="3474720"/>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 ticket office in fixed pairs</a:t>
            </a:r>
            <a:endParaRPr lang="en-US" sz="1600" dirty="0"/>
          </a:p>
        </p:txBody>
      </p:sp>
      <p:sp>
        <p:nvSpPr>
          <p:cNvPr id="19" name="Text 13"/>
          <p:cNvSpPr txBox="1"/>
          <p:nvPr/>
        </p:nvSpPr>
        <p:spPr>
          <a:xfrm>
            <a:off x="1097280" y="3758184"/>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Two early and two late, on the same shifts, every day.</a:t>
            </a:r>
            <a:endParaRPr lang="en-US" sz="1300" dirty="0"/>
          </a:p>
        </p:txBody>
      </p:sp>
      <p:sp>
        <p:nvSpPr>
          <p:cNvPr id="21"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2"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The change is coming whatever we do — the question is which version we want.</a:t>
            </a:r>
          </a:p>
        </p:txBody>
      </p:sp>
      <p:sp>
        <p:nvSpPr>
          <p:cNvPr id="20" name="Text 1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work more?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first thing everyone asks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week</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4.20</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4.19</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year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219.0</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218.6</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on average and no more days; weeks run from 24h 30m to 41h 30m (today 25h 10m to 43h 50m), and two more of the days fall on a Saturday.</a:t>
            </a:r>
            <a:endParaRPr lang="en-US" sz="1400" dirty="0"/>
          </a:p>
        </p:txBody>
      </p:sp>
      <p:sp>
        <p:nvSpPr>
          <p:cNvPr id="20" name="Text 18"/>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basic pay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Basic pay follows your contracted hours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Saturdays a year, at time and a quarter</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26</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28</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overtime to share — each, a year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 plus about two more Saturdays at time and a quarter.</a:t>
            </a:r>
            <a:endParaRPr lang="en-US" sz="1400" dirty="0"/>
          </a:p>
        </p:txBody>
      </p:sp>
      <p:sp>
        <p:nvSpPr>
          <p:cNvPr id="21" name="Text 19"/>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shifts be longer?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Every closing shift gets shorter — the average goes up about two minutes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Weekday closer — starts 15:45, not 15:15</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40m</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 closer — starts 15:15, not 14:45</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40m</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closer — starts 15:15, not 14:30</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55m</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 anywhere</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Average shift</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14m</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8h 16m</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closing shift is 30 to 45 minutes shorter; the longest early turn goes from 8h 30m to 9h 00m, and nothing runs over 9 hours.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finish late more often?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5 more a year after 23:00 (44, today 39); 16 more at 22:00 or later (94, today 78)</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23:00 or later — each, a year</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39</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44</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22:00 or later — each, a year</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78</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94</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Starting at 06:20 — each, a year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62</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60</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35m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More people stay on after 22:00 under the December staffing; five more a year after 23:00, four to the Saturday close.</a:t>
            </a:r>
            <a:endParaRPr lang="en-US" sz="140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know the times?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15 shift times in all — 8 of them you already work</a:t>
            </a:r>
            <a:endParaRPr lang="en-US" sz="1500" dirty="0"/>
          </a:p>
        </p:txBody>
      </p:sp>
      <p:sp>
        <p:nvSpPr>
          <p:cNvPr id="4" name="Shape 2"/>
          <p:cNvSpPr/>
          <p:nvPr/>
        </p:nvSpPr>
        <p:spPr>
          <a:xfrm>
            <a:off x="457200" y="1371600"/>
            <a:ext cx="3291840" cy="2651760"/>
          </a:xfrm>
          <a:prstGeom prst="roundRect">
            <a:avLst>
              <a:gd name="adj" fmla="val 3448"/>
            </a:avLst>
          </a:prstGeom>
          <a:solidFill>
            <a:srgbClr val="EEF2F7"/>
          </a:solidFill>
          <a:ln w="12700">
            <a:solidFill>
              <a:srgbClr val="EEF2F7"/>
            </a:solidFill>
            <a:prstDash val="solid"/>
          </a:ln>
        </p:spPr>
      </p:sp>
      <p:sp>
        <p:nvSpPr>
          <p:cNvPr id="5" name="Shape 3"/>
          <p:cNvSpPr/>
          <p:nvPr/>
        </p:nvSpPr>
        <p:spPr>
          <a:xfrm>
            <a:off x="640080" y="1508760"/>
            <a:ext cx="411480" cy="41148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30606" y="1599286"/>
            <a:ext cx="230429" cy="230429"/>
          </a:xfrm>
          <a:prstGeom prst="rect">
            <a:avLst/>
          </a:prstGeom>
        </p:spPr>
      </p:pic>
      <p:sp>
        <p:nvSpPr>
          <p:cNvPr id="7" name="Text 4"/>
          <p:cNvSpPr txBox="1"/>
          <p:nvPr/>
        </p:nvSpPr>
        <p:spPr>
          <a:xfrm>
            <a:off x="1188720" y="1508760"/>
            <a:ext cx="2377440" cy="411480"/>
          </a:xfrm>
          <a:prstGeom prst="rect">
            <a:avLst/>
          </a:prstGeom>
          <a:noFill/>
          <a:ln/>
        </p:spPr>
        <p:txBody>
          <a:bodyPr wrap="square" lIns="0" tIns="0" rIns="0" bIns="0" rtlCol="0" anchor="ctr"/>
          <a:lstStyle/>
          <a:p>
            <a:pPr indent="0" marL="0">
              <a:buNone/>
            </a:pPr>
            <a:r>
              <a:rPr lang="en-US" sz="1500" b="1" dirty="0">
                <a:solidFill>
                  <a:srgbClr val="1E7B4B"/>
                </a:solidFill>
                <a:latin typeface="Inter" pitchFamily="34" charset="0"/>
                <a:ea typeface="Inter" pitchFamily="34" charset="-122"/>
                <a:cs typeface="Inter" pitchFamily="34" charset="-120"/>
              </a:rPr>
              <a:t>You work these today (8)</a:t>
            </a:r>
            <a:endParaRPr lang="en-US" sz="1500" dirty="0"/>
          </a:p>
        </p:txBody>
      </p:sp>
      <p:sp>
        <p:nvSpPr>
          <p:cNvPr id="8" name="Text 5"/>
          <p:cNvSpPr txBox="1"/>
          <p:nvPr/>
        </p:nvSpPr>
        <p:spPr>
          <a:xfrm>
            <a:off x="685800" y="2011680"/>
            <a:ext cx="2926080" cy="1965960"/>
          </a:xfrm>
          <a:prstGeom prst="rect">
            <a:avLst/>
          </a:prstGeom>
          <a:noFill/>
          <a:ln/>
        </p:spPr>
        <p:txBody>
          <a:bodyPr wrap="square" lIns="0" tIns="0" rIns="0" bIns="0" rtlCol="0" anchor="t"/>
          <a:lstStyle/>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06:20–14:00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06:20–14:20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06:20–14:50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07:15–15:45</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11:00–19:30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14:00–22:30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14:30–22:00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15:15–23:55</a:t>
            </a:r>
            <a:endParaRPr lang="en-US" sz="1050" dirty="0"/>
          </a:p>
        </p:txBody>
      </p:sp>
      <p:sp>
        <p:nvSpPr>
          <p:cNvPr id="9" name="Shape 6"/>
          <p:cNvSpPr/>
          <p:nvPr/>
        </p:nvSpPr>
        <p:spPr>
          <a:xfrm>
            <a:off x="3931920" y="1371600"/>
            <a:ext cx="4754880" cy="2651760"/>
          </a:xfrm>
          <a:prstGeom prst="roundRect">
            <a:avLst>
              <a:gd name="adj" fmla="val 3448"/>
            </a:avLst>
          </a:prstGeom>
          <a:solidFill>
            <a:srgbClr val="EEF2F7"/>
          </a:solidFill>
          <a:ln w="12700">
            <a:solidFill>
              <a:srgbClr val="EEF2F7"/>
            </a:solidFill>
            <a:prstDash val="solid"/>
          </a:ln>
        </p:spPr>
      </p:sp>
      <p:sp>
        <p:nvSpPr>
          <p:cNvPr id="10" name="Shape 7"/>
          <p:cNvSpPr/>
          <p:nvPr/>
        </p:nvSpPr>
        <p:spPr>
          <a:xfrm>
            <a:off x="4114800" y="1508760"/>
            <a:ext cx="411480" cy="41148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4205326" y="1599286"/>
            <a:ext cx="230429" cy="230429"/>
          </a:xfrm>
          <a:prstGeom prst="rect">
            <a:avLst/>
          </a:prstGeom>
        </p:spPr>
      </p:pic>
      <p:sp>
        <p:nvSpPr>
          <p:cNvPr id="12" name="Text 8"/>
          <p:cNvSpPr txBox="1"/>
          <p:nvPr/>
        </p:nvSpPr>
        <p:spPr>
          <a:xfrm>
            <a:off x="4663440" y="1508760"/>
            <a:ext cx="3840480" cy="411480"/>
          </a:xfrm>
          <a:prstGeom prst="rect">
            <a:avLst/>
          </a:prstGeom>
          <a:noFill/>
          <a:ln/>
        </p:spPr>
        <p:txBody>
          <a:bodyPr wrap="square" lIns="0" tIns="0" rIns="0" bIns="0" rtlCol="0" anchor="ctr"/>
          <a:lstStyle/>
          <a:p>
            <a:pPr indent="0" marL="0">
              <a:buNone/>
            </a:pPr>
            <a:r>
              <a:rPr lang="en-US" sz="1500" b="1" dirty="0">
                <a:solidFill>
                  <a:srgbClr val="001E3C"/>
                </a:solidFill>
                <a:latin typeface="Inter" pitchFamily="34" charset="0"/>
                <a:ea typeface="Inter" pitchFamily="34" charset="-122"/>
                <a:cs typeface="Inter" pitchFamily="34" charset="-120"/>
              </a:rPr>
              <a:t>New times (7)</a:t>
            </a:r>
            <a:endParaRPr lang="en-US" sz="1500" dirty="0"/>
          </a:p>
        </p:txBody>
      </p:sp>
      <p:sp>
        <p:nvSpPr>
          <p:cNvPr id="13" name="Text 9"/>
          <p:cNvSpPr txBox="1"/>
          <p:nvPr/>
        </p:nvSpPr>
        <p:spPr>
          <a:xfrm>
            <a:off x="4160520" y="2011680"/>
            <a:ext cx="4389120" cy="1965960"/>
          </a:xfrm>
          <a:prstGeom prst="rect">
            <a:avLst/>
          </a:prstGeom>
          <a:noFill/>
          <a:ln/>
        </p:spPr>
        <p:txBody>
          <a:bodyPr wrap="square" lIns="0" tIns="0" rIns="0" bIns="0" rtlCol="0" anchor="t"/>
          <a:lstStyle/>
          <a:p>
            <a:pPr indent="0" marL="0">
              <a:spcAft>
                <a:spcPts val="100"/>
              </a:spcAft>
              <a:buNone/>
            </a:pPr>
            <a:r>
              <a:rPr lang="en-US" sz="1050" b="1" dirty="0">
                <a:solidFill>
                  <a:srgbClr val="001E3C"/>
                </a:solidFill>
                <a:latin typeface="Inter" pitchFamily="34" charset="0"/>
                <a:ea typeface="Inter" pitchFamily="34" charset="-122"/>
                <a:cs typeface="Inter" pitchFamily="34" charset="-120"/>
              </a:rPr>
              <a:t>Weekdays</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14:45–22:30 — a new late, ending with the ticket office</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15:45–23:55 — the closer, 30 minutes later than 15:15</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Saturday</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06:20–15:00 — a new early, 8h 40m</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07:45–16:45 — a new early, 9 hours</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Sunday</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15:15–23:25 — the closer, 45 minutes later than 14:30</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09:00–18:00 — a new early, 9 hours</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14:30–22:30 — the ticket-office late</a:t>
            </a:r>
            <a:endParaRPr lang="en-US" sz="1050" dirty="0"/>
          </a:p>
        </p:txBody>
      </p:sp>
      <p:sp>
        <p:nvSpPr>
          <p:cNvPr id="14"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5"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Fewer shift times than today (15, not 18) — and several of the new ones are shorter versions of today’s lates.</a:t>
            </a:r>
            <a:endParaRPr lang="en-US" sz="1400" dirty="0"/>
          </a:p>
        </p:txBody>
      </p:sp>
      <p:sp>
        <p:nvSpPr>
          <p:cNvPr id="16"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Rest and weekends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biggest improvement over today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Full weekends off, about a year</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worked in a row</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(up to 6)</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Rest-day breaks of two days or more</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13 of 17</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22 of 26</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35m</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Weeks on one turn, no early–late switch</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of 16</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18 of 21</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14 full weekends off a year, at most five weeks apart, and one shift time in 18 of 21 weeks.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Your 26 weeks 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green bars are the full weekends off; where you start is decided later</a:t>
            </a:r>
            <a:endParaRPr lang="en-US" sz="1500" dirty="0"/>
          </a:p>
        </p:txBody>
      </p:sp>
      <p:pic>
        <p:nvPicPr>
          <p:cNvPr id="990" name="Rota strip" descr="The 26 weeks of the link"/>
          <p:cNvPicPr>
            <a:picLocks noChangeAspect="1"/>
          </p:cNvPicPr>
          <p:nvPr/>
        </p:nvPicPr>
        <p:blipFill>
          <a:blip r:embed="rIdStrip"/>
          <a:stretch>
            <a:fillRect/>
          </a:stretch>
        </p:blipFill>
        <p:spPr>
          <a:xfrm>
            <a:off x="457200" y="1371600"/>
            <a:ext cx="8229600" cy="2575381"/>
          </a:xfrm>
          <a:prstGeom prst="rect">
            <a:avLst/>
          </a:prstGeom>
        </p:spPr>
      </p:pic>
      <p:sp>
        <p:nvSpPr>
          <p:cNvPr id="19" name="Shape 1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0" name="Text 1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14 full weekends off a year, at most five weeks apart; blocks of earlies or lates up to 5 weeks, 12 if the cover weeks go the same way.</a:t>
            </a:r>
            <a:endParaRPr lang="en-US" sz="1400" dirty="0"/>
          </a:p>
        </p:txBody>
      </p:sp>
      <p:sp>
        <p:nvSpPr>
          <p:cNvPr id="21" name="Text 1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Booking leave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14 days of annual leave buys you, with Sundays off</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best place to book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28</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on average</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23.4</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23.4</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worst place</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19</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Leave for four full weeks off, at best</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14</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15</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Best stretch 28 days, not 30; four full weeks off, Sunday to Saturday, costs 15 days’ leave, not 14. Average the same, worst a day better.</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More staff on the floor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More people rostered every day, at the open and the close</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weekday</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Saturday / Sunday</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 / 8</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10</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in the fixed rota</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At least three rostered on the floor, and no avoidable fatigue warnings in the fixed rota.</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honest trade-offs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Nothing is free — here is what it costs</a:t>
            </a:r>
            <a:endParaRPr lang="en-US" sz="1500" dirty="0"/>
          </a:p>
        </p:txBody>
      </p:sp>
      <p:sp>
        <p:nvSpPr>
          <p:cNvPr id="4" name="Shape 2"/>
          <p:cNvSpPr/>
          <p:nvPr/>
        </p:nvSpPr>
        <p:spPr>
          <a:xfrm>
            <a:off x="457200" y="1371600"/>
            <a:ext cx="4023360" cy="822960"/>
          </a:xfrm>
          <a:prstGeom prst="roundRect">
            <a:avLst>
              <a:gd name="adj" fmla="val 9091"/>
            </a:avLst>
          </a:prstGeom>
          <a:solidFill>
            <a:srgbClr val="EEF2F7"/>
          </a:solidFill>
          <a:ln w="12700">
            <a:solidFill>
              <a:srgbClr val="EEF2F7"/>
            </a:solidFill>
            <a:prstDash val="solid"/>
          </a:ln>
        </p:spPr>
      </p:sp>
      <p:sp>
        <p:nvSpPr>
          <p:cNvPr id="5" name="Text 3"/>
          <p:cNvSpPr txBox="1"/>
          <p:nvPr/>
        </p:nvSpPr>
        <p:spPr>
          <a:xfrm>
            <a:off x="640080" y="1444752"/>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Seven new shift times to learn</a:t>
            </a:r>
            <a:endParaRPr lang="en-US" sz="1400" dirty="0"/>
          </a:p>
        </p:txBody>
      </p:sp>
      <p:sp>
        <p:nvSpPr>
          <p:cNvPr id="6" name="Text 4"/>
          <p:cNvSpPr txBox="1"/>
          <p:nvPr/>
        </p:nvSpPr>
        <p:spPr>
          <a:xfrm>
            <a:off x="640080" y="1719072"/>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Several of them are shorter versions of the lates you already work today.</a:t>
            </a:r>
            <a:endParaRPr lang="en-US" sz="1250" dirty="0"/>
          </a:p>
        </p:txBody>
      </p:sp>
      <p:sp>
        <p:nvSpPr>
          <p:cNvPr id="7" name="Shape 5"/>
          <p:cNvSpPr/>
          <p:nvPr/>
        </p:nvSpPr>
        <p:spPr>
          <a:xfrm>
            <a:off x="4663440" y="1371600"/>
            <a:ext cx="4023360" cy="822960"/>
          </a:xfrm>
          <a:prstGeom prst="roundRect">
            <a:avLst>
              <a:gd name="adj" fmla="val 9091"/>
            </a:avLst>
          </a:prstGeom>
          <a:solidFill>
            <a:srgbClr val="EEF2F7"/>
          </a:solidFill>
          <a:ln w="12700">
            <a:solidFill>
              <a:srgbClr val="EEF2F7"/>
            </a:solidFill>
            <a:prstDash val="solid"/>
          </a:ln>
        </p:spPr>
      </p:sp>
      <p:sp>
        <p:nvSpPr>
          <p:cNvPr id="8" name="Text 6"/>
          <p:cNvSpPr txBox="1"/>
          <p:nvPr/>
        </p:nvSpPr>
        <p:spPr>
          <a:xfrm>
            <a:off x="4846320" y="1444752"/>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Shifts about 2 minutes longer on average</a:t>
            </a:r>
            <a:endParaRPr lang="en-US" sz="1400" dirty="0"/>
          </a:p>
        </p:txBody>
      </p:sp>
      <p:sp>
        <p:nvSpPr>
          <p:cNvPr id="9" name="Text 7"/>
          <p:cNvSpPr txBox="1"/>
          <p:nvPr/>
        </p:nvSpPr>
        <p:spPr>
          <a:xfrm>
            <a:off x="4846320" y="1719072"/>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That is what keeps days at work to 219 a year or fewer on the same 35 hours.</a:t>
            </a:r>
            <a:endParaRPr lang="en-US" sz="1250" dirty="0"/>
          </a:p>
        </p:txBody>
      </p:sp>
      <p:sp>
        <p:nvSpPr>
          <p:cNvPr id="10" name="Shape 8"/>
          <p:cNvSpPr/>
          <p:nvPr/>
        </p:nvSpPr>
        <p:spPr>
          <a:xfrm>
            <a:off x="457200" y="2267712"/>
            <a:ext cx="4023360" cy="822960"/>
          </a:xfrm>
          <a:prstGeom prst="roundRect">
            <a:avLst>
              <a:gd name="adj" fmla="val 9091"/>
            </a:avLst>
          </a:prstGeom>
          <a:solidFill>
            <a:srgbClr val="EEF2F7"/>
          </a:solidFill>
          <a:ln w="12700">
            <a:solidFill>
              <a:srgbClr val="EEF2F7"/>
            </a:solidFill>
            <a:prstDash val="solid"/>
          </a:ln>
        </p:spPr>
      </p:sp>
      <p:sp>
        <p:nvSpPr>
          <p:cNvPr id="11" name="Text 9"/>
          <p:cNvSpPr txBox="1"/>
          <p:nvPr/>
        </p:nvSpPr>
        <p:spPr>
          <a:xfrm>
            <a:off x="640080" y="2340864"/>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Four weeks off: 15 days’ leave, not 14</a:t>
            </a:r>
            <a:endParaRPr lang="en-US" sz="1400" dirty="0"/>
          </a:p>
        </p:txBody>
      </p:sp>
      <p:sp>
        <p:nvSpPr>
          <p:cNvPr id="12" name="Text 10"/>
          <p:cNvSpPr txBox="1"/>
          <p:nvPr/>
        </p:nvSpPr>
        <p:spPr>
          <a:xfrm>
            <a:off x="640080" y="2615184"/>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Best 14-day stretch 28 days, not 30; average as today, worst a day better.</a:t>
            </a:r>
            <a:endParaRPr lang="en-US" sz="1250" dirty="0"/>
          </a:p>
        </p:txBody>
      </p:sp>
      <p:sp>
        <p:nvSpPr>
          <p:cNvPr id="13" name="Shape 11"/>
          <p:cNvSpPr/>
          <p:nvPr/>
        </p:nvSpPr>
        <p:spPr>
          <a:xfrm>
            <a:off x="4663440" y="2267712"/>
            <a:ext cx="4023360" cy="822960"/>
          </a:xfrm>
          <a:prstGeom prst="roundRect">
            <a:avLst>
              <a:gd name="adj" fmla="val 9091"/>
            </a:avLst>
          </a:prstGeom>
          <a:solidFill>
            <a:srgbClr val="EEF2F7"/>
          </a:solidFill>
          <a:ln w="12700">
            <a:solidFill>
              <a:srgbClr val="EEF2F7"/>
            </a:solidFill>
            <a:prstDash val="solid"/>
          </a:ln>
        </p:spPr>
      </p:sp>
      <p:sp>
        <p:nvSpPr>
          <p:cNvPr id="14" name="Text 12"/>
          <p:cNvSpPr txBox="1"/>
          <p:nvPr/>
        </p:nvSpPr>
        <p:spPr>
          <a:xfrm>
            <a:off x="4846320" y="2340864"/>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Two more Saturdays a year</a:t>
            </a:r>
            <a:endParaRPr lang="en-US" sz="1400" dirty="0"/>
          </a:p>
        </p:txBody>
      </p:sp>
      <p:sp>
        <p:nvSpPr>
          <p:cNvPr id="15" name="Text 13"/>
          <p:cNvSpPr txBox="1"/>
          <p:nvPr/>
        </p:nvSpPr>
        <p:spPr>
          <a:xfrm>
            <a:off x="4846320" y="2615184"/>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28 a year each, today 26 — fourteen on a Saturday, shared across 26 lines.</a:t>
            </a:r>
            <a:endParaRPr lang="en-US" sz="1250" dirty="0"/>
          </a:p>
        </p:txBody>
      </p:sp>
      <p:sp>
        <p:nvSpPr>
          <p:cNvPr id="16" name="Shape 14"/>
          <p:cNvSpPr/>
          <p:nvPr/>
        </p:nvSpPr>
        <p:spPr>
          <a:xfrm>
            <a:off x="457200" y="3163824"/>
            <a:ext cx="4023360" cy="822960"/>
          </a:xfrm>
          <a:prstGeom prst="roundRect">
            <a:avLst>
              <a:gd name="adj" fmla="val 9091"/>
            </a:avLst>
          </a:prstGeom>
          <a:solidFill>
            <a:srgbClr val="EEF2F7"/>
          </a:solidFill>
          <a:ln w="12700">
            <a:solidFill>
              <a:srgbClr val="EEF2F7"/>
            </a:solidFill>
            <a:prstDash val="solid"/>
          </a:ln>
        </p:spPr>
      </p:sp>
      <p:sp>
        <p:nvSpPr>
          <p:cNvPr id="17" name="Text 15"/>
          <p:cNvSpPr txBox="1"/>
          <p:nvPr/>
        </p:nvSpPr>
        <p:spPr>
          <a:xfrm>
            <a:off x="640080" y="3236976"/>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A few more late finishes</a:t>
            </a:r>
            <a:endParaRPr lang="en-US" sz="1400" dirty="0"/>
          </a:p>
        </p:txBody>
      </p:sp>
      <p:sp>
        <p:nvSpPr>
          <p:cNvPr id="18" name="Text 16"/>
          <p:cNvSpPr txBox="1"/>
          <p:nvPr/>
        </p:nvSpPr>
        <p:spPr>
          <a:xfrm>
            <a:off x="640080" y="3511296"/>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44 a year each at 23:00 or later (today 39) — four to the close on a Saturday.</a:t>
            </a:r>
            <a:endParaRPr lang="en-US" sz="1250" dirty="0"/>
          </a:p>
        </p:txBody>
      </p:sp>
      <p:sp>
        <p:nvSpPr>
          <p:cNvPr id="19" name="Shape 17"/>
          <p:cNvSpPr/>
          <p:nvPr/>
        </p:nvSpPr>
        <p:spPr>
          <a:xfrm>
            <a:off x="4663440" y="3163824"/>
            <a:ext cx="4023360" cy="822960"/>
          </a:xfrm>
          <a:prstGeom prst="roundRect">
            <a:avLst>
              <a:gd name="adj" fmla="val 9091"/>
            </a:avLst>
          </a:prstGeom>
          <a:solidFill>
            <a:srgbClr val="EEF2F7"/>
          </a:solidFill>
          <a:ln w="12700">
            <a:solidFill>
              <a:srgbClr val="EEF2F7"/>
            </a:solidFill>
            <a:prstDash val="solid"/>
          </a:ln>
        </p:spPr>
      </p:sp>
      <p:sp>
        <p:nvSpPr>
          <p:cNvPr id="20" name="Text 18"/>
          <p:cNvSpPr txBox="1"/>
          <p:nvPr/>
        </p:nvSpPr>
        <p:spPr>
          <a:xfrm>
            <a:off x="4846320" y="3236976"/>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Still a proposal</a:t>
            </a:r>
            <a:endParaRPr lang="en-US" sz="1400" dirty="0"/>
          </a:p>
        </p:txBody>
      </p:sp>
      <p:sp>
        <p:nvSpPr>
          <p:cNvPr id="21" name="Text 19"/>
          <p:cNvSpPr txBox="1"/>
          <p:nvPr/>
        </p:nvSpPr>
        <p:spPr>
          <a:xfrm>
            <a:off x="4846320" y="3511296"/>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Your views count before a link is chosen, and who goes on which line is not decided.</a:t>
            </a:r>
            <a:endParaRPr lang="en-US" sz="1250" dirty="0"/>
          </a:p>
        </p:txBody>
      </p:sp>
      <p:sp>
        <p:nvSpPr>
          <p:cNvPr id="23"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4"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None of these is hidden: each one is on the full proposal sheet too.</a:t>
            </a:r>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Today’s roster and Even Keel, side by side</a:t>
            </a:r>
            <a:endParaRPr lang="en-US" sz="15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3840480"/>
                <a:gridCol w="2194560"/>
                <a:gridCol w="2194560"/>
              </a:tblGrid>
              <a:tr h="246888">
                <a:tc>
                  <a:txBody>
                    <a:bodyPr/>
                    <a:lstStyle/>
                    <a:p>
                      <a:pPr algn="ctr" indent="0" marL="0">
                        <a:buNone/>
                      </a:pP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Today</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FFFFFF"/>
                          </a:solidFill>
                          <a:latin typeface="Inter" pitchFamily="34" charset="0"/>
                          <a:ea typeface="Inter" pitchFamily="34" charset="-122"/>
                          <a:cs typeface="Inter" pitchFamily="34" charset="-120"/>
                        </a:rPr>
                        <a:t>Even Keel</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001E3C"/>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hours a week</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days at work a year</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219.0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218.6</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Average shift · longest shift</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14m · 9h 10m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16m · 9h 00m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Closing shift: weekday · Saturday · Sunday</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40m · 9h 10m · 8h 55m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10m · 8h 40m · 8h 10m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Full weekends off, about a year</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Most days worked in a row</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7 (up to 9)</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5 (up to 6)</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Shortest gap between two shifts</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12h 30m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14h 35m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Different shift times</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18</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(8 you know)</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On duty weekday · Saturday · Sunday</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11–12 · 10 · 8</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 14 · 10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Avoidable fatigue warnings in the fixed rota</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(up to 5)</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bl>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and days, shorter closers, more full weekends off.</a:t>
            </a:r>
            <a:endParaRPr lang="en-US" sz="1400" dirty="0"/>
          </a:p>
        </p:txBody>
      </p:sp>
      <p:sp>
        <p:nvSpPr>
          <p:cNvPr id="7" name="Text 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What happens next</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Look at the full proposal sheet — page 3 shows every week of the link</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Tell us what worries you, even if it is small</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Your feedback goes to the managers with the proposal</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200" dirty="0">
                <a:solidFill>
                  <a:srgbClr val="F5C800"/>
                </a:solidFill>
                <a:latin typeface="Inter" pitchFamily="34" charset="0"/>
                <a:ea typeface="Inter" pitchFamily="34" charset="-122"/>
                <a:cs typeface="Inter" pitchFamily="34" charset="-120"/>
              </a:rPr>
              <a:t>Even Keel · EK-26-H1 · every figure worked out from the rota by the Marylebone Roster app</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Even Keel — the December 2026 link</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