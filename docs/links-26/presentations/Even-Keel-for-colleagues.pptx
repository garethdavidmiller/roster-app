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five days in a row in the fixed duties, six if a cover week falls badly. Seven full weekends off in every 26 weeks, against four in 20 today, and never more than five weeks apart — though each person works about two more Saturdays a year. 18 of the 21 working weeks keep one shift time Monday to Friday. Eight of the fifteen shift times are ones people already work. And every closing shift is shorter: the weekday and Saturday closers by 30 minutes, the Sunday closer by 45. Say the leave cost here too, before anyone asks: four full weeks off, Sunday to Saturday, takes 15 days’ leave rather than 14, and the best 14-day stretch is 28 days off rather than 30; the average is the same and the worst a day better. A cover week is one of the five weeks in 26 with no fixed shifts: its four duties are placed later to cover leave and sickness; the fixed rota is the other 21 weeks, whose shifts are set. And the early finishes, as plainly as the closers: the 13:35 and 13:45 go, and a weekday 06:20 early on the floor ends at 14:00 or 14:50 — slide 6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and the 26-person link, its five cover weeks and a ceiling of 219 contracted days a year on 1 October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Even Keel. Exactly, Even Keel works out at 218.6 days a year: just under today’s 219, which is also the most the 26-week link is allowed (agreed 1 October 2026).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These are averages across the whole link — your own depends on which line you start on — and they are not a payslip; the Pay Calculator in the app does that. The yearly figures are averages from the fixed rota;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two minutes on the average: the 26-week link may have no more than 219 contracted days a year, so the same 35 hours go into slightly fewer, slightly longer shifts. Nothing runs over 9 hours. Then say the cost before anyone asks: the 13:35 and 13:45 finishes go. On a weekday the 06:20 early on the floor ends at 14:00 or 14:50; today about 26 earlies a year each finish before 14:00, here none. The week’s total is fixed, so the minutes taken off the lates go on the earlies: earlies average 8h 19m (today 7h 59m), lates 8h 12m (today 8h 29m), and the longest early turn goes from 8h 30m to 9h 00m. Everyone works every line in turn, so the people who lose the early finishes are the people whose lates get shorter. Asked whether a 13:45 can come back: only if a late gets longer — each 06:20–14:00 made 06:20–13:45 turns one 14:45–22:30 into 14:30–22:30 the same day. Tested on this rota: nothing else on the sheet gets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five more a year each finish at 23:00 or later. Three of those come from the December rules — three on duty to the close every day, where today’s weekdays have two — and two from Even Keel’s Saturday, which has four to the close rather than three. Finishes at 22:00 or later go up more, from 78 to 94 a year: the rules also want five still on duty after 22:00, and two weekday lates finish at 22:30 with the ticket office. Early 06:20 starts hardly change. And because the shortest gap between two shifts is 14h 35m, nobody finishes late and starts early the next morning. The yearly figures are averages from the fixed rota;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Keel uses fifteen shift times, fewer than today’s eighteen, and eight of them are worked today. Several of the new times are shorter versions of today’s lates: the weekday and Sunday closers start later, and the Sunday office late finishes earlier. The full list is on the slide. The other new ones are a weekday late finishing with the ticket office, two Saturday earlies and a Sunday 09:00 start.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Even Keel gives 7 in 26, and they are never more than five weeks apart, against seven today. Five is as close as they can be: a full weekend cannot start in a cover week or the week before one, so only 16 of the 26 weeks can begin one. 18 of the 21 working weeks keep the same shift time Monday to Friday — today it is seven weeks in 16 — and only one week mixes earlies and lates. Rest days mostly come in pairs: 22 of the 26 rest-day breaks are two days or more, against 13 of 17 today, and single rest days stay at four, as today. Never more than five days in a row in the fixed duties; six at most if a cover week’s four duties fall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strip left to right; week 27 is week 1 again. A cover week has no fixed shifts of its own — its four duties are placed later to cover leave and sickness, which is why it is drawn empty. Earlies here means a start before 11:00. A weekday has 7 earlies and 8 lates; a Saturday 7 and 7; a Sunday 5 and 5. Sundays stay overtime, 20 a year each (today 21), and still finish at 23:25. Who starts on which week is decided after the link is chosen. A block is weeks in a row all on earlies or all on lates. On the fixed rota the longest is 5 weeks (today 2); because a cover week’s duties are placed later, a block can run to 12 if the cover weeks beside it are given the same kind (today 3). Fewer switches between earlies and lates, but someone who prefers one kind waits longer for it to come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Even Keel spreads rest days more evenly, so its best is 28. On average it is the same, 23.4 days, and at its worst it is a day better than today. Four full weeks off (Sunday to Saturday) takes at least 15 days of leave, instead of 14 at best today. Say the four-weeks figure plainly: all three shortlisted links are worse than today here (Long Break, the leave-first design in the pack, keeps the 14), and people plan a year around it. The averages depend on where you count a booking as starting, so quote those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Even Keel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 The early finishes are the cost most people will raise first, so this slide names them; the full sheet lists 06:20–13:35 and 06:20–13:45 as dropped (page 4). The two minutes on the average shift are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Strip" Type="http://schemas.openxmlformats.org/officeDocument/2006/relationships/image" Target="../media/rota-strip.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Even Keel</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EK-26-H1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12064"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contracted</a:t>
            </a:r>
            <a:br/>
            <a:r>
              <a:rPr lang="en-US" sz="1400" b="1" dirty="0">
                <a:solidFill>
                  <a:srgbClr val="1B2533"/>
                </a:solidFill>
                <a:latin typeface="Inter" pitchFamily="34" charset="0"/>
                <a:ea typeface="Inter" pitchFamily="34" charset="-122"/>
                <a:cs typeface="Inter" pitchFamily="34" charset="-120"/>
              </a:rPr>
              <a:t>week, as now</a:t>
            </a:r>
            <a:endParaRPr lang="en-US" sz="1400" dirty="0"/>
          </a:p>
        </p:txBody>
      </p:sp>
      <p:sp>
        <p:nvSpPr>
          <p:cNvPr id="7" name="Text 5"/>
          <p:cNvSpPr txBox="1"/>
          <p:nvPr/>
        </p:nvSpPr>
        <p:spPr>
          <a:xfrm>
            <a:off x="512064"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5</a:t>
            </a:r>
            <a:endParaRPr lang="en-US" sz="3000" dirty="0"/>
          </a:p>
        </p:txBody>
      </p:sp>
      <p:sp>
        <p:nvSpPr>
          <p:cNvPr id="10" name="Text 8"/>
          <p:cNvSpPr txBox="1"/>
          <p:nvPr/>
        </p:nvSpPr>
        <p:spPr>
          <a:xfrm>
            <a:off x="2185416"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a:t>
            </a:r>
            <a:br/>
            <a:r>
              <a:rPr lang="en-US" sz="1400" b="1" dirty="0">
                <a:solidFill>
                  <a:srgbClr val="1B2533"/>
                </a:solidFill>
                <a:latin typeface="Inter" pitchFamily="34" charset="0"/>
                <a:ea typeface="Inter" pitchFamily="34" charset="-122"/>
                <a:cs typeface="Inter" pitchFamily="34" charset="-120"/>
              </a:rPr>
              <a:t>in a row</a:t>
            </a:r>
            <a:endParaRPr lang="en-US" sz="1400" dirty="0"/>
          </a:p>
        </p:txBody>
      </p:sp>
      <p:sp>
        <p:nvSpPr>
          <p:cNvPr id="11" name="Text 9"/>
          <p:cNvSpPr txBox="1"/>
          <p:nvPr/>
        </p:nvSpPr>
        <p:spPr>
          <a:xfrm>
            <a:off x="2185416"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6 · today 7</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14</a:t>
            </a:r>
            <a:endParaRPr lang="en-US" sz="3000" dirty="0"/>
          </a:p>
        </p:txBody>
      </p:sp>
      <p:sp>
        <p:nvSpPr>
          <p:cNvPr id="14" name="Text 12"/>
          <p:cNvSpPr txBox="1"/>
          <p:nvPr/>
        </p:nvSpPr>
        <p:spPr>
          <a:xfrm>
            <a:off x="3858768"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a:t>
            </a:r>
            <a:br/>
            <a:r>
              <a:rPr lang="en-US" sz="1400" b="1" dirty="0">
                <a:solidFill>
                  <a:srgbClr val="1B2533"/>
                </a:solidFill>
                <a:latin typeface="Inter" pitchFamily="34" charset="0"/>
                <a:ea typeface="Inter" pitchFamily="34" charset="-122"/>
                <a:cs typeface="Inter" pitchFamily="34" charset="-120"/>
              </a:rPr>
              <a:t>off a year</a:t>
            </a:r>
            <a:endParaRPr lang="en-US" sz="1400" dirty="0"/>
          </a:p>
        </p:txBody>
      </p:sp>
      <p:sp>
        <p:nvSpPr>
          <p:cNvPr id="15" name="Text 13"/>
          <p:cNvSpPr txBox="1"/>
          <p:nvPr/>
        </p:nvSpPr>
        <p:spPr>
          <a:xfrm>
            <a:off x="3858768"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10 · 7 in 26</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8 of 15</a:t>
            </a:r>
            <a:endParaRPr lang="en-US" sz="3000" dirty="0"/>
          </a:p>
        </p:txBody>
      </p:sp>
      <p:sp>
        <p:nvSpPr>
          <p:cNvPr id="18" name="Text 16"/>
          <p:cNvSpPr txBox="1"/>
          <p:nvPr/>
        </p:nvSpPr>
        <p:spPr>
          <a:xfrm>
            <a:off x="5532120"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a:t>
            </a:r>
            <a:br/>
            <a:r>
              <a:rPr lang="en-US" sz="1400" b="1" dirty="0">
                <a:solidFill>
                  <a:srgbClr val="1B2533"/>
                </a:solidFill>
                <a:latin typeface="Inter" pitchFamily="34" charset="0"/>
                <a:ea typeface="Inter" pitchFamily="34" charset="-122"/>
                <a:cs typeface="Inter" pitchFamily="34" charset="-120"/>
              </a:rPr>
              <a:t>already work</a:t>
            </a:r>
            <a:endParaRPr lang="en-US" sz="1400" dirty="0"/>
          </a:p>
        </p:txBody>
      </p:sp>
      <p:sp>
        <p:nvSpPr>
          <p:cNvPr id="19" name="Text 17"/>
          <p:cNvSpPr txBox="1"/>
          <p:nvPr/>
        </p:nvSpPr>
        <p:spPr>
          <a:xfrm>
            <a:off x="5532120"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7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05472"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off every</a:t>
            </a:r>
            <a:br/>
            <a:r>
              <a:rPr lang="en-US" sz="1400" b="1" dirty="0">
                <a:solidFill>
                  <a:srgbClr val="1B2533"/>
                </a:solidFill>
                <a:latin typeface="Inter" pitchFamily="34" charset="0"/>
                <a:ea typeface="Inter" pitchFamily="34" charset="-122"/>
                <a:cs typeface="Inter" pitchFamily="34" charset="-120"/>
              </a:rPr>
              <a:t>closing shift</a:t>
            </a:r>
            <a:endParaRPr lang="en-US" sz="1400" dirty="0"/>
          </a:p>
        </p:txBody>
      </p:sp>
      <p:sp>
        <p:nvSpPr>
          <p:cNvPr id="23" name="Text 21"/>
          <p:cNvSpPr txBox="1"/>
          <p:nvPr/>
        </p:nvSpPr>
        <p:spPr>
          <a:xfrm>
            <a:off x="7205472"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Sundays: 45 min</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weekends off never more than five weeks apart, and one shift time most weeks.</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84832"/>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85416"/>
            <a:ext cx="256032" cy="256032"/>
          </a:xfrm>
          <a:prstGeom prst="rect">
            <a:avLst/>
          </a:prstGeom>
        </p:spPr>
      </p:pic>
      <p:sp>
        <p:nvSpPr>
          <p:cNvPr id="10" name="Text 6"/>
          <p:cNvSpPr txBox="1"/>
          <p:nvPr/>
        </p:nvSpPr>
        <p:spPr>
          <a:xfrm>
            <a:off x="1097280" y="2048256"/>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331720"/>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2798064"/>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898648"/>
            <a:ext cx="256032" cy="256032"/>
          </a:xfrm>
          <a:prstGeom prst="rect">
            <a:avLst/>
          </a:prstGeom>
        </p:spPr>
      </p:pic>
      <p:sp>
        <p:nvSpPr>
          <p:cNvPr id="14" name="Text 9"/>
          <p:cNvSpPr txBox="1"/>
          <p:nvPr/>
        </p:nvSpPr>
        <p:spPr>
          <a:xfrm>
            <a:off x="1097280" y="276148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04495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511296"/>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611880"/>
            <a:ext cx="256032" cy="256032"/>
          </a:xfrm>
          <a:prstGeom prst="rect">
            <a:avLst/>
          </a:prstGeom>
        </p:spPr>
      </p:pic>
      <p:sp>
        <p:nvSpPr>
          <p:cNvPr id="18" name="Text 12"/>
          <p:cNvSpPr txBox="1"/>
          <p:nvPr/>
        </p:nvSpPr>
        <p:spPr>
          <a:xfrm>
            <a:off x="1097280" y="347472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75818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1"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2"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change is coming whatever we do — the question is which version we want.</a:t>
            </a:r>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4.20</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219.0</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218.6</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on average and no more days; weeks run from 24h 30m to 41h 30m (today 25h 10m to 43h 50m), and two more of the days fall on a Saturday.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Closers get shorter, earlies longer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06:20 early on the floor ends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13:35 · 13:45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14:00 · 14:50</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same 35 hours, moved from the lates to the earlies: 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5 more a year after 23:00 (44, today 39); 16 more at 22:00 or later (94, today 78)</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44</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people stay on after 22:00 under the December staffing; five more a year after 23:00, four to the Saturday close.</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8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(8)</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06:20–14:20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06:20–14:50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07:15–15:45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11:00–19:30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14:00–22:30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15:15–23:55</a:t>
            </a:r>
            <a:endParaRPr lang="en-US" sz="105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(7)</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14:45–22:30 — a new late, ending with the ticket office</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06:20–15:00 — a new early, 8h 40m</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07:45–16:45 — a new early, 9 hours</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several of the new ones are shorter versions of today’s lates.</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 about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no early–late switch</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18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and one shift time in 18 of 21 weeks.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Your 26 weeks 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green bars are the full weekends off; where you start is decided later</a:t>
            </a:r>
            <a:endParaRPr lang="en-US" sz="1500" dirty="0"/>
          </a:p>
        </p:txBody>
      </p:sp>
      <p:pic>
        <p:nvPicPr>
          <p:cNvPr id="990" name="Rota strip" descr="The 26 weeks of the link"/>
          <p:cNvPicPr>
            <a:picLocks noChangeAspect="1"/>
          </p:cNvPicPr>
          <p:nvPr/>
        </p:nvPicPr>
        <p:blipFill>
          <a:blip r:embed="rIdStrip"/>
          <a:stretch>
            <a:fillRect/>
          </a:stretch>
        </p:blipFill>
        <p:spPr>
          <a:xfrm>
            <a:off x="457200" y="1371600"/>
            <a:ext cx="8229600" cy="2575381"/>
          </a:xfrm>
          <a:prstGeom prst="rect">
            <a:avLst/>
          </a:prstGeom>
        </p:spPr>
      </p:pic>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blocks of earlies or lates up to 5 weeks, 12 if the cover weeks go the same way.</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Best stretch 28 days, not 30; four full weeks off, Sunday to Saturday, costs 15 days’ leave, not 14. Average the same, worst a day better.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Keel</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22960"/>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Seven new shift times to learn</a:t>
            </a:r>
            <a:endParaRPr lang="en-US" sz="1400" dirty="0"/>
          </a:p>
        </p:txBody>
      </p:sp>
      <p:sp>
        <p:nvSpPr>
          <p:cNvPr id="6" name="Text 4"/>
          <p:cNvSpPr txBox="1"/>
          <p:nvPr/>
        </p:nvSpPr>
        <p:spPr>
          <a:xfrm>
            <a:off x="64008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Several of them are shorter versions of the lates you already work today.</a:t>
            </a:r>
            <a:endParaRPr lang="en-US" sz="1250" dirty="0"/>
          </a:p>
        </p:txBody>
      </p:sp>
      <p:sp>
        <p:nvSpPr>
          <p:cNvPr id="7" name="Shape 5"/>
          <p:cNvSpPr/>
          <p:nvPr/>
        </p:nvSpPr>
        <p:spPr>
          <a:xfrm>
            <a:off x="4663440" y="1371600"/>
            <a:ext cx="4023360" cy="822960"/>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The 13:35 and 13:45 finishes go</a:t>
            </a:r>
            <a:endParaRPr lang="en-US" sz="1400" dirty="0"/>
          </a:p>
        </p:txBody>
      </p:sp>
      <p:sp>
        <p:nvSpPr>
          <p:cNvPr id="9" name="Text 7"/>
          <p:cNvSpPr txBox="1"/>
          <p:nvPr/>
        </p:nvSpPr>
        <p:spPr>
          <a:xfrm>
            <a:off x="484632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No weekday 06:20 ends before 14:00. Each 13:45 back makes a late 15 minutes longer.</a:t>
            </a:r>
            <a:endParaRPr lang="en-US" sz="1250" dirty="0"/>
          </a:p>
        </p:txBody>
      </p:sp>
      <p:sp>
        <p:nvSpPr>
          <p:cNvPr id="10" name="Shape 8"/>
          <p:cNvSpPr/>
          <p:nvPr/>
        </p:nvSpPr>
        <p:spPr>
          <a:xfrm>
            <a:off x="457200" y="2267712"/>
            <a:ext cx="4023360" cy="822960"/>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weeks off: 15 days’ leave, not 14</a:t>
            </a:r>
            <a:endParaRPr lang="en-US" sz="1400" dirty="0"/>
          </a:p>
        </p:txBody>
      </p:sp>
      <p:sp>
        <p:nvSpPr>
          <p:cNvPr id="12" name="Text 10"/>
          <p:cNvSpPr txBox="1"/>
          <p:nvPr/>
        </p:nvSpPr>
        <p:spPr>
          <a:xfrm>
            <a:off x="64008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Best 14-day stretch 28 days, not 30; average as today, worst a day better.</a:t>
            </a:r>
            <a:endParaRPr lang="en-US" sz="1250" dirty="0"/>
          </a:p>
        </p:txBody>
      </p:sp>
      <p:sp>
        <p:nvSpPr>
          <p:cNvPr id="13" name="Shape 11"/>
          <p:cNvSpPr/>
          <p:nvPr/>
        </p:nvSpPr>
        <p:spPr>
          <a:xfrm>
            <a:off x="4663440" y="2267712"/>
            <a:ext cx="4023360" cy="822960"/>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Two more Saturdays a year</a:t>
            </a:r>
            <a:endParaRPr lang="en-US" sz="1400" dirty="0"/>
          </a:p>
        </p:txBody>
      </p:sp>
      <p:sp>
        <p:nvSpPr>
          <p:cNvPr id="15" name="Text 13"/>
          <p:cNvSpPr txBox="1"/>
          <p:nvPr/>
        </p:nvSpPr>
        <p:spPr>
          <a:xfrm>
            <a:off x="484632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28 a year each, today 26 — fourteen on a Saturday, shared across 26 lines.</a:t>
            </a:r>
            <a:endParaRPr lang="en-US" sz="1250" dirty="0"/>
          </a:p>
        </p:txBody>
      </p:sp>
      <p:sp>
        <p:nvSpPr>
          <p:cNvPr id="16" name="Shape 14"/>
          <p:cNvSpPr/>
          <p:nvPr/>
        </p:nvSpPr>
        <p:spPr>
          <a:xfrm>
            <a:off x="457200" y="3163824"/>
            <a:ext cx="4023360" cy="822960"/>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44 a year each at 23:00 or later (today 39) — four to the close on a Saturday.</a:t>
            </a:r>
            <a:endParaRPr lang="en-US" sz="1250" dirty="0"/>
          </a:p>
        </p:txBody>
      </p:sp>
      <p:sp>
        <p:nvSpPr>
          <p:cNvPr id="19" name="Shape 17"/>
          <p:cNvSpPr/>
          <p:nvPr/>
        </p:nvSpPr>
        <p:spPr>
          <a:xfrm>
            <a:off x="4663440" y="3163824"/>
            <a:ext cx="4023360" cy="822960"/>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3"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4"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None of these is hidden: each one is on the full proposal sheet too.</a:t>
            </a:r>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Even Keel,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Even Keel</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218.6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about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5 (up to 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35m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(8 you know)</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Keel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Even Keel · EK-26-H1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 Keel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