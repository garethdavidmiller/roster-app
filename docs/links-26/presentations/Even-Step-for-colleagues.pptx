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Nothing Monday to Saturday is longer than 8h 30m — today the closers run to 8h 40m and 9h 10m — and every early shift Monday to Saturday is a time people already work, though two of the weekday ones are worked today only at the weekend. Never more than five days in a row on the fixed rota — seven at most when a cover week falls badly and its Sunday is worked as overtime, where today it is seven and can reach nine. Seven full weekends off in every 26 weeks, against four in 20 today, and never more than five weeks apart — though each person works about two more Saturdays a year. Every working week is all earlies or all lates, and 18 of the 21 working weeks keep one shift time Monday to Friday. Eight of the thirteen shift times are ones people already work, today’s 13:45 finish among them. And every closing shift is shorter: the weekday closer by 30 minutes, the Saturday closer by an hour and the Sunday closer by 45 minutes.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with the ticket office’s pairs and the cap on shift times they are the nine December rules every proposal is scored on. The 26-week link, its five cover weeks and the ceiling of 219 contracted days a year were set on 1 October 2026.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today’s or Even Step’s. Exactly, Even Step works out at 218.6 days a year: just under today’s 219, which is also the most the 26-week link is allowed (set on 1 October 2026; a year here is 365 days, as the ceiling’s is).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On this link they are everyone’s figures, whichever line you start on: a year is exactly two turns of the 26 weeks, so everyone works each week twice — today’s, on 20 weeks, are averages.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15:45 too, instead of 14:45 (8h 10m, not 9h 10m); Sunday 15:15 to 23:25 instead of 14:30 (8h 10m, not 8h 55m). Nothing Monday to Saturday runs over 8h 30m: every early is a time worked today, and the weekday lates are 8h 30m and 8h 15m. But the time the closers lose goes onto the other shifts, so more of them run to the full 8h 30m than today — four of the seven weekday earlies, where today two of six do. The one shift over 8h 30m anywhere is the Sunday 09:00–18:00, 9 hours, worked as overtime about twice a year each.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 has two Monday to Saturday. With Even Step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on the office’s own 14:00–22:30. Early 06:20 starts hardly change. And because the shortest gap between two shifts is 14h 35m, nobody finishes late and starts early the next morning. The yearly figures are the fixed rota’s, which everyone works through twice a year;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Step was built keeping the times people already work wherever that cost little, and keeping every early Monday to Saturday one of them. Eight of its thirteen are worked today, and it uses fewer different times overall than today’s eighteen. Today’s 06:20–13:45 stays on every weekday, and today’s 06:20–14:00 on a Saturday. Three of the new times are shorter versions of today’s lates: the weekday and Saturday closers start at 15:45 and the Sunday closer at 15:15, and the Sunday office late finishes at 22:30, not 23:25. The weekday 12:15–20:30 is a new late, 8h 15m, and the Sunday 09:00–18:00 is new. Some known times move day: the weekday earlies 06:20–14:50 and 07:15–15:45 are worked today only on a Saturday and a Sunday, and the Saturday’s 06:20–14:20, 08:00–16:30 and 14:00–22:30 only on weekdays. The full list is on the slide.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Even Step gives 7 in 26, and they are never more than five weeks apart, against seven today. Five is as close as they can be: a full weekend cannot start in a cover week or the week before one, so only 16 of the 26 weeks can begin one. Nobody works more than five days in a row on the fixed rota — today it is seven — and seven is the most a badly placed cover week can make it, with its Sunday worked as overtime. Every working week is all earlies or all lates — today seven weeks in 16 mix the two — and 18 of the 21 keep the same shift time Monday to Friday. Rest days mostly come in pairs: 22 of the 26 rest-day breaks are two days or more, against 13 of 17 today, and single rest days stay at four, as today.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7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Even Step spreads rest days more evenly, so its best is 28. On average it is the same, 23.4 days, and at its worst it is a day better than today. Four full weeks off (Sunday to Saturday) takes at least 15 days of leave, instead of 14 at best today. Say the four-weeks figure plainly: all three shortlisted links are worse than today here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Even Step shows none. Two more — early starts and a weekly rotation — come with every weekly link at a 06:20 station, so they are listed on the sheet for information but not counted against any design. The “up to 1” beside the fatigue warnings is a 55-hour week. If a cover week’s four duties come straight after a busy week, and its Sunday is worked as overtime too, those seven days can come to 56.8 hours, which the rail industry’s guidance flags. Where the four fall, and whether the Sunday is worked, is for the roster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Even Step</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ES-26-T5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5</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7 · today 7</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8 of 13</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5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1 hour</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nothing over 8h 30m Monday to Saturday, and never more than five days in a row on the fixed rota.</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close and at 22:00.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623944"/>
          </a:xfrm>
          <a:prstGeom prst="roundRect">
            <a:avLst>
              <a:gd name="adj" fmla="val 6764"/>
            </a:avLst>
          </a:prstGeom>
          <a:solidFill>
            <a:srgbClr val="EEF2F7"/>
          </a:solidFill>
          <a:ln w="12700">
            <a:solidFill>
              <a:srgbClr val="EEF2F7"/>
            </a:solidFill>
            <a:prstDash val="solid"/>
          </a:ln>
        </p:spPr>
      </p:sp>
      <p:sp>
        <p:nvSpPr>
          <p:cNvPr id="7" name="Text 5"/>
          <p:cNvSpPr txBox="1"/>
          <p:nvPr/>
        </p:nvSpPr>
        <p:spPr>
          <a:xfrm>
            <a:off x="640080" y="1801368"/>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Contracted hours a week</a:t>
            </a:r>
            <a:endParaRPr lang="en-US" sz="1600" dirty="0"/>
          </a:p>
        </p:txBody>
      </p:sp>
      <p:sp>
        <p:nvSpPr>
          <p:cNvPr id="8" name="Text 6"/>
          <p:cNvSpPr txBox="1"/>
          <p:nvPr/>
        </p:nvSpPr>
        <p:spPr>
          <a:xfrm>
            <a:off x="4663440" y="1801368"/>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35h</a:t>
            </a:r>
            <a:endParaRPr lang="en-US" sz="1800" dirty="0"/>
          </a:p>
        </p:txBody>
      </p:sp>
      <p:sp>
        <p:nvSpPr>
          <p:cNvPr id="9" name="Text 7"/>
          <p:cNvSpPr txBox="1"/>
          <p:nvPr/>
        </p:nvSpPr>
        <p:spPr>
          <a:xfrm>
            <a:off x="6675120" y="1801368"/>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35h</a:t>
            </a:r>
            <a:endParaRPr lang="en-US" sz="2000" dirty="0"/>
          </a:p>
        </p:txBody>
      </p:sp>
      <p:sp>
        <p:nvSpPr>
          <p:cNvPr id="10" name="Shape 8"/>
          <p:cNvSpPr/>
          <p:nvPr/>
        </p:nvSpPr>
        <p:spPr>
          <a:xfrm>
            <a:off x="457200" y="2550101"/>
            <a:ext cx="8229600" cy="623944"/>
          </a:xfrm>
          <a:prstGeom prst="roundRect">
            <a:avLst>
              <a:gd name="adj" fmla="val 6764"/>
            </a:avLst>
          </a:prstGeom>
          <a:solidFill>
            <a:srgbClr val="FFFFFF"/>
          </a:solidFill>
          <a:ln w="12700">
            <a:solidFill>
              <a:srgbClr val="DDE3EA"/>
            </a:solidFill>
            <a:prstDash val="solid"/>
          </a:ln>
        </p:spPr>
      </p:sp>
      <p:sp>
        <p:nvSpPr>
          <p:cNvPr id="11" name="Text 9"/>
          <p:cNvSpPr txBox="1"/>
          <p:nvPr/>
        </p:nvSpPr>
        <p:spPr>
          <a:xfrm>
            <a:off x="640080" y="2550101"/>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Contracted days at work a week</a:t>
            </a:r>
            <a:endParaRPr lang="en-US" sz="1600" dirty="0"/>
          </a:p>
        </p:txBody>
      </p:sp>
      <p:sp>
        <p:nvSpPr>
          <p:cNvPr id="12" name="Text 10"/>
          <p:cNvSpPr txBox="1"/>
          <p:nvPr/>
        </p:nvSpPr>
        <p:spPr>
          <a:xfrm>
            <a:off x="4663440" y="2550101"/>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4.20</a:t>
            </a:r>
            <a:endParaRPr lang="en-US" sz="1800" dirty="0"/>
          </a:p>
        </p:txBody>
      </p:sp>
      <p:sp>
        <p:nvSpPr>
          <p:cNvPr id="13" name="Text 11"/>
          <p:cNvSpPr txBox="1"/>
          <p:nvPr/>
        </p:nvSpPr>
        <p:spPr>
          <a:xfrm>
            <a:off x="6675120" y="2550101"/>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4.19</a:t>
            </a:r>
            <a:endParaRPr lang="en-US" sz="2000" dirty="0"/>
          </a:p>
        </p:txBody>
      </p:sp>
      <p:sp>
        <p:nvSpPr>
          <p:cNvPr id="14" name="Shape 12"/>
          <p:cNvSpPr/>
          <p:nvPr/>
        </p:nvSpPr>
        <p:spPr>
          <a:xfrm>
            <a:off x="457200" y="3298834"/>
            <a:ext cx="8229600" cy="623944"/>
          </a:xfrm>
          <a:prstGeom prst="roundRect">
            <a:avLst>
              <a:gd name="adj" fmla="val 6764"/>
            </a:avLst>
          </a:prstGeom>
          <a:solidFill>
            <a:srgbClr val="EEF2F7"/>
          </a:solidFill>
          <a:ln w="12700">
            <a:solidFill>
              <a:srgbClr val="EEF2F7"/>
            </a:solidFill>
            <a:prstDash val="solid"/>
          </a:ln>
        </p:spPr>
      </p:sp>
      <p:sp>
        <p:nvSpPr>
          <p:cNvPr id="15" name="Text 13"/>
          <p:cNvSpPr txBox="1"/>
          <p:nvPr/>
        </p:nvSpPr>
        <p:spPr>
          <a:xfrm>
            <a:off x="640080" y="3298834"/>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Contracted days at work a year</a:t>
            </a:r>
            <a:endParaRPr lang="en-US" sz="1600" dirty="0"/>
          </a:p>
        </p:txBody>
      </p:sp>
      <p:sp>
        <p:nvSpPr>
          <p:cNvPr id="16" name="Text 14"/>
          <p:cNvSpPr txBox="1"/>
          <p:nvPr/>
        </p:nvSpPr>
        <p:spPr>
          <a:xfrm>
            <a:off x="4663440" y="3298834"/>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219.0</a:t>
            </a:r>
            <a:endParaRPr lang="en-US" sz="1800" dirty="0"/>
          </a:p>
        </p:txBody>
      </p:sp>
      <p:sp>
        <p:nvSpPr>
          <p:cNvPr id="17" name="Text 15"/>
          <p:cNvSpPr txBox="1"/>
          <p:nvPr/>
        </p:nvSpPr>
        <p:spPr>
          <a:xfrm>
            <a:off x="6675120" y="3298834"/>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218.6</a:t>
            </a:r>
            <a:endParaRPr lang="en-US" sz="20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25h 30m to 41h 30m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623944"/>
          </a:xfrm>
          <a:prstGeom prst="roundRect">
            <a:avLst>
              <a:gd name="adj" fmla="val 6764"/>
            </a:avLst>
          </a:prstGeom>
          <a:solidFill>
            <a:srgbClr val="EEF2F7"/>
          </a:solidFill>
          <a:ln w="12700">
            <a:solidFill>
              <a:srgbClr val="EEF2F7"/>
            </a:solidFill>
            <a:prstDash val="solid"/>
          </a:ln>
        </p:spPr>
      </p:sp>
      <p:sp>
        <p:nvSpPr>
          <p:cNvPr id="7" name="Text 5"/>
          <p:cNvSpPr txBox="1"/>
          <p:nvPr/>
        </p:nvSpPr>
        <p:spPr>
          <a:xfrm>
            <a:off x="640080" y="1801368"/>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Contracted hours a week</a:t>
            </a:r>
            <a:endParaRPr lang="en-US" sz="1600" dirty="0"/>
          </a:p>
        </p:txBody>
      </p:sp>
      <p:sp>
        <p:nvSpPr>
          <p:cNvPr id="8" name="Text 6"/>
          <p:cNvSpPr txBox="1"/>
          <p:nvPr/>
        </p:nvSpPr>
        <p:spPr>
          <a:xfrm>
            <a:off x="4663440" y="1801368"/>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35h</a:t>
            </a:r>
            <a:endParaRPr lang="en-US" sz="1800" dirty="0"/>
          </a:p>
        </p:txBody>
      </p:sp>
      <p:sp>
        <p:nvSpPr>
          <p:cNvPr id="9" name="Text 7"/>
          <p:cNvSpPr txBox="1"/>
          <p:nvPr/>
        </p:nvSpPr>
        <p:spPr>
          <a:xfrm>
            <a:off x="6675120" y="1801368"/>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35h</a:t>
            </a:r>
            <a:endParaRPr lang="en-US" sz="2000" dirty="0"/>
          </a:p>
        </p:txBody>
      </p:sp>
      <p:sp>
        <p:nvSpPr>
          <p:cNvPr id="10" name="Shape 8"/>
          <p:cNvSpPr/>
          <p:nvPr/>
        </p:nvSpPr>
        <p:spPr>
          <a:xfrm>
            <a:off x="457200" y="2550101"/>
            <a:ext cx="8229600" cy="623944"/>
          </a:xfrm>
          <a:prstGeom prst="roundRect">
            <a:avLst>
              <a:gd name="adj" fmla="val 6764"/>
            </a:avLst>
          </a:prstGeom>
          <a:solidFill>
            <a:srgbClr val="FFFFFF"/>
          </a:solidFill>
          <a:ln w="12700">
            <a:solidFill>
              <a:srgbClr val="DDE3EA"/>
            </a:solidFill>
            <a:prstDash val="solid"/>
          </a:ln>
        </p:spPr>
      </p:sp>
      <p:sp>
        <p:nvSpPr>
          <p:cNvPr id="11" name="Text 9"/>
          <p:cNvSpPr txBox="1"/>
          <p:nvPr/>
        </p:nvSpPr>
        <p:spPr>
          <a:xfrm>
            <a:off x="640080" y="2550101"/>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Saturdays a year, at time and a quarter</a:t>
            </a:r>
            <a:endParaRPr lang="en-US" sz="1600" dirty="0"/>
          </a:p>
        </p:txBody>
      </p:sp>
      <p:sp>
        <p:nvSpPr>
          <p:cNvPr id="12" name="Text 10"/>
          <p:cNvSpPr txBox="1"/>
          <p:nvPr/>
        </p:nvSpPr>
        <p:spPr>
          <a:xfrm>
            <a:off x="4663440" y="2550101"/>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26</a:t>
            </a:r>
            <a:endParaRPr lang="en-US" sz="1800" dirty="0"/>
          </a:p>
        </p:txBody>
      </p:sp>
      <p:sp>
        <p:nvSpPr>
          <p:cNvPr id="13" name="Text 11"/>
          <p:cNvSpPr txBox="1"/>
          <p:nvPr/>
        </p:nvSpPr>
        <p:spPr>
          <a:xfrm>
            <a:off x="6675120" y="2550101"/>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28</a:t>
            </a:r>
            <a:endParaRPr lang="en-US" sz="2000" dirty="0"/>
          </a:p>
        </p:txBody>
      </p:sp>
      <p:sp>
        <p:nvSpPr>
          <p:cNvPr id="14" name="Shape 12"/>
          <p:cNvSpPr/>
          <p:nvPr/>
        </p:nvSpPr>
        <p:spPr>
          <a:xfrm>
            <a:off x="457200" y="3298834"/>
            <a:ext cx="8229600" cy="623944"/>
          </a:xfrm>
          <a:prstGeom prst="roundRect">
            <a:avLst>
              <a:gd name="adj" fmla="val 6764"/>
            </a:avLst>
          </a:prstGeom>
          <a:solidFill>
            <a:srgbClr val="EEF2F7"/>
          </a:solidFill>
          <a:ln w="12700">
            <a:solidFill>
              <a:srgbClr val="EEF2F7"/>
            </a:solidFill>
            <a:prstDash val="solid"/>
          </a:ln>
        </p:spPr>
      </p:sp>
      <p:sp>
        <p:nvSpPr>
          <p:cNvPr id="15" name="Text 13"/>
          <p:cNvSpPr txBox="1"/>
          <p:nvPr/>
        </p:nvSpPr>
        <p:spPr>
          <a:xfrm>
            <a:off x="640080" y="3298834"/>
            <a:ext cx="4023360" cy="623944"/>
          </a:xfrm>
          <a:prstGeom prst="rect">
            <a:avLst/>
          </a:prstGeom>
          <a:noFill/>
          <a:ln/>
        </p:spPr>
        <p:txBody>
          <a:bodyPr wrap="square" lIns="0" tIns="0" rIns="0" bIns="0" rtlCol="0" anchor="ctr"/>
          <a:lstStyle/>
          <a:p>
            <a:pPr indent="0" marL="0">
              <a:buNone/>
            </a:pPr>
            <a:r>
              <a:rPr lang="en-US" sz="1600" dirty="0">
                <a:solidFill>
                  <a:srgbClr val="1B2533"/>
                </a:solidFill>
                <a:latin typeface="Inter" pitchFamily="34" charset="0"/>
                <a:ea typeface="Inter" pitchFamily="34" charset="-122"/>
                <a:cs typeface="Inter" pitchFamily="34" charset="-120"/>
              </a:rPr>
              <a:t>Sunday overtime to share — each, a year</a:t>
            </a:r>
            <a:endParaRPr lang="en-US" sz="1600" dirty="0"/>
          </a:p>
        </p:txBody>
      </p:sp>
      <p:sp>
        <p:nvSpPr>
          <p:cNvPr id="16" name="Text 14"/>
          <p:cNvSpPr txBox="1"/>
          <p:nvPr/>
        </p:nvSpPr>
        <p:spPr>
          <a:xfrm>
            <a:off x="4663440" y="3298834"/>
            <a:ext cx="2011680" cy="623944"/>
          </a:xfrm>
          <a:prstGeom prst="rect">
            <a:avLst/>
          </a:prstGeom>
          <a:noFill/>
          <a:ln/>
        </p:spPr>
        <p:txBody>
          <a:bodyPr wrap="square" lIns="0" tIns="0" rIns="0" bIns="0" rtlCol="0" anchor="ctr"/>
          <a:lstStyle/>
          <a:p>
            <a:pPr algn="ctr" indent="0" marL="0">
              <a:buNone/>
            </a:pPr>
            <a:r>
              <a:rPr lang="en-US" sz="1800" dirty="0">
                <a:solidFill>
                  <a:srgbClr val="5B6778"/>
                </a:solidFill>
                <a:latin typeface="Inter" pitchFamily="34" charset="0"/>
                <a:ea typeface="Inter" pitchFamily="34" charset="-122"/>
                <a:cs typeface="Inter" pitchFamily="34" charset="-120"/>
              </a:rPr>
              <a:t>21</a:t>
            </a:r>
            <a:endParaRPr lang="en-US" sz="1800" dirty="0"/>
          </a:p>
        </p:txBody>
      </p:sp>
      <p:sp>
        <p:nvSpPr>
          <p:cNvPr id="17" name="Text 15"/>
          <p:cNvSpPr txBox="1"/>
          <p:nvPr/>
        </p:nvSpPr>
        <p:spPr>
          <a:xfrm>
            <a:off x="6675120" y="3298834"/>
            <a:ext cx="2011680" cy="623944"/>
          </a:xfrm>
          <a:prstGeom prst="rect">
            <a:avLst/>
          </a:prstGeom>
          <a:noFill/>
          <a:ln/>
        </p:spPr>
        <p:txBody>
          <a:bodyPr wrap="square" lIns="0" tIns="0" rIns="0" bIns="0" rtlCol="0" anchor="ctr"/>
          <a:lstStyle/>
          <a:p>
            <a:pPr algn="ctr" indent="0" marL="0">
              <a:buNone/>
            </a:pPr>
            <a:r>
              <a:rPr lang="en-US" sz="2000" b="1" dirty="0">
                <a:solidFill>
                  <a:srgbClr val="001E3C"/>
                </a:solidFill>
                <a:latin typeface="Inter" pitchFamily="34" charset="0"/>
                <a:ea typeface="Inter" pitchFamily="34" charset="-122"/>
                <a:cs typeface="Inter" pitchFamily="34" charset="-120"/>
              </a:rPr>
              <a:t>20</a:t>
            </a:r>
            <a:endParaRPr lang="en-US" sz="20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15:45,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60 minutes shorter; nothing Monday to Saturday runs over 8h 30m, and nothing at all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3 more a year after 23:00 (42, today 39); 16 more at 22:00 or later (94,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461176"/>
          </a:xfrm>
          <a:prstGeom prst="roundRect">
            <a:avLst>
              <a:gd name="adj" fmla="val 9151"/>
            </a:avLst>
          </a:prstGeom>
          <a:solidFill>
            <a:srgbClr val="EEF2F7"/>
          </a:solidFill>
          <a:ln w="12700">
            <a:solidFill>
              <a:srgbClr val="EEF2F7"/>
            </a:solidFill>
            <a:prstDash val="solid"/>
          </a:ln>
        </p:spPr>
      </p:sp>
      <p:sp>
        <p:nvSpPr>
          <p:cNvPr id="7" name="Text 5"/>
          <p:cNvSpPr txBox="1"/>
          <p:nvPr/>
        </p:nvSpPr>
        <p:spPr>
          <a:xfrm>
            <a:off x="640080" y="1801368"/>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461176"/>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354779"/>
            <a:ext cx="8229600" cy="461176"/>
          </a:xfrm>
          <a:prstGeom prst="roundRect">
            <a:avLst>
              <a:gd name="adj" fmla="val 9151"/>
            </a:avLst>
          </a:prstGeom>
          <a:solidFill>
            <a:srgbClr val="FFFFFF"/>
          </a:solidFill>
          <a:ln w="12700">
            <a:solidFill>
              <a:srgbClr val="DDE3EA"/>
            </a:solidFill>
            <a:prstDash val="solid"/>
          </a:ln>
        </p:spPr>
      </p:sp>
      <p:sp>
        <p:nvSpPr>
          <p:cNvPr id="11" name="Text 9"/>
          <p:cNvSpPr txBox="1"/>
          <p:nvPr/>
        </p:nvSpPr>
        <p:spPr>
          <a:xfrm>
            <a:off x="640080" y="2354779"/>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354779"/>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354779"/>
            <a:ext cx="2011680" cy="461176"/>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908190"/>
            <a:ext cx="8229600" cy="461176"/>
          </a:xfrm>
          <a:prstGeom prst="roundRect">
            <a:avLst>
              <a:gd name="adj" fmla="val 9151"/>
            </a:avLst>
          </a:prstGeom>
          <a:solidFill>
            <a:srgbClr val="EEF2F7"/>
          </a:solidFill>
          <a:ln w="12700">
            <a:solidFill>
              <a:srgbClr val="EEF2F7"/>
            </a:solidFill>
            <a:prstDash val="solid"/>
          </a:ln>
        </p:spPr>
      </p:sp>
      <p:sp>
        <p:nvSpPr>
          <p:cNvPr id="15" name="Text 13"/>
          <p:cNvSpPr txBox="1"/>
          <p:nvPr/>
        </p:nvSpPr>
        <p:spPr>
          <a:xfrm>
            <a:off x="640080" y="2908190"/>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908190"/>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908190"/>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461601"/>
            <a:ext cx="8229600" cy="461176"/>
          </a:xfrm>
          <a:prstGeom prst="roundRect">
            <a:avLst>
              <a:gd name="adj" fmla="val 9151"/>
            </a:avLst>
          </a:prstGeom>
          <a:solidFill>
            <a:srgbClr val="FFFFFF"/>
          </a:solidFill>
          <a:ln w="12700">
            <a:solidFill>
              <a:srgbClr val="DDE3EA"/>
            </a:solidFill>
            <a:prstDash val="solid"/>
          </a:ln>
        </p:spPr>
      </p:sp>
      <p:sp>
        <p:nvSpPr>
          <p:cNvPr id="19" name="Text 17"/>
          <p:cNvSpPr txBox="1"/>
          <p:nvPr/>
        </p:nvSpPr>
        <p:spPr>
          <a:xfrm>
            <a:off x="640080" y="3461601"/>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461601"/>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461601"/>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More people stay on after 22:00 under the December staffing; the three more after 23:00 are the fewest the rules allow.</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13 shift times in all — 8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(8)</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06:20–13:45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08:00–16:30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(5)</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12:15–20:30 — a new late, 8h 15m</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15:45–23:55 — the weekday closer, 1 hour later than 14:45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(13, not 18) — and no early Monday to Saturday is new.</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7)</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18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never more than five days in a row on the fixed rota.</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Blocks of earlies or lates up to 5 weeks, 7 if the cover weeks go the same way; a full weekend off comes round at least every 5 weeks.</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461176"/>
          </a:xfrm>
          <a:prstGeom prst="roundRect">
            <a:avLst>
              <a:gd name="adj" fmla="val 9151"/>
            </a:avLst>
          </a:prstGeom>
          <a:solidFill>
            <a:srgbClr val="EEF2F7"/>
          </a:solidFill>
          <a:ln w="12700">
            <a:solidFill>
              <a:srgbClr val="EEF2F7"/>
            </a:solidFill>
            <a:prstDash val="solid"/>
          </a:ln>
        </p:spPr>
      </p:sp>
      <p:sp>
        <p:nvSpPr>
          <p:cNvPr id="7" name="Text 5"/>
          <p:cNvSpPr txBox="1"/>
          <p:nvPr/>
        </p:nvSpPr>
        <p:spPr>
          <a:xfrm>
            <a:off x="640080" y="1801368"/>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461176"/>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54779"/>
            <a:ext cx="8229600" cy="461176"/>
          </a:xfrm>
          <a:prstGeom prst="roundRect">
            <a:avLst>
              <a:gd name="adj" fmla="val 9151"/>
            </a:avLst>
          </a:prstGeom>
          <a:solidFill>
            <a:srgbClr val="FFFFFF"/>
          </a:solidFill>
          <a:ln w="12700">
            <a:solidFill>
              <a:srgbClr val="DDE3EA"/>
            </a:solidFill>
            <a:prstDash val="solid"/>
          </a:ln>
        </p:spPr>
      </p:sp>
      <p:sp>
        <p:nvSpPr>
          <p:cNvPr id="11" name="Text 9"/>
          <p:cNvSpPr txBox="1"/>
          <p:nvPr/>
        </p:nvSpPr>
        <p:spPr>
          <a:xfrm>
            <a:off x="640080" y="2354779"/>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354779"/>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354779"/>
            <a:ext cx="2011680" cy="461176"/>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908190"/>
            <a:ext cx="8229600" cy="461176"/>
          </a:xfrm>
          <a:prstGeom prst="roundRect">
            <a:avLst>
              <a:gd name="adj" fmla="val 9151"/>
            </a:avLst>
          </a:prstGeom>
          <a:solidFill>
            <a:srgbClr val="EEF2F7"/>
          </a:solidFill>
          <a:ln w="12700">
            <a:solidFill>
              <a:srgbClr val="EEF2F7"/>
            </a:solidFill>
            <a:prstDash val="solid"/>
          </a:ln>
        </p:spPr>
      </p:sp>
      <p:sp>
        <p:nvSpPr>
          <p:cNvPr id="15" name="Text 13"/>
          <p:cNvSpPr txBox="1"/>
          <p:nvPr/>
        </p:nvSpPr>
        <p:spPr>
          <a:xfrm>
            <a:off x="640080" y="2908190"/>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908190"/>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908190"/>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461601"/>
            <a:ext cx="8229600" cy="461176"/>
          </a:xfrm>
          <a:prstGeom prst="roundRect">
            <a:avLst>
              <a:gd name="adj" fmla="val 9151"/>
            </a:avLst>
          </a:prstGeom>
          <a:solidFill>
            <a:srgbClr val="FFFFFF"/>
          </a:solidFill>
          <a:ln w="12700">
            <a:solidFill>
              <a:srgbClr val="DDE3EA"/>
            </a:solidFill>
            <a:prstDash val="solid"/>
          </a:ln>
        </p:spPr>
      </p:sp>
      <p:sp>
        <p:nvSpPr>
          <p:cNvPr id="19" name="Text 17"/>
          <p:cNvSpPr txBox="1"/>
          <p:nvPr/>
        </p:nvSpPr>
        <p:spPr>
          <a:xfrm>
            <a:off x="640080" y="3461601"/>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461601"/>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461601"/>
            <a:ext cx="2011680" cy="461176"/>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and more at the open and the close on most days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Even Step</a:t>
            </a:r>
            <a:endParaRPr lang="en-US" sz="1300" dirty="0"/>
          </a:p>
        </p:txBody>
      </p:sp>
      <p:sp>
        <p:nvSpPr>
          <p:cNvPr id="6" name="Shape 4"/>
          <p:cNvSpPr/>
          <p:nvPr/>
        </p:nvSpPr>
        <p:spPr>
          <a:xfrm>
            <a:off x="457200" y="1801368"/>
            <a:ext cx="8229600" cy="461176"/>
          </a:xfrm>
          <a:prstGeom prst="roundRect">
            <a:avLst>
              <a:gd name="adj" fmla="val 9151"/>
            </a:avLst>
          </a:prstGeom>
          <a:solidFill>
            <a:srgbClr val="EEF2F7"/>
          </a:solidFill>
          <a:ln w="12700">
            <a:solidFill>
              <a:srgbClr val="EEF2F7"/>
            </a:solidFill>
            <a:prstDash val="solid"/>
          </a:ln>
        </p:spPr>
      </p:sp>
      <p:sp>
        <p:nvSpPr>
          <p:cNvPr id="7" name="Text 5"/>
          <p:cNvSpPr txBox="1"/>
          <p:nvPr/>
        </p:nvSpPr>
        <p:spPr>
          <a:xfrm>
            <a:off x="640080" y="1801368"/>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354779"/>
            <a:ext cx="8229600" cy="461176"/>
          </a:xfrm>
          <a:prstGeom prst="roundRect">
            <a:avLst>
              <a:gd name="adj" fmla="val 9151"/>
            </a:avLst>
          </a:prstGeom>
          <a:solidFill>
            <a:srgbClr val="FFFFFF"/>
          </a:solidFill>
          <a:ln w="12700">
            <a:solidFill>
              <a:srgbClr val="DDE3EA"/>
            </a:solidFill>
            <a:prstDash val="solid"/>
          </a:ln>
        </p:spPr>
      </p:sp>
      <p:sp>
        <p:nvSpPr>
          <p:cNvPr id="11" name="Text 9"/>
          <p:cNvSpPr txBox="1"/>
          <p:nvPr/>
        </p:nvSpPr>
        <p:spPr>
          <a:xfrm>
            <a:off x="640080" y="2354779"/>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354779"/>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354779"/>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08190"/>
            <a:ext cx="8229600" cy="461176"/>
          </a:xfrm>
          <a:prstGeom prst="roundRect">
            <a:avLst>
              <a:gd name="adj" fmla="val 9151"/>
            </a:avLst>
          </a:prstGeom>
          <a:solidFill>
            <a:srgbClr val="EEF2F7"/>
          </a:solidFill>
          <a:ln w="12700">
            <a:solidFill>
              <a:srgbClr val="EEF2F7"/>
            </a:solidFill>
            <a:prstDash val="solid"/>
          </a:ln>
        </p:spPr>
      </p:sp>
      <p:sp>
        <p:nvSpPr>
          <p:cNvPr id="15" name="Text 13"/>
          <p:cNvSpPr txBox="1"/>
          <p:nvPr/>
        </p:nvSpPr>
        <p:spPr>
          <a:xfrm>
            <a:off x="640080" y="2908190"/>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908190"/>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908190"/>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461601"/>
            <a:ext cx="8229600" cy="461176"/>
          </a:xfrm>
          <a:prstGeom prst="roundRect">
            <a:avLst>
              <a:gd name="adj" fmla="val 9151"/>
            </a:avLst>
          </a:prstGeom>
          <a:solidFill>
            <a:srgbClr val="FFFFFF"/>
          </a:solidFill>
          <a:ln w="12700">
            <a:solidFill>
              <a:srgbClr val="DDE3EA"/>
            </a:solidFill>
            <a:prstDash val="solid"/>
          </a:ln>
        </p:spPr>
      </p:sp>
      <p:sp>
        <p:nvSpPr>
          <p:cNvPr id="19" name="Text 17"/>
          <p:cNvSpPr txBox="1"/>
          <p:nvPr/>
        </p:nvSpPr>
        <p:spPr>
          <a:xfrm>
            <a:off x="640080" y="3461601"/>
            <a:ext cx="4023360" cy="461176"/>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461601"/>
            <a:ext cx="2011680" cy="461176"/>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461601"/>
            <a:ext cx="2011680" cy="461176"/>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 (up to 1)</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Five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shorter versions of today’s lates; no early Monday to Saturday is new.</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keeps days at work to 219 a year or fewer on the same 35 hours.</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The least leave for four complete weeks off, Sunday to Saturday.</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Even Step,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Even Step</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10m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 (up to 7)</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35m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13 (8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 (up to 1)</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Even Step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Even Step · ES-26-T5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 Step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