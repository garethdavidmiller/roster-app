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Seven full weekends off in every 26 weeks, against four in 20 today, and never more than five weeks apart — though each person works about two more Saturdays a year. Nine of the fifteen shift times are ones people already work. And every closing shift is shorter: the weekday and Saturday closers by 30 minutes, the Sunday closer by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Second Wind. Exactly, Second Wind works out at 218.6 days a year: just under today’s 219, which is also the most the 26-week link is allowed (agreed 1 October 2026).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today’s weekdays have two. In Second Wind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20m,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Wind was built the way Familiar Nine was: keeping the times people already work wherever that cost little. Nine of its fifteen are worked today, and it uses fewer different times overall than today’s eighteen. Three of the six new ones are today’s shifts starting later — the weekday closer, the Sunday closer and the Sunday ticket-office late — so they are shorter, not longer.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Second Wind gives 7 in 26, and they are never more than five weeks apart, against seven today. Five is as close as they can be: a full weekend cannot start in a cover week or the week before one, so only 16 of the 26 weeks can begin one. Most weeks keep the same shift time Monday to Friday — 16 of the 21 working weeks — and all but four are all earlies or all lates, where today seven weeks in 16 mix the two. Rest days mostly come in pairs — 22 of the 26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A weekday has 7 earlies and 8 lates; a Saturday 7 and 7; a Sunday 5 and 5. Sundays: today 8 Sunday duties across 16 working weeks, Second Wind 10 across 21 — about the same share of working weeks. With six more people to share them, that is about one fewer Sunday a year each (20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Second Wind spreads rest days more evenly, so its best is 27. On average it is the same, 23.4 days, and at its worst it is a day better than today. Four full weeks off (Sunday to Saturday) takes at least 15 days of leave, instead of 14 at best today.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Second Wind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Wind</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SW-26-F1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7 in 26</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at most 5 weeks apart</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 already work</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shorter on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45 min on a Sunday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and weekends off never more than five weeks apart.</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233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334552"/>
            <a:ext cx="256032" cy="256032"/>
          </a:xfrm>
          <a:prstGeom prst="rect">
            <a:avLst/>
          </a:prstGeom>
        </p:spPr>
      </p:pic>
      <p:sp>
        <p:nvSpPr>
          <p:cNvPr id="10" name="Text 6"/>
          <p:cNvSpPr txBox="1"/>
          <p:nvPr/>
        </p:nvSpPr>
        <p:spPr>
          <a:xfrm>
            <a:off x="1097280" y="2197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480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3096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3196920"/>
            <a:ext cx="256032" cy="256032"/>
          </a:xfrm>
          <a:prstGeom prst="rect">
            <a:avLst/>
          </a:prstGeom>
        </p:spPr>
      </p:pic>
      <p:sp>
        <p:nvSpPr>
          <p:cNvPr id="14" name="Text 9"/>
          <p:cNvSpPr txBox="1"/>
          <p:nvPr/>
        </p:nvSpPr>
        <p:spPr>
          <a:xfrm>
            <a:off x="1097280" y="3059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343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958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4059288"/>
            <a:ext cx="256032" cy="256032"/>
          </a:xfrm>
          <a:prstGeom prst="rect">
            <a:avLst/>
          </a:prstGeom>
        </p:spPr>
      </p:pic>
      <p:sp>
        <p:nvSpPr>
          <p:cNvPr id="18" name="Text 12"/>
          <p:cNvSpPr txBox="1"/>
          <p:nvPr/>
        </p:nvSpPr>
        <p:spPr>
          <a:xfrm>
            <a:off x="1097280" y="3922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4205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219</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no more contracted days than today.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 little — about 42 a year each, against 39 today</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Three more late finishes a year — the fewest the rules allow — and every closer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06:20–14:00 · 06:20–14:20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06:20–14:50 · 07:15–15:45</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08:00–16:30 · 12:00–20:00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14:00–22:30 · 14:30–22:00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15:15–23:55</a:t>
            </a:r>
            <a:endParaRPr lang="en-US" sz="120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07:00–16:00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15:00–22:30 — a new late, ending with the ticket office</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nothing new — every Saturday time is worked today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nothing new on a Saturday.</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in 26</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16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Seven weekends off in 26, never more than five weeks apart,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much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About 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Saturday and Sunday split evenly; a weekday has one more late than early.</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(settled 28 Sep 2026).</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the same balance.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27</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at most 4 days of leave,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9752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today’s lates starting later, so shorter.</a:t>
            </a:r>
            <a:endParaRPr lang="en-US" sz="1250" dirty="0"/>
          </a:p>
        </p:txBody>
      </p:sp>
      <p:sp>
        <p:nvSpPr>
          <p:cNvPr id="7" name="Shape 5"/>
          <p:cNvSpPr/>
          <p:nvPr/>
        </p:nvSpPr>
        <p:spPr>
          <a:xfrm>
            <a:off x="4663440" y="1371600"/>
            <a:ext cx="4023360" cy="9752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It keeps days at work to 219 a year or fewer.</a:t>
            </a:r>
            <a:endParaRPr lang="en-US" sz="1250" dirty="0"/>
          </a:p>
        </p:txBody>
      </p:sp>
      <p:sp>
        <p:nvSpPr>
          <p:cNvPr id="10" name="Shape 8"/>
          <p:cNvSpPr/>
          <p:nvPr/>
        </p:nvSpPr>
        <p:spPr>
          <a:xfrm>
            <a:off x="457200" y="2456600"/>
            <a:ext cx="4023360" cy="9752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27 days, not 30</a:t>
            </a:r>
            <a:endParaRPr lang="en-US" sz="1400" dirty="0"/>
          </a:p>
        </p:txBody>
      </p:sp>
      <p:sp>
        <p:nvSpPr>
          <p:cNvPr id="12" name="Text 10"/>
          <p:cNvSpPr txBox="1"/>
          <p:nvPr/>
        </p:nvSpPr>
        <p:spPr>
          <a:xfrm>
            <a:off x="64008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Average as today, and the worst a day better.</a:t>
            </a:r>
            <a:endParaRPr lang="en-US" sz="1250" dirty="0"/>
          </a:p>
        </p:txBody>
      </p:sp>
      <p:sp>
        <p:nvSpPr>
          <p:cNvPr id="13" name="Shape 11"/>
          <p:cNvSpPr/>
          <p:nvPr/>
        </p:nvSpPr>
        <p:spPr>
          <a:xfrm>
            <a:off x="4663440" y="2456600"/>
            <a:ext cx="4023360" cy="9752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Five cover weeks</a:t>
            </a:r>
            <a:endParaRPr lang="en-US" sz="1400" dirty="0"/>
          </a:p>
        </p:txBody>
      </p:sp>
      <p:sp>
        <p:nvSpPr>
          <p:cNvPr id="15" name="Text 13"/>
          <p:cNvSpPr txBox="1"/>
          <p:nvPr/>
        </p:nvSpPr>
        <p:spPr>
          <a:xfrm>
            <a:off x="484632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Spaced evenly: weeks 1, 6, 11, 16 and 21.</a:t>
            </a:r>
            <a:endParaRPr lang="en-US" sz="1250" dirty="0"/>
          </a:p>
        </p:txBody>
      </p:sp>
      <p:sp>
        <p:nvSpPr>
          <p:cNvPr id="16" name="Shape 14"/>
          <p:cNvSpPr/>
          <p:nvPr/>
        </p:nvSpPr>
        <p:spPr>
          <a:xfrm>
            <a:off x="457200" y="3541600"/>
            <a:ext cx="4023360" cy="9752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541600"/>
            <a:ext cx="4023360" cy="9752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Second Wind,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Second Wind</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7 in 26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Second Wind · SW-26-F1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Wind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