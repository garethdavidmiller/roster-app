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Seven full weekends off in every 26 weeks, against four in 20 today, and never more than five weeks apart — though each person works about two more Saturdays a year. Every week is all earlies or all lates, and 18 of the 21 working weeks keep one shift time Monday to Friday. Nine of the fifteen shift times are ones people already work. And every closing shift is shorter: the weekday and Saturday closers by 30 minutes, the Sunday closer by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Second Edition. Exactly, Second Edition works out at 218.6 days a year: just under today’s 219, which is also the most the 26-week link is allowed (agreed 1 October 2026). The average shift is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today’s weekdays have two. In Second Edition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20m,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Edition was built the way Familiar Nine was: keeping the times people already work wherever that cost little. Nine of its fifteen are worked today, and it uses fewer different times overall than today’s eighteen. Three of the six new ones are today’s shifts starting later — the weekday closer, the Sunday closer and the Sunday ticket-office late — so they are shorter, not longer.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Second Edition gives 7 in 26, and they are never more than five weeks apart, against seven today. Five is as close as they can be: a full weekend cannot start in a cover week or the week before one, so only 16 of the 26 weeks can begin one.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Earlies here means a start before 11:00. A weekday has 7 earlies and 8 lates; a Saturday 7 and 7; a Sunday 5 and 5. Sundays: today 8 Sunday duties across 16 working weeks, Second Edition 10 across 21 — about the same share of working weeks. With six more people to share them, that is about one fewer Sunday a year each (20 against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Second Edition spreads rest days more evenly, so its best is 28. On average it is the same, 23.4 days, and at its worst it is a day better than today. Four full weeks off (Sunday to Saturday) takes at least 15 days of leave, instead of 14 at best today. The exact averages depend on where you count a booking as starting, so quote them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Second Edition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Second Edition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SE-26-F1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contracted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7, up to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7 in 26</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at most 5 weeks apart</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the same shift time most weeks.</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233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334552"/>
            <a:ext cx="256032" cy="256032"/>
          </a:xfrm>
          <a:prstGeom prst="rect">
            <a:avLst/>
          </a:prstGeom>
        </p:spPr>
      </p:pic>
      <p:sp>
        <p:nvSpPr>
          <p:cNvPr id="10" name="Text 6"/>
          <p:cNvSpPr txBox="1"/>
          <p:nvPr/>
        </p:nvSpPr>
        <p:spPr>
          <a:xfrm>
            <a:off x="1097280" y="2197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480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3096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3196920"/>
            <a:ext cx="256032" cy="256032"/>
          </a:xfrm>
          <a:prstGeom prst="rect">
            <a:avLst/>
          </a:prstGeom>
        </p:spPr>
      </p:pic>
      <p:sp>
        <p:nvSpPr>
          <p:cNvPr id="14" name="Text 9"/>
          <p:cNvSpPr txBox="1"/>
          <p:nvPr/>
        </p:nvSpPr>
        <p:spPr>
          <a:xfrm>
            <a:off x="1097280" y="3059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343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958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4059288"/>
            <a:ext cx="256032" cy="256032"/>
          </a:xfrm>
          <a:prstGeom prst="rect">
            <a:avLst/>
          </a:prstGeom>
        </p:spPr>
      </p:pic>
      <p:sp>
        <p:nvSpPr>
          <p:cNvPr id="18" name="Text 12"/>
          <p:cNvSpPr txBox="1"/>
          <p:nvPr/>
        </p:nvSpPr>
        <p:spPr>
          <a:xfrm>
            <a:off x="1097280" y="3922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4205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219</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no more contracted days than today.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0" name="Text 18"/>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 little — about 42 a year each, against 39 today</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Three more late finishes a year — the fewest the rules allow — and every closer is shorter.</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06:20–14:00 · 06:20–14:20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07:15–15:45</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08:00–16:30 · 12:00–20:00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14:00–22:30 · 14:30–22:00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07:00–16:00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15:00–22:30 — a new late, ending with the ticket office</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nothing new — every Saturday time is worked today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nothing new on a Saturday.</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in 26</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Monday to Friday</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Seven weekends off in 26, at most five weeks apart, and one shift time in 18 of 21 weeks.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Earlies, lates and Sundays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balance you have now stays much the same</a:t>
            </a:r>
            <a:endParaRPr lang="en-US" sz="1500" dirty="0"/>
          </a:p>
        </p:txBody>
      </p:sp>
      <p:sp>
        <p:nvSpPr>
          <p:cNvPr id="4" name="Shape 2"/>
          <p:cNvSpPr/>
          <p:nvPr/>
        </p:nvSpPr>
        <p:spPr>
          <a:xfrm>
            <a:off x="457200" y="1417320"/>
            <a:ext cx="2606040" cy="2514600"/>
          </a:xfrm>
          <a:prstGeom prst="roundRect">
            <a:avLst>
              <a:gd name="adj" fmla="val 3636"/>
            </a:avLst>
          </a:prstGeom>
          <a:solidFill>
            <a:srgbClr val="EEF2F7"/>
          </a:solidFill>
          <a:ln w="12700">
            <a:solidFill>
              <a:srgbClr val="EEF2F7"/>
            </a:solidFill>
            <a:prstDash val="solid"/>
          </a:ln>
        </p:spPr>
      </p:sp>
      <p:sp>
        <p:nvSpPr>
          <p:cNvPr id="5" name="Shape 3"/>
          <p:cNvSpPr/>
          <p:nvPr/>
        </p:nvSpPr>
        <p:spPr>
          <a:xfrm>
            <a:off x="640080" y="1600200"/>
            <a:ext cx="502920" cy="50292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50722" y="1710842"/>
            <a:ext cx="281635" cy="281635"/>
          </a:xfrm>
          <a:prstGeom prst="rect">
            <a:avLst/>
          </a:prstGeom>
        </p:spPr>
      </p:pic>
      <p:sp>
        <p:nvSpPr>
          <p:cNvPr id="7" name="Text 4"/>
          <p:cNvSpPr txBox="1"/>
          <p:nvPr/>
        </p:nvSpPr>
        <p:spPr>
          <a:xfrm>
            <a:off x="64008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About half earlies, half lates</a:t>
            </a:r>
            <a:endParaRPr lang="en-US" sz="1600" dirty="0"/>
          </a:p>
        </p:txBody>
      </p:sp>
      <p:sp>
        <p:nvSpPr>
          <p:cNvPr id="8" name="Text 5"/>
          <p:cNvSpPr txBox="1"/>
          <p:nvPr/>
        </p:nvSpPr>
        <p:spPr>
          <a:xfrm>
            <a:off x="64008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Saturday and Sunday split evenly; a weekday has one more late than early.</a:t>
            </a:r>
            <a:endParaRPr lang="en-US" sz="1300" dirty="0"/>
          </a:p>
        </p:txBody>
      </p:sp>
      <p:sp>
        <p:nvSpPr>
          <p:cNvPr id="9" name="Shape 6"/>
          <p:cNvSpPr/>
          <p:nvPr/>
        </p:nvSpPr>
        <p:spPr>
          <a:xfrm>
            <a:off x="3246120" y="1417320"/>
            <a:ext cx="2606040" cy="2514600"/>
          </a:xfrm>
          <a:prstGeom prst="roundRect">
            <a:avLst>
              <a:gd name="adj" fmla="val 3636"/>
            </a:avLst>
          </a:prstGeom>
          <a:solidFill>
            <a:srgbClr val="EEF2F7"/>
          </a:solidFill>
          <a:ln w="12700">
            <a:solidFill>
              <a:srgbClr val="EEF2F7"/>
            </a:solidFill>
            <a:prstDash val="solid"/>
          </a:ln>
        </p:spPr>
      </p:sp>
      <p:sp>
        <p:nvSpPr>
          <p:cNvPr id="10" name="Shape 7"/>
          <p:cNvSpPr/>
          <p:nvPr/>
        </p:nvSpPr>
        <p:spPr>
          <a:xfrm>
            <a:off x="3429000" y="1600200"/>
            <a:ext cx="502920" cy="50292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3539642" y="1710842"/>
            <a:ext cx="281635" cy="281635"/>
          </a:xfrm>
          <a:prstGeom prst="rect">
            <a:avLst/>
          </a:prstGeom>
        </p:spPr>
      </p:pic>
      <p:sp>
        <p:nvSpPr>
          <p:cNvPr id="12" name="Text 8"/>
          <p:cNvSpPr txBox="1"/>
          <p:nvPr/>
        </p:nvSpPr>
        <p:spPr>
          <a:xfrm>
            <a:off x="342900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Sundays are still overtime</a:t>
            </a:r>
            <a:endParaRPr lang="en-US" sz="1600" dirty="0"/>
          </a:p>
        </p:txBody>
      </p:sp>
      <p:sp>
        <p:nvSpPr>
          <p:cNvPr id="13" name="Text 9"/>
          <p:cNvSpPr txBox="1"/>
          <p:nvPr/>
        </p:nvSpPr>
        <p:spPr>
          <a:xfrm>
            <a:off x="342900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Not part of the contract, same as now — and about the same number of Sundays as today.</a:t>
            </a:r>
            <a:endParaRPr lang="en-US" sz="1300" dirty="0"/>
          </a:p>
        </p:txBody>
      </p:sp>
      <p:sp>
        <p:nvSpPr>
          <p:cNvPr id="14" name="Shape 10"/>
          <p:cNvSpPr/>
          <p:nvPr/>
        </p:nvSpPr>
        <p:spPr>
          <a:xfrm>
            <a:off x="6035040" y="1417320"/>
            <a:ext cx="2606040" cy="2514600"/>
          </a:xfrm>
          <a:prstGeom prst="roundRect">
            <a:avLst>
              <a:gd name="adj" fmla="val 3636"/>
            </a:avLst>
          </a:prstGeom>
          <a:solidFill>
            <a:srgbClr val="EEF2F7"/>
          </a:solidFill>
          <a:ln w="12700">
            <a:solidFill>
              <a:srgbClr val="EEF2F7"/>
            </a:solidFill>
            <a:prstDash val="solid"/>
          </a:ln>
        </p:spPr>
      </p:sp>
      <p:sp>
        <p:nvSpPr>
          <p:cNvPr id="15" name="Shape 11"/>
          <p:cNvSpPr/>
          <p:nvPr/>
        </p:nvSpPr>
        <p:spPr>
          <a:xfrm>
            <a:off x="6217920" y="1600200"/>
            <a:ext cx="502920" cy="502920"/>
          </a:xfrm>
          <a:prstGeom prst="ellipse">
            <a:avLst/>
          </a:prstGeom>
          <a:solidFill>
            <a:srgbClr val="F5C800"/>
          </a:solidFill>
          <a:ln w="12700">
            <a:solidFill>
              <a:srgbClr val="F5C800"/>
            </a:solidFill>
            <a:prstDash val="solid"/>
          </a:ln>
        </p:spPr>
      </p:sp>
      <p:pic>
        <p:nvPicPr>
          <p:cNvPr id="16" name="Image 2" descr="preencoded.png">    </p:cNvPr>
          <p:cNvPicPr>
            <a:picLocks noChangeAspect="1"/>
          </p:cNvPicPr>
          <p:nvPr/>
        </p:nvPicPr>
        <p:blipFill>
          <a:blip r:embed="rId3"/>
          <a:stretch>
            <a:fillRect/>
          </a:stretch>
        </p:blipFill>
        <p:spPr>
          <a:xfrm>
            <a:off x="6328562" y="1710842"/>
            <a:ext cx="281635" cy="281635"/>
          </a:xfrm>
          <a:prstGeom prst="rect">
            <a:avLst/>
          </a:prstGeom>
        </p:spPr>
      </p:pic>
      <p:sp>
        <p:nvSpPr>
          <p:cNvPr id="17" name="Text 12"/>
          <p:cNvSpPr txBox="1"/>
          <p:nvPr/>
        </p:nvSpPr>
        <p:spPr>
          <a:xfrm>
            <a:off x="621792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Nobody past 23:25 on a Sunday</a:t>
            </a:r>
            <a:endParaRPr lang="en-US" sz="1600" dirty="0"/>
          </a:p>
        </p:txBody>
      </p:sp>
      <p:sp>
        <p:nvSpPr>
          <p:cNvPr id="18" name="Text 13"/>
          <p:cNvSpPr txBox="1"/>
          <p:nvPr/>
        </p:nvSpPr>
        <p:spPr>
          <a:xfrm>
            <a:off x="621792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Sunday finish stays where it is. That is agreed practice (settled 28 Sep 2026).</a:t>
            </a:r>
            <a:endParaRPr lang="en-US" sz="1300" dirty="0"/>
          </a:p>
        </p:txBody>
      </p:sp>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the same balance. Sundays stay overtime and still finish at 23:25.</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About the same. A cover week still counts as at most 4 days of leave, as now.</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9752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Three are today’s lates starting later, so shorter.</a:t>
            </a:r>
            <a:endParaRPr lang="en-US" sz="1250" dirty="0"/>
          </a:p>
        </p:txBody>
      </p:sp>
      <p:sp>
        <p:nvSpPr>
          <p:cNvPr id="7" name="Shape 5"/>
          <p:cNvSpPr/>
          <p:nvPr/>
        </p:nvSpPr>
        <p:spPr>
          <a:xfrm>
            <a:off x="4663440" y="1371600"/>
            <a:ext cx="4023360" cy="9752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2 minutes longer on average</a:t>
            </a:r>
            <a:endParaRPr lang="en-US" sz="1400" dirty="0"/>
          </a:p>
        </p:txBody>
      </p:sp>
      <p:sp>
        <p:nvSpPr>
          <p:cNvPr id="9" name="Text 7"/>
          <p:cNvSpPr txBox="1"/>
          <p:nvPr/>
        </p:nvSpPr>
        <p:spPr>
          <a:xfrm>
            <a:off x="484632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It keeps days at work to 219 a year or fewer.</a:t>
            </a:r>
            <a:endParaRPr lang="en-US" sz="1250" dirty="0"/>
          </a:p>
        </p:txBody>
      </p:sp>
      <p:sp>
        <p:nvSpPr>
          <p:cNvPr id="10" name="Shape 8"/>
          <p:cNvSpPr/>
          <p:nvPr/>
        </p:nvSpPr>
        <p:spPr>
          <a:xfrm>
            <a:off x="457200" y="2456600"/>
            <a:ext cx="4023360" cy="9752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Best leave stretch: 28 days, not 30</a:t>
            </a:r>
            <a:endParaRPr lang="en-US" sz="1400" dirty="0"/>
          </a:p>
        </p:txBody>
      </p:sp>
      <p:sp>
        <p:nvSpPr>
          <p:cNvPr id="12" name="Text 10"/>
          <p:cNvSpPr txBox="1"/>
          <p:nvPr/>
        </p:nvSpPr>
        <p:spPr>
          <a:xfrm>
            <a:off x="64008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Average as today, and the worst a day better.</a:t>
            </a:r>
            <a:endParaRPr lang="en-US" sz="1250" dirty="0"/>
          </a:p>
        </p:txBody>
      </p:sp>
      <p:sp>
        <p:nvSpPr>
          <p:cNvPr id="13" name="Shape 11"/>
          <p:cNvSpPr/>
          <p:nvPr/>
        </p:nvSpPr>
        <p:spPr>
          <a:xfrm>
            <a:off x="4663440" y="2456600"/>
            <a:ext cx="4023360" cy="9752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Five cover weeks</a:t>
            </a:r>
            <a:endParaRPr lang="en-US" sz="1400" dirty="0"/>
          </a:p>
        </p:txBody>
      </p:sp>
      <p:sp>
        <p:nvSpPr>
          <p:cNvPr id="15" name="Text 13"/>
          <p:cNvSpPr txBox="1"/>
          <p:nvPr/>
        </p:nvSpPr>
        <p:spPr>
          <a:xfrm>
            <a:off x="484632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Spaced evenly: weeks 1, 6, 11, 16 and 21.</a:t>
            </a:r>
            <a:endParaRPr lang="en-US" sz="1250" dirty="0"/>
          </a:p>
        </p:txBody>
      </p:sp>
      <p:sp>
        <p:nvSpPr>
          <p:cNvPr id="16" name="Shape 14"/>
          <p:cNvSpPr/>
          <p:nvPr/>
        </p:nvSpPr>
        <p:spPr>
          <a:xfrm>
            <a:off x="457200" y="3541600"/>
            <a:ext cx="4023360" cy="9752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541600"/>
            <a:ext cx="4023360" cy="9752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Second Edition,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Second Edition</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in 20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7 in 26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Second Edition · SE-26-F1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Second Edition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