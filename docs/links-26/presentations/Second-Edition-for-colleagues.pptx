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six days in a row. Seven full weekends off in every 26 weeks, against four in 20 today, and never more than five weeks apart — though each person works about two more Saturdays a year. Every week is all earlies or all lates, and 18 of the 21 working weeks keep one shift time Monday to Friday. Nine of the fifteen shift times are ones people already work. And every closing shift is shorter: the weekday and Saturday closers by 30 minutes, the Sunday closer by 45. Say the leave cost here too, before anyone asks: four full weeks off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Second Edition. Exactly, Second Edition works out at 218.6 days a year: just under today’s 219, which is also the most the 26-week link is allowed (agreed 1 October 2026).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today’s weekdays have two. In Second Edition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Early 06:20 starts hardly change. And because the shortest gap between two shifts is 14h 20m, nobody finishes late and starts early the next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Edition was built keeping the times people already work wherever that cost little. Nine of its fifteen are worked today, and it uses fewer different times overall than today’s eighteen. Four of the six new ones are today’s shifts starting later — the weekday closer, the Sunday closer, and the ticket-office late on weekdays and on Sundays — so they are shorter, not longer.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Second Edition gives 7 in 26, and they are never more than five weeks apart, against seven today. Five is as close as they can be: a full weekend cannot start in a cover week or the week before one, so only 16 of the 26 weeks can begin one. Every working week is all earlies or all lates — today seven weeks in 16 mix the two — and 18 of the 21 keep the same shift time Monday to Friday. Rest days mostly come in pairs: 22 of the 26 rest-day breaks are two days or more, against 13 of 17 today, and single rest days stay at four, as today.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Second Edition spreads rest days more evenly, so its best is 28. On average it is the same, 23.4 days, and at its worst it is a day better than today. Four full weeks off (Sunday to Saturday) takes at least 15 days of leave, instead of 14 at best today. Say the four-weeks figure plainly: it is the one place every proposal in the pack is worse than today,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Second Edition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Second Edition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SE-26-F1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contracted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7, up to 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 a year</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 · at most 5 apart</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 already work</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shorter on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45 min on a Sunday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the same shift time most weeks.</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233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334552"/>
            <a:ext cx="256032" cy="256032"/>
          </a:xfrm>
          <a:prstGeom prst="rect">
            <a:avLst/>
          </a:prstGeom>
        </p:spPr>
      </p:pic>
      <p:sp>
        <p:nvSpPr>
          <p:cNvPr id="10" name="Text 6"/>
          <p:cNvSpPr txBox="1"/>
          <p:nvPr/>
        </p:nvSpPr>
        <p:spPr>
          <a:xfrm>
            <a:off x="1097280" y="2197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480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3096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3196920"/>
            <a:ext cx="256032" cy="256032"/>
          </a:xfrm>
          <a:prstGeom prst="rect">
            <a:avLst/>
          </a:prstGeom>
        </p:spPr>
      </p:pic>
      <p:sp>
        <p:nvSpPr>
          <p:cNvPr id="14" name="Text 9"/>
          <p:cNvSpPr txBox="1"/>
          <p:nvPr/>
        </p:nvSpPr>
        <p:spPr>
          <a:xfrm>
            <a:off x="1097280" y="3059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343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958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4059288"/>
            <a:ext cx="256032" cy="256032"/>
          </a:xfrm>
          <a:prstGeom prst="rect">
            <a:avLst/>
          </a:prstGeom>
        </p:spPr>
      </p:pic>
      <p:sp>
        <p:nvSpPr>
          <p:cNvPr id="18" name="Text 12"/>
          <p:cNvSpPr txBox="1"/>
          <p:nvPr/>
        </p:nvSpPr>
        <p:spPr>
          <a:xfrm>
            <a:off x="1097280" y="3922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4205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4.20</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219.0</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218.6</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and no more days; weeks run from 25h 30m to 42h 00m (today 25h 10m to 43h 50m), and two more of the days fall on a Saturday.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0" name="Text 18"/>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the longest early turn goes from 8h 30m to 9h 00m,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3 more a year after 23:00 (42, today 39); 16 more after 22:00 (94, today 78)</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people stay on after 22:00 under the December staffing; the three more after 23:00 are the fewest the rules allow.</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06:20–14:00 · 06:20–14:20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06:20–14:50 · 07:15–15:45</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08:00–16:30 · 12:00–20:00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14:00–22:30 · 14:30–22:00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15:15–23:55</a:t>
            </a:r>
            <a:endParaRPr lang="en-US" sz="120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07:00–16:00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15:00–22:30 — a new late, ending with the ticket office</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nothing new — every Saturday time is worked today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nothing new on a Saturday.</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one shift time in 18 of 21 weeks.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Each week is all earlies or all lates; the green bars are the full weekends off —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651760"/>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never more than five weeks apart; the longest run of one kind is 5 weeks of lates.</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at the open and the close</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9752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Four are today’s lates starting later, so shorter.</a:t>
            </a:r>
            <a:endParaRPr lang="en-US" sz="1250" dirty="0"/>
          </a:p>
        </p:txBody>
      </p:sp>
      <p:sp>
        <p:nvSpPr>
          <p:cNvPr id="7" name="Shape 5"/>
          <p:cNvSpPr/>
          <p:nvPr/>
        </p:nvSpPr>
        <p:spPr>
          <a:xfrm>
            <a:off x="4663440" y="1371600"/>
            <a:ext cx="4023360" cy="9752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It keeps days at work to 219 a year or fewer.</a:t>
            </a:r>
            <a:endParaRPr lang="en-US" sz="1250" dirty="0"/>
          </a:p>
        </p:txBody>
      </p:sp>
      <p:sp>
        <p:nvSpPr>
          <p:cNvPr id="10" name="Shape 8"/>
          <p:cNvSpPr/>
          <p:nvPr/>
        </p:nvSpPr>
        <p:spPr>
          <a:xfrm>
            <a:off x="457200" y="2456600"/>
            <a:ext cx="4023360" cy="9752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Best 14-day stretch 28 days, not 30; average as today, worst a day better.</a:t>
            </a:r>
            <a:endParaRPr lang="en-US" sz="1250" dirty="0"/>
          </a:p>
        </p:txBody>
      </p:sp>
      <p:sp>
        <p:nvSpPr>
          <p:cNvPr id="13" name="Shape 11"/>
          <p:cNvSpPr/>
          <p:nvPr/>
        </p:nvSpPr>
        <p:spPr>
          <a:xfrm>
            <a:off x="4663440" y="2456600"/>
            <a:ext cx="4023360" cy="9752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541600"/>
            <a:ext cx="4023360" cy="9752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 the rules’ minimum.</a:t>
            </a:r>
            <a:endParaRPr lang="en-US" sz="1250" dirty="0"/>
          </a:p>
        </p:txBody>
      </p:sp>
      <p:sp>
        <p:nvSpPr>
          <p:cNvPr id="19" name="Shape 17"/>
          <p:cNvSpPr/>
          <p:nvPr/>
        </p:nvSpPr>
        <p:spPr>
          <a:xfrm>
            <a:off x="4663440" y="3541600"/>
            <a:ext cx="4023360" cy="9752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Second Edition,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Second Edition</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20m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Second Edition · SE-26-F1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Second Edition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