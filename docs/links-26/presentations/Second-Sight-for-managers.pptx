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c:v>
                </c:pt>
              </c:strCache>
            </c:strRef>
          </c:tx>
          <c:spPr>
            <a:solidFill>
              <a:srgbClr val="A9B3C1"/>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Sheet1!$B$2:$B$4</c:f>
              <c:numCache>
                <c:formatCode>General</c:formatCode>
                <c:ptCount val="3"/>
                <c:pt idx="0">
                  <c:v>52</c:v>
                </c:pt>
                <c:pt idx="1">
                  <c:v>65.9</c:v>
                </c:pt>
                <c:pt idx="2">
                  <c:v>71.7</c:v>
                </c:pt>
              </c:numCache>
            </c:numRef>
          </c:val>
        </c:ser>
        <c:ser>
          <c:idx val="1"/>
          <c:order val="1"/>
          <c:tx>
            <c:strRef>
              <c:f>Sheet1!$C$1</c:f>
              <c:strCache>
                <c:ptCount val="1"/>
                <c:pt idx="0">
                  <c:v>Second Sight</c:v>
                </c:pt>
              </c:strCache>
            </c:strRef>
          </c:tx>
          <c:spPr>
            <a:solidFill>
              <a:srgbClr val="001E3C"/>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Sheet1!$C$2:$C$4</c:f>
              <c:numCache>
                <c:formatCode>General</c:formatCode>
                <c:ptCount val="3"/>
                <c:pt idx="0">
                  <c:v>29.1</c:v>
                </c:pt>
                <c:pt idx="1">
                  <c:v>12.7</c:v>
                </c:pt>
                <c:pt idx="2">
                  <c:v>29</c:v>
                </c:pt>
              </c:numCache>
            </c:numRef>
          </c:val>
        </c:ser>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533"/>
                </a:solidFill>
                <a:latin typeface="Inter"/>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latin typeface="Inter"/>
              <a:cs typeface="Inter"/>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figures only. Everything week-by-week, hour-by-hour and rule-by-rule is on the eight-page proposal sheet, and every number here comes from the Marylebone Roster app’s rota calculations and has been independently checked; the slides present those results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nine rules are the December 2026 rules, as confirmed verbally on 29 September 2026: at least four at the open, three to the close, five after 22:00, 10 on a Sunday, the ticket office in fixed pairs, two on the floor at all times, handovers, 8–9 hour Sundays and no more shift times than today. Behind them sit three flexible rules that are aimed for when designing but not scored on: 14 on a Saturday, five cover weeks as evenly spaced as 26 weeks allow, and weekday closers starting at 15:45. Second Sight meets all three. It also stays under the ceiling of 219 contracted days a year agreed on 1 October 2026, at 218.6.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link meets 4 of the 9 December rules; Second Sight meets all 9, and the three flexible ones as well (14 on a Saturday, evenly spaced cover weeks, 15:45 weekday closers). Someone finishing at exactly 22:00 is not counted as still on after 22:00. The floor figure leaves out the ticket office, except its second person at the quiet ends of the day. Three to the close every day is the minimum, and Second Sight rosters exactly that, which is what keeps its late finishes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compares, hour by hour, the share of the day’s floor staff on duty with the share of the day’s train service, each train weighted by its length. 0 would be a perfect match. It is a guide to shape, not a staffing requirement — the rules on the previous slide are the requirement. Against today’s link, Second Sight’s score is a little over half on weekdays, about a fifth on a Saturday and about two-fifths on a Sunday; lower is closer.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weeks average exactly 35 hours Monday to Saturday — 44,100 minutes across the 21 working weeks — so no overtime is needed to balance the Monday-to-Saturday week. Individual weeks range from 22h 30m to 42h 00m; only the average is the contract, as today. Five cover weeks keep about the same share of the link as today’s four in 20 (one week in 5.2, against one in 5). Sunday is not contracted, so the ten Sunday duties are worked as rest-day overtime, exactly as today’s eight are. The two extra Sunday overtime duties a week come from the Sunday staffing of ten, confirmed verbally — any link that meets the rules needs them. The 26-week link, its five cover weeks and the ceiling of 219 contracted days a year were agreed on 1 October 2026; Second Sight gives 218.6.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ORR factors are good practice, not pass/fail limits, and this is not a fatigue risk assessment. Two factors — early starts at a 06:20 station and a weekly rotation — come with every weekly link, so they are recorded on the proposal sheet for information and not counted. One definition, successive start times varying by more than two hours, is counted on our reading and should be confirmed by whoever assesses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case in one slide. It meets every December staffing rule and keeps the shift times people already work wherever that cost little — nine of its fifteen are worked today, and none on a Saturday is new. Every working week is all earlies or all lates, where today seven weeks in 16 mix the two. Its seven full weekends off in 26 weeks are never more than five weeks apart, which is as close as the five cover weeks allow; today it is four in 20, up to seven weeks apart. The honest cost is late finishes, and it is the smallest one possible: the December staffing needs three to the close every day, and only those three finish after 23:00, so finishes at 23:00 or later go from about 39 to 42 a year each. Every closing shift is 30 to 45 minutes shorter. Six shift times are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Days at work stay at 219 a year (218.6 exactly; Monday to Saturday; Sunday is overtime), under the ceiling agreed on 1 October 2026. Late finishes average about three more a year each, all of them from the December staffing — three to the close every day, where today’s weekdays have two — so no link meeting the same rules on 26 weeks could have fewer. Full weekends off are seven in 26 and never more than five weeks apart, and no week mixes earlies and lates. The one figure worse than today on rest is single rest days: five, against four. The average shift is about two minutes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Sunday finish stays at 23:25 — that is agreed practice. The 13-day limit used in the checks is Chiltern practice; its written source is still to be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 sheet with them. Questions about a particular week or hour are answered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Second Sight</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The December 2026 CEA link — the proposal in ten minutes</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For managers · 26 weeks · code SS-26-F1 · the full proposal sheet has the detail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Four numbers</a:t>
            </a:r>
            <a:endParaRPr lang="en-US" sz="1500" dirty="0"/>
          </a:p>
        </p:txBody>
      </p:sp>
      <p:sp>
        <p:nvSpPr>
          <p:cNvPr id="4" name="Shape 2"/>
          <p:cNvSpPr/>
          <p:nvPr/>
        </p:nvSpPr>
        <p:spPr>
          <a:xfrm>
            <a:off x="457200" y="1463040"/>
            <a:ext cx="1874520" cy="2377440"/>
          </a:xfrm>
          <a:prstGeom prst="roundRect">
            <a:avLst>
              <a:gd name="adj" fmla="val 5854"/>
            </a:avLst>
          </a:prstGeom>
          <a:solidFill>
            <a:srgbClr val="EEF2F7"/>
          </a:solidFill>
          <a:ln w="12700">
            <a:solidFill>
              <a:srgbClr val="EEF2F7"/>
            </a:solidFill>
            <a:prstDash val="solid"/>
          </a:ln>
        </p:spPr>
      </p:sp>
      <p:sp>
        <p:nvSpPr>
          <p:cNvPr id="5" name="Text 3"/>
          <p:cNvSpPr txBox="1"/>
          <p:nvPr/>
        </p:nvSpPr>
        <p:spPr>
          <a:xfrm>
            <a:off x="45720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9 of 9</a:t>
            </a:r>
            <a:endParaRPr lang="en-US" sz="3400" dirty="0"/>
          </a:p>
        </p:txBody>
      </p:sp>
      <p:sp>
        <p:nvSpPr>
          <p:cNvPr id="6" name="Text 4"/>
          <p:cNvSpPr txBox="1"/>
          <p:nvPr/>
        </p:nvSpPr>
        <p:spPr>
          <a:xfrm>
            <a:off x="59436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December rules met</a:t>
            </a:r>
            <a:endParaRPr lang="en-US" sz="1500" dirty="0"/>
          </a:p>
        </p:txBody>
      </p:sp>
      <p:sp>
        <p:nvSpPr>
          <p:cNvPr id="7" name="Text 5"/>
          <p:cNvSpPr txBox="1"/>
          <p:nvPr/>
        </p:nvSpPr>
        <p:spPr>
          <a:xfrm>
            <a:off x="59436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today’s link: 4</a:t>
            </a:r>
            <a:endParaRPr lang="en-US" sz="1300" dirty="0"/>
          </a:p>
        </p:txBody>
      </p:sp>
      <p:sp>
        <p:nvSpPr>
          <p:cNvPr id="8" name="Shape 6"/>
          <p:cNvSpPr/>
          <p:nvPr/>
        </p:nvSpPr>
        <p:spPr>
          <a:xfrm>
            <a:off x="2560320" y="1463040"/>
            <a:ext cx="1874520" cy="2377440"/>
          </a:xfrm>
          <a:prstGeom prst="roundRect">
            <a:avLst>
              <a:gd name="adj" fmla="val 5854"/>
            </a:avLst>
          </a:prstGeom>
          <a:solidFill>
            <a:srgbClr val="EEF2F7"/>
          </a:solidFill>
          <a:ln w="12700">
            <a:solidFill>
              <a:srgbClr val="EEF2F7"/>
            </a:solidFill>
            <a:prstDash val="solid"/>
          </a:ln>
        </p:spPr>
      </p:sp>
      <p:sp>
        <p:nvSpPr>
          <p:cNvPr id="9" name="Text 7"/>
          <p:cNvSpPr txBox="1"/>
          <p:nvPr/>
        </p:nvSpPr>
        <p:spPr>
          <a:xfrm>
            <a:off x="256032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35h</a:t>
            </a:r>
            <a:endParaRPr lang="en-US" sz="3400" dirty="0"/>
          </a:p>
        </p:txBody>
      </p:sp>
      <p:sp>
        <p:nvSpPr>
          <p:cNvPr id="10" name="Text 8"/>
          <p:cNvSpPr txBox="1"/>
          <p:nvPr/>
        </p:nvSpPr>
        <p:spPr>
          <a:xfrm>
            <a:off x="269748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contract rostered exactly, on average</a:t>
            </a:r>
            <a:endParaRPr lang="en-US" sz="1500" dirty="0"/>
          </a:p>
        </p:txBody>
      </p:sp>
      <p:sp>
        <p:nvSpPr>
          <p:cNvPr id="11" name="Text 9"/>
          <p:cNvSpPr txBox="1"/>
          <p:nvPr/>
        </p:nvSpPr>
        <p:spPr>
          <a:xfrm>
            <a:off x="269748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Monday to Saturday</a:t>
            </a:r>
            <a:endParaRPr lang="en-US" sz="1300" dirty="0"/>
          </a:p>
        </p:txBody>
      </p:sp>
      <p:sp>
        <p:nvSpPr>
          <p:cNvPr id="12" name="Shape 10"/>
          <p:cNvSpPr/>
          <p:nvPr/>
        </p:nvSpPr>
        <p:spPr>
          <a:xfrm>
            <a:off x="4663440" y="1463040"/>
            <a:ext cx="1874520" cy="2377440"/>
          </a:xfrm>
          <a:prstGeom prst="roundRect">
            <a:avLst>
              <a:gd name="adj" fmla="val 5854"/>
            </a:avLst>
          </a:prstGeom>
          <a:solidFill>
            <a:srgbClr val="EEF2F7"/>
          </a:solidFill>
          <a:ln w="12700">
            <a:solidFill>
              <a:srgbClr val="EEF2F7"/>
            </a:solidFill>
            <a:prstDash val="solid"/>
          </a:ln>
        </p:spPr>
      </p:sp>
      <p:sp>
        <p:nvSpPr>
          <p:cNvPr id="13" name="Text 11"/>
          <p:cNvSpPr txBox="1"/>
          <p:nvPr/>
        </p:nvSpPr>
        <p:spPr>
          <a:xfrm>
            <a:off x="466344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0</a:t>
            </a:r>
            <a:endParaRPr lang="en-US" sz="3400" dirty="0"/>
          </a:p>
        </p:txBody>
      </p:sp>
      <p:sp>
        <p:nvSpPr>
          <p:cNvPr id="14" name="Text 12"/>
          <p:cNvSpPr txBox="1"/>
          <p:nvPr/>
        </p:nvSpPr>
        <p:spPr>
          <a:xfrm>
            <a:off x="480060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avoidable fatigue warnings</a:t>
            </a:r>
            <a:endParaRPr lang="en-US" sz="1500" dirty="0"/>
          </a:p>
        </p:txBody>
      </p:sp>
      <p:sp>
        <p:nvSpPr>
          <p:cNvPr id="15" name="Text 13"/>
          <p:cNvSpPr txBox="1"/>
          <p:nvPr/>
        </p:nvSpPr>
        <p:spPr>
          <a:xfrm>
            <a:off x="480060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in the fixed rota · today 4</a:t>
            </a:r>
            <a:endParaRPr lang="en-US" sz="1300" dirty="0"/>
          </a:p>
        </p:txBody>
      </p:sp>
      <p:sp>
        <p:nvSpPr>
          <p:cNvPr id="16" name="Shape 14"/>
          <p:cNvSpPr/>
          <p:nvPr/>
        </p:nvSpPr>
        <p:spPr>
          <a:xfrm>
            <a:off x="6766560" y="1463040"/>
            <a:ext cx="1874520" cy="2377440"/>
          </a:xfrm>
          <a:prstGeom prst="roundRect">
            <a:avLst>
              <a:gd name="adj" fmla="val 5854"/>
            </a:avLst>
          </a:prstGeom>
          <a:solidFill>
            <a:srgbClr val="EEF2F7"/>
          </a:solidFill>
          <a:ln w="12700">
            <a:solidFill>
              <a:srgbClr val="EEF2F7"/>
            </a:solidFill>
            <a:prstDash val="solid"/>
          </a:ln>
        </p:spPr>
      </p:sp>
      <p:sp>
        <p:nvSpPr>
          <p:cNvPr id="17" name="Text 15"/>
          <p:cNvSpPr txBox="1"/>
          <p:nvPr/>
        </p:nvSpPr>
        <p:spPr>
          <a:xfrm>
            <a:off x="676656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26</a:t>
            </a:r>
            <a:endParaRPr lang="en-US" sz="3400" dirty="0"/>
          </a:p>
        </p:txBody>
      </p:sp>
      <p:sp>
        <p:nvSpPr>
          <p:cNvPr id="18" name="Text 16"/>
          <p:cNvSpPr txBox="1"/>
          <p:nvPr/>
        </p:nvSpPr>
        <p:spPr>
          <a:xfrm>
            <a:off x="690372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people on the link</a:t>
            </a:r>
            <a:endParaRPr lang="en-US" sz="1500" dirty="0"/>
          </a:p>
        </p:txBody>
      </p:sp>
      <p:sp>
        <p:nvSpPr>
          <p:cNvPr id="19" name="Text 17"/>
          <p:cNvSpPr txBox="1"/>
          <p:nvPr/>
        </p:nvSpPr>
        <p:spPr>
          <a:xfrm>
            <a:off x="690372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 20</a:t>
            </a:r>
            <a:endParaRPr lang="en-US" sz="1300" dirty="0"/>
          </a:p>
        </p:txBody>
      </p:sp>
      <p:sp>
        <p:nvSpPr>
          <p:cNvPr id="20" name="Shape 18"/>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1" name="Text 19"/>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December rule met — and no avoidable fatigue warnings in the fixed rota.</a:t>
            </a:r>
            <a:endParaRPr lang="en-US" sz="1400" dirty="0"/>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Sight · December 2026 CEA link · for managers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staffing you asked for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Weekday · Saturday · Sunday</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Sight</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during the day</a:t>
            </a:r>
            <a:endParaRPr lang="en-US" sz="1400" dirty="0"/>
          </a:p>
        </p:txBody>
      </p:sp>
      <p:sp>
        <p:nvSpPr>
          <p:cNvPr id="8" name="Text 6"/>
          <p:cNvSpPr txBox="1"/>
          <p:nvPr/>
        </p:nvSpPr>
        <p:spPr>
          <a:xfrm>
            <a:off x="4297680" y="18013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 · 10 · 8</a:t>
            </a:r>
            <a:endParaRPr lang="en-US" sz="1600" dirty="0"/>
          </a:p>
        </p:txBody>
      </p:sp>
      <p:sp>
        <p:nvSpPr>
          <p:cNvPr id="9" name="Text 7"/>
          <p:cNvSpPr txBox="1"/>
          <p:nvPr/>
        </p:nvSpPr>
        <p:spPr>
          <a:xfrm>
            <a:off x="6492240" y="18013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15 · 14 · 10</a:t>
            </a:r>
            <a:endParaRPr lang="en-US" sz="1800" dirty="0"/>
          </a:p>
        </p:txBody>
      </p:sp>
      <p:sp>
        <p:nvSpPr>
          <p:cNvPr id="10" name="Shape 8"/>
          <p:cNvSpPr/>
          <p:nvPr/>
        </p:nvSpPr>
        <p:spPr>
          <a:xfrm>
            <a:off x="457200" y="2258568"/>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585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At the open (06:20, Sunday 07:15)</a:t>
            </a:r>
            <a:endParaRPr lang="en-US" sz="1400" dirty="0"/>
          </a:p>
        </p:txBody>
      </p:sp>
      <p:sp>
        <p:nvSpPr>
          <p:cNvPr id="12" name="Text 10"/>
          <p:cNvSpPr txBox="1"/>
          <p:nvPr/>
        </p:nvSpPr>
        <p:spPr>
          <a:xfrm>
            <a:off x="4297680" y="22585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4 · 3</a:t>
            </a:r>
            <a:endParaRPr lang="en-US" sz="1600" dirty="0"/>
          </a:p>
        </p:txBody>
      </p:sp>
      <p:sp>
        <p:nvSpPr>
          <p:cNvPr id="13" name="Text 11"/>
          <p:cNvSpPr txBox="1"/>
          <p:nvPr/>
        </p:nvSpPr>
        <p:spPr>
          <a:xfrm>
            <a:off x="6492240" y="22585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5 · 5 · 4</a:t>
            </a:r>
            <a:endParaRPr lang="en-US" sz="1800" dirty="0"/>
          </a:p>
        </p:txBody>
      </p:sp>
      <p:sp>
        <p:nvSpPr>
          <p:cNvPr id="14" name="Shape 12"/>
          <p:cNvSpPr/>
          <p:nvPr/>
        </p:nvSpPr>
        <p:spPr>
          <a:xfrm>
            <a:off x="457200" y="2715768"/>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7157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Still on after 22:00</a:t>
            </a:r>
            <a:endParaRPr lang="en-US" sz="1400" dirty="0"/>
          </a:p>
        </p:txBody>
      </p:sp>
      <p:sp>
        <p:nvSpPr>
          <p:cNvPr id="16" name="Text 14"/>
          <p:cNvSpPr txBox="1"/>
          <p:nvPr/>
        </p:nvSpPr>
        <p:spPr>
          <a:xfrm>
            <a:off x="4297680" y="27157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2 · 3</a:t>
            </a:r>
            <a:endParaRPr lang="en-US" sz="1600" dirty="0"/>
          </a:p>
        </p:txBody>
      </p:sp>
      <p:sp>
        <p:nvSpPr>
          <p:cNvPr id="17" name="Text 15"/>
          <p:cNvSpPr txBox="1"/>
          <p:nvPr/>
        </p:nvSpPr>
        <p:spPr>
          <a:xfrm>
            <a:off x="6492240" y="27157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7 · 5 · 5</a:t>
            </a:r>
            <a:endParaRPr lang="en-US" sz="1800" dirty="0"/>
          </a:p>
        </p:txBody>
      </p:sp>
      <p:sp>
        <p:nvSpPr>
          <p:cNvPr id="18" name="Shape 16"/>
          <p:cNvSpPr/>
          <p:nvPr/>
        </p:nvSpPr>
        <p:spPr>
          <a:xfrm>
            <a:off x="457200" y="3172968"/>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729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Through to the close</a:t>
            </a:r>
            <a:endParaRPr lang="en-US" sz="1400" dirty="0"/>
          </a:p>
        </p:txBody>
      </p:sp>
      <p:sp>
        <p:nvSpPr>
          <p:cNvPr id="20" name="Text 18"/>
          <p:cNvSpPr txBox="1"/>
          <p:nvPr/>
        </p:nvSpPr>
        <p:spPr>
          <a:xfrm>
            <a:off x="4297680" y="31729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3</a:t>
            </a:r>
            <a:endParaRPr lang="en-US" sz="1600" dirty="0"/>
          </a:p>
        </p:txBody>
      </p:sp>
      <p:sp>
        <p:nvSpPr>
          <p:cNvPr id="21" name="Text 19"/>
          <p:cNvSpPr txBox="1"/>
          <p:nvPr/>
        </p:nvSpPr>
        <p:spPr>
          <a:xfrm>
            <a:off x="6492240" y="31729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 · 3 · 3</a:t>
            </a:r>
            <a:endParaRPr lang="en-US" sz="1800" dirty="0"/>
          </a:p>
        </p:txBody>
      </p:sp>
      <p:sp>
        <p:nvSpPr>
          <p:cNvPr id="22" name="Shape 20"/>
          <p:cNvSpPr/>
          <p:nvPr/>
        </p:nvSpPr>
        <p:spPr>
          <a:xfrm>
            <a:off x="457200" y="3630168"/>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6301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rostered on the floor</a:t>
            </a:r>
            <a:endParaRPr lang="en-US" sz="1400" dirty="0"/>
          </a:p>
        </p:txBody>
      </p:sp>
      <p:sp>
        <p:nvSpPr>
          <p:cNvPr id="24" name="Text 22"/>
          <p:cNvSpPr txBox="1"/>
          <p:nvPr/>
        </p:nvSpPr>
        <p:spPr>
          <a:xfrm>
            <a:off x="4297680" y="36301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2</a:t>
            </a:r>
            <a:endParaRPr lang="en-US" sz="1600" dirty="0"/>
          </a:p>
        </p:txBody>
      </p:sp>
      <p:sp>
        <p:nvSpPr>
          <p:cNvPr id="25" name="Text 23"/>
          <p:cNvSpPr txBox="1"/>
          <p:nvPr/>
        </p:nvSpPr>
        <p:spPr>
          <a:xfrm>
            <a:off x="6492240" y="36301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 · 3 · 3</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level met on every day — and the ticket office staffed in pairs, including Sundays.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Sight · December 2026 CEA link · for managers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where the trains are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How far the floor staffing is from the shape of the December timetable — lower is better</a:t>
            </a:r>
            <a:endParaRPr lang="en-US" sz="1500" dirty="0"/>
          </a:p>
        </p:txBody>
      </p:sp>
      <p:graphicFrame>
        <p:nvGraphicFramePr>
          <p:cNvPr id="4" name="Chart 0" descr=""/>
          <p:cNvGraphicFramePr/>
          <p:nvPr/>
        </p:nvGraphicFramePr>
        <p:xfrm>
          <a:off x="457200" y="1325880"/>
          <a:ext cx="8229600" cy="2697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Much closer to the December pattern on weekdays, Saturday and Sunday.</a:t>
            </a:r>
            <a:endParaRPr lang="en-US" sz="1400" dirty="0"/>
          </a:p>
        </p:txBody>
      </p:sp>
      <p:sp>
        <p:nvSpPr>
          <p:cNvPr id="7" name="Text 4"/>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A measure of the day’s shape only — not a staffing requirement or a passenger forecast.</a:t>
            </a:r>
            <a:endParaRPr lang="en-US" sz="850" dirty="0"/>
          </a:p>
        </p:txBody>
      </p:sp>
      <p:sp>
        <p:nvSpPr>
          <p:cNvPr id="8" name="Text 5"/>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Sight · December 2026 CEA link · for managers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and hours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it takes to run</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Sight</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on the link</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20</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26</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Cover weeks (for leave and sickness)</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1 week in 5</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5 — 1 week in 5</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needed each Sunday (overtime)</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10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Six more people, 35 hours a week on average — Sundays still rely on overtime.</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Sight · December 2026 CEA link · for managers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Fatigue checks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Against the Office of Rail and Road’s good-practice list and the rail industry’s own checks</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Sight</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Avoidable fatigue warnings, fixed rota</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(up to 5)</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in a row (limit 13)</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(up to 9)</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6</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rest between shifts (limit 12h)</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20m</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Longest shift</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9h 00m</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Rest and run limits met with room to spare; no avoidable fatigue warnings in the fixed rota.</a:t>
            </a:r>
            <a:endParaRPr lang="en-US" sz="1400" dirty="0"/>
          </a:p>
        </p:txBody>
      </p:sp>
      <p:sp>
        <p:nvSpPr>
          <p:cNvPr id="24" name="Text 22"/>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Early starts and a weekly rotation come with every link, so are not counted. The written source of the 13-day limit is still to be confirmed.</a:t>
            </a:r>
            <a:endParaRPr lang="en-US" sz="85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Sight · December 2026 CEA link · for managers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Second Sight?</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Every week all earlies or all lates, and the fewest late finishes the rules allow</a:t>
            </a:r>
            <a:endParaRPr lang="en-US" sz="1500" dirty="0"/>
          </a:p>
        </p:txBody>
      </p:sp>
      <p:sp>
        <p:nvSpPr>
          <p:cNvPr id="4" name="Shape 2"/>
          <p:cNvSpPr/>
          <p:nvPr/>
        </p:nvSpPr>
        <p:spPr>
          <a:xfrm>
            <a:off x="457200" y="1325880"/>
            <a:ext cx="292608" cy="292608"/>
          </a:xfrm>
          <a:prstGeom prst="ellipse">
            <a:avLst/>
          </a:prstGeom>
          <a:solidFill>
            <a:srgbClr val="1E7B4B"/>
          </a:solidFill>
          <a:ln w="12700">
            <a:solidFill>
              <a:srgbClr val="1E7B4B"/>
            </a:solidFill>
            <a:prstDash val="solid"/>
          </a:ln>
        </p:spPr>
      </p:sp>
      <p:sp>
        <p:nvSpPr>
          <p:cNvPr id="5" name="Text 3"/>
          <p:cNvSpPr txBox="1"/>
          <p:nvPr/>
        </p:nvSpPr>
        <p:spPr>
          <a:xfrm>
            <a:off x="457200" y="13258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6" name="Text 4"/>
          <p:cNvSpPr txBox="1"/>
          <p:nvPr/>
        </p:nvSpPr>
        <p:spPr>
          <a:xfrm>
            <a:off x="914400" y="13075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Meets all 9 December rules, and all 3 flexible ones</a:t>
            </a:r>
            <a:endParaRPr lang="en-US" sz="1500" dirty="0"/>
          </a:p>
        </p:txBody>
      </p:sp>
      <p:sp>
        <p:nvSpPr>
          <p:cNvPr id="7" name="Shape 5"/>
          <p:cNvSpPr/>
          <p:nvPr/>
        </p:nvSpPr>
        <p:spPr>
          <a:xfrm>
            <a:off x="457200" y="1728216"/>
            <a:ext cx="292608" cy="292608"/>
          </a:xfrm>
          <a:prstGeom prst="ellipse">
            <a:avLst/>
          </a:prstGeom>
          <a:solidFill>
            <a:srgbClr val="1E7B4B"/>
          </a:solidFill>
          <a:ln w="12700">
            <a:solidFill>
              <a:srgbClr val="1E7B4B"/>
            </a:solidFill>
            <a:prstDash val="solid"/>
          </a:ln>
        </p:spPr>
      </p:sp>
      <p:sp>
        <p:nvSpPr>
          <p:cNvPr id="8" name="Text 6"/>
          <p:cNvSpPr txBox="1"/>
          <p:nvPr/>
        </p:nvSpPr>
        <p:spPr>
          <a:xfrm>
            <a:off x="457200" y="172821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9" name="Text 7"/>
          <p:cNvSpPr txBox="1"/>
          <p:nvPr/>
        </p:nvSpPr>
        <p:spPr>
          <a:xfrm>
            <a:off x="914400" y="1709928"/>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Seven full weekends off in 26, never more than five weeks apart</a:t>
            </a:r>
            <a:endParaRPr lang="en-US" sz="1500" dirty="0"/>
          </a:p>
        </p:txBody>
      </p:sp>
      <p:sp>
        <p:nvSpPr>
          <p:cNvPr id="10" name="Shape 8"/>
          <p:cNvSpPr/>
          <p:nvPr/>
        </p:nvSpPr>
        <p:spPr>
          <a:xfrm>
            <a:off x="457200" y="2130552"/>
            <a:ext cx="292608" cy="292608"/>
          </a:xfrm>
          <a:prstGeom prst="ellipse">
            <a:avLst/>
          </a:prstGeom>
          <a:solidFill>
            <a:srgbClr val="1E7B4B"/>
          </a:solidFill>
          <a:ln w="12700">
            <a:solidFill>
              <a:srgbClr val="1E7B4B"/>
            </a:solidFill>
            <a:prstDash val="solid"/>
          </a:ln>
        </p:spPr>
      </p:sp>
      <p:sp>
        <p:nvSpPr>
          <p:cNvPr id="11" name="Text 9"/>
          <p:cNvSpPr txBox="1"/>
          <p:nvPr/>
        </p:nvSpPr>
        <p:spPr>
          <a:xfrm>
            <a:off x="457200" y="213055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2" name="Text 10"/>
          <p:cNvSpPr txBox="1"/>
          <p:nvPr/>
        </p:nvSpPr>
        <p:spPr>
          <a:xfrm>
            <a:off x="914400" y="2112264"/>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Never more than 6 days in a row — today 7</a:t>
            </a:r>
            <a:endParaRPr lang="en-US" sz="1500" dirty="0"/>
          </a:p>
        </p:txBody>
      </p:sp>
      <p:sp>
        <p:nvSpPr>
          <p:cNvPr id="13" name="Shape 11"/>
          <p:cNvSpPr/>
          <p:nvPr/>
        </p:nvSpPr>
        <p:spPr>
          <a:xfrm>
            <a:off x="457200" y="2532888"/>
            <a:ext cx="292608" cy="292608"/>
          </a:xfrm>
          <a:prstGeom prst="ellipse">
            <a:avLst/>
          </a:prstGeom>
          <a:solidFill>
            <a:srgbClr val="1E7B4B"/>
          </a:solidFill>
          <a:ln w="12700">
            <a:solidFill>
              <a:srgbClr val="1E7B4B"/>
            </a:solidFill>
            <a:prstDash val="solid"/>
          </a:ln>
        </p:spPr>
      </p:sp>
      <p:sp>
        <p:nvSpPr>
          <p:cNvPr id="14" name="Text 12"/>
          <p:cNvSpPr txBox="1"/>
          <p:nvPr/>
        </p:nvSpPr>
        <p:spPr>
          <a:xfrm>
            <a:off x="457200" y="253288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5" name="Text 13"/>
          <p:cNvSpPr txBox="1"/>
          <p:nvPr/>
        </p:nvSpPr>
        <p:spPr>
          <a:xfrm>
            <a:off x="914400" y="2514600"/>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9 of its 15 shift times are worked today</a:t>
            </a:r>
            <a:endParaRPr lang="en-US" sz="1500" dirty="0"/>
          </a:p>
        </p:txBody>
      </p:sp>
      <p:sp>
        <p:nvSpPr>
          <p:cNvPr id="16" name="Shape 14"/>
          <p:cNvSpPr/>
          <p:nvPr/>
        </p:nvSpPr>
        <p:spPr>
          <a:xfrm>
            <a:off x="457200" y="2935224"/>
            <a:ext cx="292608" cy="292608"/>
          </a:xfrm>
          <a:prstGeom prst="ellipse">
            <a:avLst/>
          </a:prstGeom>
          <a:solidFill>
            <a:srgbClr val="1E7B4B"/>
          </a:solidFill>
          <a:ln w="12700">
            <a:solidFill>
              <a:srgbClr val="1E7B4B"/>
            </a:solidFill>
            <a:prstDash val="solid"/>
          </a:ln>
        </p:spPr>
      </p:sp>
      <p:sp>
        <p:nvSpPr>
          <p:cNvPr id="17" name="Text 15"/>
          <p:cNvSpPr txBox="1"/>
          <p:nvPr/>
        </p:nvSpPr>
        <p:spPr>
          <a:xfrm>
            <a:off x="457200" y="293522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8" name="Text 16"/>
          <p:cNvSpPr txBox="1"/>
          <p:nvPr/>
        </p:nvSpPr>
        <p:spPr>
          <a:xfrm>
            <a:off x="914400" y="2916936"/>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No shift over 9 hours, and every closing shift is shorter</a:t>
            </a:r>
            <a:endParaRPr lang="en-US" sz="1500" dirty="0"/>
          </a:p>
        </p:txBody>
      </p:sp>
      <p:sp>
        <p:nvSpPr>
          <p:cNvPr id="19" name="Shape 17"/>
          <p:cNvSpPr/>
          <p:nvPr/>
        </p:nvSpPr>
        <p:spPr>
          <a:xfrm>
            <a:off x="457200" y="3337560"/>
            <a:ext cx="292608" cy="292608"/>
          </a:xfrm>
          <a:prstGeom prst="ellipse">
            <a:avLst/>
          </a:prstGeom>
          <a:solidFill>
            <a:srgbClr val="1E7B4B"/>
          </a:solidFill>
          <a:ln w="12700">
            <a:solidFill>
              <a:srgbClr val="1E7B4B"/>
            </a:solidFill>
            <a:prstDash val="solid"/>
          </a:ln>
        </p:spPr>
      </p:sp>
      <p:sp>
        <p:nvSpPr>
          <p:cNvPr id="20" name="Text 18"/>
          <p:cNvSpPr txBox="1"/>
          <p:nvPr/>
        </p:nvSpPr>
        <p:spPr>
          <a:xfrm>
            <a:off x="457200" y="33375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21" name="Text 19"/>
          <p:cNvSpPr txBox="1"/>
          <p:nvPr/>
        </p:nvSpPr>
        <p:spPr>
          <a:xfrm>
            <a:off x="914400" y="331927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No avoidable fatigue warnings in the fixed rota</a:t>
            </a:r>
            <a:endParaRPr lang="en-US" sz="15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The trade-off: three more late finishes a year each (42, today 39) — the rules’ minimum.</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Sight · December 2026 CEA link · for managers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What colleagues will notice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good and the not so good — the colleague presentation shows both</a:t>
            </a:r>
            <a:endParaRPr lang="en-US" sz="1500" dirty="0"/>
          </a:p>
        </p:txBody>
      </p:sp>
      <p:sp>
        <p:nvSpPr>
          <p:cNvPr id="4" name="Shape 2"/>
          <p:cNvSpPr/>
          <p:nvPr/>
        </p:nvSpPr>
        <p:spPr>
          <a:xfrm>
            <a:off x="457200" y="1325880"/>
            <a:ext cx="4023360" cy="2697480"/>
          </a:xfrm>
          <a:prstGeom prst="roundRect">
            <a:avLst>
              <a:gd name="adj" fmla="val 3390"/>
            </a:avLst>
          </a:prstGeom>
          <a:solidFill>
            <a:srgbClr val="EEF2F7"/>
          </a:solidFill>
          <a:ln w="12700">
            <a:solidFill>
              <a:srgbClr val="EEF2F7"/>
            </a:solidFill>
            <a:prstDash val="solid"/>
          </a:ln>
        </p:spPr>
      </p:sp>
      <p:sp>
        <p:nvSpPr>
          <p:cNvPr id="5" name="Shape 3"/>
          <p:cNvSpPr/>
          <p:nvPr/>
        </p:nvSpPr>
        <p:spPr>
          <a:xfrm>
            <a:off x="457200" y="1325880"/>
            <a:ext cx="73152" cy="2697480"/>
          </a:xfrm>
          <a:prstGeom prst="rect">
            <a:avLst/>
          </a:prstGeom>
          <a:solidFill>
            <a:srgbClr val="1E7B4B"/>
          </a:solidFill>
          <a:ln w="12700">
            <a:solidFill>
              <a:srgbClr val="1E7B4B"/>
            </a:solidFill>
            <a:prstDash val="solid"/>
          </a:ln>
        </p:spPr>
      </p:sp>
      <p:sp>
        <p:nvSpPr>
          <p:cNvPr id="6" name="Text 4"/>
          <p:cNvSpPr txBox="1"/>
          <p:nvPr/>
        </p:nvSpPr>
        <p:spPr>
          <a:xfrm>
            <a:off x="731520" y="1463040"/>
            <a:ext cx="3566160" cy="365760"/>
          </a:xfrm>
          <a:prstGeom prst="rect">
            <a:avLst/>
          </a:prstGeom>
          <a:noFill/>
          <a:ln/>
        </p:spPr>
        <p:txBody>
          <a:bodyPr wrap="square" lIns="0" tIns="0" rIns="0" bIns="0" rtlCol="0" anchor="ctr"/>
          <a:lstStyle/>
          <a:p>
            <a:pPr indent="0" marL="0">
              <a:buNone/>
            </a:pPr>
            <a:r>
              <a:rPr lang="en-US" sz="1600" b="1" dirty="0">
                <a:solidFill>
                  <a:srgbClr val="1E7B4B"/>
                </a:solidFill>
                <a:latin typeface="Inter" pitchFamily="34" charset="0"/>
                <a:ea typeface="Inter" pitchFamily="34" charset="-122"/>
                <a:cs typeface="Inter" pitchFamily="34" charset="-120"/>
              </a:rPr>
              <a:t>Likely to welcome</a:t>
            </a:r>
            <a:endParaRPr lang="en-US" sz="1600" dirty="0"/>
          </a:p>
        </p:txBody>
      </p:sp>
      <p:sp>
        <p:nvSpPr>
          <p:cNvPr id="7" name="Text 5"/>
          <p:cNvSpPr txBox="1"/>
          <p:nvPr/>
        </p:nvSpPr>
        <p:spPr>
          <a:xfrm>
            <a:off x="731520" y="1901952"/>
            <a:ext cx="3611880" cy="201168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7 weekends off, at most 5 weeks apart</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No week mixing earlies and lates (today 7)</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Every closing shift 30–45 minutes shorter</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9 of the 15 shift times already worked</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Shortest rest 14h 20m (today 12h 30m)</a:t>
            </a:r>
            <a:endParaRPr lang="en-US" sz="1300" dirty="0"/>
          </a:p>
        </p:txBody>
      </p:sp>
      <p:sp>
        <p:nvSpPr>
          <p:cNvPr id="8" name="Shape 6"/>
          <p:cNvSpPr/>
          <p:nvPr/>
        </p:nvSpPr>
        <p:spPr>
          <a:xfrm>
            <a:off x="4663440" y="1325880"/>
            <a:ext cx="4023360" cy="2697480"/>
          </a:xfrm>
          <a:prstGeom prst="roundRect">
            <a:avLst>
              <a:gd name="adj" fmla="val 3390"/>
            </a:avLst>
          </a:prstGeom>
          <a:solidFill>
            <a:srgbClr val="EEF2F7"/>
          </a:solidFill>
          <a:ln w="12700">
            <a:solidFill>
              <a:srgbClr val="EEF2F7"/>
            </a:solidFill>
            <a:prstDash val="solid"/>
          </a:ln>
        </p:spPr>
      </p:sp>
      <p:sp>
        <p:nvSpPr>
          <p:cNvPr id="9" name="Shape 7"/>
          <p:cNvSpPr/>
          <p:nvPr/>
        </p:nvSpPr>
        <p:spPr>
          <a:xfrm>
            <a:off x="4663440" y="1325880"/>
            <a:ext cx="73152" cy="2697480"/>
          </a:xfrm>
          <a:prstGeom prst="rect">
            <a:avLst/>
          </a:prstGeom>
          <a:solidFill>
            <a:srgbClr val="A15C00"/>
          </a:solidFill>
          <a:ln w="12700">
            <a:solidFill>
              <a:srgbClr val="A15C00"/>
            </a:solidFill>
            <a:prstDash val="solid"/>
          </a:ln>
        </p:spPr>
      </p:sp>
      <p:sp>
        <p:nvSpPr>
          <p:cNvPr id="10" name="Text 8"/>
          <p:cNvSpPr txBox="1"/>
          <p:nvPr/>
        </p:nvSpPr>
        <p:spPr>
          <a:xfrm>
            <a:off x="4937760" y="1463040"/>
            <a:ext cx="3566160" cy="365760"/>
          </a:xfrm>
          <a:prstGeom prst="rect">
            <a:avLst/>
          </a:prstGeom>
          <a:noFill/>
          <a:ln/>
        </p:spPr>
        <p:txBody>
          <a:bodyPr wrap="square" lIns="0" tIns="0" rIns="0" bIns="0" rtlCol="0" anchor="ctr"/>
          <a:lstStyle/>
          <a:p>
            <a:pPr indent="0" marL="0">
              <a:buNone/>
            </a:pPr>
            <a:r>
              <a:rPr lang="en-US" sz="1600" b="1" dirty="0">
                <a:solidFill>
                  <a:srgbClr val="A15C00"/>
                </a:solidFill>
                <a:latin typeface="Inter" pitchFamily="34" charset="0"/>
                <a:ea typeface="Inter" pitchFamily="34" charset="-122"/>
                <a:cs typeface="Inter" pitchFamily="34" charset="-120"/>
              </a:rPr>
              <a:t>Likely to worry about</a:t>
            </a:r>
            <a:endParaRPr lang="en-US" sz="1600" dirty="0"/>
          </a:p>
        </p:txBody>
      </p:sp>
      <p:sp>
        <p:nvSpPr>
          <p:cNvPr id="11" name="Text 9"/>
          <p:cNvSpPr txBox="1"/>
          <p:nvPr/>
        </p:nvSpPr>
        <p:spPr>
          <a:xfrm>
            <a:off x="4937760" y="1901952"/>
            <a:ext cx="3611880" cy="201168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Late finishes: 42 a year (today 39)</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6 new shift times to learn</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One more single rest day (5, today 4)</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Best 14-day leave stretch 28 days, not 30</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Four weeks off takes 15 days’ leave at best, not 14</a:t>
            </a:r>
            <a:endParaRPr lang="en-US" sz="1300" dirty="0"/>
          </a:p>
        </p:txBody>
      </p:sp>
      <p:sp>
        <p:nvSpPr>
          <p:cNvPr id="12" name="Shape 1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3" name="Text 1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Expect late finishes to be the first question — the colleague deck answers it openly.</a:t>
            </a:r>
            <a:endParaRPr lang="en-US" sz="1400" dirty="0"/>
          </a:p>
        </p:txBody>
      </p:sp>
      <p:sp>
        <p:nvSpPr>
          <p:cNvPr id="14" name="Text 1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Sight · December 2026 CEA link · for managers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Where it stands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Three things confirmed verbally (29 Sep and 1 Oct 2026), two decisions left</a:t>
            </a:r>
            <a:endParaRPr lang="en-US" sz="1500" dirty="0"/>
          </a:p>
        </p:txBody>
      </p:sp>
      <p:sp>
        <p:nvSpPr>
          <p:cNvPr id="4" name="Shape 2"/>
          <p:cNvSpPr/>
          <p:nvPr/>
        </p:nvSpPr>
        <p:spPr>
          <a:xfrm>
            <a:off x="457200" y="1325880"/>
            <a:ext cx="457200" cy="457200"/>
          </a:xfrm>
          <a:prstGeom prst="ellipse">
            <a:avLst/>
          </a:prstGeom>
          <a:solidFill>
            <a:srgbClr val="1E7B4B"/>
          </a:solidFill>
          <a:ln w="12700">
            <a:solidFill>
              <a:srgbClr val="1E7B4B"/>
            </a:solidFill>
            <a:prstDash val="solid"/>
          </a:ln>
        </p:spPr>
      </p:sp>
      <p:sp>
        <p:nvSpPr>
          <p:cNvPr id="5" name="Text 3"/>
          <p:cNvSpPr txBox="1"/>
          <p:nvPr/>
        </p:nvSpPr>
        <p:spPr>
          <a:xfrm>
            <a:off x="457200" y="1325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6" name="Text 4"/>
          <p:cNvSpPr txBox="1"/>
          <p:nvPr/>
        </p:nvSpPr>
        <p:spPr>
          <a:xfrm>
            <a:off x="1097280" y="128930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December rules — confirmed</a:t>
            </a:r>
            <a:endParaRPr lang="en-US" sz="1600" dirty="0"/>
          </a:p>
        </p:txBody>
      </p:sp>
      <p:sp>
        <p:nvSpPr>
          <p:cNvPr id="7" name="Text 5"/>
          <p:cNvSpPr txBox="1"/>
          <p:nvPr/>
        </p:nvSpPr>
        <p:spPr>
          <a:xfrm>
            <a:off x="1097280" y="157276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The nine December rules. Everything here is built on them.</a:t>
            </a:r>
            <a:endParaRPr lang="en-US" sz="1300" dirty="0"/>
          </a:p>
        </p:txBody>
      </p:sp>
      <p:sp>
        <p:nvSpPr>
          <p:cNvPr id="8" name="Shape 6"/>
          <p:cNvSpPr/>
          <p:nvPr/>
        </p:nvSpPr>
        <p:spPr>
          <a:xfrm>
            <a:off x="457200" y="1965960"/>
            <a:ext cx="457200" cy="457200"/>
          </a:xfrm>
          <a:prstGeom prst="ellipse">
            <a:avLst/>
          </a:prstGeom>
          <a:solidFill>
            <a:srgbClr val="1E7B4B"/>
          </a:solidFill>
          <a:ln w="12700">
            <a:solidFill>
              <a:srgbClr val="1E7B4B"/>
            </a:solidFill>
            <a:prstDash val="solid"/>
          </a:ln>
        </p:spPr>
      </p:sp>
      <p:sp>
        <p:nvSpPr>
          <p:cNvPr id="9" name="Text 7"/>
          <p:cNvSpPr txBox="1"/>
          <p:nvPr/>
        </p:nvSpPr>
        <p:spPr>
          <a:xfrm>
            <a:off x="457200" y="1965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0" name="Text 8"/>
          <p:cNvSpPr txBox="1"/>
          <p:nvPr/>
        </p:nvSpPr>
        <p:spPr>
          <a:xfrm>
            <a:off x="1097280" y="192938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26 people on the link — confirmed</a:t>
            </a:r>
            <a:endParaRPr lang="en-US" sz="1600" dirty="0"/>
          </a:p>
        </p:txBody>
      </p:sp>
      <p:sp>
        <p:nvSpPr>
          <p:cNvPr id="11" name="Text 9"/>
          <p:cNvSpPr txBox="1"/>
          <p:nvPr/>
        </p:nvSpPr>
        <p:spPr>
          <a:xfrm>
            <a:off x="1097280" y="221284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Six more than today, with five cover weeks.</a:t>
            </a:r>
            <a:endParaRPr lang="en-US" sz="1300" dirty="0"/>
          </a:p>
        </p:txBody>
      </p:sp>
      <p:sp>
        <p:nvSpPr>
          <p:cNvPr id="12" name="Shape 10"/>
          <p:cNvSpPr/>
          <p:nvPr/>
        </p:nvSpPr>
        <p:spPr>
          <a:xfrm>
            <a:off x="457200" y="2606040"/>
            <a:ext cx="457200" cy="457200"/>
          </a:xfrm>
          <a:prstGeom prst="ellipse">
            <a:avLst/>
          </a:prstGeom>
          <a:solidFill>
            <a:srgbClr val="1E7B4B"/>
          </a:solidFill>
          <a:ln w="12700">
            <a:solidFill>
              <a:srgbClr val="1E7B4B"/>
            </a:solidFill>
            <a:prstDash val="solid"/>
          </a:ln>
        </p:spPr>
      </p:sp>
      <p:sp>
        <p:nvSpPr>
          <p:cNvPr id="13" name="Text 11"/>
          <p:cNvSpPr txBox="1"/>
          <p:nvPr/>
        </p:nvSpPr>
        <p:spPr>
          <a:xfrm>
            <a:off x="457200" y="2606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4" name="Text 12"/>
          <p:cNvSpPr txBox="1"/>
          <p:nvPr/>
        </p:nvSpPr>
        <p:spPr>
          <a:xfrm>
            <a:off x="1097280" y="256946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Sunday cover — confirmed</a:t>
            </a:r>
            <a:endParaRPr lang="en-US" sz="1600" dirty="0"/>
          </a:p>
        </p:txBody>
      </p:sp>
      <p:sp>
        <p:nvSpPr>
          <p:cNvPr id="15" name="Text 13"/>
          <p:cNvSpPr txBox="1"/>
          <p:nvPr/>
        </p:nvSpPr>
        <p:spPr>
          <a:xfrm>
            <a:off x="1097280" y="285292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Ten on a Sunday — Sunday work stays overtime.</a:t>
            </a:r>
            <a:endParaRPr lang="en-US" sz="1300" dirty="0"/>
          </a:p>
        </p:txBody>
      </p:sp>
      <p:sp>
        <p:nvSpPr>
          <p:cNvPr id="16" name="Shape 14"/>
          <p:cNvSpPr/>
          <p:nvPr/>
        </p:nvSpPr>
        <p:spPr>
          <a:xfrm>
            <a:off x="457200" y="3246120"/>
            <a:ext cx="457200" cy="457200"/>
          </a:xfrm>
          <a:prstGeom prst="ellipse">
            <a:avLst/>
          </a:prstGeom>
          <a:solidFill>
            <a:srgbClr val="F5C800"/>
          </a:solidFill>
          <a:ln w="12700">
            <a:solidFill>
              <a:srgbClr val="F5C800"/>
            </a:solidFill>
            <a:prstDash val="solid"/>
          </a:ln>
        </p:spPr>
      </p:sp>
      <p:sp>
        <p:nvSpPr>
          <p:cNvPr id="17" name="Text 15"/>
          <p:cNvSpPr txBox="1"/>
          <p:nvPr/>
        </p:nvSpPr>
        <p:spPr>
          <a:xfrm>
            <a:off x="457200" y="324612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18" name="Text 16"/>
          <p:cNvSpPr txBox="1"/>
          <p:nvPr/>
        </p:nvSpPr>
        <p:spPr>
          <a:xfrm>
            <a:off x="1097280" y="320954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To decide: which link we use</a:t>
            </a:r>
            <a:endParaRPr lang="en-US" sz="1600" dirty="0"/>
          </a:p>
        </p:txBody>
      </p:sp>
      <p:sp>
        <p:nvSpPr>
          <p:cNvPr id="19" name="Text 17"/>
          <p:cNvSpPr txBox="1"/>
          <p:nvPr/>
        </p:nvSpPr>
        <p:spPr>
          <a:xfrm>
            <a:off x="1097280" y="349300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Colleagues’ views come first.</a:t>
            </a:r>
            <a:endParaRPr lang="en-US" sz="1300" dirty="0"/>
          </a:p>
        </p:txBody>
      </p:sp>
      <p:sp>
        <p:nvSpPr>
          <p:cNvPr id="20" name="Shape 18"/>
          <p:cNvSpPr/>
          <p:nvPr/>
        </p:nvSpPr>
        <p:spPr>
          <a:xfrm>
            <a:off x="457200" y="3886200"/>
            <a:ext cx="457200" cy="457200"/>
          </a:xfrm>
          <a:prstGeom prst="ellipse">
            <a:avLst/>
          </a:prstGeom>
          <a:solidFill>
            <a:srgbClr val="F5C800"/>
          </a:solidFill>
          <a:ln w="12700">
            <a:solidFill>
              <a:srgbClr val="F5C800"/>
            </a:solidFill>
            <a:prstDash val="solid"/>
          </a:ln>
        </p:spPr>
      </p:sp>
      <p:sp>
        <p:nvSpPr>
          <p:cNvPr id="21" name="Text 19"/>
          <p:cNvSpPr txBox="1"/>
          <p:nvPr/>
        </p:nvSpPr>
        <p:spPr>
          <a:xfrm>
            <a:off x="457200" y="388620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22" name="Text 20"/>
          <p:cNvSpPr txBox="1"/>
          <p:nvPr/>
        </p:nvSpPr>
        <p:spPr>
          <a:xfrm>
            <a:off x="1097280" y="38496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Then: who starts on which line</a:t>
            </a:r>
            <a:endParaRPr lang="en-US" sz="1600" dirty="0"/>
          </a:p>
        </p:txBody>
      </p:sp>
      <p:sp>
        <p:nvSpPr>
          <p:cNvPr id="23" name="Text 21"/>
          <p:cNvSpPr txBox="1"/>
          <p:nvPr/>
        </p:nvSpPr>
        <p:spPr>
          <a:xfrm>
            <a:off x="1097280" y="41330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Who begins on which week of the link.</a:t>
            </a:r>
            <a:endParaRPr lang="en-US" sz="13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Sight · December 2026 CEA link · for managers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The detail</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203200" indent="-203200">
              <a:spcAft>
                <a:spcPts val="800"/>
              </a:spcAft>
              <a:buSzPct val="100000"/>
              <a:buChar char="•"/>
            </a:pPr>
            <a:r>
              <a:rPr lang="en-US" sz="1800" dirty="0">
                <a:solidFill>
                  <a:srgbClr val="FFFFFF"/>
                </a:solidFill>
                <a:latin typeface="Inter" pitchFamily="34" charset="0"/>
                <a:ea typeface="Inter" pitchFamily="34" charset="-122"/>
                <a:cs typeface="Inter" pitchFamily="34" charset="-120"/>
              </a:rPr>
              <a:t>Every week of the link, day by day</a:t>
            </a:r>
            <a:endParaRPr lang="en-US" sz="1800" dirty="0"/>
          </a:p>
          <a:p>
            <a:pPr marL="203200" indent="-203200">
              <a:spcAft>
                <a:spcPts val="800"/>
              </a:spcAft>
              <a:buSzPct val="100000"/>
              <a:buChar char="•"/>
            </a:pPr>
            <a:r>
              <a:rPr lang="en-US" sz="1800" dirty="0">
                <a:solidFill>
                  <a:srgbClr val="FFFFFF"/>
                </a:solidFill>
                <a:latin typeface="Inter" pitchFamily="34" charset="0"/>
                <a:ea typeface="Inter" pitchFamily="34" charset="-122"/>
                <a:cs typeface="Inter" pitchFamily="34" charset="-120"/>
              </a:rPr>
              <a:t>Staff on duty hour by hour, against the trains</a:t>
            </a:r>
            <a:endParaRPr lang="en-US" sz="1800" dirty="0"/>
          </a:p>
          <a:p>
            <a:pPr marL="203200" indent="-203200">
              <a:spcAft>
                <a:spcPts val="800"/>
              </a:spcAft>
              <a:buSzPct val="100000"/>
              <a:buChar char="•"/>
            </a:pPr>
            <a:r>
              <a:rPr lang="en-US" sz="1800" dirty="0">
                <a:solidFill>
                  <a:srgbClr val="FFFFFF"/>
                </a:solidFill>
                <a:latin typeface="Inter" pitchFamily="34" charset="0"/>
                <a:ea typeface="Inter" pitchFamily="34" charset="-122"/>
                <a:cs typeface="Inter" pitchFamily="34" charset="-120"/>
              </a:rPr>
              <a:t>Every December rule and fatigue check, worked through</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300" dirty="0">
                <a:solidFill>
                  <a:srgbClr val="F5C800"/>
                </a:solidFill>
                <a:latin typeface="Inter" pitchFamily="34" charset="0"/>
                <a:ea typeface="Inter" pitchFamily="34" charset="-122"/>
                <a:cs typeface="Inter" pitchFamily="34" charset="-120"/>
              </a:rPr>
              <a:t>All in the eight-page proposal sheet · Second Sight · SS-26-F1</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Second Sight — the December 2026 CEA link, for managers</dc:title>
  <dc:subject>PptxGenJS Presentation</dc:subject>
  <dc:creator>PptxGenJS</dc:creator>
  <cp:lastModifiedBy>PptxGenJS</cp:lastModifiedBy>
  <cp:revision>1</cp:revision>
  <dcterms:created xsi:type="dcterms:W3CDTF">2026-09-30T09:26:59Z</dcterms:created>
  <dcterms:modified xsi:type="dcterms:W3CDTF">2026-09-30T09:26:59Z</dcterms:modified>
</cp:coreProperties>
</file>