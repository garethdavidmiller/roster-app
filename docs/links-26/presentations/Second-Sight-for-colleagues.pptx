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Seven full weekends off in every 26 weeks, against four in 20 today, and never more than five weeks apart — though each person works about two more Saturdays a year. Every week is all earlies or all lates, so nobody switches between the two inside a week. Nine of the fifteen shift times are ones people already work. And every closing shift is shorter: the weekday and Saturday closers by 30 minutes, the Sunday closer by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and the Sunday cover were confirmed verbally on 29 September 2026, and the 26-person link, its five cover weeks and a ceiling of 219 contracted days a year on 1 October 2026: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Second Sight. Exactly, Second Sight works out at 218.6 days a year: just under today’s 219, which is also the most the 26-week link is allowed (agreed 1 October 2026). The average shift is two minutes longer, which is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28 a year instead of 26. Sundays stay overtime: 10 a week shared among 26 people instead of 8 among 20, so about the same each (20 a year, against 21). These are averages across the whole link — your own depends on which line you start on — and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15:15 instead of 14:45 (8h 40m, not 9h 10m); Sunday 15:15 to 23:25 instead of 14:30 (8h 10m, not 8h 55m). Be upfront about the two minutes on the average: the 26-week link may have no more than 219 contracted days a year, so the same 35 hours go into slightly fewer, slightly longer shifts. Nothing runs over 9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About three more a year each finish at 23:00 or later, and all of that comes from the December rules: three on duty to the close every day, where today’s weekdays have two. In Second Sight the only people who finish after 23:00 are those three closers, so no link that meets the rules on 26 weeks can have fewer. Finishes at 22:00 or later go up more, from 78 to 94 a year: the rules also want five still on duty after 22:00, and two weekday lates finish at 22:30 with the ticket office. Early 06:20 starts hardly change. And because the shortest gap between two shifts is 14h 20m, nobody finishes late and starts early the next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Sight was built the way Familiar Nine was: keeping the times people already work wherever that cost little. Nine of its fifteen are worked today, and it uses fewer different times overall than today’s eighteen. Three of the six new ones are today’s shifts starting later — the weekday closer, the Sunday closer and the Sunday ticket-office late — so they are shorter, not longer. The Sunday opener stays today’s 07:15–15:45.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Second Sight gives 7 in 26, and they are never more than five weeks apart, against seven today. Five is as close as they can be: a full weekend cannot start in a cover week or the week before one, so only 16 of the 26 weeks can begin one. Every working week is all earlies or all lates — today seven weeks in 16 mix the two — and most keep the same shift time Monday to Friday, 16 of the 21. Rest days mostly come in pairs: 21 of the 26 rest-day breaks are two days or more, against 13 of 17 today. That leaves five single rest days, one more than today’s four — worth saying, because somebody will ask.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Earlies here means a start before 11:00. A weekday has 7 earlies and 8 lates; a Saturday 7 and 7; a Sunday 5 and 5. Sundays: today 8 Sunday duties across 16 working weeks, Second Sight 10 across 21 — about the same share of working weeks. With six more people to share them, that is about one fewer Sunday a year each (20 against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Second Sight spreads rest days more evenly, so its best is 28. On average it is the same, 23.4 days, and at its worst it is a day better than today. Four full weeks off (Sunday to Saturday) takes at least 15 days of leave, instead of 14 at best today. The exact averages depend on where you count a booking as starting, so quote them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 of Rail and Road and the rail industry publish lists of rota patterns that tend to tire people. Today’s link shows four of them in the fixed rota (up to five where a cover week falls badly); Second Sight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Second Sight</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26 weeks · code SS-26-F1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48640"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same contracted week</a:t>
            </a:r>
            <a:endParaRPr lang="en-US" sz="1400" dirty="0"/>
          </a:p>
        </p:txBody>
      </p:sp>
      <p:sp>
        <p:nvSpPr>
          <p:cNvPr id="7" name="Text 5"/>
          <p:cNvSpPr txBox="1"/>
          <p:nvPr/>
        </p:nvSpPr>
        <p:spPr>
          <a:xfrm>
            <a:off x="548640"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contracted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221992"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 in a row</a:t>
            </a:r>
            <a:endParaRPr lang="en-US" sz="1400" dirty="0"/>
          </a:p>
        </p:txBody>
      </p:sp>
      <p:sp>
        <p:nvSpPr>
          <p:cNvPr id="11" name="Text 9"/>
          <p:cNvSpPr txBox="1"/>
          <p:nvPr/>
        </p:nvSpPr>
        <p:spPr>
          <a:xfrm>
            <a:off x="2221992"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7, up to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7 in 26</a:t>
            </a:r>
            <a:endParaRPr lang="en-US" sz="3000" dirty="0"/>
          </a:p>
        </p:txBody>
      </p:sp>
      <p:sp>
        <p:nvSpPr>
          <p:cNvPr id="14" name="Text 12"/>
          <p:cNvSpPr txBox="1"/>
          <p:nvPr/>
        </p:nvSpPr>
        <p:spPr>
          <a:xfrm>
            <a:off x="3895344"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15" name="Text 13"/>
          <p:cNvSpPr txBox="1"/>
          <p:nvPr/>
        </p:nvSpPr>
        <p:spPr>
          <a:xfrm>
            <a:off x="3895344"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at most 5 weeks apart</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9 of 15</a:t>
            </a:r>
            <a:endParaRPr lang="en-US" sz="3000" dirty="0"/>
          </a:p>
        </p:txBody>
      </p:sp>
      <p:sp>
        <p:nvSpPr>
          <p:cNvPr id="18" name="Text 16"/>
          <p:cNvSpPr txBox="1"/>
          <p:nvPr/>
        </p:nvSpPr>
        <p:spPr>
          <a:xfrm>
            <a:off x="5568696"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shift times you already work</a:t>
            </a:r>
            <a:endParaRPr lang="en-US" sz="1400" dirty="0"/>
          </a:p>
        </p:txBody>
      </p:sp>
      <p:sp>
        <p:nvSpPr>
          <p:cNvPr id="19" name="Text 17"/>
          <p:cNvSpPr txBox="1"/>
          <p:nvPr/>
        </p:nvSpPr>
        <p:spPr>
          <a:xfrm>
            <a:off x="5568696"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6 new ones</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 min</a:t>
            </a:r>
            <a:endParaRPr lang="en-US" sz="3000" dirty="0"/>
          </a:p>
        </p:txBody>
      </p:sp>
      <p:sp>
        <p:nvSpPr>
          <p:cNvPr id="22" name="Text 20"/>
          <p:cNvSpPr txBox="1"/>
          <p:nvPr/>
        </p:nvSpPr>
        <p:spPr>
          <a:xfrm>
            <a:off x="7242048"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shorter on every closing shift</a:t>
            </a:r>
            <a:endParaRPr lang="en-US" sz="1400" dirty="0"/>
          </a:p>
        </p:txBody>
      </p:sp>
      <p:sp>
        <p:nvSpPr>
          <p:cNvPr id="23" name="Text 21"/>
          <p:cNvSpPr txBox="1"/>
          <p:nvPr/>
        </p:nvSpPr>
        <p:spPr>
          <a:xfrm>
            <a:off x="7242048"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45 min on a Sunday</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closers, and weekends off never more than five weeks apart.</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233968"/>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334552"/>
            <a:ext cx="256032" cy="256032"/>
          </a:xfrm>
          <a:prstGeom prst="rect">
            <a:avLst/>
          </a:prstGeom>
        </p:spPr>
      </p:pic>
      <p:sp>
        <p:nvSpPr>
          <p:cNvPr id="10" name="Text 6"/>
          <p:cNvSpPr txBox="1"/>
          <p:nvPr/>
        </p:nvSpPr>
        <p:spPr>
          <a:xfrm>
            <a:off x="1097280" y="2197392"/>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480856"/>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26, so six more colleagues join it.</a:t>
            </a:r>
            <a:endParaRPr lang="en-US" sz="1300" dirty="0"/>
          </a:p>
        </p:txBody>
      </p:sp>
      <p:sp>
        <p:nvSpPr>
          <p:cNvPr id="12" name="Shape 8"/>
          <p:cNvSpPr/>
          <p:nvPr/>
        </p:nvSpPr>
        <p:spPr>
          <a:xfrm>
            <a:off x="457200" y="3096336"/>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3196920"/>
            <a:ext cx="256032" cy="256032"/>
          </a:xfrm>
          <a:prstGeom prst="rect">
            <a:avLst/>
          </a:prstGeom>
        </p:spPr>
      </p:pic>
      <p:sp>
        <p:nvSpPr>
          <p:cNvPr id="14" name="Text 9"/>
          <p:cNvSpPr txBox="1"/>
          <p:nvPr/>
        </p:nvSpPr>
        <p:spPr>
          <a:xfrm>
            <a:off x="1097280" y="305976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334322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958704"/>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4059288"/>
            <a:ext cx="256032" cy="256032"/>
          </a:xfrm>
          <a:prstGeom prst="rect">
            <a:avLst/>
          </a:prstGeom>
        </p:spPr>
      </p:pic>
      <p:sp>
        <p:nvSpPr>
          <p:cNvPr id="18" name="Text 12"/>
          <p:cNvSpPr txBox="1"/>
          <p:nvPr/>
        </p:nvSpPr>
        <p:spPr>
          <a:xfrm>
            <a:off x="1097280" y="392212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420559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4.19</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219</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Exactly the same 35-hour week — and no more contracted days than today.</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28</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two more Saturdays at time and a quarter.</a:t>
            </a:r>
            <a:endParaRPr lang="en-US" sz="1400" dirty="0"/>
          </a:p>
        </p:txBody>
      </p:sp>
      <p:sp>
        <p:nvSpPr>
          <p:cNvPr id="20" name="Text 18"/>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two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15:15, not 14:45</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40m</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9h 00m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16m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45 minutes shorter, and nothing runs over 9 hours.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A little — about 42 a year each, against 39 today</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42</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94</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846320" y="3502152"/>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766560" y="3502152"/>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Three more late finishes a year — the fewest the rules allow — and every closer is shorter.</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15 shift times in all — 9 of them you already work</a:t>
            </a:r>
            <a:endParaRPr lang="en-US" sz="1500" dirty="0"/>
          </a:p>
        </p:txBody>
      </p:sp>
      <p:sp>
        <p:nvSpPr>
          <p:cNvPr id="4" name="Shape 2"/>
          <p:cNvSpPr/>
          <p:nvPr/>
        </p:nvSpPr>
        <p:spPr>
          <a:xfrm>
            <a:off x="457200" y="1371600"/>
            <a:ext cx="3291840" cy="2651760"/>
          </a:xfrm>
          <a:prstGeom prst="roundRect">
            <a:avLst>
              <a:gd name="adj" fmla="val 3448"/>
            </a:avLst>
          </a:prstGeom>
          <a:solidFill>
            <a:srgbClr val="EEF2F7"/>
          </a:solidFill>
          <a:ln w="12700">
            <a:solidFill>
              <a:srgbClr val="EEF2F7"/>
            </a:solidFill>
            <a:prstDash val="solid"/>
          </a:ln>
        </p:spPr>
      </p:sp>
      <p:sp>
        <p:nvSpPr>
          <p:cNvPr id="5" name="Shape 3"/>
          <p:cNvSpPr/>
          <p:nvPr/>
        </p:nvSpPr>
        <p:spPr>
          <a:xfrm>
            <a:off x="640080" y="1508760"/>
            <a:ext cx="411480" cy="41148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30606" y="1599286"/>
            <a:ext cx="230429" cy="230429"/>
          </a:xfrm>
          <a:prstGeom prst="rect">
            <a:avLst/>
          </a:prstGeom>
        </p:spPr>
      </p:pic>
      <p:sp>
        <p:nvSpPr>
          <p:cNvPr id="7" name="Text 4"/>
          <p:cNvSpPr txBox="1"/>
          <p:nvPr/>
        </p:nvSpPr>
        <p:spPr>
          <a:xfrm>
            <a:off x="1188720" y="1508760"/>
            <a:ext cx="2377440" cy="411480"/>
          </a:xfrm>
          <a:prstGeom prst="rect">
            <a:avLst/>
          </a:prstGeom>
          <a:noFill/>
          <a:ln/>
        </p:spPr>
        <p:txBody>
          <a:bodyPr wrap="square" lIns="0" tIns="0" rIns="0" bIns="0" rtlCol="0" anchor="ctr"/>
          <a:lstStyle/>
          <a:p>
            <a:pPr indent="0" marL="0">
              <a:buNone/>
            </a:pPr>
            <a:r>
              <a:rPr lang="en-US" sz="1500" b="1" dirty="0">
                <a:solidFill>
                  <a:srgbClr val="1E7B4B"/>
                </a:solidFill>
                <a:latin typeface="Inter" pitchFamily="34" charset="0"/>
                <a:ea typeface="Inter" pitchFamily="34" charset="-122"/>
                <a:cs typeface="Inter" pitchFamily="34" charset="-120"/>
              </a:rPr>
              <a:t>You work these today (9)</a:t>
            </a:r>
            <a:endParaRPr lang="en-US" sz="1500" dirty="0"/>
          </a:p>
        </p:txBody>
      </p:sp>
      <p:sp>
        <p:nvSpPr>
          <p:cNvPr id="8" name="Text 5"/>
          <p:cNvSpPr txBox="1"/>
          <p:nvPr/>
        </p:nvSpPr>
        <p:spPr>
          <a:xfrm>
            <a:off x="685800" y="2011680"/>
            <a:ext cx="2926080" cy="1965960"/>
          </a:xfrm>
          <a:prstGeom prst="rect">
            <a:avLst/>
          </a:prstGeom>
          <a:noFill/>
          <a:ln/>
        </p:spPr>
        <p:txBody>
          <a:bodyPr wrap="square" lIns="0" tIns="0" rIns="0" bIns="0" rtlCol="0" anchor="t"/>
          <a:lstStyle/>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06:20–14:00 · 06:20–14:20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06:20–14:50 · 07:15–15:45</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08:00–16:30 · 12:00–20:00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14:00–22:30 · 14:30–22:00</a:t>
            </a:r>
            <a:endParaRPr lang="en-US" sz="1200" dirty="0"/>
          </a:p>
          <a:p>
            <a:pPr marL="152400" indent="-152400">
              <a:spcAft>
                <a:spcPts val="200"/>
              </a:spcAft>
              <a:buSzPct val="100000"/>
              <a:buChar char="•"/>
            </a:pPr>
            <a:r>
              <a:rPr lang="en-US" sz="1200" dirty="0">
                <a:solidFill>
                  <a:srgbClr val="1B2533"/>
                </a:solidFill>
                <a:latin typeface="Inter" pitchFamily="34" charset="0"/>
                <a:ea typeface="Inter" pitchFamily="34" charset="-122"/>
                <a:cs typeface="Inter" pitchFamily="34" charset="-120"/>
              </a:rPr>
              <a:t>15:15–23:55</a:t>
            </a:r>
            <a:endParaRPr lang="en-US" sz="1200" dirty="0"/>
          </a:p>
        </p:txBody>
      </p:sp>
      <p:sp>
        <p:nvSpPr>
          <p:cNvPr id="9" name="Shape 6"/>
          <p:cNvSpPr/>
          <p:nvPr/>
        </p:nvSpPr>
        <p:spPr>
          <a:xfrm>
            <a:off x="3931920" y="1371600"/>
            <a:ext cx="4754880" cy="2651760"/>
          </a:xfrm>
          <a:prstGeom prst="roundRect">
            <a:avLst>
              <a:gd name="adj" fmla="val 3448"/>
            </a:avLst>
          </a:prstGeom>
          <a:solidFill>
            <a:srgbClr val="EEF2F7"/>
          </a:solidFill>
          <a:ln w="12700">
            <a:solidFill>
              <a:srgbClr val="EEF2F7"/>
            </a:solidFill>
            <a:prstDash val="solid"/>
          </a:ln>
        </p:spPr>
      </p:sp>
      <p:sp>
        <p:nvSpPr>
          <p:cNvPr id="10" name="Shape 7"/>
          <p:cNvSpPr/>
          <p:nvPr/>
        </p:nvSpPr>
        <p:spPr>
          <a:xfrm>
            <a:off x="4114800" y="1508760"/>
            <a:ext cx="411480" cy="41148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4205326" y="1599286"/>
            <a:ext cx="230429" cy="230429"/>
          </a:xfrm>
          <a:prstGeom prst="rect">
            <a:avLst/>
          </a:prstGeom>
        </p:spPr>
      </p:pic>
      <p:sp>
        <p:nvSpPr>
          <p:cNvPr id="12" name="Text 8"/>
          <p:cNvSpPr txBox="1"/>
          <p:nvPr/>
        </p:nvSpPr>
        <p:spPr>
          <a:xfrm>
            <a:off x="4663440" y="1508760"/>
            <a:ext cx="3840480" cy="411480"/>
          </a:xfrm>
          <a:prstGeom prst="rect">
            <a:avLst/>
          </a:prstGeom>
          <a:noFill/>
          <a:ln/>
        </p:spPr>
        <p:txBody>
          <a:bodyPr wrap="square" lIns="0" tIns="0" rIns="0" bIns="0" rtlCol="0" anchor="ctr"/>
          <a:lstStyle/>
          <a:p>
            <a:pPr indent="0" marL="0">
              <a:buNone/>
            </a:pPr>
            <a:r>
              <a:rPr lang="en-US" sz="1500" b="1" dirty="0">
                <a:solidFill>
                  <a:srgbClr val="001E3C"/>
                </a:solidFill>
                <a:latin typeface="Inter" pitchFamily="34" charset="0"/>
                <a:ea typeface="Inter" pitchFamily="34" charset="-122"/>
                <a:cs typeface="Inter" pitchFamily="34" charset="-120"/>
              </a:rPr>
              <a:t>New times (6)</a:t>
            </a:r>
            <a:endParaRPr lang="en-US" sz="1500" dirty="0"/>
          </a:p>
        </p:txBody>
      </p:sp>
      <p:sp>
        <p:nvSpPr>
          <p:cNvPr id="13" name="Text 9"/>
          <p:cNvSpPr txBox="1"/>
          <p:nvPr/>
        </p:nvSpPr>
        <p:spPr>
          <a:xfrm>
            <a:off x="4160520" y="2011680"/>
            <a:ext cx="4389120" cy="1965960"/>
          </a:xfrm>
          <a:prstGeom prst="rect">
            <a:avLst/>
          </a:prstGeom>
          <a:noFill/>
          <a:ln/>
        </p:spPr>
        <p:txBody>
          <a:bodyPr wrap="square" lIns="0" tIns="0" rIns="0" bIns="0" rtlCol="0" anchor="t"/>
          <a:lstStyle/>
          <a:p>
            <a:pPr indent="0" marL="0">
              <a:spcAft>
                <a:spcPts val="100"/>
              </a:spcAft>
              <a:buNone/>
            </a:pPr>
            <a:r>
              <a:rPr lang="en-US" sz="1050" b="1" dirty="0">
                <a:solidFill>
                  <a:srgbClr val="001E3C"/>
                </a:solidFill>
                <a:latin typeface="Inter" pitchFamily="34" charset="0"/>
                <a:ea typeface="Inter" pitchFamily="34" charset="-122"/>
                <a:cs typeface="Inter" pitchFamily="34" charset="-120"/>
              </a:rPr>
              <a:t>Weekdays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07:00–16:00 — a new early, 9 hours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15:00–22:30 — a new late, ending with the ticket office</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15:45–23:55 — the closer, 30 minutes later than 15:15</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Saturday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nothing new — every Saturday time is worked today</a:t>
            </a:r>
            <a:endParaRPr lang="en-US" sz="1050" dirty="0"/>
          </a:p>
          <a:p>
            <a:pPr indent="0" marL="0">
              <a:spcBef>
                <a:spcPts val="400"/>
              </a:spcBef>
              <a:spcAft>
                <a:spcPts val="100"/>
              </a:spcAft>
              <a:buNone/>
            </a:pPr>
            <a:r>
              <a:rPr lang="en-US" sz="1050" b="1" dirty="0">
                <a:solidFill>
                  <a:srgbClr val="001E3C"/>
                </a:solidFill>
                <a:latin typeface="Inter" pitchFamily="34" charset="0"/>
                <a:ea typeface="Inter" pitchFamily="34" charset="-122"/>
                <a:cs typeface="Inter" pitchFamily="34" charset="-120"/>
              </a:rPr>
              <a:t>Sunday</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15:15–23:25 — the closer, 45 minutes later than 14:30</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09:00–18:00 — a new early, 9 hours</a:t>
            </a:r>
            <a:endParaRPr lang="en-US" sz="1050" dirty="0"/>
          </a:p>
          <a:p>
            <a:pPr marL="152400" indent="-152400">
              <a:spcAft>
                <a:spcPts val="100"/>
              </a:spcAft>
              <a:buSzPct val="100000"/>
              <a:buChar char="•"/>
            </a:pPr>
            <a:r>
              <a:rPr lang="en-US" sz="1050" dirty="0">
                <a:solidFill>
                  <a:srgbClr val="1B2533"/>
                </a:solidFill>
                <a:latin typeface="Inter" pitchFamily="34" charset="0"/>
                <a:ea typeface="Inter" pitchFamily="34" charset="-122"/>
                <a:cs typeface="Inter" pitchFamily="34" charset="-120"/>
              </a:rPr>
              <a:t>14:30–22:30 — the ticket-office late</a:t>
            </a:r>
            <a:endParaRPr lang="en-US" sz="1050" dirty="0"/>
          </a:p>
        </p:txBody>
      </p:sp>
      <p:sp>
        <p:nvSpPr>
          <p:cNvPr id="14" name="Shape 1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5" name="Text 1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Fewer shift times than today (15, not 18) — and nothing new on a Saturday.</a:t>
            </a:r>
            <a:endParaRPr lang="en-US" sz="1400" dirty="0"/>
          </a:p>
        </p:txBody>
      </p:sp>
      <p:sp>
        <p:nvSpPr>
          <p:cNvPr id="16" name="Text 1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7 in 26</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21 of 26</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20m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Monday to Friday</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16 of 21</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Seven weekends off in 26, at most five weeks apart, and no week mixing earlies and lates.</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Earlies, lates and Sundays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balance you have now stays much the same</a:t>
            </a:r>
            <a:endParaRPr lang="en-US" sz="1500" dirty="0"/>
          </a:p>
        </p:txBody>
      </p:sp>
      <p:sp>
        <p:nvSpPr>
          <p:cNvPr id="4" name="Shape 2"/>
          <p:cNvSpPr/>
          <p:nvPr/>
        </p:nvSpPr>
        <p:spPr>
          <a:xfrm>
            <a:off x="457200" y="1417320"/>
            <a:ext cx="2606040" cy="251460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640080" y="1600200"/>
            <a:ext cx="502920" cy="50292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7" name="Text 4"/>
          <p:cNvSpPr txBox="1"/>
          <p:nvPr/>
        </p:nvSpPr>
        <p:spPr>
          <a:xfrm>
            <a:off x="64008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About half earlies, half lates</a:t>
            </a:r>
            <a:endParaRPr lang="en-US" sz="1600" dirty="0"/>
          </a:p>
        </p:txBody>
      </p:sp>
      <p:sp>
        <p:nvSpPr>
          <p:cNvPr id="8" name="Text 5"/>
          <p:cNvSpPr txBox="1"/>
          <p:nvPr/>
        </p:nvSpPr>
        <p:spPr>
          <a:xfrm>
            <a:off x="64008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Saturday and Sunday split evenly; a weekday has one more late than early.</a:t>
            </a:r>
            <a:endParaRPr lang="en-US" sz="1300" dirty="0"/>
          </a:p>
        </p:txBody>
      </p:sp>
      <p:sp>
        <p:nvSpPr>
          <p:cNvPr id="9" name="Shape 6"/>
          <p:cNvSpPr/>
          <p:nvPr/>
        </p:nvSpPr>
        <p:spPr>
          <a:xfrm>
            <a:off x="3246120" y="1417320"/>
            <a:ext cx="2606040" cy="2514600"/>
          </a:xfrm>
          <a:prstGeom prst="roundRect">
            <a:avLst>
              <a:gd name="adj" fmla="val 3636"/>
            </a:avLst>
          </a:prstGeom>
          <a:solidFill>
            <a:srgbClr val="EEF2F7"/>
          </a:solidFill>
          <a:ln w="12700">
            <a:solidFill>
              <a:srgbClr val="EEF2F7"/>
            </a:solidFill>
            <a:prstDash val="solid"/>
          </a:ln>
        </p:spPr>
      </p:sp>
      <p:sp>
        <p:nvSpPr>
          <p:cNvPr id="10" name="Shape 7"/>
          <p:cNvSpPr/>
          <p:nvPr/>
        </p:nvSpPr>
        <p:spPr>
          <a:xfrm>
            <a:off x="3429000" y="1600200"/>
            <a:ext cx="502920" cy="50292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3539642" y="1710842"/>
            <a:ext cx="281635" cy="281635"/>
          </a:xfrm>
          <a:prstGeom prst="rect">
            <a:avLst/>
          </a:prstGeom>
        </p:spPr>
      </p:pic>
      <p:sp>
        <p:nvSpPr>
          <p:cNvPr id="12" name="Text 8"/>
          <p:cNvSpPr txBox="1"/>
          <p:nvPr/>
        </p:nvSpPr>
        <p:spPr>
          <a:xfrm>
            <a:off x="342900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Sundays are still overtime</a:t>
            </a:r>
            <a:endParaRPr lang="en-US" sz="1600" dirty="0"/>
          </a:p>
        </p:txBody>
      </p:sp>
      <p:sp>
        <p:nvSpPr>
          <p:cNvPr id="13" name="Text 9"/>
          <p:cNvSpPr txBox="1"/>
          <p:nvPr/>
        </p:nvSpPr>
        <p:spPr>
          <a:xfrm>
            <a:off x="342900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Not part of the contract, same as now — and about the same number of Sundays as today.</a:t>
            </a:r>
            <a:endParaRPr lang="en-US" sz="1300" dirty="0"/>
          </a:p>
        </p:txBody>
      </p:sp>
      <p:sp>
        <p:nvSpPr>
          <p:cNvPr id="14" name="Shape 10"/>
          <p:cNvSpPr/>
          <p:nvPr/>
        </p:nvSpPr>
        <p:spPr>
          <a:xfrm>
            <a:off x="6035040" y="1417320"/>
            <a:ext cx="2606040" cy="2514600"/>
          </a:xfrm>
          <a:prstGeom prst="roundRect">
            <a:avLst>
              <a:gd name="adj" fmla="val 3636"/>
            </a:avLst>
          </a:prstGeom>
          <a:solidFill>
            <a:srgbClr val="EEF2F7"/>
          </a:solidFill>
          <a:ln w="12700">
            <a:solidFill>
              <a:srgbClr val="EEF2F7"/>
            </a:solidFill>
            <a:prstDash val="solid"/>
          </a:ln>
        </p:spPr>
      </p:sp>
      <p:sp>
        <p:nvSpPr>
          <p:cNvPr id="15" name="Shape 11"/>
          <p:cNvSpPr/>
          <p:nvPr/>
        </p:nvSpPr>
        <p:spPr>
          <a:xfrm>
            <a:off x="6217920" y="1600200"/>
            <a:ext cx="502920" cy="502920"/>
          </a:xfrm>
          <a:prstGeom prst="ellipse">
            <a:avLst/>
          </a:prstGeom>
          <a:solidFill>
            <a:srgbClr val="F5C800"/>
          </a:solidFill>
          <a:ln w="12700">
            <a:solidFill>
              <a:srgbClr val="F5C800"/>
            </a:solidFill>
            <a:prstDash val="solid"/>
          </a:ln>
        </p:spPr>
      </p:sp>
      <p:pic>
        <p:nvPicPr>
          <p:cNvPr id="16" name="Image 2" descr="preencoded.png">    </p:cNvPr>
          <p:cNvPicPr>
            <a:picLocks noChangeAspect="1"/>
          </p:cNvPicPr>
          <p:nvPr/>
        </p:nvPicPr>
        <p:blipFill>
          <a:blip r:embed="rId3"/>
          <a:stretch>
            <a:fillRect/>
          </a:stretch>
        </p:blipFill>
        <p:spPr>
          <a:xfrm>
            <a:off x="6328562" y="1710842"/>
            <a:ext cx="281635" cy="281635"/>
          </a:xfrm>
          <a:prstGeom prst="rect">
            <a:avLst/>
          </a:prstGeom>
        </p:spPr>
      </p:pic>
      <p:sp>
        <p:nvSpPr>
          <p:cNvPr id="17" name="Text 12"/>
          <p:cNvSpPr txBox="1"/>
          <p:nvPr/>
        </p:nvSpPr>
        <p:spPr>
          <a:xfrm>
            <a:off x="621792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Nobody past 23:25 on a Sunday</a:t>
            </a:r>
            <a:endParaRPr lang="en-US" sz="1600" dirty="0"/>
          </a:p>
        </p:txBody>
      </p:sp>
      <p:sp>
        <p:nvSpPr>
          <p:cNvPr id="18" name="Text 13"/>
          <p:cNvSpPr txBox="1"/>
          <p:nvPr/>
        </p:nvSpPr>
        <p:spPr>
          <a:xfrm>
            <a:off x="621792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Sunday finish stays where it is. That is agreed practice (settled 28 Sep 2026).</a:t>
            </a:r>
            <a:endParaRPr lang="en-US" sz="1300" dirty="0"/>
          </a:p>
        </p:txBody>
      </p:sp>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Much the same balance. Sundays stay overtime and still finish at 23:25.</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23.4</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for four full weeks off, at best</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the same. A cover week still counts as at most 4 days of leave, as now.</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rostered every day, at the open and the close</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Second Sight</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15</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975272"/>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Six new shift times to learn</a:t>
            </a:r>
            <a:endParaRPr lang="en-US" sz="1400" dirty="0"/>
          </a:p>
        </p:txBody>
      </p:sp>
      <p:sp>
        <p:nvSpPr>
          <p:cNvPr id="6" name="Text 4"/>
          <p:cNvSpPr txBox="1"/>
          <p:nvPr/>
        </p:nvSpPr>
        <p:spPr>
          <a:xfrm>
            <a:off x="64008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Three are today’s lates starting later, so shorter.</a:t>
            </a:r>
            <a:endParaRPr lang="en-US" sz="1250" dirty="0"/>
          </a:p>
        </p:txBody>
      </p:sp>
      <p:sp>
        <p:nvSpPr>
          <p:cNvPr id="7" name="Shape 5"/>
          <p:cNvSpPr/>
          <p:nvPr/>
        </p:nvSpPr>
        <p:spPr>
          <a:xfrm>
            <a:off x="4663440" y="1371600"/>
            <a:ext cx="4023360" cy="975272"/>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53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2 minutes longer on average</a:t>
            </a:r>
            <a:endParaRPr lang="en-US" sz="1400" dirty="0"/>
          </a:p>
        </p:txBody>
      </p:sp>
      <p:sp>
        <p:nvSpPr>
          <p:cNvPr id="9" name="Text 7"/>
          <p:cNvSpPr txBox="1"/>
          <p:nvPr/>
        </p:nvSpPr>
        <p:spPr>
          <a:xfrm>
            <a:off x="4846320" y="184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It keeps days at work to 219 a year or fewer.</a:t>
            </a:r>
            <a:endParaRPr lang="en-US" sz="1250" dirty="0"/>
          </a:p>
        </p:txBody>
      </p:sp>
      <p:sp>
        <p:nvSpPr>
          <p:cNvPr id="10" name="Shape 8"/>
          <p:cNvSpPr/>
          <p:nvPr/>
        </p:nvSpPr>
        <p:spPr>
          <a:xfrm>
            <a:off x="457200" y="2456600"/>
            <a:ext cx="4023360" cy="975272"/>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Best leave stretch: 28 days, not 30</a:t>
            </a:r>
            <a:endParaRPr lang="en-US" sz="1400" dirty="0"/>
          </a:p>
        </p:txBody>
      </p:sp>
      <p:sp>
        <p:nvSpPr>
          <p:cNvPr id="12" name="Text 10"/>
          <p:cNvSpPr txBox="1"/>
          <p:nvPr/>
        </p:nvSpPr>
        <p:spPr>
          <a:xfrm>
            <a:off x="64008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Average as today, and the worst a day better.</a:t>
            </a:r>
            <a:endParaRPr lang="en-US" sz="1250" dirty="0"/>
          </a:p>
        </p:txBody>
      </p:sp>
      <p:sp>
        <p:nvSpPr>
          <p:cNvPr id="13" name="Shape 11"/>
          <p:cNvSpPr/>
          <p:nvPr/>
        </p:nvSpPr>
        <p:spPr>
          <a:xfrm>
            <a:off x="4663440" y="2456600"/>
            <a:ext cx="4023360" cy="975272"/>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615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Five cover weeks</a:t>
            </a:r>
            <a:endParaRPr lang="en-US" sz="1400" dirty="0"/>
          </a:p>
        </p:txBody>
      </p:sp>
      <p:sp>
        <p:nvSpPr>
          <p:cNvPr id="15" name="Text 13"/>
          <p:cNvSpPr txBox="1"/>
          <p:nvPr/>
        </p:nvSpPr>
        <p:spPr>
          <a:xfrm>
            <a:off x="4846320" y="2925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Spaced evenly: weeks 1, 6, 11, 16 and 21.</a:t>
            </a:r>
            <a:endParaRPr lang="en-US" sz="1250" dirty="0"/>
          </a:p>
        </p:txBody>
      </p:sp>
      <p:sp>
        <p:nvSpPr>
          <p:cNvPr id="16" name="Shape 14"/>
          <p:cNvSpPr/>
          <p:nvPr/>
        </p:nvSpPr>
        <p:spPr>
          <a:xfrm>
            <a:off x="457200" y="3541600"/>
            <a:ext cx="4023360" cy="975272"/>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A few more late finishes</a:t>
            </a:r>
            <a:endParaRPr lang="en-US" sz="1400" dirty="0"/>
          </a:p>
        </p:txBody>
      </p:sp>
      <p:sp>
        <p:nvSpPr>
          <p:cNvPr id="18" name="Text 16"/>
          <p:cNvSpPr txBox="1"/>
          <p:nvPr/>
        </p:nvSpPr>
        <p:spPr>
          <a:xfrm>
            <a:off x="64008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42 a year each at 23:00 or later (today 39) — the rules’ minimum.</a:t>
            </a:r>
            <a:endParaRPr lang="en-US" sz="1250" dirty="0"/>
          </a:p>
        </p:txBody>
      </p:sp>
      <p:sp>
        <p:nvSpPr>
          <p:cNvPr id="19" name="Shape 17"/>
          <p:cNvSpPr/>
          <p:nvPr/>
        </p:nvSpPr>
        <p:spPr>
          <a:xfrm>
            <a:off x="4663440" y="3541600"/>
            <a:ext cx="4023360" cy="975272"/>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7000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4010948"/>
            <a:ext cx="3657600" cy="347472"/>
          </a:xfrm>
          <a:prstGeom prst="rect">
            <a:avLst/>
          </a:prstGeom>
          <a:noFill/>
          <a:ln/>
        </p:spPr>
        <p:txBody>
          <a:bodyPr anchor="t" wrap="square" lIns="0" tIns="0" rIns="0" bIns="0" rtlCol="0"/>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Second Sight, side by side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Second Sight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16m · 9h 00m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40m · 8h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in 20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7 in 26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20m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(9 you know)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15 · 14 · 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and days, shorter closers, more full weekends off.</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Second Sight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Second Sight · SS-26-F1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Second Sight — the December 2026 link</dc:title>
  <dc:subject>PptxGenJS Presentation</dc:subject>
  <dc:creator>PptxGenJS</dc:creator>
  <cp:lastModifiedBy>PptxGenJS</cp:lastModifiedBy>
  <cp:revision>1</cp:revision>
  <dcterms:created xsi:type="dcterms:W3CDTF">2026-09-30T09:26:59Z</dcterms:created>
  <dcterms:modified xsi:type="dcterms:W3CDTF">2026-09-30T09:26:59Z</dcterms:modified>
</cp:coreProperties>
</file>