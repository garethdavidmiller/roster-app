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Even Step</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32.6</c:v>
                </c:pt>
                <c:pt idx="1">
                  <c:v>10</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or later. Even Step meets all three. It also stays under the ceiling of 219 contracted days a year set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Even Step meets all 9, and the three flexible ones as well (14 on a Saturday, evenly spaced cover weeks, weekday closers from 15:45). Someone finishing at exactly 22:00 is not counted as still on after 22:00. The floor figure leaves out the ticket office, except at the quiet ends of the day, when one of each pair helps on the floor (on a Sunday both lates, until 15:00). Three to the close every day is the minimum, and Even Step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or a passenger forecast — the rules on the previous slide are the requirement. Against today’s link, Even Step’s score is a little over three-fifths on weekdays, about a seventh on a Saturday and about two-fifths on a Sunday; lower is closer. Its weekday is the loosest of the three shortlisted links (In Step’s 29.8, Short Run’s 29.1): holding every shift Monday to Saturday to 8h 30m or less costs a little of the weekday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25h 30m to 41h 30m — today’s run from 25h 10m to 43h 50m, so both the heaviest and the lightest week sit inside today’s range;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set on 1 October 2026; Even Step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in which a rest day breaks the run, and whoever assesses it should confirm that: on the stricter reading every link has it (FF19 on the rules sheet). The “up to 1” beside the fatigue warnings is the rail industry’s 55-hour guideline: worked as four 8-hour duties straight after a busy line, with its Sunday as overtime too, a cover week can make 56.8 hours in seven days. Where the four fall, and whether the Sunday is worked, is for the roster office.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Even Step (31 October 2026) is In Step’s weeks — the same rest days, weekends, cover weeks and early and late weeks — with the shift times chosen again so that nothing Monday to Saturday runs over 8h 30m. It is the recommended design, on the shortlist with In Step and Short Run, and this slide sets it beside both. It meets every December staffing rule and all three flexible ones. Eight of its thirteen shift times are worked today, every early Monday to Saturday among them (two of the weekday earlies today only at the weekend), and today’s 13:45 finish stays on every weekday. Nobody works more than five days in a row on the fixed rota, where today it is seven; a cover week placed badly, with its Sunday worked as overtime, can make it seven, never more. Every working week is all earlies or all lates, and 18 of the 21 keep one shift time Monday to Friday; today seven weeks in 16 do both. Its seven full weekends off in 26 weeks are never more than five weeks apart, which is as close as the five cover weeks allow; today it is four in 20, up to seven weeks apart. Its working weeks run from 25h 30m to 41h 30m (today 25h 10m to 43h 50m), and the shortest rest is 14h 35m. Against the other two it has the same run, weekends, rest-day breaks, weeks on one shift time, late finishes and leave. What it adds: no shift over 8h 30m Monday to Saturday, where In Step has 40 a year each, Short Run 26 and today 31 (today’s closers), and the fewest shift times, 13 against their 15. What it gives up: the weekday lates, the longest of the three at 8h 27m on average (closers aside), near today’s 8h 30m, where In Step’s are 8h 12m and Short Run’s 8h 00m — the time In Step puts on its earlies goes on Even Step’s lates instead; the working day moves further from one week to the next (1h 31m on average, against 1h 13m for both; today 4h 00m); its weekday fit to the trains is the loosest of the three (32.6, against In Step’s 29.8 and Short Run’s 29.1; today 52.0); and its heaviest week, 41h 30m, is 25 minutes heavier than In Step’s, though an hour lighter than Short Run’s. The honest costs against today: finishes at 23:00 or later go from about 39 to 42 a year each, the smallest rise possible — the December staffing needs three to the close every day, and only those three finish after 23:00 — and finishes at 22:00 or later from about 78 to 94; each person works about two more Saturdays a year; and five shift times are new. Every closing shift is 30 to 60 minutes shorter than today’s.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set on 1 October 2026. Late finishes average about three more a year each, all of them from the December staffing — three to the close every day, where today has two Monday to Saturday — so no link meeting the same rules on 26 weeks could have fewer. Full weekends off are seven in 26 and never more than five weeks apart; nobody works more than five days in a row on the fixed rota; no week mixes earlies and lates, and 18 of the 21 working weeks keep one shift time. Weekly hours run from 25h 30m to 41h 30m (today 25h 10m to 43h 50m); only the average is the contract. No shift Monday to Saturday is over 8h 30m, where today the closers run to 8h 40m and 9h 10m; the one longer shift is the Sunday 09:00–18:00, 9 hours. The average shift is about two minutes longer, and each person works about two more Saturdays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Even Step</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ES-26-T5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each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Closer to the December pattern every day, much closer at the weekend.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461176"/>
          </a:xfrm>
          <a:prstGeom prst="roundRect">
            <a:avLst>
              <a:gd name="adj" fmla="val 9151"/>
            </a:avLst>
          </a:prstGeom>
          <a:solidFill>
            <a:srgbClr val="EEF2F7"/>
          </a:solidFill>
          <a:ln w="12700">
            <a:solidFill>
              <a:srgbClr val="EEF2F7"/>
            </a:solidFill>
            <a:prstDash val="solid"/>
          </a:ln>
        </p:spPr>
      </p:sp>
      <p:sp>
        <p:nvSpPr>
          <p:cNvPr id="7" name="Text 5"/>
          <p:cNvSpPr txBox="1"/>
          <p:nvPr/>
        </p:nvSpPr>
        <p:spPr>
          <a:xfrm>
            <a:off x="640080" y="1801368"/>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354779"/>
            <a:ext cx="8229600" cy="461176"/>
          </a:xfrm>
          <a:prstGeom prst="roundRect">
            <a:avLst>
              <a:gd name="adj" fmla="val 9151"/>
            </a:avLst>
          </a:prstGeom>
          <a:solidFill>
            <a:srgbClr val="FFFFFF"/>
          </a:solidFill>
          <a:ln w="12700">
            <a:solidFill>
              <a:srgbClr val="DDE3EA"/>
            </a:solidFill>
            <a:prstDash val="solid"/>
          </a:ln>
        </p:spPr>
      </p:sp>
      <p:sp>
        <p:nvSpPr>
          <p:cNvPr id="11" name="Text 9"/>
          <p:cNvSpPr txBox="1"/>
          <p:nvPr/>
        </p:nvSpPr>
        <p:spPr>
          <a:xfrm>
            <a:off x="640080" y="2354779"/>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354779"/>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354779"/>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08190"/>
            <a:ext cx="8229600" cy="461176"/>
          </a:xfrm>
          <a:prstGeom prst="roundRect">
            <a:avLst>
              <a:gd name="adj" fmla="val 9151"/>
            </a:avLst>
          </a:prstGeom>
          <a:solidFill>
            <a:srgbClr val="EEF2F7"/>
          </a:solidFill>
          <a:ln w="12700">
            <a:solidFill>
              <a:srgbClr val="EEF2F7"/>
            </a:solidFill>
            <a:prstDash val="solid"/>
          </a:ln>
        </p:spPr>
      </p:sp>
      <p:sp>
        <p:nvSpPr>
          <p:cNvPr id="15" name="Text 13"/>
          <p:cNvSpPr txBox="1"/>
          <p:nvPr/>
        </p:nvSpPr>
        <p:spPr>
          <a:xfrm>
            <a:off x="640080" y="2908190"/>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908190"/>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908190"/>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461601"/>
            <a:ext cx="8229600" cy="461176"/>
          </a:xfrm>
          <a:prstGeom prst="roundRect">
            <a:avLst>
              <a:gd name="adj" fmla="val 9151"/>
            </a:avLst>
          </a:prstGeom>
          <a:solidFill>
            <a:srgbClr val="FFFFFF"/>
          </a:solidFill>
          <a:ln w="12700">
            <a:solidFill>
              <a:srgbClr val="DDE3EA"/>
            </a:solidFill>
            <a:prstDash val="solid"/>
          </a:ln>
        </p:spPr>
      </p:sp>
      <p:sp>
        <p:nvSpPr>
          <p:cNvPr id="19" name="Text 17"/>
          <p:cNvSpPr txBox="1"/>
          <p:nvPr/>
        </p:nvSpPr>
        <p:spPr>
          <a:xfrm>
            <a:off x="640080" y="3461601"/>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461601"/>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461601"/>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461176"/>
          </a:xfrm>
          <a:prstGeom prst="roundRect">
            <a:avLst>
              <a:gd name="adj" fmla="val 9151"/>
            </a:avLst>
          </a:prstGeom>
          <a:solidFill>
            <a:srgbClr val="EEF2F7"/>
          </a:solidFill>
          <a:ln w="12700">
            <a:solidFill>
              <a:srgbClr val="EEF2F7"/>
            </a:solidFill>
            <a:prstDash val="solid"/>
          </a:ln>
        </p:spPr>
      </p:sp>
      <p:sp>
        <p:nvSpPr>
          <p:cNvPr id="7" name="Text 5"/>
          <p:cNvSpPr txBox="1"/>
          <p:nvPr/>
        </p:nvSpPr>
        <p:spPr>
          <a:xfrm>
            <a:off x="640080" y="1801368"/>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 (up to 1)</a:t>
            </a:r>
            <a:endParaRPr lang="en-US" sz="1800" dirty="0"/>
          </a:p>
        </p:txBody>
      </p:sp>
      <p:sp>
        <p:nvSpPr>
          <p:cNvPr id="10" name="Shape 8"/>
          <p:cNvSpPr/>
          <p:nvPr/>
        </p:nvSpPr>
        <p:spPr>
          <a:xfrm>
            <a:off x="457200" y="2354779"/>
            <a:ext cx="8229600" cy="461176"/>
          </a:xfrm>
          <a:prstGeom prst="roundRect">
            <a:avLst>
              <a:gd name="adj" fmla="val 9151"/>
            </a:avLst>
          </a:prstGeom>
          <a:solidFill>
            <a:srgbClr val="FFFFFF"/>
          </a:solidFill>
          <a:ln w="12700">
            <a:solidFill>
              <a:srgbClr val="DDE3EA"/>
            </a:solidFill>
            <a:prstDash val="solid"/>
          </a:ln>
        </p:spPr>
      </p:sp>
      <p:sp>
        <p:nvSpPr>
          <p:cNvPr id="11" name="Text 9"/>
          <p:cNvSpPr txBox="1"/>
          <p:nvPr/>
        </p:nvSpPr>
        <p:spPr>
          <a:xfrm>
            <a:off x="640080" y="2354779"/>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354779"/>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354779"/>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7)</a:t>
            </a:r>
            <a:endParaRPr lang="en-US" sz="1800" dirty="0"/>
          </a:p>
        </p:txBody>
      </p:sp>
      <p:sp>
        <p:nvSpPr>
          <p:cNvPr id="14" name="Shape 12"/>
          <p:cNvSpPr/>
          <p:nvPr/>
        </p:nvSpPr>
        <p:spPr>
          <a:xfrm>
            <a:off x="457200" y="2908190"/>
            <a:ext cx="8229600" cy="461176"/>
          </a:xfrm>
          <a:prstGeom prst="roundRect">
            <a:avLst>
              <a:gd name="adj" fmla="val 9151"/>
            </a:avLst>
          </a:prstGeom>
          <a:solidFill>
            <a:srgbClr val="EEF2F7"/>
          </a:solidFill>
          <a:ln w="12700">
            <a:solidFill>
              <a:srgbClr val="EEF2F7"/>
            </a:solidFill>
            <a:prstDash val="solid"/>
          </a:ln>
        </p:spPr>
      </p:sp>
      <p:sp>
        <p:nvSpPr>
          <p:cNvPr id="15" name="Text 13"/>
          <p:cNvSpPr txBox="1"/>
          <p:nvPr/>
        </p:nvSpPr>
        <p:spPr>
          <a:xfrm>
            <a:off x="640080" y="2908190"/>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908190"/>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908190"/>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18" name="Shape 16"/>
          <p:cNvSpPr/>
          <p:nvPr/>
        </p:nvSpPr>
        <p:spPr>
          <a:xfrm>
            <a:off x="457200" y="3461601"/>
            <a:ext cx="8229600" cy="461176"/>
          </a:xfrm>
          <a:prstGeom prst="roundRect">
            <a:avLst>
              <a:gd name="adj" fmla="val 9151"/>
            </a:avLst>
          </a:prstGeom>
          <a:solidFill>
            <a:srgbClr val="FFFFFF"/>
          </a:solidFill>
          <a:ln w="12700">
            <a:solidFill>
              <a:srgbClr val="DDE3EA"/>
            </a:solidFill>
            <a:prstDash val="solid"/>
          </a:ln>
        </p:spPr>
      </p:sp>
      <p:sp>
        <p:nvSpPr>
          <p:cNvPr id="19" name="Text 17"/>
          <p:cNvSpPr txBox="1"/>
          <p:nvPr/>
        </p:nvSpPr>
        <p:spPr>
          <a:xfrm>
            <a:off x="640080" y="3461601"/>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461601"/>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461601"/>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Even Step?</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all three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all 9 December rules; no avoidable fatigue warning, fixed rota</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14 full weekends off a year (today 10), at most 5 weeks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Mon–Sat, no shift over 8h 30m and every early a time worked today</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8 of 13 shift times worked today; 5 new, 3 of them shorter versions of today’s lates</a:t>
            </a:r>
            <a:endParaRPr lang="en-US" sz="1500" dirty="0"/>
          </a:p>
        </p:txBody>
      </p:sp>
      <p:sp>
        <p:nvSpPr>
          <p:cNvPr id="19" name="Shape 17"/>
          <p:cNvSpPr/>
          <p:nvPr/>
        </p:nvSpPr>
        <p:spPr>
          <a:xfrm>
            <a:off x="457200" y="3611880"/>
            <a:ext cx="292608" cy="292608"/>
          </a:xfrm>
          <a:prstGeom prst="ellipse">
            <a:avLst/>
          </a:prstGeom>
          <a:solidFill>
            <a:srgbClr val="A15C00"/>
          </a:solidFill>
          <a:ln w="12700">
            <a:solidFill>
              <a:srgbClr val="A15C00"/>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costs: the longest weekday lates (8h 27m), the weakest weekday fit</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All three: two more Saturdays a year, four weeks off for 15 days’ leave, and late finishes — 42 a year at 23:00 or later (today 39), 94 at 22:00 or later (today 78).</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most 5 days in a row, fixed rota (today 7)</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Longest shift Mon–Sat 8h 30m, not 9h 10m</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Every closing shift 30–60 minutes shorter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8 of the 13 shift times already worked</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Late finishes: 42 a year at 23:00 or later (today 39), 94 at 22:00 or later (today 78)</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5 new shift times to learn</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Two more Saturdays a year (28, today 26)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days’ leave: at best 28 days off,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settled,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Even Step · ES-26-T5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Step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