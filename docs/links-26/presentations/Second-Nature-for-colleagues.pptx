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Say straight away this is a proposal, not a decision. The aim tonight is to answer the questions people actually ask about a new link: will I work more, will my shifts be longer, will I know the times, what happens to my weekends and my leave. Every number in these slides comes from the rota calculations and has been independently checked; the slides themselves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on one slide. Same 35-hour week as now. Never more than six days in a row. Seven full weekends off in every 26 weeks, against four in 20 today — though each person works about two more Saturdays a year. Nine of the fifteen shift times are ones people already work. And every closing shift is shorter: the weekday and Saturday closers by 30 minutes, the Sunday closer by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is coming whatever we do: the December 2026 timetable and the new staffing levels mean the link has to be redrawn. The question is which version we want. The staffing levels and the Sunday cover were confirmed verbally on 29 September 2026, and the 26-person link, its five cover weeks and a ceiling of 219 contracted days a year on 1 October 2026: nine rules the proposal is scored on. Fourteen on a Saturday is one of three flexible aims, worked towards but not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to Saturday, counting a cover week as four days worked, the same way the clerks do. Sundays are overtime by agreement, so they are not in these figures — today or in Second Nature. Exactly, Second Nature works out at 218.6 days a year: just under today’s 219, which is also the most the 26-week link is allowed (agreed 1 October 2026). The average shift is about two minutes longer, which is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pay follows the 35-hour week, which does not change; overtime and premium duties vary person to person. The Saturday and Sunday counts are the link’s fixed duties and leave out anything later given in a cover week. Saturdays in the contract are paid at time and a quarter, and on average a person is rostered about 28 a year instead of 26. Sundays stay overtime: 10 a week shared among 26 people instead of 8 among 20, so about the same each (20 a year, against 21). These are averages across the whole link — your own depends on which line you start on — and they are not a payslip; the Pay Calculator in the app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closers: they are the shifts people dislike most, and every one of them is shorter. Weekday 15:45 to 23:55 instead of 15:15 (8h 10m, not 8h 40m); Saturday 15:15 instead of 14:45 (8h 40m, not 9h 10m); Sunday 15:15 to 23:25 instead of 14:30 (8h 10m, not 8h 55m). Be upfront about the two minutes on the average: the 26-week link may have no more than 219 contracted days a year, so the same 35 hours go into slightly fewer, slightly longer shifts. Nothing runs over 9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one. About three more a year each finish at 23:00 or later, and all of that comes from the December rules: three on duty to the close every day, where today’s weekdays have two. In Second Nature the only people who finish after 23:00 are those three closers, so no link that meets the rules on 26 weeks can have fewer. Finishes at 22:00 or later go up more, from 78 to 94 a year: the rules also want five still on duty after 22:00, and two weekday lates finish at 22:30 with the ticket office. Early 06:20 starts hardly change. And because the shortest gap between two shifts is 14h 20m, nobody finishes late and starts early the next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Nature was built the way Familiar Nine was: keeping the times people already work wherever that cost little. Nine of its fifteen are worked today, and it uses fewer different times overall than today’s eighteen. Three of the six new ones are today’s shifts starting later — the weekday closer, the Sunday closer and the Sunday ticket-office late — so they are shorter, not longer. The Sunday opener stays today’s 07:15–15:45.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weekend is Saturday and the following Sunday both off. Today that is 4 weekends in a 20-week cycle; Second Nature gives 7 in 26. They fall unevenly, not every fourth week, and can be up to ten weeks apart, against seven today — worth saying, because somebody will start on the long gap. Most weeks now keep the same shift time Monday to Friday — 15 of the 21 working weeks — and all but two are all earlies or all lates, where today seven weeks in 16 mix the two. Rest days mostly come in pairs — 21 of the 25 rest-day breaks are two days or more, against 13 of 17 today — and there are no six-day weeks (today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Earlies here means a start before 11:00. A weekday has 7 earlies and 8 lates; a Saturday 7 and 7; a Sunday 5 and 5. Sundays: today 8 Sunday duties across 16 working weeks, Second Nature 10 across 21 — about the same share of working weeks. With six more people to share them, that is about one fewer Sunday a year each (20 against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is only needed on working days Monday to Saturday; rest days and Sundays cost nothing. Today there is one unusual stretch of the roster where 14 days buys 30 days off — Second Nature spreads rest days more evenly, so its best is 28. On average it is the same, 23.4 days, and at its worst it is a day better than today. Four full weeks off (Sunday to Saturday) takes at least 15 days of leave, instead of 14 at best today. The exact averages depend on where you count a booking as starting, so quote them as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 of Rail and Road and the rail industry publish lists of rota patterns that tend to tire people. Today’s link shows four of them in the fixed rota (up to five where a cover week falls badly); Second Nature shows none. Two more — early starts and a weekly rotation — come with every weekly link at a 06:20 station, so they are listed on the sheet for information but not counted against any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downsides out loud is what makes the rest believable. None of these is hidden on the full proposal sheet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to leave on screen during questions. Every figure is on the earlier slides and on the full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or point people at the eight-page proposal sheet. Collect questions — the ones nobody asks in the room are usually about a particular week, so encourage people to look up the line they would start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Second Nature</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Our December 2026 link — what changes for you, in plain English</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A proposal for discussion · CEA link · 26 weeks · code SN-26-F2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Five things to take away if you remember nothing else</a:t>
            </a:r>
            <a:endParaRPr lang="en-US" sz="1500" dirty="0"/>
          </a:p>
        </p:txBody>
      </p:sp>
      <p:sp>
        <p:nvSpPr>
          <p:cNvPr id="4" name="Shape 2"/>
          <p:cNvSpPr/>
          <p:nvPr/>
        </p:nvSpPr>
        <p:spPr>
          <a:xfrm>
            <a:off x="457200" y="1463040"/>
            <a:ext cx="1536192" cy="2377440"/>
          </a:xfrm>
          <a:prstGeom prst="roundRect">
            <a:avLst>
              <a:gd name="adj" fmla="val 7143"/>
            </a:avLst>
          </a:prstGeom>
          <a:solidFill>
            <a:srgbClr val="EEF2F7"/>
          </a:solidFill>
          <a:ln w="12700">
            <a:solidFill>
              <a:srgbClr val="EEF2F7"/>
            </a:solidFill>
            <a:prstDash val="solid"/>
          </a:ln>
        </p:spPr>
      </p:sp>
      <p:sp>
        <p:nvSpPr>
          <p:cNvPr id="5" name="Text 3"/>
          <p:cNvSpPr txBox="1"/>
          <p:nvPr/>
        </p:nvSpPr>
        <p:spPr>
          <a:xfrm>
            <a:off x="457200"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35h</a:t>
            </a:r>
            <a:endParaRPr lang="en-US" sz="3000" dirty="0"/>
          </a:p>
        </p:txBody>
      </p:sp>
      <p:sp>
        <p:nvSpPr>
          <p:cNvPr id="6" name="Text 4"/>
          <p:cNvSpPr txBox="1"/>
          <p:nvPr/>
        </p:nvSpPr>
        <p:spPr>
          <a:xfrm>
            <a:off x="548640"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the same contracted week</a:t>
            </a:r>
            <a:endParaRPr lang="en-US" sz="1400" dirty="0"/>
          </a:p>
        </p:txBody>
      </p:sp>
      <p:sp>
        <p:nvSpPr>
          <p:cNvPr id="7" name="Text 5"/>
          <p:cNvSpPr txBox="1"/>
          <p:nvPr/>
        </p:nvSpPr>
        <p:spPr>
          <a:xfrm>
            <a:off x="548640"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no extra contracted hours</a:t>
            </a:r>
            <a:endParaRPr lang="en-US" sz="1200" dirty="0"/>
          </a:p>
        </p:txBody>
      </p:sp>
      <p:sp>
        <p:nvSpPr>
          <p:cNvPr id="8" name="Shape 6"/>
          <p:cNvSpPr/>
          <p:nvPr/>
        </p:nvSpPr>
        <p:spPr>
          <a:xfrm>
            <a:off x="2130552" y="1463040"/>
            <a:ext cx="1536192" cy="2377440"/>
          </a:xfrm>
          <a:prstGeom prst="roundRect">
            <a:avLst>
              <a:gd name="adj" fmla="val 7143"/>
            </a:avLst>
          </a:prstGeom>
          <a:solidFill>
            <a:srgbClr val="EEF2F7"/>
          </a:solidFill>
          <a:ln w="12700">
            <a:solidFill>
              <a:srgbClr val="EEF2F7"/>
            </a:solidFill>
            <a:prstDash val="solid"/>
          </a:ln>
        </p:spPr>
      </p:sp>
      <p:sp>
        <p:nvSpPr>
          <p:cNvPr id="9" name="Text 7"/>
          <p:cNvSpPr txBox="1"/>
          <p:nvPr/>
        </p:nvSpPr>
        <p:spPr>
          <a:xfrm>
            <a:off x="2130552"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6</a:t>
            </a:r>
            <a:endParaRPr lang="en-US" sz="3000" dirty="0"/>
          </a:p>
        </p:txBody>
      </p:sp>
      <p:sp>
        <p:nvSpPr>
          <p:cNvPr id="10" name="Text 8"/>
          <p:cNvSpPr txBox="1"/>
          <p:nvPr/>
        </p:nvSpPr>
        <p:spPr>
          <a:xfrm>
            <a:off x="2221992"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most days in a row</a:t>
            </a:r>
            <a:endParaRPr lang="en-US" sz="1400" dirty="0"/>
          </a:p>
        </p:txBody>
      </p:sp>
      <p:sp>
        <p:nvSpPr>
          <p:cNvPr id="11" name="Text 9"/>
          <p:cNvSpPr txBox="1"/>
          <p:nvPr/>
        </p:nvSpPr>
        <p:spPr>
          <a:xfrm>
            <a:off x="2221992"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7, up to 9</a:t>
            </a:r>
            <a:endParaRPr lang="en-US" sz="1200" dirty="0"/>
          </a:p>
        </p:txBody>
      </p:sp>
      <p:sp>
        <p:nvSpPr>
          <p:cNvPr id="12" name="Shape 10"/>
          <p:cNvSpPr/>
          <p:nvPr/>
        </p:nvSpPr>
        <p:spPr>
          <a:xfrm>
            <a:off x="3803904" y="1463040"/>
            <a:ext cx="1536192" cy="2377440"/>
          </a:xfrm>
          <a:prstGeom prst="roundRect">
            <a:avLst>
              <a:gd name="adj" fmla="val 7143"/>
            </a:avLst>
          </a:prstGeom>
          <a:solidFill>
            <a:srgbClr val="EEF2F7"/>
          </a:solidFill>
          <a:ln w="12700">
            <a:solidFill>
              <a:srgbClr val="EEF2F7"/>
            </a:solidFill>
            <a:prstDash val="solid"/>
          </a:ln>
        </p:spPr>
      </p:sp>
      <p:sp>
        <p:nvSpPr>
          <p:cNvPr id="13" name="Text 11"/>
          <p:cNvSpPr txBox="1"/>
          <p:nvPr/>
        </p:nvSpPr>
        <p:spPr>
          <a:xfrm>
            <a:off x="3803904"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7 in 26</a:t>
            </a:r>
            <a:endParaRPr lang="en-US" sz="3000" dirty="0"/>
          </a:p>
        </p:txBody>
      </p:sp>
      <p:sp>
        <p:nvSpPr>
          <p:cNvPr id="14" name="Text 12"/>
          <p:cNvSpPr txBox="1"/>
          <p:nvPr/>
        </p:nvSpPr>
        <p:spPr>
          <a:xfrm>
            <a:off x="3895344"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full weekends off</a:t>
            </a:r>
            <a:endParaRPr lang="en-US" sz="1400" dirty="0"/>
          </a:p>
        </p:txBody>
      </p:sp>
      <p:sp>
        <p:nvSpPr>
          <p:cNvPr id="15" name="Text 13"/>
          <p:cNvSpPr txBox="1"/>
          <p:nvPr/>
        </p:nvSpPr>
        <p:spPr>
          <a:xfrm>
            <a:off x="3895344"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4 in 20</a:t>
            </a:r>
            <a:endParaRPr lang="en-US" sz="1200" dirty="0"/>
          </a:p>
        </p:txBody>
      </p:sp>
      <p:sp>
        <p:nvSpPr>
          <p:cNvPr id="16" name="Shape 14"/>
          <p:cNvSpPr/>
          <p:nvPr/>
        </p:nvSpPr>
        <p:spPr>
          <a:xfrm>
            <a:off x="5477256" y="1463040"/>
            <a:ext cx="1536192" cy="2377440"/>
          </a:xfrm>
          <a:prstGeom prst="roundRect">
            <a:avLst>
              <a:gd name="adj" fmla="val 7143"/>
            </a:avLst>
          </a:prstGeom>
          <a:solidFill>
            <a:srgbClr val="EEF2F7"/>
          </a:solidFill>
          <a:ln w="12700">
            <a:solidFill>
              <a:srgbClr val="EEF2F7"/>
            </a:solidFill>
            <a:prstDash val="solid"/>
          </a:ln>
        </p:spPr>
      </p:sp>
      <p:sp>
        <p:nvSpPr>
          <p:cNvPr id="17" name="Text 15"/>
          <p:cNvSpPr txBox="1"/>
          <p:nvPr/>
        </p:nvSpPr>
        <p:spPr>
          <a:xfrm>
            <a:off x="5477256"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9 of 15</a:t>
            </a:r>
            <a:endParaRPr lang="en-US" sz="3000" dirty="0"/>
          </a:p>
        </p:txBody>
      </p:sp>
      <p:sp>
        <p:nvSpPr>
          <p:cNvPr id="18" name="Text 16"/>
          <p:cNvSpPr txBox="1"/>
          <p:nvPr/>
        </p:nvSpPr>
        <p:spPr>
          <a:xfrm>
            <a:off x="5568696"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shift times you already work</a:t>
            </a:r>
            <a:endParaRPr lang="en-US" sz="1400" dirty="0"/>
          </a:p>
        </p:txBody>
      </p:sp>
      <p:sp>
        <p:nvSpPr>
          <p:cNvPr id="19" name="Text 17"/>
          <p:cNvSpPr txBox="1"/>
          <p:nvPr/>
        </p:nvSpPr>
        <p:spPr>
          <a:xfrm>
            <a:off x="5568696"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6 new ones</a:t>
            </a:r>
            <a:endParaRPr lang="en-US" sz="1200" dirty="0"/>
          </a:p>
        </p:txBody>
      </p:sp>
      <p:sp>
        <p:nvSpPr>
          <p:cNvPr id="20" name="Shape 18"/>
          <p:cNvSpPr/>
          <p:nvPr/>
        </p:nvSpPr>
        <p:spPr>
          <a:xfrm>
            <a:off x="7150608" y="1463040"/>
            <a:ext cx="1536192" cy="2377440"/>
          </a:xfrm>
          <a:prstGeom prst="roundRect">
            <a:avLst>
              <a:gd name="adj" fmla="val 7143"/>
            </a:avLst>
          </a:prstGeom>
          <a:solidFill>
            <a:srgbClr val="EEF2F7"/>
          </a:solidFill>
          <a:ln w="12700">
            <a:solidFill>
              <a:srgbClr val="EEF2F7"/>
            </a:solidFill>
            <a:prstDash val="solid"/>
          </a:ln>
        </p:spPr>
      </p:sp>
      <p:sp>
        <p:nvSpPr>
          <p:cNvPr id="21" name="Text 19"/>
          <p:cNvSpPr txBox="1"/>
          <p:nvPr/>
        </p:nvSpPr>
        <p:spPr>
          <a:xfrm>
            <a:off x="7150608"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30 min</a:t>
            </a:r>
            <a:endParaRPr lang="en-US" sz="3000" dirty="0"/>
          </a:p>
        </p:txBody>
      </p:sp>
      <p:sp>
        <p:nvSpPr>
          <p:cNvPr id="22" name="Text 20"/>
          <p:cNvSpPr txBox="1"/>
          <p:nvPr/>
        </p:nvSpPr>
        <p:spPr>
          <a:xfrm>
            <a:off x="7242048"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shorter on every closing shift</a:t>
            </a:r>
            <a:endParaRPr lang="en-US" sz="1400" dirty="0"/>
          </a:p>
        </p:txBody>
      </p:sp>
      <p:sp>
        <p:nvSpPr>
          <p:cNvPr id="23" name="Text 21"/>
          <p:cNvSpPr txBox="1"/>
          <p:nvPr/>
        </p:nvSpPr>
        <p:spPr>
          <a:xfrm>
            <a:off x="7242048"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45 min on a Sunday</a:t>
            </a:r>
            <a:endParaRPr lang="en-US" sz="1200" dirty="0"/>
          </a:p>
        </p:txBody>
      </p:sp>
      <p:sp>
        <p:nvSpPr>
          <p:cNvPr id="24" name="Shape 2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5" name="Text 2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shorter closers, more full weekends off — and most of the times familiar.</a:t>
            </a:r>
            <a:endParaRPr lang="en-US" sz="1400" dirty="0"/>
          </a:p>
        </p:txBody>
      </p:sp>
      <p:sp>
        <p:nvSpPr>
          <p:cNvPr id="26" name="Text 2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link proposal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the link has to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Nobody is changing it for the sake of it</a:t>
            </a:r>
            <a:endParaRPr lang="en-US" sz="1500" dirty="0"/>
          </a:p>
        </p:txBody>
      </p:sp>
      <p:sp>
        <p:nvSpPr>
          <p:cNvPr id="4" name="Shape 2"/>
          <p:cNvSpPr/>
          <p:nvPr/>
        </p:nvSpPr>
        <p:spPr>
          <a:xfrm>
            <a:off x="457200" y="1371600"/>
            <a:ext cx="457200" cy="457200"/>
          </a:xfrm>
          <a:prstGeom prst="ellipse">
            <a:avLst/>
          </a:prstGeom>
          <a:solidFill>
            <a:srgbClr val="F5C800"/>
          </a:solidFill>
          <a:ln w="12700">
            <a:solidFill>
              <a:srgbClr val="F5C800"/>
            </a:solidFill>
            <a:prstDash val="solid"/>
          </a:ln>
        </p:spPr>
      </p:sp>
      <p:pic>
        <p:nvPicPr>
          <p:cNvPr id="5" name="Image 0" descr="preencoded.png">    </p:cNvPr>
          <p:cNvPicPr>
            <a:picLocks noChangeAspect="1"/>
          </p:cNvPicPr>
          <p:nvPr/>
        </p:nvPicPr>
        <p:blipFill>
          <a:blip r:embed="rId1"/>
          <a:stretch>
            <a:fillRect/>
          </a:stretch>
        </p:blipFill>
        <p:spPr>
          <a:xfrm>
            <a:off x="557784" y="1472184"/>
            <a:ext cx="256032" cy="256032"/>
          </a:xfrm>
          <a:prstGeom prst="rect">
            <a:avLst/>
          </a:prstGeom>
        </p:spPr>
      </p:pic>
      <p:sp>
        <p:nvSpPr>
          <p:cNvPr id="6" name="Text 3"/>
          <p:cNvSpPr txBox="1"/>
          <p:nvPr/>
        </p:nvSpPr>
        <p:spPr>
          <a:xfrm>
            <a:off x="1097280" y="13350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 new timetable in December 2026</a:t>
            </a:r>
            <a:endParaRPr lang="en-US" sz="1600" dirty="0"/>
          </a:p>
        </p:txBody>
      </p:sp>
      <p:sp>
        <p:nvSpPr>
          <p:cNvPr id="7" name="Text 4"/>
          <p:cNvSpPr txBox="1"/>
          <p:nvPr/>
        </p:nvSpPr>
        <p:spPr>
          <a:xfrm>
            <a:off x="1097280" y="16184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More trains, at new times — the link has to follow them.</a:t>
            </a:r>
            <a:endParaRPr lang="en-US" sz="1300" dirty="0"/>
          </a:p>
        </p:txBody>
      </p:sp>
      <p:sp>
        <p:nvSpPr>
          <p:cNvPr id="8" name="Shape 5"/>
          <p:cNvSpPr/>
          <p:nvPr/>
        </p:nvSpPr>
        <p:spPr>
          <a:xfrm>
            <a:off x="457200" y="2233968"/>
            <a:ext cx="457200" cy="457200"/>
          </a:xfrm>
          <a:prstGeom prst="ellipse">
            <a:avLst/>
          </a:prstGeom>
          <a:solidFill>
            <a:srgbClr val="F5C800"/>
          </a:solidFill>
          <a:ln w="12700">
            <a:solidFill>
              <a:srgbClr val="F5C800"/>
            </a:solidFill>
            <a:prstDash val="solid"/>
          </a:ln>
        </p:spPr>
      </p:sp>
      <p:pic>
        <p:nvPicPr>
          <p:cNvPr id="9" name="Image 1" descr="preencoded.png">    </p:cNvPr>
          <p:cNvPicPr>
            <a:picLocks noChangeAspect="1"/>
          </p:cNvPicPr>
          <p:nvPr/>
        </p:nvPicPr>
        <p:blipFill>
          <a:blip r:embed="rId2"/>
          <a:stretch>
            <a:fillRect/>
          </a:stretch>
        </p:blipFill>
        <p:spPr>
          <a:xfrm>
            <a:off x="557784" y="2334552"/>
            <a:ext cx="256032" cy="256032"/>
          </a:xfrm>
          <a:prstGeom prst="rect">
            <a:avLst/>
          </a:prstGeom>
        </p:spPr>
      </p:pic>
      <p:sp>
        <p:nvSpPr>
          <p:cNvPr id="10" name="Text 6"/>
          <p:cNvSpPr txBox="1"/>
          <p:nvPr/>
        </p:nvSpPr>
        <p:spPr>
          <a:xfrm>
            <a:off x="1097280" y="2197392"/>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More of us on the link</a:t>
            </a:r>
            <a:endParaRPr lang="en-US" sz="1600" dirty="0"/>
          </a:p>
        </p:txBody>
      </p:sp>
      <p:sp>
        <p:nvSpPr>
          <p:cNvPr id="11" name="Text 7"/>
          <p:cNvSpPr txBox="1"/>
          <p:nvPr/>
        </p:nvSpPr>
        <p:spPr>
          <a:xfrm>
            <a:off x="1097280" y="2480856"/>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It grows from 20 weeks to 26, so six more colleagues join it.</a:t>
            </a:r>
            <a:endParaRPr lang="en-US" sz="1300" dirty="0"/>
          </a:p>
        </p:txBody>
      </p:sp>
      <p:sp>
        <p:nvSpPr>
          <p:cNvPr id="12" name="Shape 8"/>
          <p:cNvSpPr/>
          <p:nvPr/>
        </p:nvSpPr>
        <p:spPr>
          <a:xfrm>
            <a:off x="457200" y="3096336"/>
            <a:ext cx="457200" cy="457200"/>
          </a:xfrm>
          <a:prstGeom prst="ellipse">
            <a:avLst/>
          </a:prstGeom>
          <a:solidFill>
            <a:srgbClr val="F5C800"/>
          </a:solidFill>
          <a:ln w="12700">
            <a:solidFill>
              <a:srgbClr val="F5C800"/>
            </a:solidFill>
            <a:prstDash val="solid"/>
          </a:ln>
        </p:spPr>
      </p:sp>
      <p:pic>
        <p:nvPicPr>
          <p:cNvPr id="13" name="Image 2" descr="preencoded.png">    </p:cNvPr>
          <p:cNvPicPr>
            <a:picLocks noChangeAspect="1"/>
          </p:cNvPicPr>
          <p:nvPr/>
        </p:nvPicPr>
        <p:blipFill>
          <a:blip r:embed="rId3"/>
          <a:stretch>
            <a:fillRect/>
          </a:stretch>
        </p:blipFill>
        <p:spPr>
          <a:xfrm>
            <a:off x="557784" y="3196920"/>
            <a:ext cx="256032" cy="256032"/>
          </a:xfrm>
          <a:prstGeom prst="rect">
            <a:avLst/>
          </a:prstGeom>
        </p:spPr>
      </p:pic>
      <p:sp>
        <p:nvSpPr>
          <p:cNvPr id="14" name="Text 9"/>
          <p:cNvSpPr txBox="1"/>
          <p:nvPr/>
        </p:nvSpPr>
        <p:spPr>
          <a:xfrm>
            <a:off x="1097280" y="3059760"/>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New staffing levels</a:t>
            </a:r>
            <a:endParaRPr lang="en-US" sz="1600" dirty="0"/>
          </a:p>
        </p:txBody>
      </p:sp>
      <p:sp>
        <p:nvSpPr>
          <p:cNvPr id="15" name="Text 10"/>
          <p:cNvSpPr txBox="1"/>
          <p:nvPr/>
        </p:nvSpPr>
        <p:spPr>
          <a:xfrm>
            <a:off x="1097280" y="3343224"/>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At least 10 on a Sunday, and more at the open and the close. We also aim for 14 on a Saturday.</a:t>
            </a:r>
            <a:endParaRPr lang="en-US" sz="1300" dirty="0"/>
          </a:p>
        </p:txBody>
      </p:sp>
      <p:sp>
        <p:nvSpPr>
          <p:cNvPr id="16" name="Shape 11"/>
          <p:cNvSpPr/>
          <p:nvPr/>
        </p:nvSpPr>
        <p:spPr>
          <a:xfrm>
            <a:off x="457200" y="3958704"/>
            <a:ext cx="457200" cy="457200"/>
          </a:xfrm>
          <a:prstGeom prst="ellipse">
            <a:avLst/>
          </a:prstGeom>
          <a:solidFill>
            <a:srgbClr val="F5C800"/>
          </a:solidFill>
          <a:ln w="12700">
            <a:solidFill>
              <a:srgbClr val="F5C800"/>
            </a:solidFill>
            <a:prstDash val="solid"/>
          </a:ln>
        </p:spPr>
      </p:sp>
      <p:pic>
        <p:nvPicPr>
          <p:cNvPr id="17" name="Image 3" descr="preencoded.png">    </p:cNvPr>
          <p:cNvPicPr>
            <a:picLocks noChangeAspect="1"/>
          </p:cNvPicPr>
          <p:nvPr/>
        </p:nvPicPr>
        <p:blipFill>
          <a:blip r:embed="rId4"/>
          <a:stretch>
            <a:fillRect/>
          </a:stretch>
        </p:blipFill>
        <p:spPr>
          <a:xfrm>
            <a:off x="557784" y="4059288"/>
            <a:ext cx="256032" cy="256032"/>
          </a:xfrm>
          <a:prstGeom prst="rect">
            <a:avLst/>
          </a:prstGeom>
        </p:spPr>
      </p:pic>
      <p:sp>
        <p:nvSpPr>
          <p:cNvPr id="18" name="Text 12"/>
          <p:cNvSpPr txBox="1"/>
          <p:nvPr/>
        </p:nvSpPr>
        <p:spPr>
          <a:xfrm>
            <a:off x="1097280" y="3922128"/>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 ticket office in fixed pairs</a:t>
            </a:r>
            <a:endParaRPr lang="en-US" sz="1600" dirty="0"/>
          </a:p>
        </p:txBody>
      </p:sp>
      <p:sp>
        <p:nvSpPr>
          <p:cNvPr id="19" name="Text 13"/>
          <p:cNvSpPr txBox="1"/>
          <p:nvPr/>
        </p:nvSpPr>
        <p:spPr>
          <a:xfrm>
            <a:off x="1097280" y="4205592"/>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Two early and two late, on the same shifts, every day.</a:t>
            </a:r>
            <a:endParaRPr lang="en-US" sz="1300" dirty="0"/>
          </a:p>
        </p:txBody>
      </p:sp>
      <p:sp>
        <p:nvSpPr>
          <p:cNvPr id="20" name="Text 1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link proposal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work more?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first thing everyone asks</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Nature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week</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4.2</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4.19</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year</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219</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219</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Exactly the same 35-hour week — and no more contracted days than today.</a:t>
            </a:r>
            <a:endParaRPr lang="en-US" sz="1400" dirty="0"/>
          </a:p>
        </p:txBody>
      </p:sp>
      <p:sp>
        <p:nvSpPr>
          <p:cNvPr id="20" name="Text 18"/>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link proposal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basic pay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Basic pay follows your contracted hours</a:t>
            </a:r>
            <a:endParaRPr lang="en-US" sz="1500" dirty="0"/>
          </a:p>
        </p:txBody>
      </p:sp>
      <p:sp>
        <p:nvSpPr>
          <p:cNvPr id="4" name="Text 2"/>
          <p:cNvSpPr txBox="1"/>
          <p:nvPr/>
        </p:nvSpPr>
        <p:spPr>
          <a:xfrm>
            <a:off x="4846320" y="1417320"/>
            <a:ext cx="192024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766560" y="1417320"/>
            <a:ext cx="192024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Nature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846320" y="1801368"/>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766560" y="1801368"/>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Saturdays a year, at time and a quarter</a:t>
            </a:r>
            <a:endParaRPr lang="en-US" sz="1400" dirty="0"/>
          </a:p>
        </p:txBody>
      </p:sp>
      <p:sp>
        <p:nvSpPr>
          <p:cNvPr id="12" name="Text 10"/>
          <p:cNvSpPr txBox="1"/>
          <p:nvPr/>
        </p:nvSpPr>
        <p:spPr>
          <a:xfrm>
            <a:off x="4846320" y="2368296"/>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26</a:t>
            </a:r>
            <a:endParaRPr lang="en-US" sz="1600" dirty="0"/>
          </a:p>
        </p:txBody>
      </p:sp>
      <p:sp>
        <p:nvSpPr>
          <p:cNvPr id="13" name="Text 11"/>
          <p:cNvSpPr txBox="1"/>
          <p:nvPr/>
        </p:nvSpPr>
        <p:spPr>
          <a:xfrm>
            <a:off x="6766560" y="2368296"/>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28</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overtime to share — each, a year</a:t>
            </a:r>
            <a:endParaRPr lang="en-US" sz="1400" dirty="0"/>
          </a:p>
        </p:txBody>
      </p:sp>
      <p:sp>
        <p:nvSpPr>
          <p:cNvPr id="16" name="Text 14"/>
          <p:cNvSpPr txBox="1"/>
          <p:nvPr/>
        </p:nvSpPr>
        <p:spPr>
          <a:xfrm>
            <a:off x="4846320" y="2935224"/>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a:t>
            </a:r>
            <a:endParaRPr lang="en-US" sz="1600" dirty="0"/>
          </a:p>
        </p:txBody>
      </p:sp>
      <p:sp>
        <p:nvSpPr>
          <p:cNvPr id="17" name="Text 15"/>
          <p:cNvSpPr txBox="1"/>
          <p:nvPr/>
        </p:nvSpPr>
        <p:spPr>
          <a:xfrm>
            <a:off x="6766560" y="2935224"/>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 plus about two more Saturdays at time and a quarter.</a:t>
            </a:r>
            <a:endParaRPr lang="en-US" sz="1400" dirty="0"/>
          </a:p>
        </p:txBody>
      </p:sp>
      <p:sp>
        <p:nvSpPr>
          <p:cNvPr id="20" name="Text 18"/>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Yearly figures are averages from the fixed rota; cover-week duties are not included.</a:t>
            </a:r>
            <a:endParaRPr lang="en-US" sz="850" dirty="0"/>
          </a:p>
        </p:txBody>
      </p:sp>
      <p:sp>
        <p:nvSpPr>
          <p:cNvPr id="21"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link proposal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shifts be longer?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Every closing shift gets shorter — the average goes up about two minutes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Nature</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closer — starts 15:45, not 15:15</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40m</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 closer — starts 15:15, not 14:45</a:t>
            </a:r>
            <a:endParaRPr lang="en-US" sz="1400" dirty="0"/>
          </a:p>
        </p:txBody>
      </p:sp>
      <p:sp>
        <p:nvSpPr>
          <p:cNvPr id="12" name="Text 10"/>
          <p:cNvSpPr txBox="1"/>
          <p:nvPr/>
        </p:nvSpPr>
        <p:spPr>
          <a:xfrm>
            <a:off x="4663440" y="22585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13" name="Text 11"/>
          <p:cNvSpPr txBox="1"/>
          <p:nvPr/>
        </p:nvSpPr>
        <p:spPr>
          <a:xfrm>
            <a:off x="6675120" y="22585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40m</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closer — starts 15:15, not 14:30</a:t>
            </a:r>
            <a:endParaRPr lang="en-US" sz="1400" dirty="0"/>
          </a:p>
        </p:txBody>
      </p:sp>
      <p:sp>
        <p:nvSpPr>
          <p:cNvPr id="16" name="Text 14"/>
          <p:cNvSpPr txBox="1"/>
          <p:nvPr/>
        </p:nvSpPr>
        <p:spPr>
          <a:xfrm>
            <a:off x="4663440" y="27157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55m</a:t>
            </a:r>
            <a:endParaRPr lang="en-US" sz="1600" dirty="0"/>
          </a:p>
        </p:txBody>
      </p:sp>
      <p:sp>
        <p:nvSpPr>
          <p:cNvPr id="17" name="Text 15"/>
          <p:cNvSpPr txBox="1"/>
          <p:nvPr/>
        </p:nvSpPr>
        <p:spPr>
          <a:xfrm>
            <a:off x="6675120" y="27157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 anywhere</a:t>
            </a:r>
            <a:endParaRPr lang="en-US" sz="1400" dirty="0"/>
          </a:p>
        </p:txBody>
      </p:sp>
      <p:sp>
        <p:nvSpPr>
          <p:cNvPr id="20" name="Text 18"/>
          <p:cNvSpPr txBox="1"/>
          <p:nvPr/>
        </p:nvSpPr>
        <p:spPr>
          <a:xfrm>
            <a:off x="4663440" y="31729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729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Average shift</a:t>
            </a:r>
            <a:endParaRPr lang="en-US" sz="1400" dirty="0"/>
          </a:p>
        </p:txBody>
      </p:sp>
      <p:sp>
        <p:nvSpPr>
          <p:cNvPr id="24" name="Text 22"/>
          <p:cNvSpPr txBox="1"/>
          <p:nvPr/>
        </p:nvSpPr>
        <p:spPr>
          <a:xfrm>
            <a:off x="4663440" y="36301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14m</a:t>
            </a:r>
            <a:endParaRPr lang="en-US" sz="1600" dirty="0"/>
          </a:p>
        </p:txBody>
      </p:sp>
      <p:sp>
        <p:nvSpPr>
          <p:cNvPr id="25" name="Text 23"/>
          <p:cNvSpPr txBox="1"/>
          <p:nvPr/>
        </p:nvSpPr>
        <p:spPr>
          <a:xfrm>
            <a:off x="6675120" y="36301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8h 16m</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closing shift is 30 to 45 minutes shorter, and nothing runs over 9 hours.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link proposal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finish late more often?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 little — about 42 a year each, against 39 today</a:t>
            </a:r>
            <a:endParaRPr lang="en-US" sz="1500" dirty="0"/>
          </a:p>
        </p:txBody>
      </p:sp>
      <p:sp>
        <p:nvSpPr>
          <p:cNvPr id="4" name="Text 2"/>
          <p:cNvSpPr txBox="1"/>
          <p:nvPr/>
        </p:nvSpPr>
        <p:spPr>
          <a:xfrm>
            <a:off x="4846320" y="1417320"/>
            <a:ext cx="192024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766560" y="1417320"/>
            <a:ext cx="192024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Nature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23:00 or later — each, a year</a:t>
            </a:r>
            <a:endParaRPr lang="en-US" sz="1400" dirty="0"/>
          </a:p>
        </p:txBody>
      </p:sp>
      <p:sp>
        <p:nvSpPr>
          <p:cNvPr id="8" name="Text 6"/>
          <p:cNvSpPr txBox="1"/>
          <p:nvPr/>
        </p:nvSpPr>
        <p:spPr>
          <a:xfrm>
            <a:off x="4846320" y="1801368"/>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39</a:t>
            </a:r>
            <a:endParaRPr lang="en-US" sz="1600" dirty="0"/>
          </a:p>
        </p:txBody>
      </p:sp>
      <p:sp>
        <p:nvSpPr>
          <p:cNvPr id="9" name="Text 7"/>
          <p:cNvSpPr txBox="1"/>
          <p:nvPr/>
        </p:nvSpPr>
        <p:spPr>
          <a:xfrm>
            <a:off x="6766560" y="1801368"/>
            <a:ext cx="192024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42</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22:00 or later — each, a year</a:t>
            </a:r>
            <a:endParaRPr lang="en-US" sz="1400" dirty="0"/>
          </a:p>
        </p:txBody>
      </p:sp>
      <p:sp>
        <p:nvSpPr>
          <p:cNvPr id="12" name="Text 10"/>
          <p:cNvSpPr txBox="1"/>
          <p:nvPr/>
        </p:nvSpPr>
        <p:spPr>
          <a:xfrm>
            <a:off x="4846320" y="2368296"/>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78</a:t>
            </a:r>
            <a:endParaRPr lang="en-US" sz="1600" dirty="0"/>
          </a:p>
        </p:txBody>
      </p:sp>
      <p:sp>
        <p:nvSpPr>
          <p:cNvPr id="13" name="Text 11"/>
          <p:cNvSpPr txBox="1"/>
          <p:nvPr/>
        </p:nvSpPr>
        <p:spPr>
          <a:xfrm>
            <a:off x="6766560" y="2368296"/>
            <a:ext cx="192024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94</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Starting at 06:20 — each, a year</a:t>
            </a:r>
            <a:endParaRPr lang="en-US" sz="1400" dirty="0"/>
          </a:p>
        </p:txBody>
      </p:sp>
      <p:sp>
        <p:nvSpPr>
          <p:cNvPr id="16" name="Text 14"/>
          <p:cNvSpPr txBox="1"/>
          <p:nvPr/>
        </p:nvSpPr>
        <p:spPr>
          <a:xfrm>
            <a:off x="4846320" y="2935224"/>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62</a:t>
            </a:r>
            <a:endParaRPr lang="en-US" sz="1600" dirty="0"/>
          </a:p>
        </p:txBody>
      </p:sp>
      <p:sp>
        <p:nvSpPr>
          <p:cNvPr id="17" name="Text 15"/>
          <p:cNvSpPr txBox="1"/>
          <p:nvPr/>
        </p:nvSpPr>
        <p:spPr>
          <a:xfrm>
            <a:off x="6766560" y="2935224"/>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60</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846320" y="3502152"/>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766560" y="3502152"/>
            <a:ext cx="192024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Three more late finishes a year — the fewest the rules allow — and every closer is shorter.</a:t>
            </a:r>
            <a:endParaRPr lang="en-US" sz="1400" dirty="0"/>
          </a:p>
        </p:txBody>
      </p:sp>
      <p:sp>
        <p:nvSpPr>
          <p:cNvPr id="24" name="Text 22"/>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Yearly figures are averages from the fixed rota; cover-week duties are not included.</a:t>
            </a:r>
            <a:endParaRPr lang="en-US" sz="85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link proposal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know the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15 shift times in all — 9 of them you already work</a:t>
            </a:r>
            <a:endParaRPr lang="en-US" sz="1500" dirty="0"/>
          </a:p>
        </p:txBody>
      </p:sp>
      <p:sp>
        <p:nvSpPr>
          <p:cNvPr id="4" name="Shape 2"/>
          <p:cNvSpPr/>
          <p:nvPr/>
        </p:nvSpPr>
        <p:spPr>
          <a:xfrm>
            <a:off x="457200" y="1371600"/>
            <a:ext cx="3291840" cy="2651760"/>
          </a:xfrm>
          <a:prstGeom prst="roundRect">
            <a:avLst>
              <a:gd name="adj" fmla="val 3448"/>
            </a:avLst>
          </a:prstGeom>
          <a:solidFill>
            <a:srgbClr val="EEF2F7"/>
          </a:solidFill>
          <a:ln w="12700">
            <a:solidFill>
              <a:srgbClr val="EEF2F7"/>
            </a:solidFill>
            <a:prstDash val="solid"/>
          </a:ln>
        </p:spPr>
      </p:sp>
      <p:sp>
        <p:nvSpPr>
          <p:cNvPr id="5" name="Shape 3"/>
          <p:cNvSpPr/>
          <p:nvPr/>
        </p:nvSpPr>
        <p:spPr>
          <a:xfrm>
            <a:off x="640080" y="1508760"/>
            <a:ext cx="411480" cy="41148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30606" y="1599286"/>
            <a:ext cx="230429" cy="230429"/>
          </a:xfrm>
          <a:prstGeom prst="rect">
            <a:avLst/>
          </a:prstGeom>
        </p:spPr>
      </p:pic>
      <p:sp>
        <p:nvSpPr>
          <p:cNvPr id="7" name="Text 4"/>
          <p:cNvSpPr txBox="1"/>
          <p:nvPr/>
        </p:nvSpPr>
        <p:spPr>
          <a:xfrm>
            <a:off x="1188720" y="1508760"/>
            <a:ext cx="2377440" cy="411480"/>
          </a:xfrm>
          <a:prstGeom prst="rect">
            <a:avLst/>
          </a:prstGeom>
          <a:noFill/>
          <a:ln/>
        </p:spPr>
        <p:txBody>
          <a:bodyPr wrap="square" lIns="0" tIns="0" rIns="0" bIns="0" rtlCol="0" anchor="ctr"/>
          <a:lstStyle/>
          <a:p>
            <a:pPr indent="0" marL="0">
              <a:buNone/>
            </a:pPr>
            <a:r>
              <a:rPr lang="en-US" sz="1500" b="1" dirty="0">
                <a:solidFill>
                  <a:srgbClr val="1E7B4B"/>
                </a:solidFill>
                <a:latin typeface="Inter" pitchFamily="34" charset="0"/>
                <a:ea typeface="Inter" pitchFamily="34" charset="-122"/>
                <a:cs typeface="Inter" pitchFamily="34" charset="-120"/>
              </a:rPr>
              <a:t>You work these today (9)</a:t>
            </a:r>
            <a:endParaRPr lang="en-US" sz="1500" dirty="0"/>
          </a:p>
        </p:txBody>
      </p:sp>
      <p:sp>
        <p:nvSpPr>
          <p:cNvPr id="8" name="Text 5"/>
          <p:cNvSpPr txBox="1"/>
          <p:nvPr/>
        </p:nvSpPr>
        <p:spPr>
          <a:xfrm>
            <a:off x="685800" y="2011680"/>
            <a:ext cx="2926080" cy="1965960"/>
          </a:xfrm>
          <a:prstGeom prst="rect">
            <a:avLst/>
          </a:prstGeom>
          <a:noFill/>
          <a:ln/>
        </p:spPr>
        <p:txBody>
          <a:bodyPr wrap="square" lIns="0" tIns="0" rIns="0" bIns="0" rtlCol="0" anchor="t"/>
          <a:lstStyle/>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06:20–14:00 · 06:20–14:20</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06:20–14:50 · 07:15–15:45</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08:00–16:30 · 12:00–20:00</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14:00–22:30 · 14:30–22:00</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15:15–23:55</a:t>
            </a:r>
            <a:endParaRPr lang="en-US" sz="1200" dirty="0"/>
          </a:p>
        </p:txBody>
      </p:sp>
      <p:sp>
        <p:nvSpPr>
          <p:cNvPr id="9" name="Shape 6"/>
          <p:cNvSpPr/>
          <p:nvPr/>
        </p:nvSpPr>
        <p:spPr>
          <a:xfrm>
            <a:off x="3931920" y="1371600"/>
            <a:ext cx="4754880" cy="2651760"/>
          </a:xfrm>
          <a:prstGeom prst="roundRect">
            <a:avLst>
              <a:gd name="adj" fmla="val 3448"/>
            </a:avLst>
          </a:prstGeom>
          <a:solidFill>
            <a:srgbClr val="EEF2F7"/>
          </a:solidFill>
          <a:ln w="12700">
            <a:solidFill>
              <a:srgbClr val="EEF2F7"/>
            </a:solidFill>
            <a:prstDash val="solid"/>
          </a:ln>
        </p:spPr>
      </p:sp>
      <p:sp>
        <p:nvSpPr>
          <p:cNvPr id="10" name="Shape 7"/>
          <p:cNvSpPr/>
          <p:nvPr/>
        </p:nvSpPr>
        <p:spPr>
          <a:xfrm>
            <a:off x="4114800" y="1508760"/>
            <a:ext cx="411480" cy="41148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4205326" y="1599286"/>
            <a:ext cx="230429" cy="230429"/>
          </a:xfrm>
          <a:prstGeom prst="rect">
            <a:avLst/>
          </a:prstGeom>
        </p:spPr>
      </p:pic>
      <p:sp>
        <p:nvSpPr>
          <p:cNvPr id="12" name="Text 8"/>
          <p:cNvSpPr txBox="1"/>
          <p:nvPr/>
        </p:nvSpPr>
        <p:spPr>
          <a:xfrm>
            <a:off x="4663440" y="1508760"/>
            <a:ext cx="3840480" cy="411480"/>
          </a:xfrm>
          <a:prstGeom prst="rect">
            <a:avLst/>
          </a:prstGeom>
          <a:noFill/>
          <a:ln/>
        </p:spPr>
        <p:txBody>
          <a:bodyPr wrap="square" lIns="0" tIns="0" rIns="0" bIns="0" rtlCol="0" anchor="ctr"/>
          <a:lstStyle/>
          <a:p>
            <a:pPr indent="0" marL="0">
              <a:buNone/>
            </a:pPr>
            <a:r>
              <a:rPr lang="en-US" sz="1500" b="1" dirty="0">
                <a:solidFill>
                  <a:srgbClr val="001E3C"/>
                </a:solidFill>
                <a:latin typeface="Inter" pitchFamily="34" charset="0"/>
                <a:ea typeface="Inter" pitchFamily="34" charset="-122"/>
                <a:cs typeface="Inter" pitchFamily="34" charset="-120"/>
              </a:rPr>
              <a:t>New times (6)</a:t>
            </a:r>
            <a:endParaRPr lang="en-US" sz="1500" dirty="0"/>
          </a:p>
        </p:txBody>
      </p:sp>
      <p:sp>
        <p:nvSpPr>
          <p:cNvPr id="13" name="Text 9"/>
          <p:cNvSpPr txBox="1"/>
          <p:nvPr/>
        </p:nvSpPr>
        <p:spPr>
          <a:xfrm>
            <a:off x="4160520" y="2011680"/>
            <a:ext cx="4389120" cy="1965960"/>
          </a:xfrm>
          <a:prstGeom prst="rect">
            <a:avLst/>
          </a:prstGeom>
          <a:noFill/>
          <a:ln/>
        </p:spPr>
        <p:txBody>
          <a:bodyPr wrap="square" lIns="0" tIns="0" rIns="0" bIns="0" rtlCol="0" anchor="t"/>
          <a:lstStyle/>
          <a:p>
            <a:pPr indent="0" marL="0">
              <a:spcAft>
                <a:spcPts val="100"/>
              </a:spcAft>
              <a:buNone/>
            </a:pPr>
            <a:r>
              <a:rPr lang="en-US" sz="1050" b="1" dirty="0">
                <a:solidFill>
                  <a:srgbClr val="001E3C"/>
                </a:solidFill>
                <a:latin typeface="Inter" pitchFamily="34" charset="0"/>
                <a:ea typeface="Inter" pitchFamily="34" charset="-122"/>
                <a:cs typeface="Inter" pitchFamily="34" charset="-120"/>
              </a:rPr>
              <a:t>Weekdays</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07:00–16:00 — a new early, 9 hours</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15:00–22:30 — a new late, ending with the ticket office</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15:45–23:55 — the closer, 30 minutes later than 15:15</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Saturday</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nothing new — every Saturday time is worked today</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Sunday</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15:15–23:25 — the closer, 45 minutes later than 14:30</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09:00–18:00 — a new early, 9 hours</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14:30–22:30 — the ticket-office late</a:t>
            </a:r>
            <a:endParaRPr lang="en-US" sz="1050" dirty="0"/>
          </a:p>
        </p:txBody>
      </p:sp>
      <p:sp>
        <p:nvSpPr>
          <p:cNvPr id="14"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5"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Fewer shift times than today (15, not 18) — and nothing new on a Saturday.</a:t>
            </a:r>
            <a:endParaRPr lang="en-US" sz="1400" dirty="0"/>
          </a:p>
        </p:txBody>
      </p:sp>
      <p:sp>
        <p:nvSpPr>
          <p:cNvPr id="16"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link proposal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Rest and weekends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biggest improvement over today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Nature</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Full weekends off</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in 20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7 in 26</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worked in a row</a:t>
            </a:r>
            <a:endParaRPr lang="en-US" sz="1400" dirty="0"/>
          </a:p>
        </p:txBody>
      </p:sp>
      <p:sp>
        <p:nvSpPr>
          <p:cNvPr id="12" name="Text 10"/>
          <p:cNvSpPr txBox="1"/>
          <p:nvPr/>
        </p:nvSpPr>
        <p:spPr>
          <a:xfrm>
            <a:off x="4663440" y="22585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585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Rest-day breaks of two days or more</a:t>
            </a:r>
            <a:endParaRPr lang="en-US" sz="1400" dirty="0"/>
          </a:p>
        </p:txBody>
      </p:sp>
      <p:sp>
        <p:nvSpPr>
          <p:cNvPr id="16" name="Text 14"/>
          <p:cNvSpPr txBox="1"/>
          <p:nvPr/>
        </p:nvSpPr>
        <p:spPr>
          <a:xfrm>
            <a:off x="4663440" y="27157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 of 17</a:t>
            </a:r>
            <a:endParaRPr lang="en-US" sz="1600" dirty="0"/>
          </a:p>
        </p:txBody>
      </p:sp>
      <p:sp>
        <p:nvSpPr>
          <p:cNvPr id="17" name="Text 15"/>
          <p:cNvSpPr txBox="1"/>
          <p:nvPr/>
        </p:nvSpPr>
        <p:spPr>
          <a:xfrm>
            <a:off x="6675120" y="27157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21 of 25</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729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729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Weeks on one turn, Monday to Friday</a:t>
            </a:r>
            <a:endParaRPr lang="en-US" sz="1400" dirty="0"/>
          </a:p>
        </p:txBody>
      </p:sp>
      <p:sp>
        <p:nvSpPr>
          <p:cNvPr id="24" name="Text 22"/>
          <p:cNvSpPr txBox="1"/>
          <p:nvPr/>
        </p:nvSpPr>
        <p:spPr>
          <a:xfrm>
            <a:off x="4663440" y="36301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of 16</a:t>
            </a:r>
            <a:endParaRPr lang="en-US" sz="1600" dirty="0"/>
          </a:p>
        </p:txBody>
      </p:sp>
      <p:sp>
        <p:nvSpPr>
          <p:cNvPr id="25" name="Text 23"/>
          <p:cNvSpPr txBox="1"/>
          <p:nvPr/>
        </p:nvSpPr>
        <p:spPr>
          <a:xfrm>
            <a:off x="6675120" y="36301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 of 21</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Seven weekends off in 26 weeks, never more than six days on, and more rest.</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link proposal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Earlies, lates and Sundays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balance you have now stays much the same</a:t>
            </a:r>
            <a:endParaRPr lang="en-US" sz="1500" dirty="0"/>
          </a:p>
        </p:txBody>
      </p:sp>
      <p:sp>
        <p:nvSpPr>
          <p:cNvPr id="4" name="Shape 2"/>
          <p:cNvSpPr/>
          <p:nvPr/>
        </p:nvSpPr>
        <p:spPr>
          <a:xfrm>
            <a:off x="457200" y="1417320"/>
            <a:ext cx="2606040" cy="2514600"/>
          </a:xfrm>
          <a:prstGeom prst="roundRect">
            <a:avLst>
              <a:gd name="adj" fmla="val 3636"/>
            </a:avLst>
          </a:prstGeom>
          <a:solidFill>
            <a:srgbClr val="EEF2F7"/>
          </a:solidFill>
          <a:ln w="12700">
            <a:solidFill>
              <a:srgbClr val="EEF2F7"/>
            </a:solidFill>
            <a:prstDash val="solid"/>
          </a:ln>
        </p:spPr>
      </p:sp>
      <p:sp>
        <p:nvSpPr>
          <p:cNvPr id="5" name="Shape 3"/>
          <p:cNvSpPr/>
          <p:nvPr/>
        </p:nvSpPr>
        <p:spPr>
          <a:xfrm>
            <a:off x="640080" y="1600200"/>
            <a:ext cx="502920" cy="50292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50722" y="1710842"/>
            <a:ext cx="281635" cy="281635"/>
          </a:xfrm>
          <a:prstGeom prst="rect">
            <a:avLst/>
          </a:prstGeom>
        </p:spPr>
      </p:pic>
      <p:sp>
        <p:nvSpPr>
          <p:cNvPr id="7" name="Text 4"/>
          <p:cNvSpPr txBox="1"/>
          <p:nvPr/>
        </p:nvSpPr>
        <p:spPr>
          <a:xfrm>
            <a:off x="64008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About half earlies, half lates</a:t>
            </a:r>
            <a:endParaRPr lang="en-US" sz="1600" dirty="0"/>
          </a:p>
        </p:txBody>
      </p:sp>
      <p:sp>
        <p:nvSpPr>
          <p:cNvPr id="8" name="Text 5"/>
          <p:cNvSpPr txBox="1"/>
          <p:nvPr/>
        </p:nvSpPr>
        <p:spPr>
          <a:xfrm>
            <a:off x="64008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Saturday and Sunday split evenly; a weekday has one more late than early.</a:t>
            </a:r>
            <a:endParaRPr lang="en-US" sz="1300" dirty="0"/>
          </a:p>
        </p:txBody>
      </p:sp>
      <p:sp>
        <p:nvSpPr>
          <p:cNvPr id="9" name="Shape 6"/>
          <p:cNvSpPr/>
          <p:nvPr/>
        </p:nvSpPr>
        <p:spPr>
          <a:xfrm>
            <a:off x="3246120" y="1417320"/>
            <a:ext cx="2606040" cy="2514600"/>
          </a:xfrm>
          <a:prstGeom prst="roundRect">
            <a:avLst>
              <a:gd name="adj" fmla="val 3636"/>
            </a:avLst>
          </a:prstGeom>
          <a:solidFill>
            <a:srgbClr val="EEF2F7"/>
          </a:solidFill>
          <a:ln w="12700">
            <a:solidFill>
              <a:srgbClr val="EEF2F7"/>
            </a:solidFill>
            <a:prstDash val="solid"/>
          </a:ln>
        </p:spPr>
      </p:sp>
      <p:sp>
        <p:nvSpPr>
          <p:cNvPr id="10" name="Shape 7"/>
          <p:cNvSpPr/>
          <p:nvPr/>
        </p:nvSpPr>
        <p:spPr>
          <a:xfrm>
            <a:off x="3429000" y="1600200"/>
            <a:ext cx="502920" cy="50292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3539642" y="1710842"/>
            <a:ext cx="281635" cy="281635"/>
          </a:xfrm>
          <a:prstGeom prst="rect">
            <a:avLst/>
          </a:prstGeom>
        </p:spPr>
      </p:pic>
      <p:sp>
        <p:nvSpPr>
          <p:cNvPr id="12" name="Text 8"/>
          <p:cNvSpPr txBox="1"/>
          <p:nvPr/>
        </p:nvSpPr>
        <p:spPr>
          <a:xfrm>
            <a:off x="342900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Sundays are still overtime</a:t>
            </a:r>
            <a:endParaRPr lang="en-US" sz="1600" dirty="0"/>
          </a:p>
        </p:txBody>
      </p:sp>
      <p:sp>
        <p:nvSpPr>
          <p:cNvPr id="13" name="Text 9"/>
          <p:cNvSpPr txBox="1"/>
          <p:nvPr/>
        </p:nvSpPr>
        <p:spPr>
          <a:xfrm>
            <a:off x="342900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Not part of the contract, same as now — and about the same number of Sundays as today.</a:t>
            </a:r>
            <a:endParaRPr lang="en-US" sz="1300" dirty="0"/>
          </a:p>
        </p:txBody>
      </p:sp>
      <p:sp>
        <p:nvSpPr>
          <p:cNvPr id="14" name="Shape 10"/>
          <p:cNvSpPr/>
          <p:nvPr/>
        </p:nvSpPr>
        <p:spPr>
          <a:xfrm>
            <a:off x="6035040" y="1417320"/>
            <a:ext cx="2606040" cy="2514600"/>
          </a:xfrm>
          <a:prstGeom prst="roundRect">
            <a:avLst>
              <a:gd name="adj" fmla="val 3636"/>
            </a:avLst>
          </a:prstGeom>
          <a:solidFill>
            <a:srgbClr val="EEF2F7"/>
          </a:solidFill>
          <a:ln w="12700">
            <a:solidFill>
              <a:srgbClr val="EEF2F7"/>
            </a:solidFill>
            <a:prstDash val="solid"/>
          </a:ln>
        </p:spPr>
      </p:sp>
      <p:sp>
        <p:nvSpPr>
          <p:cNvPr id="15" name="Shape 11"/>
          <p:cNvSpPr/>
          <p:nvPr/>
        </p:nvSpPr>
        <p:spPr>
          <a:xfrm>
            <a:off x="6217920" y="1600200"/>
            <a:ext cx="502920" cy="502920"/>
          </a:xfrm>
          <a:prstGeom prst="ellipse">
            <a:avLst/>
          </a:prstGeom>
          <a:solidFill>
            <a:srgbClr val="F5C800"/>
          </a:solidFill>
          <a:ln w="12700">
            <a:solidFill>
              <a:srgbClr val="F5C800"/>
            </a:solidFill>
            <a:prstDash val="solid"/>
          </a:ln>
        </p:spPr>
      </p:sp>
      <p:pic>
        <p:nvPicPr>
          <p:cNvPr id="16" name="Image 2" descr="preencoded.png">    </p:cNvPr>
          <p:cNvPicPr>
            <a:picLocks noChangeAspect="1"/>
          </p:cNvPicPr>
          <p:nvPr/>
        </p:nvPicPr>
        <p:blipFill>
          <a:blip r:embed="rId3"/>
          <a:stretch>
            <a:fillRect/>
          </a:stretch>
        </p:blipFill>
        <p:spPr>
          <a:xfrm>
            <a:off x="6328562" y="1710842"/>
            <a:ext cx="281635" cy="281635"/>
          </a:xfrm>
          <a:prstGeom prst="rect">
            <a:avLst/>
          </a:prstGeom>
        </p:spPr>
      </p:pic>
      <p:sp>
        <p:nvSpPr>
          <p:cNvPr id="17" name="Text 12"/>
          <p:cNvSpPr txBox="1"/>
          <p:nvPr/>
        </p:nvSpPr>
        <p:spPr>
          <a:xfrm>
            <a:off x="621792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Nobody past 23:25 on a Sunday</a:t>
            </a:r>
            <a:endParaRPr lang="en-US" sz="1600" dirty="0"/>
          </a:p>
        </p:txBody>
      </p:sp>
      <p:sp>
        <p:nvSpPr>
          <p:cNvPr id="18" name="Text 13"/>
          <p:cNvSpPr txBox="1"/>
          <p:nvPr/>
        </p:nvSpPr>
        <p:spPr>
          <a:xfrm>
            <a:off x="621792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The Sunday finish stays where it is. That is agreed practice (settled 28 Sep 2026).</a:t>
            </a:r>
            <a:endParaRPr lang="en-US" sz="1300" dirty="0"/>
          </a:p>
        </p:txBody>
      </p:sp>
      <p:sp>
        <p:nvSpPr>
          <p:cNvPr id="19" name="Shape 1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0" name="Text 1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Much the same balance. Sundays stay overtime and still finish at 23:25.</a:t>
            </a:r>
            <a:endParaRPr lang="en-US" sz="1400" dirty="0"/>
          </a:p>
        </p:txBody>
      </p:sp>
      <p:sp>
        <p:nvSpPr>
          <p:cNvPr id="21" name="Text 1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link proposal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Booking leave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14 days of annual leave buys you, with Sundays off</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Nature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best place to book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30</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28</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on average</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23.4</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23.4</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worst place</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19</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Leave for four full weeks off, at best</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14</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15</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About the same. A cover week still counts as at most 4 days of leave, as now.</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link proposal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More staff on the floor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More people rostered every day, at the open and the close</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Nature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weekday</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Saturday / Sunday</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 / 8</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10</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in the fixed rota</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At least three rostered on the floor, and no avoidable fatigue warnings in the fixed rota.</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link proposal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honest trade-offs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Nothing is free — here is what it costs</a:t>
            </a:r>
            <a:endParaRPr lang="en-US" sz="1500" dirty="0"/>
          </a:p>
        </p:txBody>
      </p:sp>
      <p:sp>
        <p:nvSpPr>
          <p:cNvPr id="4" name="Shape 2"/>
          <p:cNvSpPr/>
          <p:nvPr/>
        </p:nvSpPr>
        <p:spPr>
          <a:xfrm>
            <a:off x="457200" y="1371600"/>
            <a:ext cx="4023360" cy="975272"/>
          </a:xfrm>
          <a:prstGeom prst="roundRect">
            <a:avLst>
              <a:gd name="adj" fmla="val 9091"/>
            </a:avLst>
          </a:prstGeom>
          <a:solidFill>
            <a:srgbClr val="EEF2F7"/>
          </a:solidFill>
          <a:ln w="12700">
            <a:solidFill>
              <a:srgbClr val="EEF2F7"/>
            </a:solidFill>
            <a:prstDash val="solid"/>
          </a:ln>
        </p:spPr>
      </p:sp>
      <p:sp>
        <p:nvSpPr>
          <p:cNvPr id="5" name="Text 3"/>
          <p:cNvSpPr txBox="1"/>
          <p:nvPr/>
        </p:nvSpPr>
        <p:spPr>
          <a:xfrm>
            <a:off x="640080" y="153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Six new shift times to learn</a:t>
            </a:r>
            <a:endParaRPr lang="en-US" sz="1400" dirty="0"/>
          </a:p>
        </p:txBody>
      </p:sp>
      <p:sp>
        <p:nvSpPr>
          <p:cNvPr id="6" name="Text 4"/>
          <p:cNvSpPr txBox="1"/>
          <p:nvPr/>
        </p:nvSpPr>
        <p:spPr>
          <a:xfrm>
            <a:off x="640080" y="184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Three are today’s lates starting later, so shorter.</a:t>
            </a:r>
            <a:endParaRPr lang="en-US" sz="1250" dirty="0"/>
          </a:p>
        </p:txBody>
      </p:sp>
      <p:sp>
        <p:nvSpPr>
          <p:cNvPr id="7" name="Shape 5"/>
          <p:cNvSpPr/>
          <p:nvPr/>
        </p:nvSpPr>
        <p:spPr>
          <a:xfrm>
            <a:off x="4663440" y="1371600"/>
            <a:ext cx="4023360" cy="975272"/>
          </a:xfrm>
          <a:prstGeom prst="roundRect">
            <a:avLst>
              <a:gd name="adj" fmla="val 9091"/>
            </a:avLst>
          </a:prstGeom>
          <a:solidFill>
            <a:srgbClr val="EEF2F7"/>
          </a:solidFill>
          <a:ln w="12700">
            <a:solidFill>
              <a:srgbClr val="EEF2F7"/>
            </a:solidFill>
            <a:prstDash val="solid"/>
          </a:ln>
        </p:spPr>
      </p:sp>
      <p:sp>
        <p:nvSpPr>
          <p:cNvPr id="8" name="Text 6"/>
          <p:cNvSpPr txBox="1"/>
          <p:nvPr/>
        </p:nvSpPr>
        <p:spPr>
          <a:xfrm>
            <a:off x="4846320" y="153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Shifts about 2 minutes longer on average</a:t>
            </a:r>
            <a:endParaRPr lang="en-US" sz="1400" dirty="0"/>
          </a:p>
        </p:txBody>
      </p:sp>
      <p:sp>
        <p:nvSpPr>
          <p:cNvPr id="9" name="Text 7"/>
          <p:cNvSpPr txBox="1"/>
          <p:nvPr/>
        </p:nvSpPr>
        <p:spPr>
          <a:xfrm>
            <a:off x="4846320" y="184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It keeps days at work to 219 a year or fewer.</a:t>
            </a:r>
            <a:endParaRPr lang="en-US" sz="1250" dirty="0"/>
          </a:p>
        </p:txBody>
      </p:sp>
      <p:sp>
        <p:nvSpPr>
          <p:cNvPr id="10" name="Shape 8"/>
          <p:cNvSpPr/>
          <p:nvPr/>
        </p:nvSpPr>
        <p:spPr>
          <a:xfrm>
            <a:off x="457200" y="2456600"/>
            <a:ext cx="4023360" cy="975272"/>
          </a:xfrm>
          <a:prstGeom prst="roundRect">
            <a:avLst>
              <a:gd name="adj" fmla="val 9091"/>
            </a:avLst>
          </a:prstGeom>
          <a:solidFill>
            <a:srgbClr val="EEF2F7"/>
          </a:solidFill>
          <a:ln w="12700">
            <a:solidFill>
              <a:srgbClr val="EEF2F7"/>
            </a:solidFill>
            <a:prstDash val="solid"/>
          </a:ln>
        </p:spPr>
      </p:sp>
      <p:sp>
        <p:nvSpPr>
          <p:cNvPr id="11" name="Text 9"/>
          <p:cNvSpPr txBox="1"/>
          <p:nvPr/>
        </p:nvSpPr>
        <p:spPr>
          <a:xfrm>
            <a:off x="640080" y="2615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Best leave stretch: 28 days, not 30</a:t>
            </a:r>
            <a:endParaRPr lang="en-US" sz="1400" dirty="0"/>
          </a:p>
        </p:txBody>
      </p:sp>
      <p:sp>
        <p:nvSpPr>
          <p:cNvPr id="12" name="Text 10"/>
          <p:cNvSpPr txBox="1"/>
          <p:nvPr/>
        </p:nvSpPr>
        <p:spPr>
          <a:xfrm>
            <a:off x="640080" y="2925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Average as today, and the worst a day better.</a:t>
            </a:r>
            <a:endParaRPr lang="en-US" sz="1250" dirty="0"/>
          </a:p>
        </p:txBody>
      </p:sp>
      <p:sp>
        <p:nvSpPr>
          <p:cNvPr id="13" name="Shape 11"/>
          <p:cNvSpPr/>
          <p:nvPr/>
        </p:nvSpPr>
        <p:spPr>
          <a:xfrm>
            <a:off x="4663440" y="2456600"/>
            <a:ext cx="4023360" cy="975272"/>
          </a:xfrm>
          <a:prstGeom prst="roundRect">
            <a:avLst>
              <a:gd name="adj" fmla="val 9091"/>
            </a:avLst>
          </a:prstGeom>
          <a:solidFill>
            <a:srgbClr val="EEF2F7"/>
          </a:solidFill>
          <a:ln w="12700">
            <a:solidFill>
              <a:srgbClr val="EEF2F7"/>
            </a:solidFill>
            <a:prstDash val="solid"/>
          </a:ln>
        </p:spPr>
      </p:sp>
      <p:sp>
        <p:nvSpPr>
          <p:cNvPr id="14" name="Text 12"/>
          <p:cNvSpPr txBox="1"/>
          <p:nvPr/>
        </p:nvSpPr>
        <p:spPr>
          <a:xfrm>
            <a:off x="4846320" y="2615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Five cover weeks</a:t>
            </a:r>
            <a:endParaRPr lang="en-US" sz="1400" dirty="0"/>
          </a:p>
        </p:txBody>
      </p:sp>
      <p:sp>
        <p:nvSpPr>
          <p:cNvPr id="15" name="Text 13"/>
          <p:cNvSpPr txBox="1"/>
          <p:nvPr/>
        </p:nvSpPr>
        <p:spPr>
          <a:xfrm>
            <a:off x="4846320" y="2925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Spaced evenly: weeks 1, 6, 11, 16 and 21.</a:t>
            </a:r>
            <a:endParaRPr lang="en-US" sz="1250" dirty="0"/>
          </a:p>
        </p:txBody>
      </p:sp>
      <p:sp>
        <p:nvSpPr>
          <p:cNvPr id="16" name="Shape 14"/>
          <p:cNvSpPr/>
          <p:nvPr/>
        </p:nvSpPr>
        <p:spPr>
          <a:xfrm>
            <a:off x="457200" y="3541600"/>
            <a:ext cx="4023360" cy="975272"/>
          </a:xfrm>
          <a:prstGeom prst="roundRect">
            <a:avLst>
              <a:gd name="adj" fmla="val 9091"/>
            </a:avLst>
          </a:prstGeom>
          <a:solidFill>
            <a:srgbClr val="EEF2F7"/>
          </a:solidFill>
          <a:ln w="12700">
            <a:solidFill>
              <a:srgbClr val="EEF2F7"/>
            </a:solidFill>
            <a:prstDash val="solid"/>
          </a:ln>
        </p:spPr>
      </p:sp>
      <p:sp>
        <p:nvSpPr>
          <p:cNvPr id="17" name="Text 15"/>
          <p:cNvSpPr txBox="1"/>
          <p:nvPr/>
        </p:nvSpPr>
        <p:spPr>
          <a:xfrm>
            <a:off x="640080" y="370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A few more late finishes</a:t>
            </a:r>
            <a:endParaRPr lang="en-US" sz="1400" dirty="0"/>
          </a:p>
        </p:txBody>
      </p:sp>
      <p:sp>
        <p:nvSpPr>
          <p:cNvPr id="18" name="Text 16"/>
          <p:cNvSpPr txBox="1"/>
          <p:nvPr/>
        </p:nvSpPr>
        <p:spPr>
          <a:xfrm>
            <a:off x="640080" y="401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42 a year each at 23:00 or later (today 39) — the rules’ minimum.</a:t>
            </a:r>
            <a:endParaRPr lang="en-US" sz="1250" dirty="0"/>
          </a:p>
        </p:txBody>
      </p:sp>
      <p:sp>
        <p:nvSpPr>
          <p:cNvPr id="19" name="Shape 17"/>
          <p:cNvSpPr/>
          <p:nvPr/>
        </p:nvSpPr>
        <p:spPr>
          <a:xfrm>
            <a:off x="4663440" y="3541600"/>
            <a:ext cx="4023360" cy="975272"/>
          </a:xfrm>
          <a:prstGeom prst="roundRect">
            <a:avLst>
              <a:gd name="adj" fmla="val 9091"/>
            </a:avLst>
          </a:prstGeom>
          <a:solidFill>
            <a:srgbClr val="EEF2F7"/>
          </a:solidFill>
          <a:ln w="12700">
            <a:solidFill>
              <a:srgbClr val="EEF2F7"/>
            </a:solidFill>
            <a:prstDash val="solid"/>
          </a:ln>
        </p:spPr>
      </p:sp>
      <p:sp>
        <p:nvSpPr>
          <p:cNvPr id="20" name="Text 18"/>
          <p:cNvSpPr txBox="1"/>
          <p:nvPr/>
        </p:nvSpPr>
        <p:spPr>
          <a:xfrm>
            <a:off x="4846320" y="370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Still a proposal</a:t>
            </a:r>
            <a:endParaRPr lang="en-US" sz="1400" dirty="0"/>
          </a:p>
        </p:txBody>
      </p:sp>
      <p:sp>
        <p:nvSpPr>
          <p:cNvPr id="21" name="Text 19"/>
          <p:cNvSpPr txBox="1"/>
          <p:nvPr/>
        </p:nvSpPr>
        <p:spPr>
          <a:xfrm>
            <a:off x="4846320" y="401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Your views count before a link is chosen, and who goes on which line is not decided.</a:t>
            </a:r>
            <a:endParaRPr lang="en-US" sz="125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link proposal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Today’s roster and Second Nature, side by side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840480"/>
                <a:gridCol w="2194560"/>
                <a:gridCol w="2194560"/>
              </a:tblGrid>
              <a:tr h="246888">
                <a:tc>
                  <a:txBody>
                    <a:bodyPr/>
                    <a:lstStyle/>
                    <a:p>
                      <a:pPr algn="ctr" indent="0" marL="0">
                        <a:buNone/>
                      </a:pP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Today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FFFFFF"/>
                          </a:solidFill>
                          <a:latin typeface="Inter" pitchFamily="34" charset="0"/>
                          <a:ea typeface="Inter" pitchFamily="34" charset="-122"/>
                          <a:cs typeface="Inter" pitchFamily="34" charset="-120"/>
                        </a:rPr>
                        <a:t>Second Nature</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01E3C"/>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hours a week</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days at work a year</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219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219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Average shift · longest shift</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14m · 9h 10m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16m · 9h 00m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Closing shift: weekday · Saturday · Sunday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40m · 9h 10m · 8h 55m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10m · 8h 40m · 8h 10m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Full weekends off</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in 20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7 in 26</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Most days worked in a row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7 (up to 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Shortest gap between two shifts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12h 30m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14h 20m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Different shift times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(9 you know)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On duty weekday · Saturday · Sunday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11–12 · 10 · 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 14 · 10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Avoidable fatigue warnings in the fixed rota</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(up to 5)</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bl>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and days, shorter closers, more full weekends off.</a:t>
            </a:r>
            <a:endParaRPr lang="en-US" sz="1400" dirty="0"/>
          </a:p>
        </p:txBody>
      </p:sp>
      <p:sp>
        <p:nvSpPr>
          <p:cNvPr id="7" name="Text 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link proposal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What happens next</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Look at the full proposal sheet — page 3 shows every week of the link</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Tell us what worries you, even if it is small</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Your feedback goes to the managers with the proposal</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200" dirty="0">
                <a:solidFill>
                  <a:srgbClr val="F5C800"/>
                </a:solidFill>
                <a:latin typeface="Inter" pitchFamily="34" charset="0"/>
                <a:ea typeface="Inter" pitchFamily="34" charset="-122"/>
                <a:cs typeface="Inter" pitchFamily="34" charset="-120"/>
              </a:rPr>
              <a:t>Second Nature · SN-26-F2 · every figure worked out from the rota by the Marylebone Roster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 Nature — the December 2026 link</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