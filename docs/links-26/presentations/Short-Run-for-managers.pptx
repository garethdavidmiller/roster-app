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c:v>
                </c:pt>
              </c:strCache>
            </c:strRef>
          </c:tx>
          <c:spPr>
            <a:solidFill>
              <a:srgbClr val="A9B3C1"/>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Sheet1!$B$2:$B$4</c:f>
              <c:numCache>
                <c:formatCode>General</c:formatCode>
                <c:ptCount val="3"/>
                <c:pt idx="0">
                  <c:v>52</c:v>
                </c:pt>
                <c:pt idx="1">
                  <c:v>65.9</c:v>
                </c:pt>
                <c:pt idx="2">
                  <c:v>71.7</c:v>
                </c:pt>
              </c:numCache>
            </c:numRef>
          </c:val>
        </c:ser>
        <c:ser>
          <c:idx val="1"/>
          <c:order val="1"/>
          <c:tx>
            <c:strRef>
              <c:f>Sheet1!$C$1</c:f>
              <c:strCache>
                <c:ptCount val="1"/>
                <c:pt idx="0">
                  <c:v>Short Run</c:v>
                </c:pt>
              </c:strCache>
            </c:strRef>
          </c:tx>
          <c:spPr>
            <a:solidFill>
              <a:srgbClr val="001E3C"/>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Sheet1!$C$2:$C$4</c:f>
              <c:numCache>
                <c:formatCode>General</c:formatCode>
                <c:ptCount val="3"/>
                <c:pt idx="0">
                  <c:v>29.1</c:v>
                </c:pt>
                <c:pt idx="1">
                  <c:v>12.7</c:v>
                </c:pt>
                <c:pt idx="2">
                  <c:v>29</c:v>
                </c:pt>
              </c:numCache>
            </c:numRef>
          </c:val>
        </c:ser>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533"/>
                </a:solidFill>
                <a:latin typeface="Inter"/>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latin typeface="Inter"/>
              <a:cs typeface="Inter"/>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figures only. Everything week-by-week, hour-by-hour and rule-by-rule is on the eight-page proposal sheet, and every number here comes from the Marylebone Roster app’s rota calculations and has been independently checked; the slides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nine rules are the December 2026 rules, as confirmed verbally on 29 September 2026: at least four at the open, three to the close, five after 22:00, 10 on a Sunday, the ticket office in fixed pairs, two on the floor at all times, handovers, 8–9 hour Sundays and no more shift times than today. Behind them sit three flexible rules that are aimed for when designing but not scored on: 14 on a Saturday, five cover weeks as evenly spaced as 26 weeks allow, and weekday closers starting at 15:45 or later. Short Run meets all three. It also stays under the ceiling of 219 contracted days a year set on 1 October 2026, at 218.6.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link meets 4 of the 9 December rules; Short Run meets all 9, and the three flexible ones as well (14 on a Saturday, evenly spaced cover weeks, weekday closers from 15:45). Someone finishing at exactly 22:00 is not counted as still on after 22:00. The floor figure leaves out the ticket office, except its second person at the quiet ends of the day. Three to the close every day is the minimum, and Short Run rosters exactly that, which is what keeps its late finishes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compares, hour by hour, the share of the day’s floor staff on duty with the share of the day’s train service, each train weighted by its length. 0 would be a perfect match. It is a guide to shape, not a staffing requirement or a passenger forecast — the rules on the previous slide are the requirement. Against today’s link, Short Run’s score is a little over half on weekdays, about a fifth on a Saturday and about two-fifths on a Sunday; lower is closer.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weeks average exactly 35 hours Monday to Saturday — 44,100 minutes across the 21 working weeks — so no overtime is needed to balance the Monday-to-Saturday week. Individual weeks range from 24h 30m to 42h 30m — today’s run from 25h 10m to 43h 50m, so the heaviest is lighter than today’s heaviest and the lightest a little lighter than today’s lightest; only the average is the contract, as today. Five cover weeks keep about the same share of the link as today’s four in 20 (one week in 5.2, against one in 5). Sunday is not contracted, so the ten Sunday duties are worked as rest-day overtime, exactly as today’s eight are. The two extra Sunday overtime duties a week come from the Sunday staffing of ten, confirmed verbally — any link that meets the rules needs them. The 26-week link, its five cover weeks and the ceiling of 219 contracted days a year were set on 1 October 2026; Short Run gives 218.6.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ORR factors are good practice, not pass/fail limits, and this is not a fatigue risk assessment. Two factors — early starts at a 06:20 station and a weekly rotation — come with every weekly link, so they are recorded on the proposal sheet for information and not counted. One definition, successive start times varying by more than two hours, is counted on our reading, in which a rest day breaks the run, and whoever assesses it should confirm that: on the stricter reading every link has it (FF19 on the rules sheet). The “up to 1” beside the fatigue warnings is the rail industry’s 55-hour guideline: worked as four 8-hour duties straight after a busy line, with its Sunday as overtime too, a cover week can make 56.8 hours in seven days. Where the four fall, and whether the Sunday is worked, is for the roster office. The written source of the 13-day limit is still to be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case in one slide. It meets every December staffing rule and keeps the shift times people already work wherever that cost little — nine of its fifteen are worked today, and none on a Saturday is new. Nobody works more than five days in a row on the fixed rota, where today it is seven; a cover week placed badly, with its Sunday worked as overtime, can make it seven, never more. Every working week is all earlies or all lates, and 18 of the 21 keep one shift time Monday to Friday; today seven weeks in 16 do both. Its seven full weekends off in 26 weeks are never more than five weeks apart, which is as close as the five cover weeks allow; today it is four in 20, up to seven weeks apart. The honest costs: its new weekday early, 07:00–16:00, is 9 hours, about 20 a year each, where today no early is over 8h 30m; and late finishes, the smallest rise possible — the December staffing needs three to the close every day, and only those three finish after 23:00, so finishes at 23:00 or later go from about 39 to 42 a year each. Its heaviest week is 42h 30m, against today’s 43h 50m. Every closing shift is 30 to 45 minutes shorter. Six shift times are new. It is on the shortlist with Even Step, the recommended design (31 October 2026), and In Step (30 October 2026), and against both has the same run, weekends, weeks on one shift time, late finishes and leave. What it has that neither has: the closest weekday fit to the trains (29.1, against In Step’s 29.8 and Even Step’s 32.6), the shortest weekday lates (8h 00m on average, closers aside, against 8h 12m and 8h 27m) and no new Saturday time. Against In Step it also has fewer long days — 28 shifts a year each over 8h 30m against In Step’s 42, its weekday earlies over 8h 30m (all 9h 00m) coming about 20 times a year against In Step’s 40 (8h 45m and 8h 55m); Even Step has no shift over 8h 30m Monday to Saturday, and over 8h 30m at all only its Sunday 09:00–18:00, about twice a year each. Its working day moves less from one week to the next than Even Step’s (1h 13m on average, against 1h 31m; In Step’s is 1h 13m too). What it gives up: today’s 13:45, which both the others keep on every weekday; a Saturday closer of 8h 40m, against their 8h 10m; a weaker Saturday fit (12.7, against In Step’s 9.6 and Even Step’s 10.0); and less even weeks (24h 30m to 42h 30m, against In Step’s 25h 30m to 41h 05m and Even Step’s 25h 30m to 41h 30m).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at work stay at 219 a year (218.6 exactly; Monday to Saturday; Sunday is overtime), under the ceiling set on 1 October 2026. Late finishes average about three more a year each, all of them from the December staffing — three to the close every day, where today has two Monday to Saturday — so no link meeting the same rules on 26 weeks could have fewer. Full weekends off are seven in 26 and never more than five weeks apart; nobody works more than five days in a row on the fixed rota; no week mixes earlies and lates, and 18 of the 21 working weeks keep one shift time. Weekly hours run from 24h 30m to 42h 30m (today 25h 10m to 43h 50m); only the average is the contract. The average shift is about two minutes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Sunday finish stays at 23:25 — that is agreed practice. The 13-day limit used in the checks is Chiltern practice; its written source is still to be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 sheet with them. Questions about a particular week or hour are answered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Short Run</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The December 2026 CEA link — the proposal in ten minutes</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For managers · 26 weeks · code SR-26-F1 · the full proposal sheet has the detail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Four numbers</a:t>
            </a:r>
            <a:endParaRPr lang="en-US" sz="1500" dirty="0"/>
          </a:p>
        </p:txBody>
      </p:sp>
      <p:sp>
        <p:nvSpPr>
          <p:cNvPr id="4" name="Shape 2"/>
          <p:cNvSpPr/>
          <p:nvPr/>
        </p:nvSpPr>
        <p:spPr>
          <a:xfrm>
            <a:off x="457200" y="1463040"/>
            <a:ext cx="1874520" cy="2377440"/>
          </a:xfrm>
          <a:prstGeom prst="roundRect">
            <a:avLst>
              <a:gd name="adj" fmla="val 5854"/>
            </a:avLst>
          </a:prstGeom>
          <a:solidFill>
            <a:srgbClr val="EEF2F7"/>
          </a:solidFill>
          <a:ln w="12700">
            <a:solidFill>
              <a:srgbClr val="EEF2F7"/>
            </a:solidFill>
            <a:prstDash val="solid"/>
          </a:ln>
        </p:spPr>
      </p:sp>
      <p:sp>
        <p:nvSpPr>
          <p:cNvPr id="5" name="Text 3"/>
          <p:cNvSpPr txBox="1"/>
          <p:nvPr/>
        </p:nvSpPr>
        <p:spPr>
          <a:xfrm>
            <a:off x="45720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9 of 9</a:t>
            </a:r>
            <a:endParaRPr lang="en-US" sz="3400" dirty="0"/>
          </a:p>
        </p:txBody>
      </p:sp>
      <p:sp>
        <p:nvSpPr>
          <p:cNvPr id="6" name="Text 4"/>
          <p:cNvSpPr txBox="1"/>
          <p:nvPr/>
        </p:nvSpPr>
        <p:spPr>
          <a:xfrm>
            <a:off x="52578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December</a:t>
            </a:r>
            <a:br/>
            <a:r>
              <a:rPr lang="en-US" sz="1500" b="1" dirty="0">
                <a:solidFill>
                  <a:srgbClr val="1B2533"/>
                </a:solidFill>
                <a:latin typeface="Inter" pitchFamily="34" charset="0"/>
                <a:ea typeface="Inter" pitchFamily="34" charset="-122"/>
                <a:cs typeface="Inter" pitchFamily="34" charset="-120"/>
              </a:rPr>
              <a:t>rules met</a:t>
            </a:r>
            <a:endParaRPr lang="en-US" sz="1500" dirty="0"/>
          </a:p>
        </p:txBody>
      </p:sp>
      <p:sp>
        <p:nvSpPr>
          <p:cNvPr id="7" name="Text 5"/>
          <p:cNvSpPr txBox="1"/>
          <p:nvPr/>
        </p:nvSpPr>
        <p:spPr>
          <a:xfrm>
            <a:off x="52578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today’s link: 4</a:t>
            </a:r>
            <a:endParaRPr lang="en-US" sz="1300" dirty="0"/>
          </a:p>
        </p:txBody>
      </p:sp>
      <p:sp>
        <p:nvSpPr>
          <p:cNvPr id="8" name="Shape 6"/>
          <p:cNvSpPr/>
          <p:nvPr/>
        </p:nvSpPr>
        <p:spPr>
          <a:xfrm>
            <a:off x="2560320" y="1463040"/>
            <a:ext cx="1874520" cy="2377440"/>
          </a:xfrm>
          <a:prstGeom prst="roundRect">
            <a:avLst>
              <a:gd name="adj" fmla="val 5854"/>
            </a:avLst>
          </a:prstGeom>
          <a:solidFill>
            <a:srgbClr val="EEF2F7"/>
          </a:solidFill>
          <a:ln w="12700">
            <a:solidFill>
              <a:srgbClr val="EEF2F7"/>
            </a:solidFill>
            <a:prstDash val="solid"/>
          </a:ln>
        </p:spPr>
      </p:sp>
      <p:sp>
        <p:nvSpPr>
          <p:cNvPr id="9" name="Text 7"/>
          <p:cNvSpPr txBox="1"/>
          <p:nvPr/>
        </p:nvSpPr>
        <p:spPr>
          <a:xfrm>
            <a:off x="256032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35h</a:t>
            </a:r>
            <a:endParaRPr lang="en-US" sz="3400" dirty="0"/>
          </a:p>
        </p:txBody>
      </p:sp>
      <p:sp>
        <p:nvSpPr>
          <p:cNvPr id="10" name="Text 8"/>
          <p:cNvSpPr txBox="1"/>
          <p:nvPr/>
        </p:nvSpPr>
        <p:spPr>
          <a:xfrm>
            <a:off x="262890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contracted hours</a:t>
            </a:r>
            <a:br/>
            <a:r>
              <a:rPr lang="en-US" sz="1500" b="1" dirty="0">
                <a:solidFill>
                  <a:srgbClr val="1B2533"/>
                </a:solidFill>
                <a:latin typeface="Inter" pitchFamily="34" charset="0"/>
                <a:ea typeface="Inter" pitchFamily="34" charset="-122"/>
                <a:cs typeface="Inter" pitchFamily="34" charset="-120"/>
              </a:rPr>
              <a:t>a week</a:t>
            </a:r>
            <a:endParaRPr lang="en-US" sz="1500" dirty="0"/>
          </a:p>
        </p:txBody>
      </p:sp>
      <p:sp>
        <p:nvSpPr>
          <p:cNvPr id="11" name="Text 9"/>
          <p:cNvSpPr txBox="1"/>
          <p:nvPr/>
        </p:nvSpPr>
        <p:spPr>
          <a:xfrm>
            <a:off x="262890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Mon–Sat average</a:t>
            </a:r>
            <a:endParaRPr lang="en-US" sz="1300" dirty="0"/>
          </a:p>
        </p:txBody>
      </p:sp>
      <p:sp>
        <p:nvSpPr>
          <p:cNvPr id="12" name="Shape 10"/>
          <p:cNvSpPr/>
          <p:nvPr/>
        </p:nvSpPr>
        <p:spPr>
          <a:xfrm>
            <a:off x="4663440" y="1463040"/>
            <a:ext cx="1874520" cy="2377440"/>
          </a:xfrm>
          <a:prstGeom prst="roundRect">
            <a:avLst>
              <a:gd name="adj" fmla="val 5854"/>
            </a:avLst>
          </a:prstGeom>
          <a:solidFill>
            <a:srgbClr val="EEF2F7"/>
          </a:solidFill>
          <a:ln w="12700">
            <a:solidFill>
              <a:srgbClr val="EEF2F7"/>
            </a:solidFill>
            <a:prstDash val="solid"/>
          </a:ln>
        </p:spPr>
      </p:sp>
      <p:sp>
        <p:nvSpPr>
          <p:cNvPr id="13" name="Text 11"/>
          <p:cNvSpPr txBox="1"/>
          <p:nvPr/>
        </p:nvSpPr>
        <p:spPr>
          <a:xfrm>
            <a:off x="466344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0</a:t>
            </a:r>
            <a:endParaRPr lang="en-US" sz="3400" dirty="0"/>
          </a:p>
        </p:txBody>
      </p:sp>
      <p:sp>
        <p:nvSpPr>
          <p:cNvPr id="14" name="Text 12"/>
          <p:cNvSpPr txBox="1"/>
          <p:nvPr/>
        </p:nvSpPr>
        <p:spPr>
          <a:xfrm>
            <a:off x="473202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avoidable</a:t>
            </a:r>
            <a:br/>
            <a:r>
              <a:rPr lang="en-US" sz="1500" b="1" dirty="0">
                <a:solidFill>
                  <a:srgbClr val="1B2533"/>
                </a:solidFill>
                <a:latin typeface="Inter" pitchFamily="34" charset="0"/>
                <a:ea typeface="Inter" pitchFamily="34" charset="-122"/>
                <a:cs typeface="Inter" pitchFamily="34" charset="-120"/>
              </a:rPr>
              <a:t>fatigue warnings</a:t>
            </a:r>
            <a:endParaRPr lang="en-US" sz="1500" dirty="0"/>
          </a:p>
        </p:txBody>
      </p:sp>
      <p:sp>
        <p:nvSpPr>
          <p:cNvPr id="15" name="Text 13"/>
          <p:cNvSpPr txBox="1"/>
          <p:nvPr/>
        </p:nvSpPr>
        <p:spPr>
          <a:xfrm>
            <a:off x="473202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fixed rota · today 4</a:t>
            </a:r>
            <a:endParaRPr lang="en-US" sz="1300" dirty="0"/>
          </a:p>
        </p:txBody>
      </p:sp>
      <p:sp>
        <p:nvSpPr>
          <p:cNvPr id="16" name="Shape 14"/>
          <p:cNvSpPr/>
          <p:nvPr/>
        </p:nvSpPr>
        <p:spPr>
          <a:xfrm>
            <a:off x="6766560" y="1463040"/>
            <a:ext cx="1874520" cy="2377440"/>
          </a:xfrm>
          <a:prstGeom prst="roundRect">
            <a:avLst>
              <a:gd name="adj" fmla="val 5854"/>
            </a:avLst>
          </a:prstGeom>
          <a:solidFill>
            <a:srgbClr val="EEF2F7"/>
          </a:solidFill>
          <a:ln w="12700">
            <a:solidFill>
              <a:srgbClr val="EEF2F7"/>
            </a:solidFill>
            <a:prstDash val="solid"/>
          </a:ln>
        </p:spPr>
      </p:sp>
      <p:sp>
        <p:nvSpPr>
          <p:cNvPr id="17" name="Text 15"/>
          <p:cNvSpPr txBox="1"/>
          <p:nvPr/>
        </p:nvSpPr>
        <p:spPr>
          <a:xfrm>
            <a:off x="676656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26</a:t>
            </a:r>
            <a:endParaRPr lang="en-US" sz="3400" dirty="0"/>
          </a:p>
        </p:txBody>
      </p:sp>
      <p:sp>
        <p:nvSpPr>
          <p:cNvPr id="18" name="Text 16"/>
          <p:cNvSpPr txBox="1"/>
          <p:nvPr/>
        </p:nvSpPr>
        <p:spPr>
          <a:xfrm>
            <a:off x="6835140" y="2560320"/>
            <a:ext cx="173736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people</a:t>
            </a:r>
            <a:br/>
            <a:r>
              <a:rPr lang="en-US" sz="1500" b="1" dirty="0">
                <a:solidFill>
                  <a:srgbClr val="1B2533"/>
                </a:solidFill>
                <a:latin typeface="Inter" pitchFamily="34" charset="0"/>
                <a:ea typeface="Inter" pitchFamily="34" charset="-122"/>
                <a:cs typeface="Inter" pitchFamily="34" charset="-120"/>
              </a:rPr>
              <a:t>on the link</a:t>
            </a:r>
            <a:endParaRPr lang="en-US" sz="1500" dirty="0"/>
          </a:p>
        </p:txBody>
      </p:sp>
      <p:sp>
        <p:nvSpPr>
          <p:cNvPr id="19" name="Text 17"/>
          <p:cNvSpPr txBox="1"/>
          <p:nvPr/>
        </p:nvSpPr>
        <p:spPr>
          <a:xfrm>
            <a:off x="6835140" y="3200400"/>
            <a:ext cx="173736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 20</a:t>
            </a:r>
            <a:endParaRPr lang="en-US" sz="1300" dirty="0"/>
          </a:p>
        </p:txBody>
      </p:sp>
      <p:sp>
        <p:nvSpPr>
          <p:cNvPr id="20" name="Shape 18"/>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1" name="Text 19"/>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December rule met — and no avoidable fatigue warnings in the fixed rota.</a:t>
            </a:r>
            <a:endParaRPr lang="en-US" sz="1400" dirty="0"/>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Short Run · December 2026 link proposal · for managers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staffing you asked for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Weekday · Saturday · Sunday</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Short Run</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during the day</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 · 10 · 8</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15 · 14 · 10</a:t>
            </a:r>
            <a:endParaRPr lang="en-US" sz="1800" dirty="0"/>
          </a:p>
        </p:txBody>
      </p:sp>
      <p:sp>
        <p:nvSpPr>
          <p:cNvPr id="10" name="Shape 8"/>
          <p:cNvSpPr/>
          <p:nvPr/>
        </p:nvSpPr>
        <p:spPr>
          <a:xfrm>
            <a:off x="457200" y="2240280"/>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At the open (06:20, Sunday 07:15)</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4 · 3</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 5 · 4</a:t>
            </a:r>
            <a:endParaRPr lang="en-US" sz="1800" dirty="0"/>
          </a:p>
        </p:txBody>
      </p:sp>
      <p:sp>
        <p:nvSpPr>
          <p:cNvPr id="14" name="Shape 12"/>
          <p:cNvSpPr/>
          <p:nvPr/>
        </p:nvSpPr>
        <p:spPr>
          <a:xfrm>
            <a:off x="457200" y="2679192"/>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Still on after 22:00</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2 · 3</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7 · 5 · 5</a:t>
            </a:r>
            <a:endParaRPr lang="en-US" sz="1800" dirty="0"/>
          </a:p>
        </p:txBody>
      </p:sp>
      <p:sp>
        <p:nvSpPr>
          <p:cNvPr id="18" name="Shape 16"/>
          <p:cNvSpPr/>
          <p:nvPr/>
        </p:nvSpPr>
        <p:spPr>
          <a:xfrm>
            <a:off x="457200" y="3118104"/>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Through to the close</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3</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 · 3 · 3</a:t>
            </a:r>
            <a:endParaRPr lang="en-US" sz="1800" dirty="0"/>
          </a:p>
        </p:txBody>
      </p:sp>
      <p:sp>
        <p:nvSpPr>
          <p:cNvPr id="22" name="Shape 20"/>
          <p:cNvSpPr/>
          <p:nvPr/>
        </p:nvSpPr>
        <p:spPr>
          <a:xfrm>
            <a:off x="457200" y="3557016"/>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557016"/>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24" name="Text 22"/>
          <p:cNvSpPr txBox="1"/>
          <p:nvPr/>
        </p:nvSpPr>
        <p:spPr>
          <a:xfrm>
            <a:off x="4663440" y="3557016"/>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2</a:t>
            </a:r>
            <a:endParaRPr lang="en-US" sz="1600" dirty="0"/>
          </a:p>
        </p:txBody>
      </p:sp>
      <p:sp>
        <p:nvSpPr>
          <p:cNvPr id="25" name="Text 23"/>
          <p:cNvSpPr txBox="1"/>
          <p:nvPr/>
        </p:nvSpPr>
        <p:spPr>
          <a:xfrm>
            <a:off x="6675120" y="3557016"/>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 · 3 · 3</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level met on every day — and the ticket office staffed in pairs, including Sundays.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Short Run · December 2026 link proposal · for managers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where the trains are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How far the floor staffing is from the shape of the December timetable — lower is better</a:t>
            </a:r>
            <a:endParaRPr lang="en-US" sz="1500" dirty="0"/>
          </a:p>
        </p:txBody>
      </p:sp>
      <p:graphicFrame>
        <p:nvGraphicFramePr>
          <p:cNvPr id="4" name="Chart 0" descr=""/>
          <p:cNvGraphicFramePr/>
          <p:nvPr/>
        </p:nvGraphicFramePr>
        <p:xfrm>
          <a:off x="457200" y="1325880"/>
          <a:ext cx="8229600" cy="2697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Much closer to the December pattern every day. The score: hour by hour, how far staffing sits from the trains; 0 would track them exactly.</a:t>
            </a:r>
            <a:endParaRPr lang="en-US" sz="1400" dirty="0"/>
          </a:p>
        </p:txBody>
      </p:sp>
      <p:sp>
        <p:nvSpPr>
          <p:cNvPr id="8" name="Text 5"/>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Short Run · December 2026 link proposal · for managers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and hours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it takes to run</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Short Run</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on the link</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26</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Cover weeks (for leave and sickness)</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in 20 (1 in 5)</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5 in 26 (1 in 5.2)</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needed each Sunday (overtime)</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10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Six more people, 35 hours a week on average; Sunday overtime 83h 30m a week across the link (today 68h 15m).</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Short Run · December 2026 link proposal · for managers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Fatigue checks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Against the Office of Rail and Road’s good-practice list and the rail industry’s own checks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Short Run</a:t>
            </a:r>
            <a:endParaRPr lang="en-US" sz="1300" dirty="0"/>
          </a:p>
        </p:txBody>
      </p:sp>
      <p:sp>
        <p:nvSpPr>
          <p:cNvPr id="6" name="Shape 4"/>
          <p:cNvSpPr/>
          <p:nvPr/>
        </p:nvSpPr>
        <p:spPr>
          <a:xfrm>
            <a:off x="457200" y="1801368"/>
            <a:ext cx="8229600" cy="365760"/>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fixed rota</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 (up to 1)</a:t>
            </a:r>
            <a:endParaRPr lang="en-US" sz="1800" dirty="0"/>
          </a:p>
        </p:txBody>
      </p:sp>
      <p:sp>
        <p:nvSpPr>
          <p:cNvPr id="10" name="Shape 8"/>
          <p:cNvSpPr/>
          <p:nvPr/>
        </p:nvSpPr>
        <p:spPr>
          <a:xfrm>
            <a:off x="457200" y="2240280"/>
            <a:ext cx="8229600" cy="365760"/>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240280"/>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in a row (limit 13)</a:t>
            </a:r>
            <a:endParaRPr lang="en-US" sz="1400" dirty="0"/>
          </a:p>
        </p:txBody>
      </p:sp>
      <p:sp>
        <p:nvSpPr>
          <p:cNvPr id="12" name="Text 10"/>
          <p:cNvSpPr txBox="1"/>
          <p:nvPr/>
        </p:nvSpPr>
        <p:spPr>
          <a:xfrm>
            <a:off x="4663440" y="2240280"/>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675120" y="2240280"/>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(up to 7)</a:t>
            </a:r>
            <a:endParaRPr lang="en-US" sz="1800" dirty="0"/>
          </a:p>
        </p:txBody>
      </p:sp>
      <p:sp>
        <p:nvSpPr>
          <p:cNvPr id="14" name="Shape 12"/>
          <p:cNvSpPr/>
          <p:nvPr/>
        </p:nvSpPr>
        <p:spPr>
          <a:xfrm>
            <a:off x="457200" y="2679192"/>
            <a:ext cx="8229600" cy="365760"/>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679192"/>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rest between shifts (limit 12h)</a:t>
            </a:r>
            <a:endParaRPr lang="en-US" sz="1400" dirty="0"/>
          </a:p>
        </p:txBody>
      </p:sp>
      <p:sp>
        <p:nvSpPr>
          <p:cNvPr id="16" name="Text 14"/>
          <p:cNvSpPr txBox="1"/>
          <p:nvPr/>
        </p:nvSpPr>
        <p:spPr>
          <a:xfrm>
            <a:off x="4663440" y="2679192"/>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17" name="Text 15"/>
          <p:cNvSpPr txBox="1"/>
          <p:nvPr/>
        </p:nvSpPr>
        <p:spPr>
          <a:xfrm>
            <a:off x="6675120" y="2679192"/>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20m</a:t>
            </a:r>
            <a:endParaRPr lang="en-US" sz="1800" dirty="0"/>
          </a:p>
        </p:txBody>
      </p:sp>
      <p:sp>
        <p:nvSpPr>
          <p:cNvPr id="18" name="Shape 16"/>
          <p:cNvSpPr/>
          <p:nvPr/>
        </p:nvSpPr>
        <p:spPr>
          <a:xfrm>
            <a:off x="457200" y="3118104"/>
            <a:ext cx="8229600" cy="365760"/>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118104"/>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a:t>
            </a:r>
            <a:endParaRPr lang="en-US" sz="1400" dirty="0"/>
          </a:p>
        </p:txBody>
      </p:sp>
      <p:sp>
        <p:nvSpPr>
          <p:cNvPr id="20" name="Text 18"/>
          <p:cNvSpPr txBox="1"/>
          <p:nvPr/>
        </p:nvSpPr>
        <p:spPr>
          <a:xfrm>
            <a:off x="4663440" y="3118104"/>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21" name="Text 19"/>
          <p:cNvSpPr txBox="1"/>
          <p:nvPr/>
        </p:nvSpPr>
        <p:spPr>
          <a:xfrm>
            <a:off x="6675120" y="3118104"/>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9h 00m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Rest and run limits met with room to spare; no avoidable fatigue warnings in the fixed rota.</a:t>
            </a:r>
            <a:endParaRPr lang="en-US" sz="140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Short Run · December 2026 link proposal · for managers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Short Run?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all three shortlisted links give, what this one adds, and what it costs</a:t>
            </a:r>
            <a:endParaRPr lang="en-US" sz="1500" dirty="0"/>
          </a:p>
        </p:txBody>
      </p:sp>
      <p:sp>
        <p:nvSpPr>
          <p:cNvPr id="4" name="Shape 2"/>
          <p:cNvSpPr/>
          <p:nvPr/>
        </p:nvSpPr>
        <p:spPr>
          <a:xfrm>
            <a:off x="457200" y="1325880"/>
            <a:ext cx="292608" cy="292608"/>
          </a:xfrm>
          <a:prstGeom prst="ellipse">
            <a:avLst/>
          </a:prstGeom>
          <a:solidFill>
            <a:srgbClr val="1E7B4B"/>
          </a:solidFill>
          <a:ln w="12700">
            <a:solidFill>
              <a:srgbClr val="1E7B4B"/>
            </a:solidFill>
            <a:prstDash val="solid"/>
          </a:ln>
        </p:spPr>
      </p:sp>
      <p:sp>
        <p:nvSpPr>
          <p:cNvPr id="5" name="Text 3"/>
          <p:cNvSpPr txBox="1"/>
          <p:nvPr/>
        </p:nvSpPr>
        <p:spPr>
          <a:xfrm>
            <a:off x="457200" y="13258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6" name="Text 4"/>
          <p:cNvSpPr txBox="1"/>
          <p:nvPr/>
        </p:nvSpPr>
        <p:spPr>
          <a:xfrm>
            <a:off x="914400" y="13075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All three shortlisted: all 9 December rules; no avoidable fatigue warning, fixed rota</a:t>
            </a:r>
            <a:endParaRPr lang="en-US" sz="1500" dirty="0"/>
          </a:p>
        </p:txBody>
      </p:sp>
      <p:sp>
        <p:nvSpPr>
          <p:cNvPr id="7" name="Shape 5"/>
          <p:cNvSpPr/>
          <p:nvPr/>
        </p:nvSpPr>
        <p:spPr>
          <a:xfrm>
            <a:off x="457200" y="1783080"/>
            <a:ext cx="292608" cy="292608"/>
          </a:xfrm>
          <a:prstGeom prst="ellipse">
            <a:avLst/>
          </a:prstGeom>
          <a:solidFill>
            <a:srgbClr val="1E7B4B"/>
          </a:solidFill>
          <a:ln w="12700">
            <a:solidFill>
              <a:srgbClr val="1E7B4B"/>
            </a:solidFill>
            <a:prstDash val="solid"/>
          </a:ln>
        </p:spPr>
      </p:sp>
      <p:sp>
        <p:nvSpPr>
          <p:cNvPr id="8" name="Text 6"/>
          <p:cNvSpPr txBox="1"/>
          <p:nvPr/>
        </p:nvSpPr>
        <p:spPr>
          <a:xfrm>
            <a:off x="457200" y="17830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9" name="Text 7"/>
          <p:cNvSpPr txBox="1"/>
          <p:nvPr/>
        </p:nvSpPr>
        <p:spPr>
          <a:xfrm>
            <a:off x="914400" y="17647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All three shortlisted: about 14 full weekends off a year (today 10), at most 5 apart</a:t>
            </a:r>
            <a:endParaRPr lang="en-US" sz="1500" dirty="0"/>
          </a:p>
        </p:txBody>
      </p:sp>
      <p:sp>
        <p:nvSpPr>
          <p:cNvPr id="10" name="Shape 8"/>
          <p:cNvSpPr/>
          <p:nvPr/>
        </p:nvSpPr>
        <p:spPr>
          <a:xfrm>
            <a:off x="457200" y="2240280"/>
            <a:ext cx="292608" cy="292608"/>
          </a:xfrm>
          <a:prstGeom prst="ellipse">
            <a:avLst/>
          </a:prstGeom>
          <a:solidFill>
            <a:srgbClr val="1E7B4B"/>
          </a:solidFill>
          <a:ln w="12700">
            <a:solidFill>
              <a:srgbClr val="1E7B4B"/>
            </a:solidFill>
            <a:prstDash val="solid"/>
          </a:ln>
        </p:spPr>
      </p:sp>
      <p:sp>
        <p:nvSpPr>
          <p:cNvPr id="11" name="Text 9"/>
          <p:cNvSpPr txBox="1"/>
          <p:nvPr/>
        </p:nvSpPr>
        <p:spPr>
          <a:xfrm>
            <a:off x="457200" y="22402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2" name="Text 10"/>
          <p:cNvSpPr txBox="1"/>
          <p:nvPr/>
        </p:nvSpPr>
        <p:spPr>
          <a:xfrm>
            <a:off x="914400" y="22219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All three shortlisted: no shift over 9 hours, and every closing shift shorter</a:t>
            </a:r>
            <a:endParaRPr lang="en-US" sz="1500" dirty="0"/>
          </a:p>
        </p:txBody>
      </p:sp>
      <p:sp>
        <p:nvSpPr>
          <p:cNvPr id="13" name="Shape 11"/>
          <p:cNvSpPr/>
          <p:nvPr/>
        </p:nvSpPr>
        <p:spPr>
          <a:xfrm>
            <a:off x="457200" y="2697480"/>
            <a:ext cx="292608" cy="292608"/>
          </a:xfrm>
          <a:prstGeom prst="ellipse">
            <a:avLst/>
          </a:prstGeom>
          <a:solidFill>
            <a:srgbClr val="1E7B4B"/>
          </a:solidFill>
          <a:ln w="12700">
            <a:solidFill>
              <a:srgbClr val="1E7B4B"/>
            </a:solidFill>
            <a:prstDash val="solid"/>
          </a:ln>
        </p:spPr>
      </p:sp>
      <p:sp>
        <p:nvSpPr>
          <p:cNvPr id="14" name="Text 12"/>
          <p:cNvSpPr txBox="1"/>
          <p:nvPr/>
        </p:nvSpPr>
        <p:spPr>
          <a:xfrm>
            <a:off x="457200" y="26974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5" name="Text 13"/>
          <p:cNvSpPr txBox="1"/>
          <p:nvPr/>
        </p:nvSpPr>
        <p:spPr>
          <a:xfrm>
            <a:off x="914400" y="26791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This one adds: the closest weekday fit, and no new Saturday time</a:t>
            </a:r>
            <a:endParaRPr lang="en-US" sz="1500" dirty="0"/>
          </a:p>
        </p:txBody>
      </p:sp>
      <p:sp>
        <p:nvSpPr>
          <p:cNvPr id="16" name="Shape 14"/>
          <p:cNvSpPr/>
          <p:nvPr/>
        </p:nvSpPr>
        <p:spPr>
          <a:xfrm>
            <a:off x="457200" y="3154680"/>
            <a:ext cx="292608" cy="292608"/>
          </a:xfrm>
          <a:prstGeom prst="ellipse">
            <a:avLst/>
          </a:prstGeom>
          <a:solidFill>
            <a:srgbClr val="1E7B4B"/>
          </a:solidFill>
          <a:ln w="12700">
            <a:solidFill>
              <a:srgbClr val="1E7B4B"/>
            </a:solidFill>
            <a:prstDash val="solid"/>
          </a:ln>
        </p:spPr>
      </p:sp>
      <p:sp>
        <p:nvSpPr>
          <p:cNvPr id="17" name="Text 15"/>
          <p:cNvSpPr txBox="1"/>
          <p:nvPr/>
        </p:nvSpPr>
        <p:spPr>
          <a:xfrm>
            <a:off x="457200" y="31546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8" name="Text 16"/>
          <p:cNvSpPr txBox="1"/>
          <p:nvPr/>
        </p:nvSpPr>
        <p:spPr>
          <a:xfrm>
            <a:off x="914400" y="31363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9 of 15 shift times worked today; 6 new, four shorter versions of today’s lates</a:t>
            </a:r>
            <a:endParaRPr lang="en-US" sz="1500" dirty="0"/>
          </a:p>
        </p:txBody>
      </p:sp>
      <p:sp>
        <p:nvSpPr>
          <p:cNvPr id="19" name="Shape 17"/>
          <p:cNvSpPr/>
          <p:nvPr/>
        </p:nvSpPr>
        <p:spPr>
          <a:xfrm>
            <a:off x="457200" y="3611880"/>
            <a:ext cx="292608" cy="292608"/>
          </a:xfrm>
          <a:prstGeom prst="ellipse">
            <a:avLst/>
          </a:prstGeom>
          <a:solidFill>
            <a:srgbClr val="A15C00"/>
          </a:solidFill>
          <a:ln w="12700">
            <a:solidFill>
              <a:srgbClr val="A15C00"/>
            </a:solidFill>
            <a:prstDash val="solid"/>
          </a:ln>
        </p:spPr>
      </p:sp>
      <p:sp>
        <p:nvSpPr>
          <p:cNvPr id="20" name="Text 18"/>
          <p:cNvSpPr txBox="1"/>
          <p:nvPr/>
        </p:nvSpPr>
        <p:spPr>
          <a:xfrm>
            <a:off x="457200" y="36118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21" name="Text 19"/>
          <p:cNvSpPr txBox="1"/>
          <p:nvPr/>
        </p:nvSpPr>
        <p:spPr>
          <a:xfrm>
            <a:off x="914400" y="35935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Costs: 20 weekday earlies a year over 8h 30m; four weeks off 15 days, not 14</a:t>
            </a:r>
            <a:endParaRPr lang="en-US" sz="15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Late finishes: 42 a year each (today 39) — the rules’ minimum. The colleague deck shows every cost openly.</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Short Run · December 2026 link proposal · for managers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What colleagues will notice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good and the not so good — the colleague presentation shows both</a:t>
            </a:r>
            <a:endParaRPr lang="en-US" sz="1500" dirty="0"/>
          </a:p>
        </p:txBody>
      </p:sp>
      <p:sp>
        <p:nvSpPr>
          <p:cNvPr id="4" name="Shape 2"/>
          <p:cNvSpPr/>
          <p:nvPr/>
        </p:nvSpPr>
        <p:spPr>
          <a:xfrm>
            <a:off x="457200" y="1325880"/>
            <a:ext cx="4023360" cy="2697480"/>
          </a:xfrm>
          <a:prstGeom prst="roundRect">
            <a:avLst>
              <a:gd name="adj" fmla="val 3390"/>
            </a:avLst>
          </a:prstGeom>
          <a:solidFill>
            <a:srgbClr val="EEF2F7"/>
          </a:solidFill>
          <a:ln w="12700">
            <a:solidFill>
              <a:srgbClr val="EEF2F7"/>
            </a:solidFill>
            <a:prstDash val="solid"/>
          </a:ln>
        </p:spPr>
      </p:sp>
      <p:sp>
        <p:nvSpPr>
          <p:cNvPr id="5" name="Shape 3"/>
          <p:cNvSpPr/>
          <p:nvPr/>
        </p:nvSpPr>
        <p:spPr>
          <a:xfrm>
            <a:off x="457200" y="1325880"/>
            <a:ext cx="73152" cy="2697480"/>
          </a:xfrm>
          <a:prstGeom prst="rect">
            <a:avLst/>
          </a:prstGeom>
          <a:solidFill>
            <a:srgbClr val="1E7B4B"/>
          </a:solidFill>
          <a:ln w="12700">
            <a:solidFill>
              <a:srgbClr val="1E7B4B"/>
            </a:solidFill>
            <a:prstDash val="solid"/>
          </a:ln>
        </p:spPr>
      </p:sp>
      <p:sp>
        <p:nvSpPr>
          <p:cNvPr id="6" name="Text 4"/>
          <p:cNvSpPr txBox="1"/>
          <p:nvPr/>
        </p:nvSpPr>
        <p:spPr>
          <a:xfrm>
            <a:off x="731520" y="1463040"/>
            <a:ext cx="3566160" cy="365760"/>
          </a:xfrm>
          <a:prstGeom prst="rect">
            <a:avLst/>
          </a:prstGeom>
          <a:noFill/>
          <a:ln/>
        </p:spPr>
        <p:txBody>
          <a:bodyPr wrap="square" lIns="0" tIns="0" rIns="0" bIns="0" rtlCol="0" anchor="ctr"/>
          <a:lstStyle/>
          <a:p>
            <a:pPr indent="0" marL="0">
              <a:buNone/>
            </a:pPr>
            <a:r>
              <a:rPr lang="en-US" sz="1600" b="1" dirty="0">
                <a:solidFill>
                  <a:srgbClr val="1E7B4B"/>
                </a:solidFill>
                <a:latin typeface="Inter" pitchFamily="34" charset="0"/>
                <a:ea typeface="Inter" pitchFamily="34" charset="-122"/>
                <a:cs typeface="Inter" pitchFamily="34" charset="-120"/>
              </a:rPr>
              <a:t>Likely to welcome</a:t>
            </a:r>
            <a:endParaRPr lang="en-US" sz="1600" dirty="0"/>
          </a:p>
        </p:txBody>
      </p:sp>
      <p:sp>
        <p:nvSpPr>
          <p:cNvPr id="7" name="Text 5"/>
          <p:cNvSpPr txBox="1"/>
          <p:nvPr/>
        </p:nvSpPr>
        <p:spPr>
          <a:xfrm>
            <a:off x="731520" y="1901952"/>
            <a:ext cx="3657600" cy="2011680"/>
          </a:xfrm>
          <a:prstGeom prst="rect">
            <a:avLst/>
          </a:prstGeom>
          <a:noFill/>
          <a:ln/>
        </p:spPr>
        <p:txBody>
          <a:bodyPr wrap="square" lIns="0" tIns="0" rIns="0" bIns="0" rtlCol="0" anchor="t"/>
          <a:lstStyle/>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14 full weekends off a year (today 10)</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At most 5 days in a row, fixed rota (today 7)</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One turn in 18 of 21 weeks (today 7 of 16)</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Every closing shift 30–45 minutes shorter</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9 of the 15 shift times already worked</a:t>
            </a:r>
            <a:endParaRPr lang="en-US" sz="1300" dirty="0"/>
          </a:p>
        </p:txBody>
      </p:sp>
      <p:sp>
        <p:nvSpPr>
          <p:cNvPr id="8" name="Shape 6"/>
          <p:cNvSpPr/>
          <p:nvPr/>
        </p:nvSpPr>
        <p:spPr>
          <a:xfrm>
            <a:off x="4663440" y="1325880"/>
            <a:ext cx="4023360" cy="2697480"/>
          </a:xfrm>
          <a:prstGeom prst="roundRect">
            <a:avLst>
              <a:gd name="adj" fmla="val 3390"/>
            </a:avLst>
          </a:prstGeom>
          <a:solidFill>
            <a:srgbClr val="EEF2F7"/>
          </a:solidFill>
          <a:ln w="12700">
            <a:solidFill>
              <a:srgbClr val="EEF2F7"/>
            </a:solidFill>
            <a:prstDash val="solid"/>
          </a:ln>
        </p:spPr>
      </p:sp>
      <p:sp>
        <p:nvSpPr>
          <p:cNvPr id="9" name="Shape 7"/>
          <p:cNvSpPr/>
          <p:nvPr/>
        </p:nvSpPr>
        <p:spPr>
          <a:xfrm>
            <a:off x="4663440" y="1325880"/>
            <a:ext cx="73152" cy="2697480"/>
          </a:xfrm>
          <a:prstGeom prst="rect">
            <a:avLst/>
          </a:prstGeom>
          <a:solidFill>
            <a:srgbClr val="A15C00"/>
          </a:solidFill>
          <a:ln w="12700">
            <a:solidFill>
              <a:srgbClr val="A15C00"/>
            </a:solidFill>
            <a:prstDash val="solid"/>
          </a:ln>
        </p:spPr>
      </p:sp>
      <p:sp>
        <p:nvSpPr>
          <p:cNvPr id="10" name="Text 8"/>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600" b="1" dirty="0">
                <a:solidFill>
                  <a:srgbClr val="A15C00"/>
                </a:solidFill>
                <a:latin typeface="Inter" pitchFamily="34" charset="0"/>
                <a:ea typeface="Inter" pitchFamily="34" charset="-122"/>
                <a:cs typeface="Inter" pitchFamily="34" charset="-120"/>
              </a:rPr>
              <a:t>Likely to worry about</a:t>
            </a:r>
            <a:endParaRPr lang="en-US" sz="1600" dirty="0"/>
          </a:p>
        </p:txBody>
      </p:sp>
      <p:sp>
        <p:nvSpPr>
          <p:cNvPr id="11" name="Text 9"/>
          <p:cNvSpPr txBox="1"/>
          <p:nvPr/>
        </p:nvSpPr>
        <p:spPr>
          <a:xfrm>
            <a:off x="4937760" y="1901952"/>
            <a:ext cx="3657600" cy="2011680"/>
          </a:xfrm>
          <a:prstGeom prst="rect">
            <a:avLst/>
          </a:prstGeom>
          <a:noFill/>
          <a:ln/>
        </p:spPr>
        <p:txBody>
          <a:bodyPr wrap="square" lIns="0" tIns="0" rIns="0" bIns="0" rtlCol="0" anchor="t"/>
          <a:lstStyle/>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Late finishes: 42 a year (today 39)</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6 new shift times to learn</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A longer weekday early, 9h 00m</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Best 14-day leave stretch 28 days, not 30</a:t>
            </a:r>
            <a:endParaRPr lang="en-US" sz="1300" dirty="0"/>
          </a:p>
          <a:p>
            <a:pPr marL="152400" indent="-152400">
              <a:spcAft>
                <a:spcPts val="1000"/>
              </a:spcAft>
              <a:buSzPct val="100000"/>
              <a:buFont typeface="Inter" pitchFamily="34" charset="0"/>
              <a:buChar char="•"/>
            </a:pPr>
            <a:r>
              <a:rPr lang="en-US" sz="1300" dirty="0">
                <a:solidFill>
                  <a:srgbClr val="1B2533"/>
                </a:solidFill>
                <a:latin typeface="Inter" pitchFamily="34" charset="0"/>
                <a:ea typeface="Inter" pitchFamily="34" charset="-122"/>
                <a:cs typeface="Inter" pitchFamily="34" charset="-120"/>
              </a:rPr>
              <a:t>Four weeks off needs 15 days’ leave, not 14</a:t>
            </a:r>
            <a:endParaRPr lang="en-US" sz="1300" dirty="0"/>
          </a:p>
        </p:txBody>
      </p:sp>
      <p:sp>
        <p:nvSpPr>
          <p:cNvPr id="12"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3"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Expect late finishes to be the first question — the colleague deck answers it openly.</a:t>
            </a:r>
            <a:endParaRPr lang="en-US" sz="1400" dirty="0"/>
          </a:p>
        </p:txBody>
      </p:sp>
      <p:sp>
        <p:nvSpPr>
          <p:cNvPr id="14"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Short Run · December 2026 link proposal · for managers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Where it stands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Three things confirmed verbally, two decisions left, two points still open</a:t>
            </a:r>
            <a:endParaRPr lang="en-US" sz="1500" dirty="0"/>
          </a:p>
        </p:txBody>
      </p:sp>
      <p:sp>
        <p:nvSpPr>
          <p:cNvPr id="4" name="Shape 2"/>
          <p:cNvSpPr/>
          <p:nvPr/>
        </p:nvSpPr>
        <p:spPr>
          <a:xfrm>
            <a:off x="457200" y="1325880"/>
            <a:ext cx="457200" cy="457200"/>
          </a:xfrm>
          <a:prstGeom prst="ellipse">
            <a:avLst/>
          </a:prstGeom>
          <a:solidFill>
            <a:srgbClr val="1E7B4B"/>
          </a:solidFill>
          <a:ln w="12700">
            <a:solidFill>
              <a:srgbClr val="1E7B4B"/>
            </a:solidFill>
            <a:prstDash val="solid"/>
          </a:ln>
        </p:spPr>
      </p:sp>
      <p:sp>
        <p:nvSpPr>
          <p:cNvPr id="5" name="Text 3"/>
          <p:cNvSpPr txBox="1"/>
          <p:nvPr/>
        </p:nvSpPr>
        <p:spPr>
          <a:xfrm>
            <a:off x="457200" y="1325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6" name="Text 4"/>
          <p:cNvSpPr txBox="1"/>
          <p:nvPr/>
        </p:nvSpPr>
        <p:spPr>
          <a:xfrm>
            <a:off x="1097280" y="128930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December rules — confirmed</a:t>
            </a:r>
            <a:endParaRPr lang="en-US" sz="1600" dirty="0"/>
          </a:p>
        </p:txBody>
      </p:sp>
      <p:sp>
        <p:nvSpPr>
          <p:cNvPr id="7" name="Text 5"/>
          <p:cNvSpPr txBox="1"/>
          <p:nvPr/>
        </p:nvSpPr>
        <p:spPr>
          <a:xfrm>
            <a:off x="1097280" y="157276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The nine December rules. Everything here is built on them.</a:t>
            </a:r>
            <a:endParaRPr lang="en-US" sz="1300" dirty="0"/>
          </a:p>
        </p:txBody>
      </p:sp>
      <p:sp>
        <p:nvSpPr>
          <p:cNvPr id="8" name="Shape 6"/>
          <p:cNvSpPr/>
          <p:nvPr/>
        </p:nvSpPr>
        <p:spPr>
          <a:xfrm>
            <a:off x="457200" y="1874520"/>
            <a:ext cx="457200" cy="457200"/>
          </a:xfrm>
          <a:prstGeom prst="ellipse">
            <a:avLst/>
          </a:prstGeom>
          <a:solidFill>
            <a:srgbClr val="1E7B4B"/>
          </a:solidFill>
          <a:ln w="12700">
            <a:solidFill>
              <a:srgbClr val="1E7B4B"/>
            </a:solidFill>
            <a:prstDash val="solid"/>
          </a:ln>
        </p:spPr>
      </p:sp>
      <p:sp>
        <p:nvSpPr>
          <p:cNvPr id="9" name="Text 7"/>
          <p:cNvSpPr txBox="1"/>
          <p:nvPr/>
        </p:nvSpPr>
        <p:spPr>
          <a:xfrm>
            <a:off x="457200" y="1874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0" name="Text 8"/>
          <p:cNvSpPr txBox="1"/>
          <p:nvPr/>
        </p:nvSpPr>
        <p:spPr>
          <a:xfrm>
            <a:off x="1097280" y="183794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26 people on the link — confirmed</a:t>
            </a:r>
            <a:endParaRPr lang="en-US" sz="1600" dirty="0"/>
          </a:p>
        </p:txBody>
      </p:sp>
      <p:sp>
        <p:nvSpPr>
          <p:cNvPr id="11" name="Text 9"/>
          <p:cNvSpPr txBox="1"/>
          <p:nvPr/>
        </p:nvSpPr>
        <p:spPr>
          <a:xfrm>
            <a:off x="1097280" y="212140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Six more than today, with five cover weeks.</a:t>
            </a:r>
            <a:endParaRPr lang="en-US" sz="1300" dirty="0"/>
          </a:p>
        </p:txBody>
      </p:sp>
      <p:sp>
        <p:nvSpPr>
          <p:cNvPr id="12" name="Shape 10"/>
          <p:cNvSpPr/>
          <p:nvPr/>
        </p:nvSpPr>
        <p:spPr>
          <a:xfrm>
            <a:off x="457200" y="2423160"/>
            <a:ext cx="457200" cy="457200"/>
          </a:xfrm>
          <a:prstGeom prst="ellipse">
            <a:avLst/>
          </a:prstGeom>
          <a:solidFill>
            <a:srgbClr val="1E7B4B"/>
          </a:solidFill>
          <a:ln w="12700">
            <a:solidFill>
              <a:srgbClr val="1E7B4B"/>
            </a:solidFill>
            <a:prstDash val="solid"/>
          </a:ln>
        </p:spPr>
      </p:sp>
      <p:sp>
        <p:nvSpPr>
          <p:cNvPr id="13" name="Text 11"/>
          <p:cNvSpPr txBox="1"/>
          <p:nvPr/>
        </p:nvSpPr>
        <p:spPr>
          <a:xfrm>
            <a:off x="457200" y="2423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4" name="Text 12"/>
          <p:cNvSpPr txBox="1"/>
          <p:nvPr/>
        </p:nvSpPr>
        <p:spPr>
          <a:xfrm>
            <a:off x="1097280" y="238658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Sunday cover — confirmed</a:t>
            </a:r>
            <a:endParaRPr lang="en-US" sz="1600" dirty="0"/>
          </a:p>
        </p:txBody>
      </p:sp>
      <p:sp>
        <p:nvSpPr>
          <p:cNvPr id="15" name="Text 13"/>
          <p:cNvSpPr txBox="1"/>
          <p:nvPr/>
        </p:nvSpPr>
        <p:spPr>
          <a:xfrm>
            <a:off x="1097280" y="267004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Ten on a Sunday — Sunday work stays overtime.</a:t>
            </a:r>
            <a:endParaRPr lang="en-US" sz="1300" dirty="0"/>
          </a:p>
        </p:txBody>
      </p:sp>
      <p:sp>
        <p:nvSpPr>
          <p:cNvPr id="16" name="Shape 14"/>
          <p:cNvSpPr/>
          <p:nvPr/>
        </p:nvSpPr>
        <p:spPr>
          <a:xfrm>
            <a:off x="457200" y="2971800"/>
            <a:ext cx="457200" cy="457200"/>
          </a:xfrm>
          <a:prstGeom prst="ellipse">
            <a:avLst/>
          </a:prstGeom>
          <a:solidFill>
            <a:srgbClr val="F5C800"/>
          </a:solidFill>
          <a:ln w="12700">
            <a:solidFill>
              <a:srgbClr val="F5C800"/>
            </a:solidFill>
            <a:prstDash val="solid"/>
          </a:ln>
        </p:spPr>
      </p:sp>
      <p:sp>
        <p:nvSpPr>
          <p:cNvPr id="17" name="Text 15"/>
          <p:cNvSpPr txBox="1"/>
          <p:nvPr/>
        </p:nvSpPr>
        <p:spPr>
          <a:xfrm>
            <a:off x="457200" y="297180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18" name="Text 16"/>
          <p:cNvSpPr txBox="1"/>
          <p:nvPr/>
        </p:nvSpPr>
        <p:spPr>
          <a:xfrm>
            <a:off x="1097280" y="29352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To decide: which link we use</a:t>
            </a:r>
            <a:endParaRPr lang="en-US" sz="1600" dirty="0"/>
          </a:p>
        </p:txBody>
      </p:sp>
      <p:sp>
        <p:nvSpPr>
          <p:cNvPr id="19" name="Text 17"/>
          <p:cNvSpPr txBox="1"/>
          <p:nvPr/>
        </p:nvSpPr>
        <p:spPr>
          <a:xfrm>
            <a:off x="1097280" y="32186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Colleagues’ views come first.</a:t>
            </a:r>
            <a:endParaRPr lang="en-US" sz="1300" dirty="0"/>
          </a:p>
        </p:txBody>
      </p:sp>
      <p:sp>
        <p:nvSpPr>
          <p:cNvPr id="20" name="Shape 18"/>
          <p:cNvSpPr/>
          <p:nvPr/>
        </p:nvSpPr>
        <p:spPr>
          <a:xfrm>
            <a:off x="457200" y="3520440"/>
            <a:ext cx="457200" cy="457200"/>
          </a:xfrm>
          <a:prstGeom prst="ellipse">
            <a:avLst/>
          </a:prstGeom>
          <a:solidFill>
            <a:srgbClr val="F5C800"/>
          </a:solidFill>
          <a:ln w="12700">
            <a:solidFill>
              <a:srgbClr val="F5C800"/>
            </a:solidFill>
            <a:prstDash val="solid"/>
          </a:ln>
        </p:spPr>
      </p:sp>
      <p:sp>
        <p:nvSpPr>
          <p:cNvPr id="21" name="Text 19"/>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22" name="Text 20"/>
          <p:cNvSpPr txBox="1"/>
          <p:nvPr/>
        </p:nvSpPr>
        <p:spPr>
          <a:xfrm>
            <a:off x="1097280" y="348386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Then: who starts on which line</a:t>
            </a:r>
            <a:endParaRPr lang="en-US" sz="1600" dirty="0"/>
          </a:p>
        </p:txBody>
      </p:sp>
      <p:sp>
        <p:nvSpPr>
          <p:cNvPr id="23" name="Text 21"/>
          <p:cNvSpPr txBox="1"/>
          <p:nvPr/>
        </p:nvSpPr>
        <p:spPr>
          <a:xfrm>
            <a:off x="1097280" y="376732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Who begins on which week. Open: the 13-day limit’s written source; the FF19 reading.</a:t>
            </a:r>
            <a:endParaRPr lang="en-US" sz="1300" dirty="0"/>
          </a:p>
        </p:txBody>
      </p:sp>
      <p:sp>
        <p:nvSpPr>
          <p:cNvPr id="25" name="Banner"/>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6" name="Banner text"/>
          <p:cNvSpPr txBox="1"/>
          <p:nvPr/>
        </p:nvSpPr>
        <p:spPr>
          <a:xfrm>
            <a:off x="640080" y="4160520"/>
            <a:ext cx="7863840" cy="548640"/>
          </a:xfrm>
          <a:prstGeom prst="rect">
            <a:avLst/>
          </a:prstGeom>
          <a:noFill/>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Colleagues’ views come first; the link is chosen after them, then who starts where.</a:t>
            </a:r>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Short Run · December 2026 link proposal · for managers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The detail</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203200" indent="-203200">
              <a:spcAft>
                <a:spcPts val="800"/>
              </a:spcAft>
              <a:buSzPct val="100000"/>
              <a:buFont typeface="Inter" pitchFamily="34" charset="0"/>
              <a:buChar char="•"/>
            </a:pPr>
            <a:r>
              <a:rPr lang="en-US" sz="1800" dirty="0">
                <a:solidFill>
                  <a:srgbClr val="FFFFFF"/>
                </a:solidFill>
                <a:latin typeface="Inter" pitchFamily="34" charset="0"/>
                <a:ea typeface="Inter" pitchFamily="34" charset="-122"/>
                <a:cs typeface="Inter" pitchFamily="34" charset="-120"/>
              </a:rPr>
              <a:t>Every week of the link, day by day</a:t>
            </a:r>
            <a:endParaRPr lang="en-US" sz="1800" dirty="0"/>
          </a:p>
          <a:p>
            <a:pPr marL="203200" indent="-203200">
              <a:spcAft>
                <a:spcPts val="800"/>
              </a:spcAft>
              <a:buSzPct val="100000"/>
              <a:buFont typeface="Inter" pitchFamily="34" charset="0"/>
              <a:buChar char="•"/>
            </a:pPr>
            <a:r>
              <a:rPr lang="en-US" sz="1800" dirty="0">
                <a:solidFill>
                  <a:srgbClr val="FFFFFF"/>
                </a:solidFill>
                <a:latin typeface="Inter" pitchFamily="34" charset="0"/>
                <a:ea typeface="Inter" pitchFamily="34" charset="-122"/>
                <a:cs typeface="Inter" pitchFamily="34" charset="-120"/>
              </a:rPr>
              <a:t>Staff on duty hour by hour, against the trains</a:t>
            </a:r>
            <a:endParaRPr lang="en-US" sz="1800" dirty="0"/>
          </a:p>
          <a:p>
            <a:pPr marL="203200" indent="-203200">
              <a:spcAft>
                <a:spcPts val="800"/>
              </a:spcAft>
              <a:buSzPct val="100000"/>
              <a:buFont typeface="Inter" pitchFamily="34" charset="0"/>
              <a:buChar char="•"/>
            </a:pPr>
            <a:r>
              <a:rPr lang="en-US" sz="1800" dirty="0">
                <a:solidFill>
                  <a:srgbClr val="FFFFFF"/>
                </a:solidFill>
                <a:latin typeface="Inter" pitchFamily="34" charset="0"/>
                <a:ea typeface="Inter" pitchFamily="34" charset="-122"/>
                <a:cs typeface="Inter" pitchFamily="34" charset="-120"/>
              </a:rPr>
              <a:t>Every December rule and fatigue check, worked through</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300" dirty="0">
                <a:solidFill>
                  <a:srgbClr val="F5C800"/>
                </a:solidFill>
                <a:latin typeface="Inter" pitchFamily="34" charset="0"/>
                <a:ea typeface="Inter" pitchFamily="34" charset="-122"/>
                <a:cs typeface="Inter" pitchFamily="34" charset="-120"/>
              </a:rPr>
              <a:t>All in the eight-page proposal sheet · Short Run · SR-26-F1</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Short Run — the December 2026 CEA link, for managers</dc:title>
  <dc:subject>PptxGenJS Presentation</dc:subject>
  <dc:creator>PptxGenJS</dc:creator>
  <cp:lastModifiedBy>PptxGenJS</cp:lastModifiedBy>
  <cp:revision>1</cp:revision>
  <dcterms:created xsi:type="dcterms:W3CDTF">2026-09-30T09:26:59Z</dcterms:created>
  <dcterms:modified xsi:type="dcterms:W3CDTF">2026-09-30T09:26:59Z</dcterms:modified>
</cp:coreProperties>
</file>