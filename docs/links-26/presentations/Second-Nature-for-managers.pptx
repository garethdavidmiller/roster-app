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Second Nature</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29.1</c:v>
                </c:pt>
                <c:pt idx="1">
                  <c:v>12.7</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Second Nature meets all three. It also stays under the ceiling of 219 contracted days a year agreed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Second Nature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 Three to the close every day is the minimum, and Second Nature rosters exactly that, which is what keeps its late finishes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Against today’s link, Second Nature’s score is a little over half on weekdays, about a fifth on a Saturday and about two-fifths on a Sunday; lower is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25h 30m to 43h 40m;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not from Second Nature — any link that meets the rules needs them. The 26-week link, its five cover weeks and the ceiling of 219 contracted days a year were agreed on 1 October 2026; Second Nature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staffing rule, and like Familiar Nine it was built to keep the shift times people already work wherever that cost little — nine of its fifteen are worked today, and none on a Saturday is new. The honest cost is late finishes, and it is the smallest one possible: the December staffing needs three to the close every day, and in Second Nature only those three finish after 23:00, so finishes at 23:00 or later go from about 39 to 42 a year each. Every closing shift is 30 to 45 minutes shorter. Six shift times are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agreed on 1 October 2026. Late finishes average about three more a year each, all of them from the December staffing — three to the close every day, where today’s weekdays have two — so no link meeting the same rules on 26 weeks could have fewer. Full weekends off fall unevenly: seven in 26, but up to ten weeks apart. The average shift is two minutes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Second Nature</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SN-26-F2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9436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 rules met</a:t>
            </a:r>
            <a:endParaRPr lang="en-US" sz="1500" dirty="0"/>
          </a:p>
        </p:txBody>
      </p:sp>
      <p:sp>
        <p:nvSpPr>
          <p:cNvPr id="7" name="Text 5"/>
          <p:cNvSpPr txBox="1"/>
          <p:nvPr/>
        </p:nvSpPr>
        <p:spPr>
          <a:xfrm>
            <a:off x="59436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9748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 rostered exactly, on average</a:t>
            </a:r>
            <a:endParaRPr lang="en-US" sz="1500" dirty="0"/>
          </a:p>
        </p:txBody>
      </p:sp>
      <p:sp>
        <p:nvSpPr>
          <p:cNvPr id="11" name="Text 9"/>
          <p:cNvSpPr txBox="1"/>
          <p:nvPr/>
        </p:nvSpPr>
        <p:spPr>
          <a:xfrm>
            <a:off x="269748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Monday to Saturday</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80060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 fatigue warnings</a:t>
            </a:r>
            <a:endParaRPr lang="en-US" sz="1500" dirty="0"/>
          </a:p>
        </p:txBody>
      </p:sp>
      <p:sp>
        <p:nvSpPr>
          <p:cNvPr id="15" name="Text 13"/>
          <p:cNvSpPr txBox="1"/>
          <p:nvPr/>
        </p:nvSpPr>
        <p:spPr>
          <a:xfrm>
            <a:off x="480060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in the 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90372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 on the link</a:t>
            </a:r>
            <a:endParaRPr lang="en-US" sz="1500" dirty="0"/>
          </a:p>
        </p:txBody>
      </p:sp>
      <p:sp>
        <p:nvSpPr>
          <p:cNvPr id="19" name="Text 17"/>
          <p:cNvSpPr txBox="1"/>
          <p:nvPr/>
        </p:nvSpPr>
        <p:spPr>
          <a:xfrm>
            <a:off x="690372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CEA link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297680" y="18013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492240" y="18013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297680" y="22585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492240" y="22585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297680" y="27157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492240" y="27157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 5 · 5</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297680" y="31729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492240" y="31729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297680" y="36301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492240" y="36301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CEA link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on weekdays, Saturday and Sunday.</a:t>
            </a:r>
            <a:endParaRPr lang="en-US" sz="1400" dirty="0"/>
          </a:p>
        </p:txBody>
      </p:sp>
      <p:sp>
        <p:nvSpPr>
          <p:cNvPr id="7" name="Text 4"/>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A measure of the day’s shape only — not a staffing requirement or a passenger forecast.</a:t>
            </a:r>
            <a:endParaRPr lang="en-US" sz="85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CEA link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1 week in 5</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 1 week in 5</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 Sundays still rely on overtime.</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CEA link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Nature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Early starts and a weekly rotation come with every link, so are not counted. The written source of the 13-day limit is still to be confirmed.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CEA link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Second Nature?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It meets the brief with the fewest late finishes the rules allow</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Meets all 9 December rules, and all 3 flexible ones</a:t>
            </a:r>
            <a:endParaRPr lang="en-US" sz="1500" dirty="0"/>
          </a:p>
        </p:txBody>
      </p:sp>
      <p:sp>
        <p:nvSpPr>
          <p:cNvPr id="7" name="Shape 5"/>
          <p:cNvSpPr/>
          <p:nvPr/>
        </p:nvSpPr>
        <p:spPr>
          <a:xfrm>
            <a:off x="457200" y="1728216"/>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28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09928"/>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Seven full weekends off in 26 weeks — today four in 20</a:t>
            </a:r>
            <a:endParaRPr lang="en-US" sz="1500" dirty="0"/>
          </a:p>
        </p:txBody>
      </p:sp>
      <p:sp>
        <p:nvSpPr>
          <p:cNvPr id="10" name="Shape 8"/>
          <p:cNvSpPr/>
          <p:nvPr/>
        </p:nvSpPr>
        <p:spPr>
          <a:xfrm>
            <a:off x="457200" y="2130552"/>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1305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112264"/>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Never more than 6 days in a row — today 7</a:t>
            </a:r>
            <a:endParaRPr lang="en-US" sz="1500" dirty="0"/>
          </a:p>
        </p:txBody>
      </p:sp>
      <p:sp>
        <p:nvSpPr>
          <p:cNvPr id="13" name="Shape 11"/>
          <p:cNvSpPr/>
          <p:nvPr/>
        </p:nvSpPr>
        <p:spPr>
          <a:xfrm>
            <a:off x="457200" y="2532888"/>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532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514600"/>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9 of its 15 shift times are worked today</a:t>
            </a:r>
            <a:endParaRPr lang="en-US" sz="1500" dirty="0"/>
          </a:p>
        </p:txBody>
      </p:sp>
      <p:sp>
        <p:nvSpPr>
          <p:cNvPr id="16" name="Shape 14"/>
          <p:cNvSpPr/>
          <p:nvPr/>
        </p:nvSpPr>
        <p:spPr>
          <a:xfrm>
            <a:off x="457200" y="2935224"/>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29352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2916936"/>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shift over 9 hours, and every closing shift is shorter</a:t>
            </a:r>
            <a:endParaRPr lang="en-US" sz="1500" dirty="0"/>
          </a:p>
        </p:txBody>
      </p:sp>
      <p:sp>
        <p:nvSpPr>
          <p:cNvPr id="19" name="Shape 17"/>
          <p:cNvSpPr/>
          <p:nvPr/>
        </p:nvSpPr>
        <p:spPr>
          <a:xfrm>
            <a:off x="457200" y="333756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31927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avoidable fatigue warnings in the fixed rota</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trade-off: three more late finishes a year each (42, today 39) — the rules’ minimum.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CEA link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Weekends off: 7 in 26 (today 4 in 20)</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At most 6 days in a row (today 7)</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Every closing shift 30–45 minutes shorter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9 of the 15 shift times already worked</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Shortest rest 14h 20m (today 12h 30m)</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Late finishes: 42 a year (today 39)</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6 new shift times to learn</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Weekends off up to 10 weeks apart</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Four weeks off takes 15 days’ leave at best,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CEA link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(29 Sep and 1 Oct 2026), two decisions left</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96596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9293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2128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60604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5694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8529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324612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324612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32095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4930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88620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8496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41330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of the link.</a:t>
            </a:r>
            <a:endParaRPr lang="en-US" sz="13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Nature · December 2026 CEA link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Second Nature · SN-26-F2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Nature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