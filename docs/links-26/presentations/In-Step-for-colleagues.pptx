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Lst>
  <p:notesMasterIdLst>
    <p:notesMasterId r:id="rId17"/>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notesMaster" Target="notesMasters/notesMaster1.xml"/><Relationship Id="rId18" Type="http://schemas.openxmlformats.org/officeDocument/2006/relationships/presProps" Target="presProps.xml"/><Relationship Id="rId19" Type="http://schemas.openxmlformats.org/officeDocument/2006/relationships/viewProps" Target="viewProps.xml"/><Relationship Id="rId20" Type="http://schemas.openxmlformats.org/officeDocument/2006/relationships/theme" Target="theme/theme1.xml"/><Relationship Id="rId2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Thank the room. Say straight away this is a proposal, not a decision. The aim tonight is to answer the questions people actually ask about a new link: will I work more, will my shifts be longer, will I know the times, what happens to my weekends and my leave. Every number in these slides comes from the rota calculations and has been independently checked; the slides themselves present those results by hand.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whole pitch on one slide. Same 35-hour week as now. Never more than five days in a row on the fixed rota — six at most when a cover week falls badly, where today it is seven and can reach nine. Seven full weekends off in every 26 weeks, against four in 20 today, and never more than five weeks apart — though each person works about two more Saturdays a year. Every week is all earlies or all lates, and 18 of the 21 working weeks keep one shift time Monday to Friday. Nine of the fifteen shift times are ones people already work, today’s 13:45 finish among them. And every closing shift is shorter: the weekday closer by 30 minutes, the Saturday closer by an hour and the Sunday closer by 45 minutes. Say the leave cost here too, before anyone asks: four full weeks off, Sunday to Saturday, takes 15 days’ leave rather than 14, and the best 14-day stretch is 28 days off rather than 30; the average is the same and the worst a day better. A cover week is one of the five weeks in 26 with no fixed shifts: its four duties are placed later to cover leave and sickness; the fixed rota is the other 21 weeks, whose shifts are set.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change is coming whatever we do: the December 2026 timetable and the new staffing levels mean the link has to be redrawn. The question is which version we want. The staffing levels and the Sunday cover were confirmed verbally on 29 September 2026, and the 26-person link, its five cover weeks and a ceiling of 219 contracted days a year on 1 October 2026: nine rules the proposal is scored on. Fourteen on a Saturday is one of three flexible aims, worked towards but not scored.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Monday to Saturday, counting a cover week as four days worked, the same way the clerks do. Sundays are overtime by agreement, so they are not in these figures, today’s or In Step’s. Exactly, In Step works out at 218.6 days a year: just under today’s 219, which is also the most the 26-week link is allowed (agreed 1 October 2026). The average shift is about two minutes longer, which is on slide 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Basic pay follows the 35-hour week, which does not change; overtime and premium duties vary person to person. The Saturday and Sunday counts are the link’s fixed duties and leave out anything later given in a cover week. Saturdays in the contract are paid at time and a quarter, and on average a person is rostered about 28 a year instead of 26. Sundays stay overtime: 10 a week shared among 26 people instead of 8 among 20, so about the same each (20 a year, against 21). These are averages across the whole link — your own depends on which line you start on — and they are not a payslip; the Pay Calculator in the app does that. The yearly figures are averages from the fixed rota; a cover week’s duties are not known yet and are left out.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Lead with the closers: they are the shifts people dislike most, and every one of them is shorter. Weekday 15:45 to 23:55 instead of 15:15 (8h 10m, not 8h 40m); Saturday 15:45 too, instead of 14:45 (8h 10m, not 9h 10m); Sunday 15:15 to 23:25 instead of 14:30 (8h 10m, not 8h 55m). Some earlies go the other way: two new weekday earlies, 06:20–15:15 and 07:00–15:45, are 8h 55m and 8h 45m — about 40 a year each — where no early today is longer than 8h 30m. Be upfront about the two minutes on the average: the 26-week link may have no more than 219 contracted days a year, so the same 35 hours go into slightly fewer, slightly longer shifts. Nothing runs over 9 hours.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 straight about this one. About three more a year each finish at 23:00 or later, and all of that comes from the December rules: three on duty to the close every day, where today’s weekdays have two. With In Step the only people who finish after 23:00 are those three closers, so no link that meets the rules on 26 weeks can have fewer. Finishes at 22:00 or later go up more, from 78 to 94 a year: the rules also want five still on duty after 22:00, and two weekday lates finish at 22:30 with the ticket office. Early 06:20 starts hardly change. And because the shortest gap between two shifts is 14h 35m, nobody finishes late and starts early the next morning. The yearly figures are averages from the fixed rota; a cover week’s duties are not known yet and are left out.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 Step was built keeping the times people already work wherever that cost little. Nine of its fifteen are worked today, and it uses fewer different times overall than today’s eighteen. Today’s 06:20–13:45 stays on every weekday, and today’s 06:20–13:35 moves to a Saturday. Three of the new times are shorter versions of today’s lates: the weekday and Saturday closers start at 15:45 and the Sunday closer at 15:15, and the Sunday office late finishes at 22:30, not 23:25 — the same 14:30–22:30 is a new weekday late too, ending with the ticket office. Two new weekday earlies, 06:20–15:15 and 07:00–15:45, are longer than any early worked today, and the Sunday 09:00–18:00 is new. The full list is on the slide. The Sunday opener stays today’s 07:15–15:45.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full weekend is Saturday and the following Sunday both off. Today that is 4 weekends in a 20-week cycle; In Step gives 7 in 26, and they are never more than five weeks apart, against seven today. Five is as close as they can be: a full weekend cannot start in a cover week or the week before one, so only 16 of the 26 weeks can begin one. Nobody works more than five days in a row on the fixed rota — today it is seven — and six is the most a badly placed cover week can make it. Every working week is all earlies or all lates — today seven weeks in 16 mix the two — and 18 of the 21 keep the same shift time Monday to Friday. Rest days mostly come in pairs: 22 of the 26 rest-day breaks are two days or more, against 13 of 17 today, and single rest days stay at four, as today. There are no six-day weeks (today there is 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the strip left to right; week 27 is week 1 again. A cover week has no fixed shifts of its own — its four duties are placed later to cover leave and sickness, which is why it is drawn empty. Earlies here means a start before 11:00. A weekday has 7 earlies and 8 lates; a Saturday 7 and 7; a Sunday 5 and 5. Sundays stay overtime, 20 a year each (today 21), and still finish at 23:25. Who starts on which week is decided after the link is chosen. A block is weeks in a row all on earlies or all on lates. On the fixed rota the longest is 5 weeks (today 2); because a cover week’s duties are placed later, a block can run to 7 if the cover weeks beside it are given the same kind (today 3). Fewer switches between earlies and lates, but someone who prefers one kind waits longer for it to come round.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Leave is only needed on working days Monday to Saturday; rest days and Sundays cost nothing. Today there is one unusual stretch of the roster where 14 days buys 30 days off — In Step spreads rest days more evenly, so its best is 28. On average it is the same, 23.4 days, and at its worst it is a day better than today. Four full weeks off (Sunday to Saturday) takes at least 15 days of leave, instead of 14 at best today. Say the four-weeks figure plainly: In Step and all four shortlisted links are worse than today here (Long Break, the leave-first design in the pack, keeps the 14), and people plan a year around it. The averages depend on where you count a booking as starting, so quote those as “about the same”.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Office of Rail and Road and the rail industry publish lists of rota patterns that tend to tire people. Today’s link shows four of them in the fixed rota (up to five where a cover week falls badly); In Step shows none. Two more — early starts and a weekly rotation — come with every weekly link at a 06:20 station, so they are listed on the sheet for information but not counted against any design.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Saying the downsides out loud is what makes the rest believable. None of these is hidden on the full proposal sheet either.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page to leave on screen during questions. Every figure is on the earlier slides and on the full proposal sheet.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Hand out or point people at the eight-page proposal sheet. Collect questions — the ones nobody asks in the room are usually about a particular week, so encourage people to look up the line they would start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slideLayout" Target="../slideLayouts/slideLayout1.xml"/><Relationship Id="rId6"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slideLayout" Target="../slideLayouts/slideLayout1.xml"/><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slideLayout" Target="../slideLayouts/slideLayout1.xml"/><Relationship Id="rId5" Type="http://schemas.openxmlformats.org/officeDocument/2006/relationships/notesSlide" Target="../notesSlides/notesSlide10.xml"/><Relationship Id="rIdStrip" Type="http://schemas.openxmlformats.org/officeDocument/2006/relationships/image" Target="../media/rota-strip.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01E3C"/>
        </a:solidFill>
      </p:bgPr>
    </p:bg>
    <p:spTree>
      <p:nvGrpSpPr>
        <p:cNvPr id="1" name=""/>
        <p:cNvGrpSpPr/>
        <p:nvPr/>
      </p:nvGrpSpPr>
      <p:grpSpPr>
        <a:xfrm>
          <a:off x="0" y="0"/>
          <a:ext cx="0" cy="0"/>
          <a:chOff x="0" y="0"/>
          <a:chExt cx="0" cy="0"/>
        </a:xfrm>
      </p:grpSpPr>
      <p:sp>
        <p:nvSpPr>
          <p:cNvPr id="2" name="Shape 0"/>
          <p:cNvSpPr/>
          <p:nvPr/>
        </p:nvSpPr>
        <p:spPr>
          <a:xfrm>
            <a:off x="548640" y="640080"/>
            <a:ext cx="731520" cy="731520"/>
          </a:xfrm>
          <a:prstGeom prst="ellipse">
            <a:avLst/>
          </a:prstGeom>
          <a:solidFill>
            <a:srgbClr val="F5C800"/>
          </a:solidFill>
          <a:ln w="12700">
            <a:solidFill>
              <a:srgbClr val="F5C800"/>
            </a:solidFill>
            <a:prstDash val="solid"/>
          </a:ln>
        </p:spPr>
      </p:sp>
      <p:pic>
        <p:nvPicPr>
          <p:cNvPr id="3" name="Image 0" descr="preencoded.png">    </p:cNvPr>
          <p:cNvPicPr>
            <a:picLocks noChangeAspect="1"/>
          </p:cNvPicPr>
          <p:nvPr/>
        </p:nvPicPr>
        <p:blipFill>
          <a:blip r:embed="rId1"/>
          <a:stretch>
            <a:fillRect/>
          </a:stretch>
        </p:blipFill>
        <p:spPr>
          <a:xfrm>
            <a:off x="709574" y="801014"/>
            <a:ext cx="409651" cy="409651"/>
          </a:xfrm>
          <a:prstGeom prst="rect">
            <a:avLst/>
          </a:prstGeom>
        </p:spPr>
      </p:pic>
      <p:sp>
        <p:nvSpPr>
          <p:cNvPr id="4" name="Text 1"/>
          <p:cNvSpPr txBox="1"/>
          <p:nvPr/>
        </p:nvSpPr>
        <p:spPr>
          <a:xfrm>
            <a:off x="548640" y="1600200"/>
            <a:ext cx="8046720" cy="914400"/>
          </a:xfrm>
          <a:prstGeom prst="rect">
            <a:avLst/>
          </a:prstGeom>
          <a:noFill/>
          <a:ln/>
        </p:spPr>
        <p:txBody>
          <a:bodyPr wrap="square" lIns="0" tIns="0" rIns="0" bIns="0" rtlCol="0" anchor="ctr"/>
          <a:lstStyle/>
          <a:p>
            <a:pPr indent="0" marL="0">
              <a:buNone/>
            </a:pPr>
            <a:r>
              <a:rPr lang="en-US" sz="4800" b="1" dirty="0">
                <a:solidFill>
                  <a:srgbClr val="FFFFFF"/>
                </a:solidFill>
                <a:latin typeface="Inter" pitchFamily="34" charset="0"/>
                <a:ea typeface="Inter" pitchFamily="34" charset="-122"/>
                <a:cs typeface="Inter" pitchFamily="34" charset="-120"/>
              </a:rPr>
              <a:t>In Step</a:t>
            </a:r>
            <a:endParaRPr lang="en-US" sz="4800" dirty="0"/>
          </a:p>
        </p:txBody>
      </p:sp>
      <p:sp>
        <p:nvSpPr>
          <p:cNvPr id="5" name="Text 2"/>
          <p:cNvSpPr txBox="1"/>
          <p:nvPr/>
        </p:nvSpPr>
        <p:spPr>
          <a:xfrm>
            <a:off x="548640" y="2514600"/>
            <a:ext cx="8046720" cy="548640"/>
          </a:xfrm>
          <a:prstGeom prst="rect">
            <a:avLst/>
          </a:prstGeom>
          <a:noFill/>
          <a:ln/>
        </p:spPr>
        <p:txBody>
          <a:bodyPr wrap="square" lIns="0" tIns="0" rIns="0" bIns="0" rtlCol="0" anchor="ctr"/>
          <a:lstStyle/>
          <a:p>
            <a:pPr indent="0" marL="0">
              <a:buNone/>
            </a:pPr>
            <a:r>
              <a:rPr lang="en-US" sz="2000" dirty="0">
                <a:solidFill>
                  <a:srgbClr val="F5C800"/>
                </a:solidFill>
                <a:latin typeface="Inter" pitchFamily="34" charset="0"/>
                <a:ea typeface="Inter" pitchFamily="34" charset="-122"/>
                <a:cs typeface="Inter" pitchFamily="34" charset="-120"/>
              </a:rPr>
              <a:t>Our December 2026 link — what changes for you, in plain English</a:t>
            </a:r>
            <a:endParaRPr lang="en-US" sz="2000" dirty="0"/>
          </a:p>
        </p:txBody>
      </p:sp>
      <p:sp>
        <p:nvSpPr>
          <p:cNvPr id="6" name="Text 3"/>
          <p:cNvSpPr txBox="1"/>
          <p:nvPr/>
        </p:nvSpPr>
        <p:spPr>
          <a:xfrm>
            <a:off x="548640" y="4206240"/>
            <a:ext cx="8046720" cy="365760"/>
          </a:xfrm>
          <a:prstGeom prst="rect">
            <a:avLst/>
          </a:prstGeom>
          <a:noFill/>
          <a:ln/>
        </p:spPr>
        <p:txBody>
          <a:bodyPr wrap="square" lIns="0" tIns="0" rIns="0" bIns="0" rtlCol="0" anchor="ctr"/>
          <a:lstStyle/>
          <a:p>
            <a:pPr indent="0" marL="0">
              <a:buNone/>
            </a:pPr>
            <a:r>
              <a:rPr lang="en-US" sz="1300" dirty="0">
                <a:solidFill>
                  <a:srgbClr val="C9D3E0"/>
                </a:solidFill>
                <a:latin typeface="Inter" pitchFamily="34" charset="0"/>
                <a:ea typeface="Inter" pitchFamily="34" charset="-122"/>
                <a:cs typeface="Inter" pitchFamily="34" charset="-120"/>
              </a:rPr>
              <a:t>A proposal for discussion · CEA link · 26 weeks · code IS-26-T4</a:t>
            </a:r>
            <a:endParaRPr lang="en-US" sz="13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The short version</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Five things to take away if you remember nothing else</a:t>
            </a:r>
            <a:endParaRPr lang="en-US" sz="1500" dirty="0"/>
          </a:p>
        </p:txBody>
      </p:sp>
      <p:sp>
        <p:nvSpPr>
          <p:cNvPr id="4" name="Shape 2"/>
          <p:cNvSpPr/>
          <p:nvPr/>
        </p:nvSpPr>
        <p:spPr>
          <a:xfrm>
            <a:off x="457200" y="1463040"/>
            <a:ext cx="1536192" cy="2377440"/>
          </a:xfrm>
          <a:prstGeom prst="roundRect">
            <a:avLst>
              <a:gd name="adj" fmla="val 7143"/>
            </a:avLst>
          </a:prstGeom>
          <a:solidFill>
            <a:srgbClr val="EEF2F7"/>
          </a:solidFill>
          <a:ln w="12700">
            <a:solidFill>
              <a:srgbClr val="EEF2F7"/>
            </a:solidFill>
            <a:prstDash val="solid"/>
          </a:ln>
        </p:spPr>
      </p:sp>
      <p:sp>
        <p:nvSpPr>
          <p:cNvPr id="5" name="Text 3"/>
          <p:cNvSpPr txBox="1"/>
          <p:nvPr/>
        </p:nvSpPr>
        <p:spPr>
          <a:xfrm>
            <a:off x="457200" y="1645920"/>
            <a:ext cx="1536192" cy="868680"/>
          </a:xfrm>
          <a:prstGeom prst="rect">
            <a:avLst/>
          </a:prstGeom>
          <a:noFill/>
          <a:ln/>
        </p:spPr>
        <p:txBody>
          <a:bodyPr wrap="square" lIns="0" tIns="0" rIns="0" bIns="0" rtlCol="0" anchor="ctr">
            <a:normAutofit/>
          </a:bodyPr>
          <a:lstStyle/>
          <a:p>
            <a:pPr algn="ctr" indent="0" marL="0">
              <a:buNone/>
            </a:pPr>
            <a:r>
              <a:rPr lang="en-US" sz="3000" b="1" dirty="0">
                <a:solidFill>
                  <a:srgbClr val="001E3C"/>
                </a:solidFill>
                <a:latin typeface="Inter" pitchFamily="34" charset="0"/>
                <a:ea typeface="Inter" pitchFamily="34" charset="-122"/>
                <a:cs typeface="Inter" pitchFamily="34" charset="-120"/>
              </a:rPr>
              <a:t>35h</a:t>
            </a:r>
            <a:endParaRPr lang="en-US" sz="3000" dirty="0"/>
          </a:p>
        </p:txBody>
      </p:sp>
      <p:sp>
        <p:nvSpPr>
          <p:cNvPr id="6" name="Text 4"/>
          <p:cNvSpPr txBox="1"/>
          <p:nvPr/>
        </p:nvSpPr>
        <p:spPr>
          <a:xfrm>
            <a:off x="512064" y="2560320"/>
            <a:ext cx="1426464" cy="640080"/>
          </a:xfrm>
          <a:prstGeom prst="rect">
            <a:avLst/>
          </a:prstGeom>
          <a:noFill/>
          <a:ln/>
        </p:spPr>
        <p:txBody>
          <a:bodyPr wrap="square" lIns="0" tIns="0" rIns="0" bIns="0" rtlCol="0" anchor="ctr"/>
          <a:lstStyle/>
          <a:p>
            <a:pPr algn="ctr" indent="0" marL="0">
              <a:buNone/>
            </a:pPr>
            <a:r>
              <a:rPr lang="en-US" sz="1400" b="1" dirty="0">
                <a:solidFill>
                  <a:srgbClr val="1B2533"/>
                </a:solidFill>
                <a:latin typeface="Inter" pitchFamily="34" charset="0"/>
                <a:ea typeface="Inter" pitchFamily="34" charset="-122"/>
                <a:cs typeface="Inter" pitchFamily="34" charset="-120"/>
              </a:rPr>
              <a:t>the contracted</a:t>
            </a:r>
            <a:br/>
            <a:r>
              <a:rPr lang="en-US" sz="1400" b="1" dirty="0">
                <a:solidFill>
                  <a:srgbClr val="1B2533"/>
                </a:solidFill>
                <a:latin typeface="Inter" pitchFamily="34" charset="0"/>
                <a:ea typeface="Inter" pitchFamily="34" charset="-122"/>
                <a:cs typeface="Inter" pitchFamily="34" charset="-120"/>
              </a:rPr>
              <a:t>week, as now</a:t>
            </a:r>
            <a:endParaRPr lang="en-US" sz="1400" dirty="0"/>
          </a:p>
        </p:txBody>
      </p:sp>
      <p:sp>
        <p:nvSpPr>
          <p:cNvPr id="7" name="Text 5"/>
          <p:cNvSpPr txBox="1"/>
          <p:nvPr/>
        </p:nvSpPr>
        <p:spPr>
          <a:xfrm>
            <a:off x="512064" y="3200400"/>
            <a:ext cx="1426464" cy="457200"/>
          </a:xfrm>
          <a:prstGeom prst="rect">
            <a:avLst/>
          </a:prstGeom>
          <a:noFill/>
          <a:ln/>
        </p:spPr>
        <p:txBody>
          <a:bodyPr wrap="square" lIns="0" tIns="0" rIns="0" bIns="0" rtlCol="0" anchor="ctr"/>
          <a:lstStyle/>
          <a:p>
            <a:pPr algn="ctr" indent="0" marL="0">
              <a:buNone/>
            </a:pPr>
            <a:r>
              <a:rPr lang="en-US" sz="1200" dirty="0">
                <a:solidFill>
                  <a:srgbClr val="5B6778"/>
                </a:solidFill>
                <a:latin typeface="Inter" pitchFamily="34" charset="0"/>
                <a:ea typeface="Inter" pitchFamily="34" charset="-122"/>
                <a:cs typeface="Inter" pitchFamily="34" charset="-120"/>
              </a:rPr>
              <a:t>no extra hours</a:t>
            </a:r>
            <a:endParaRPr lang="en-US" sz="1200" dirty="0"/>
          </a:p>
        </p:txBody>
      </p:sp>
      <p:sp>
        <p:nvSpPr>
          <p:cNvPr id="8" name="Shape 6"/>
          <p:cNvSpPr/>
          <p:nvPr/>
        </p:nvSpPr>
        <p:spPr>
          <a:xfrm>
            <a:off x="2130552" y="1463040"/>
            <a:ext cx="1536192" cy="2377440"/>
          </a:xfrm>
          <a:prstGeom prst="roundRect">
            <a:avLst>
              <a:gd name="adj" fmla="val 7143"/>
            </a:avLst>
          </a:prstGeom>
          <a:solidFill>
            <a:srgbClr val="EEF2F7"/>
          </a:solidFill>
          <a:ln w="12700">
            <a:solidFill>
              <a:srgbClr val="EEF2F7"/>
            </a:solidFill>
            <a:prstDash val="solid"/>
          </a:ln>
        </p:spPr>
      </p:sp>
      <p:sp>
        <p:nvSpPr>
          <p:cNvPr id="9" name="Text 7"/>
          <p:cNvSpPr txBox="1"/>
          <p:nvPr/>
        </p:nvSpPr>
        <p:spPr>
          <a:xfrm>
            <a:off x="2130552" y="1645920"/>
            <a:ext cx="1536192" cy="868680"/>
          </a:xfrm>
          <a:prstGeom prst="rect">
            <a:avLst/>
          </a:prstGeom>
          <a:noFill/>
          <a:ln/>
        </p:spPr>
        <p:txBody>
          <a:bodyPr wrap="square" lIns="0" tIns="0" rIns="0" bIns="0" rtlCol="0" anchor="ctr">
            <a:normAutofit/>
          </a:bodyPr>
          <a:lstStyle/>
          <a:p>
            <a:pPr algn="ctr" indent="0" marL="0">
              <a:buNone/>
            </a:pPr>
            <a:r>
              <a:rPr lang="en-US" sz="3000" b="1" dirty="0">
                <a:solidFill>
                  <a:srgbClr val="001E3C"/>
                </a:solidFill>
                <a:latin typeface="Inter" pitchFamily="34" charset="0"/>
                <a:ea typeface="Inter" pitchFamily="34" charset="-122"/>
                <a:cs typeface="Inter" pitchFamily="34" charset="-120"/>
              </a:rPr>
              <a:t>5</a:t>
            </a:r>
            <a:endParaRPr lang="en-US" sz="3000" dirty="0"/>
          </a:p>
        </p:txBody>
      </p:sp>
      <p:sp>
        <p:nvSpPr>
          <p:cNvPr id="10" name="Text 8"/>
          <p:cNvSpPr txBox="1"/>
          <p:nvPr/>
        </p:nvSpPr>
        <p:spPr>
          <a:xfrm>
            <a:off x="2185416" y="2560320"/>
            <a:ext cx="1426464" cy="640080"/>
          </a:xfrm>
          <a:prstGeom prst="rect">
            <a:avLst/>
          </a:prstGeom>
          <a:noFill/>
          <a:ln/>
        </p:spPr>
        <p:txBody>
          <a:bodyPr wrap="square" lIns="0" tIns="0" rIns="0" bIns="0" rtlCol="0" anchor="ctr"/>
          <a:lstStyle/>
          <a:p>
            <a:pPr algn="ctr" indent="0" marL="0">
              <a:buNone/>
            </a:pPr>
            <a:r>
              <a:rPr lang="en-US" sz="1400" b="1" dirty="0">
                <a:solidFill>
                  <a:srgbClr val="1B2533"/>
                </a:solidFill>
                <a:latin typeface="Inter" pitchFamily="34" charset="0"/>
                <a:ea typeface="Inter" pitchFamily="34" charset="-122"/>
                <a:cs typeface="Inter" pitchFamily="34" charset="-120"/>
              </a:rPr>
              <a:t>most days</a:t>
            </a:r>
            <a:br/>
            <a:r>
              <a:rPr lang="en-US" sz="1400" b="1" dirty="0">
                <a:solidFill>
                  <a:srgbClr val="1B2533"/>
                </a:solidFill>
                <a:latin typeface="Inter" pitchFamily="34" charset="0"/>
                <a:ea typeface="Inter" pitchFamily="34" charset="-122"/>
                <a:cs typeface="Inter" pitchFamily="34" charset="-120"/>
              </a:rPr>
              <a:t>in a row</a:t>
            </a:r>
            <a:endParaRPr lang="en-US" sz="1400" dirty="0"/>
          </a:p>
        </p:txBody>
      </p:sp>
      <p:sp>
        <p:nvSpPr>
          <p:cNvPr id="11" name="Text 9"/>
          <p:cNvSpPr txBox="1"/>
          <p:nvPr/>
        </p:nvSpPr>
        <p:spPr>
          <a:xfrm>
            <a:off x="2185416" y="3200400"/>
            <a:ext cx="1426464" cy="457200"/>
          </a:xfrm>
          <a:prstGeom prst="rect">
            <a:avLst/>
          </a:prstGeom>
          <a:noFill/>
          <a:ln/>
        </p:spPr>
        <p:txBody>
          <a:bodyPr wrap="square" lIns="0" tIns="0" rIns="0" bIns="0" rtlCol="0" anchor="ctr"/>
          <a:lstStyle/>
          <a:p>
            <a:pPr algn="ctr" indent="0" marL="0">
              <a:buNone/>
            </a:pPr>
            <a:r>
              <a:rPr lang="en-US" sz="1200" dirty="0">
                <a:solidFill>
                  <a:srgbClr val="5B6778"/>
                </a:solidFill>
                <a:latin typeface="Inter" pitchFamily="34" charset="0"/>
                <a:ea typeface="Inter" pitchFamily="34" charset="-122"/>
                <a:cs typeface="Inter" pitchFamily="34" charset="-120"/>
              </a:rPr>
              <a:t>up to 6 · today 7</a:t>
            </a:r>
            <a:endParaRPr lang="en-US" sz="1200" dirty="0"/>
          </a:p>
        </p:txBody>
      </p:sp>
      <p:sp>
        <p:nvSpPr>
          <p:cNvPr id="12" name="Shape 10"/>
          <p:cNvSpPr/>
          <p:nvPr/>
        </p:nvSpPr>
        <p:spPr>
          <a:xfrm>
            <a:off x="3803904" y="1463040"/>
            <a:ext cx="1536192" cy="2377440"/>
          </a:xfrm>
          <a:prstGeom prst="roundRect">
            <a:avLst>
              <a:gd name="adj" fmla="val 7143"/>
            </a:avLst>
          </a:prstGeom>
          <a:solidFill>
            <a:srgbClr val="EEF2F7"/>
          </a:solidFill>
          <a:ln w="12700">
            <a:solidFill>
              <a:srgbClr val="EEF2F7"/>
            </a:solidFill>
            <a:prstDash val="solid"/>
          </a:ln>
        </p:spPr>
      </p:sp>
      <p:sp>
        <p:nvSpPr>
          <p:cNvPr id="13" name="Text 11"/>
          <p:cNvSpPr txBox="1"/>
          <p:nvPr/>
        </p:nvSpPr>
        <p:spPr>
          <a:xfrm>
            <a:off x="3803904" y="1645920"/>
            <a:ext cx="1536192" cy="868680"/>
          </a:xfrm>
          <a:prstGeom prst="rect">
            <a:avLst/>
          </a:prstGeom>
          <a:noFill/>
          <a:ln/>
        </p:spPr>
        <p:txBody>
          <a:bodyPr wrap="square" lIns="0" tIns="0" rIns="0" bIns="0" rtlCol="0" anchor="ctr">
            <a:normAutofit/>
          </a:bodyPr>
          <a:lstStyle/>
          <a:p>
            <a:pPr algn="ctr" indent="0" marL="0">
              <a:buNone/>
            </a:pPr>
            <a:r>
              <a:rPr lang="en-US" sz="3000" b="1" dirty="0">
                <a:solidFill>
                  <a:srgbClr val="001E3C"/>
                </a:solidFill>
                <a:latin typeface="Inter" pitchFamily="34" charset="0"/>
                <a:ea typeface="Inter" pitchFamily="34" charset="-122"/>
                <a:cs typeface="Inter" pitchFamily="34" charset="-120"/>
              </a:rPr>
              <a:t>14</a:t>
            </a:r>
            <a:endParaRPr lang="en-US" sz="3000" dirty="0"/>
          </a:p>
        </p:txBody>
      </p:sp>
      <p:sp>
        <p:nvSpPr>
          <p:cNvPr id="14" name="Text 12"/>
          <p:cNvSpPr txBox="1"/>
          <p:nvPr/>
        </p:nvSpPr>
        <p:spPr>
          <a:xfrm>
            <a:off x="3858768" y="2560320"/>
            <a:ext cx="1426464" cy="640080"/>
          </a:xfrm>
          <a:prstGeom prst="rect">
            <a:avLst/>
          </a:prstGeom>
          <a:noFill/>
          <a:ln/>
        </p:spPr>
        <p:txBody>
          <a:bodyPr wrap="square" lIns="0" tIns="0" rIns="0" bIns="0" rtlCol="0" anchor="ctr"/>
          <a:lstStyle/>
          <a:p>
            <a:pPr algn="ctr" indent="0" marL="0">
              <a:buNone/>
            </a:pPr>
            <a:r>
              <a:rPr lang="en-US" sz="1400" b="1" dirty="0">
                <a:solidFill>
                  <a:srgbClr val="1B2533"/>
                </a:solidFill>
                <a:latin typeface="Inter" pitchFamily="34" charset="0"/>
                <a:ea typeface="Inter" pitchFamily="34" charset="-122"/>
                <a:cs typeface="Inter" pitchFamily="34" charset="-120"/>
              </a:rPr>
              <a:t>full weekends</a:t>
            </a:r>
            <a:br/>
            <a:r>
              <a:rPr lang="en-US" sz="1400" b="1" dirty="0">
                <a:solidFill>
                  <a:srgbClr val="1B2533"/>
                </a:solidFill>
                <a:latin typeface="Inter" pitchFamily="34" charset="0"/>
                <a:ea typeface="Inter" pitchFamily="34" charset="-122"/>
                <a:cs typeface="Inter" pitchFamily="34" charset="-120"/>
              </a:rPr>
              <a:t>off a year</a:t>
            </a:r>
            <a:endParaRPr lang="en-US" sz="1400" dirty="0"/>
          </a:p>
        </p:txBody>
      </p:sp>
      <p:sp>
        <p:nvSpPr>
          <p:cNvPr id="15" name="Text 13"/>
          <p:cNvSpPr txBox="1"/>
          <p:nvPr/>
        </p:nvSpPr>
        <p:spPr>
          <a:xfrm>
            <a:off x="3858768" y="3200400"/>
            <a:ext cx="1426464" cy="457200"/>
          </a:xfrm>
          <a:prstGeom prst="rect">
            <a:avLst/>
          </a:prstGeom>
          <a:noFill/>
          <a:ln/>
        </p:spPr>
        <p:txBody>
          <a:bodyPr wrap="square" lIns="0" tIns="0" rIns="0" bIns="0" rtlCol="0" anchor="ctr"/>
          <a:lstStyle/>
          <a:p>
            <a:pPr algn="ctr" indent="0" marL="0">
              <a:buNone/>
            </a:pPr>
            <a:r>
              <a:rPr lang="en-US" sz="1200" dirty="0">
                <a:solidFill>
                  <a:srgbClr val="5B6778"/>
                </a:solidFill>
                <a:latin typeface="Inter" pitchFamily="34" charset="0"/>
                <a:ea typeface="Inter" pitchFamily="34" charset="-122"/>
                <a:cs typeface="Inter" pitchFamily="34" charset="-120"/>
              </a:rPr>
              <a:t>today 10 · 7 in 26</a:t>
            </a:r>
            <a:endParaRPr lang="en-US" sz="1200" dirty="0"/>
          </a:p>
        </p:txBody>
      </p:sp>
      <p:sp>
        <p:nvSpPr>
          <p:cNvPr id="16" name="Shape 14"/>
          <p:cNvSpPr/>
          <p:nvPr/>
        </p:nvSpPr>
        <p:spPr>
          <a:xfrm>
            <a:off x="5477256" y="1463040"/>
            <a:ext cx="1536192" cy="2377440"/>
          </a:xfrm>
          <a:prstGeom prst="roundRect">
            <a:avLst>
              <a:gd name="adj" fmla="val 7143"/>
            </a:avLst>
          </a:prstGeom>
          <a:solidFill>
            <a:srgbClr val="EEF2F7"/>
          </a:solidFill>
          <a:ln w="12700">
            <a:solidFill>
              <a:srgbClr val="EEF2F7"/>
            </a:solidFill>
            <a:prstDash val="solid"/>
          </a:ln>
        </p:spPr>
      </p:sp>
      <p:sp>
        <p:nvSpPr>
          <p:cNvPr id="17" name="Text 15"/>
          <p:cNvSpPr txBox="1"/>
          <p:nvPr/>
        </p:nvSpPr>
        <p:spPr>
          <a:xfrm>
            <a:off x="5477256" y="1645920"/>
            <a:ext cx="1536192" cy="868680"/>
          </a:xfrm>
          <a:prstGeom prst="rect">
            <a:avLst/>
          </a:prstGeom>
          <a:noFill/>
          <a:ln/>
        </p:spPr>
        <p:txBody>
          <a:bodyPr wrap="square" lIns="0" tIns="0" rIns="0" bIns="0" rtlCol="0" anchor="ctr">
            <a:normAutofit/>
          </a:bodyPr>
          <a:lstStyle/>
          <a:p>
            <a:pPr algn="ctr" indent="0" marL="0">
              <a:buNone/>
            </a:pPr>
            <a:r>
              <a:rPr lang="en-US" sz="3000" b="1" dirty="0">
                <a:solidFill>
                  <a:srgbClr val="001E3C"/>
                </a:solidFill>
                <a:latin typeface="Inter" pitchFamily="34" charset="0"/>
                <a:ea typeface="Inter" pitchFamily="34" charset="-122"/>
                <a:cs typeface="Inter" pitchFamily="34" charset="-120"/>
              </a:rPr>
              <a:t>9 of 15</a:t>
            </a:r>
            <a:endParaRPr lang="en-US" sz="3000" dirty="0"/>
          </a:p>
        </p:txBody>
      </p:sp>
      <p:sp>
        <p:nvSpPr>
          <p:cNvPr id="18" name="Text 16"/>
          <p:cNvSpPr txBox="1"/>
          <p:nvPr/>
        </p:nvSpPr>
        <p:spPr>
          <a:xfrm>
            <a:off x="5532120" y="2560320"/>
            <a:ext cx="1426464" cy="640080"/>
          </a:xfrm>
          <a:prstGeom prst="rect">
            <a:avLst/>
          </a:prstGeom>
          <a:noFill/>
          <a:ln/>
        </p:spPr>
        <p:txBody>
          <a:bodyPr wrap="square" lIns="0" tIns="0" rIns="0" bIns="0" rtlCol="0" anchor="ctr"/>
          <a:lstStyle/>
          <a:p>
            <a:pPr algn="ctr" indent="0" marL="0">
              <a:buNone/>
            </a:pPr>
            <a:r>
              <a:rPr lang="en-US" sz="1400" b="1" dirty="0">
                <a:solidFill>
                  <a:srgbClr val="1B2533"/>
                </a:solidFill>
                <a:latin typeface="Inter" pitchFamily="34" charset="0"/>
                <a:ea typeface="Inter" pitchFamily="34" charset="-122"/>
                <a:cs typeface="Inter" pitchFamily="34" charset="-120"/>
              </a:rPr>
              <a:t>shift times you</a:t>
            </a:r>
            <a:br/>
            <a:r>
              <a:rPr lang="en-US" sz="1400" b="1" dirty="0">
                <a:solidFill>
                  <a:srgbClr val="1B2533"/>
                </a:solidFill>
                <a:latin typeface="Inter" pitchFamily="34" charset="0"/>
                <a:ea typeface="Inter" pitchFamily="34" charset="-122"/>
                <a:cs typeface="Inter" pitchFamily="34" charset="-120"/>
              </a:rPr>
              <a:t>already work</a:t>
            </a:r>
            <a:endParaRPr lang="en-US" sz="1400" dirty="0"/>
          </a:p>
        </p:txBody>
      </p:sp>
      <p:sp>
        <p:nvSpPr>
          <p:cNvPr id="19" name="Text 17"/>
          <p:cNvSpPr txBox="1"/>
          <p:nvPr/>
        </p:nvSpPr>
        <p:spPr>
          <a:xfrm>
            <a:off x="5532120" y="3200400"/>
            <a:ext cx="1426464" cy="457200"/>
          </a:xfrm>
          <a:prstGeom prst="rect">
            <a:avLst/>
          </a:prstGeom>
          <a:noFill/>
          <a:ln/>
        </p:spPr>
        <p:txBody>
          <a:bodyPr wrap="square" lIns="0" tIns="0" rIns="0" bIns="0" rtlCol="0" anchor="ctr"/>
          <a:lstStyle/>
          <a:p>
            <a:pPr algn="ctr" indent="0" marL="0">
              <a:buNone/>
            </a:pPr>
            <a:r>
              <a:rPr lang="en-US" sz="1200" dirty="0">
                <a:solidFill>
                  <a:srgbClr val="5B6778"/>
                </a:solidFill>
                <a:latin typeface="Inter" pitchFamily="34" charset="0"/>
                <a:ea typeface="Inter" pitchFamily="34" charset="-122"/>
                <a:cs typeface="Inter" pitchFamily="34" charset="-120"/>
              </a:rPr>
              <a:t>6 new ones</a:t>
            </a:r>
            <a:endParaRPr lang="en-US" sz="1200" dirty="0"/>
          </a:p>
        </p:txBody>
      </p:sp>
      <p:sp>
        <p:nvSpPr>
          <p:cNvPr id="20" name="Shape 18"/>
          <p:cNvSpPr/>
          <p:nvPr/>
        </p:nvSpPr>
        <p:spPr>
          <a:xfrm>
            <a:off x="7150608" y="1463040"/>
            <a:ext cx="1536192" cy="2377440"/>
          </a:xfrm>
          <a:prstGeom prst="roundRect">
            <a:avLst>
              <a:gd name="adj" fmla="val 7143"/>
            </a:avLst>
          </a:prstGeom>
          <a:solidFill>
            <a:srgbClr val="EEF2F7"/>
          </a:solidFill>
          <a:ln w="12700">
            <a:solidFill>
              <a:srgbClr val="EEF2F7"/>
            </a:solidFill>
            <a:prstDash val="solid"/>
          </a:ln>
        </p:spPr>
      </p:sp>
      <p:sp>
        <p:nvSpPr>
          <p:cNvPr id="21" name="Text 19"/>
          <p:cNvSpPr txBox="1"/>
          <p:nvPr/>
        </p:nvSpPr>
        <p:spPr>
          <a:xfrm>
            <a:off x="7150608" y="1645920"/>
            <a:ext cx="1536192" cy="868680"/>
          </a:xfrm>
          <a:prstGeom prst="rect">
            <a:avLst/>
          </a:prstGeom>
          <a:noFill/>
          <a:ln/>
        </p:spPr>
        <p:txBody>
          <a:bodyPr wrap="square" lIns="0" tIns="0" rIns="0" bIns="0" rtlCol="0" anchor="ctr">
            <a:normAutofit/>
          </a:bodyPr>
          <a:lstStyle/>
          <a:p>
            <a:pPr algn="ctr" indent="0" marL="0">
              <a:buNone/>
            </a:pPr>
            <a:r>
              <a:rPr lang="en-US" sz="3000" b="1" dirty="0">
                <a:solidFill>
                  <a:srgbClr val="001E3C"/>
                </a:solidFill>
                <a:latin typeface="Inter" pitchFamily="34" charset="0"/>
                <a:ea typeface="Inter" pitchFamily="34" charset="-122"/>
                <a:cs typeface="Inter" pitchFamily="34" charset="-120"/>
              </a:rPr>
              <a:t>30 min</a:t>
            </a:r>
            <a:endParaRPr lang="en-US" sz="3000" dirty="0"/>
          </a:p>
        </p:txBody>
      </p:sp>
      <p:sp>
        <p:nvSpPr>
          <p:cNvPr id="22" name="Text 20"/>
          <p:cNvSpPr txBox="1"/>
          <p:nvPr/>
        </p:nvSpPr>
        <p:spPr>
          <a:xfrm>
            <a:off x="7205472" y="2560320"/>
            <a:ext cx="1426464" cy="640080"/>
          </a:xfrm>
          <a:prstGeom prst="rect">
            <a:avLst/>
          </a:prstGeom>
          <a:noFill/>
          <a:ln/>
        </p:spPr>
        <p:txBody>
          <a:bodyPr wrap="square" lIns="0" tIns="0" rIns="0" bIns="0" rtlCol="0" anchor="ctr"/>
          <a:lstStyle/>
          <a:p>
            <a:pPr algn="ctr" indent="0" marL="0">
              <a:buNone/>
            </a:pPr>
            <a:r>
              <a:rPr lang="en-US" sz="1400" b="1" dirty="0">
                <a:solidFill>
                  <a:srgbClr val="1B2533"/>
                </a:solidFill>
                <a:latin typeface="Inter" pitchFamily="34" charset="0"/>
                <a:ea typeface="Inter" pitchFamily="34" charset="-122"/>
                <a:cs typeface="Inter" pitchFamily="34" charset="-120"/>
              </a:rPr>
              <a:t>off every</a:t>
            </a:r>
            <a:br/>
            <a:r>
              <a:rPr lang="en-US" sz="1400" b="1" dirty="0">
                <a:solidFill>
                  <a:srgbClr val="1B2533"/>
                </a:solidFill>
                <a:latin typeface="Inter" pitchFamily="34" charset="0"/>
                <a:ea typeface="Inter" pitchFamily="34" charset="-122"/>
                <a:cs typeface="Inter" pitchFamily="34" charset="-120"/>
              </a:rPr>
              <a:t>closing shift</a:t>
            </a:r>
            <a:endParaRPr lang="en-US" sz="1400" dirty="0"/>
          </a:p>
        </p:txBody>
      </p:sp>
      <p:sp>
        <p:nvSpPr>
          <p:cNvPr id="23" name="Text 21"/>
          <p:cNvSpPr txBox="1"/>
          <p:nvPr/>
        </p:nvSpPr>
        <p:spPr>
          <a:xfrm>
            <a:off x="7205472" y="3200400"/>
            <a:ext cx="1426464" cy="457200"/>
          </a:xfrm>
          <a:prstGeom prst="rect">
            <a:avLst/>
          </a:prstGeom>
          <a:noFill/>
          <a:ln/>
        </p:spPr>
        <p:txBody>
          <a:bodyPr wrap="square" lIns="0" tIns="0" rIns="0" bIns="0" rtlCol="0" anchor="ctr"/>
          <a:lstStyle/>
          <a:p>
            <a:pPr algn="ctr" indent="0" marL="0">
              <a:buNone/>
            </a:pPr>
            <a:r>
              <a:rPr lang="en-US" sz="1200" dirty="0">
                <a:solidFill>
                  <a:srgbClr val="5B6778"/>
                </a:solidFill>
                <a:latin typeface="Inter" pitchFamily="34" charset="0"/>
                <a:ea typeface="Inter" pitchFamily="34" charset="-122"/>
                <a:cs typeface="Inter" pitchFamily="34" charset="-120"/>
              </a:rPr>
              <a:t>up to 1 hour</a:t>
            </a:r>
            <a:endParaRPr lang="en-US" sz="1200" dirty="0"/>
          </a:p>
        </p:txBody>
      </p:sp>
      <p:sp>
        <p:nvSpPr>
          <p:cNvPr id="24" name="Shape 22"/>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25" name="Text 23"/>
          <p:cNvSpPr txBox="1"/>
          <p:nvPr/>
        </p:nvSpPr>
        <p:spPr>
          <a:xfrm>
            <a:off x="640080" y="4160520"/>
            <a:ext cx="7863840" cy="548640"/>
          </a:xfrm>
          <a:prstGeom prst="rect">
            <a:avLst/>
          </a:prstGeom>
          <a:noFill/>
          <a:ln/>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Same hours, shorter closers, weekends off never more than five weeks apart, and never more than five days in a row on the fixed rota.</a:t>
            </a:r>
            <a:endParaRPr lang="en-US" sz="1400" dirty="0"/>
          </a:p>
        </p:txBody>
      </p:sp>
      <p:sp>
        <p:nvSpPr>
          <p:cNvPr id="26" name="Text 24"/>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In Step · December 2026 link proposal · 2</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Why the link has to change</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Nobody is changing it for the sake of it</a:t>
            </a:r>
            <a:endParaRPr lang="en-US" sz="1500" dirty="0"/>
          </a:p>
        </p:txBody>
      </p:sp>
      <p:sp>
        <p:nvSpPr>
          <p:cNvPr id="4" name="Shape 2"/>
          <p:cNvSpPr/>
          <p:nvPr/>
        </p:nvSpPr>
        <p:spPr>
          <a:xfrm>
            <a:off x="457200" y="1371600"/>
            <a:ext cx="457200" cy="457200"/>
          </a:xfrm>
          <a:prstGeom prst="ellipse">
            <a:avLst/>
          </a:prstGeom>
          <a:solidFill>
            <a:srgbClr val="F5C800"/>
          </a:solidFill>
          <a:ln w="12700">
            <a:solidFill>
              <a:srgbClr val="F5C800"/>
            </a:solidFill>
            <a:prstDash val="solid"/>
          </a:ln>
        </p:spPr>
      </p:sp>
      <p:pic>
        <p:nvPicPr>
          <p:cNvPr id="5" name="Image 0" descr="preencoded.png">    </p:cNvPr>
          <p:cNvPicPr>
            <a:picLocks noChangeAspect="1"/>
          </p:cNvPicPr>
          <p:nvPr/>
        </p:nvPicPr>
        <p:blipFill>
          <a:blip r:embed="rId1"/>
          <a:stretch>
            <a:fillRect/>
          </a:stretch>
        </p:blipFill>
        <p:spPr>
          <a:xfrm>
            <a:off x="557784" y="1472184"/>
            <a:ext cx="256032" cy="256032"/>
          </a:xfrm>
          <a:prstGeom prst="rect">
            <a:avLst/>
          </a:prstGeom>
        </p:spPr>
      </p:pic>
      <p:sp>
        <p:nvSpPr>
          <p:cNvPr id="6" name="Text 3"/>
          <p:cNvSpPr txBox="1"/>
          <p:nvPr/>
        </p:nvSpPr>
        <p:spPr>
          <a:xfrm>
            <a:off x="1097280" y="1335024"/>
            <a:ext cx="7589520" cy="292608"/>
          </a:xfrm>
          <a:prstGeom prst="rect">
            <a:avLst/>
          </a:prstGeom>
          <a:noFill/>
          <a:ln/>
        </p:spPr>
        <p:txBody>
          <a:bodyPr wrap="square" lIns="0" tIns="0" rIns="0" bIns="0" rtlCol="0" anchor="ctr"/>
          <a:lstStyle/>
          <a:p>
            <a:pPr indent="0" marL="0">
              <a:buNone/>
            </a:pPr>
            <a:r>
              <a:rPr lang="en-US" sz="1600" b="1" dirty="0">
                <a:solidFill>
                  <a:srgbClr val="1B2533"/>
                </a:solidFill>
                <a:latin typeface="Inter" pitchFamily="34" charset="0"/>
                <a:ea typeface="Inter" pitchFamily="34" charset="-122"/>
                <a:cs typeface="Inter" pitchFamily="34" charset="-120"/>
              </a:rPr>
              <a:t>A new timetable in December 2026</a:t>
            </a:r>
            <a:endParaRPr lang="en-US" sz="1600" dirty="0"/>
          </a:p>
        </p:txBody>
      </p:sp>
      <p:sp>
        <p:nvSpPr>
          <p:cNvPr id="7" name="Text 4"/>
          <p:cNvSpPr txBox="1"/>
          <p:nvPr/>
        </p:nvSpPr>
        <p:spPr>
          <a:xfrm>
            <a:off x="1097280" y="1618488"/>
            <a:ext cx="7589520" cy="274320"/>
          </a:xfrm>
          <a:prstGeom prst="rect">
            <a:avLst/>
          </a:prstGeom>
          <a:noFill/>
          <a:ln/>
        </p:spPr>
        <p:txBody>
          <a:bodyPr wrap="square" lIns="0" tIns="0" rIns="0" bIns="0" rtlCol="0" anchor="ctr"/>
          <a:lstStyle/>
          <a:p>
            <a:pPr indent="0" marL="0">
              <a:buNone/>
            </a:pPr>
            <a:r>
              <a:rPr lang="en-US" sz="1300" dirty="0">
                <a:solidFill>
                  <a:srgbClr val="5B6778"/>
                </a:solidFill>
                <a:latin typeface="Inter" pitchFamily="34" charset="0"/>
                <a:ea typeface="Inter" pitchFamily="34" charset="-122"/>
                <a:cs typeface="Inter" pitchFamily="34" charset="-120"/>
              </a:rPr>
              <a:t>More trains, at new times — the link has to follow them.</a:t>
            </a:r>
            <a:endParaRPr lang="en-US" sz="1300" dirty="0"/>
          </a:p>
        </p:txBody>
      </p:sp>
      <p:sp>
        <p:nvSpPr>
          <p:cNvPr id="8" name="Shape 5"/>
          <p:cNvSpPr/>
          <p:nvPr/>
        </p:nvSpPr>
        <p:spPr>
          <a:xfrm>
            <a:off x="457200" y="2084832"/>
            <a:ext cx="457200" cy="457200"/>
          </a:xfrm>
          <a:prstGeom prst="ellipse">
            <a:avLst/>
          </a:prstGeom>
          <a:solidFill>
            <a:srgbClr val="F5C800"/>
          </a:solidFill>
          <a:ln w="12700">
            <a:solidFill>
              <a:srgbClr val="F5C800"/>
            </a:solidFill>
            <a:prstDash val="solid"/>
          </a:ln>
        </p:spPr>
      </p:sp>
      <p:pic>
        <p:nvPicPr>
          <p:cNvPr id="9" name="Image 1" descr="preencoded.png">    </p:cNvPr>
          <p:cNvPicPr>
            <a:picLocks noChangeAspect="1"/>
          </p:cNvPicPr>
          <p:nvPr/>
        </p:nvPicPr>
        <p:blipFill>
          <a:blip r:embed="rId2"/>
          <a:stretch>
            <a:fillRect/>
          </a:stretch>
        </p:blipFill>
        <p:spPr>
          <a:xfrm>
            <a:off x="557784" y="2185416"/>
            <a:ext cx="256032" cy="256032"/>
          </a:xfrm>
          <a:prstGeom prst="rect">
            <a:avLst/>
          </a:prstGeom>
        </p:spPr>
      </p:pic>
      <p:sp>
        <p:nvSpPr>
          <p:cNvPr id="10" name="Text 6"/>
          <p:cNvSpPr txBox="1"/>
          <p:nvPr/>
        </p:nvSpPr>
        <p:spPr>
          <a:xfrm>
            <a:off x="1097280" y="2048256"/>
            <a:ext cx="7589520" cy="292608"/>
          </a:xfrm>
          <a:prstGeom prst="rect">
            <a:avLst/>
          </a:prstGeom>
          <a:noFill/>
          <a:ln/>
        </p:spPr>
        <p:txBody>
          <a:bodyPr wrap="square" lIns="0" tIns="0" rIns="0" bIns="0" rtlCol="0" anchor="ctr"/>
          <a:lstStyle/>
          <a:p>
            <a:pPr indent="0" marL="0">
              <a:buNone/>
            </a:pPr>
            <a:r>
              <a:rPr lang="en-US" sz="1600" b="1" dirty="0">
                <a:solidFill>
                  <a:srgbClr val="1B2533"/>
                </a:solidFill>
                <a:latin typeface="Inter" pitchFamily="34" charset="0"/>
                <a:ea typeface="Inter" pitchFamily="34" charset="-122"/>
                <a:cs typeface="Inter" pitchFamily="34" charset="-120"/>
              </a:rPr>
              <a:t>More of us on the link</a:t>
            </a:r>
            <a:endParaRPr lang="en-US" sz="1600" dirty="0"/>
          </a:p>
        </p:txBody>
      </p:sp>
      <p:sp>
        <p:nvSpPr>
          <p:cNvPr id="11" name="Text 7"/>
          <p:cNvSpPr txBox="1"/>
          <p:nvPr/>
        </p:nvSpPr>
        <p:spPr>
          <a:xfrm>
            <a:off x="1097280" y="2331720"/>
            <a:ext cx="7589520" cy="274320"/>
          </a:xfrm>
          <a:prstGeom prst="rect">
            <a:avLst/>
          </a:prstGeom>
          <a:noFill/>
          <a:ln/>
        </p:spPr>
        <p:txBody>
          <a:bodyPr wrap="square" lIns="0" tIns="0" rIns="0" bIns="0" rtlCol="0" anchor="ctr"/>
          <a:lstStyle/>
          <a:p>
            <a:pPr indent="0" marL="0">
              <a:buNone/>
            </a:pPr>
            <a:r>
              <a:rPr lang="en-US" sz="1300" dirty="0">
                <a:solidFill>
                  <a:srgbClr val="5B6778"/>
                </a:solidFill>
                <a:latin typeface="Inter" pitchFamily="34" charset="0"/>
                <a:ea typeface="Inter" pitchFamily="34" charset="-122"/>
                <a:cs typeface="Inter" pitchFamily="34" charset="-120"/>
              </a:rPr>
              <a:t>It grows from 20 weeks to 26, so six more colleagues join it.</a:t>
            </a:r>
            <a:endParaRPr lang="en-US" sz="1300" dirty="0"/>
          </a:p>
        </p:txBody>
      </p:sp>
      <p:sp>
        <p:nvSpPr>
          <p:cNvPr id="12" name="Shape 8"/>
          <p:cNvSpPr/>
          <p:nvPr/>
        </p:nvSpPr>
        <p:spPr>
          <a:xfrm>
            <a:off x="457200" y="2798064"/>
            <a:ext cx="457200" cy="457200"/>
          </a:xfrm>
          <a:prstGeom prst="ellipse">
            <a:avLst/>
          </a:prstGeom>
          <a:solidFill>
            <a:srgbClr val="F5C800"/>
          </a:solidFill>
          <a:ln w="12700">
            <a:solidFill>
              <a:srgbClr val="F5C800"/>
            </a:solidFill>
            <a:prstDash val="solid"/>
          </a:ln>
        </p:spPr>
      </p:sp>
      <p:pic>
        <p:nvPicPr>
          <p:cNvPr id="13" name="Image 2" descr="preencoded.png">    </p:cNvPr>
          <p:cNvPicPr>
            <a:picLocks noChangeAspect="1"/>
          </p:cNvPicPr>
          <p:nvPr/>
        </p:nvPicPr>
        <p:blipFill>
          <a:blip r:embed="rId3"/>
          <a:stretch>
            <a:fillRect/>
          </a:stretch>
        </p:blipFill>
        <p:spPr>
          <a:xfrm>
            <a:off x="557784" y="2898648"/>
            <a:ext cx="256032" cy="256032"/>
          </a:xfrm>
          <a:prstGeom prst="rect">
            <a:avLst/>
          </a:prstGeom>
        </p:spPr>
      </p:pic>
      <p:sp>
        <p:nvSpPr>
          <p:cNvPr id="14" name="Text 9"/>
          <p:cNvSpPr txBox="1"/>
          <p:nvPr/>
        </p:nvSpPr>
        <p:spPr>
          <a:xfrm>
            <a:off x="1097280" y="2761488"/>
            <a:ext cx="7589520" cy="292608"/>
          </a:xfrm>
          <a:prstGeom prst="rect">
            <a:avLst/>
          </a:prstGeom>
          <a:noFill/>
          <a:ln/>
        </p:spPr>
        <p:txBody>
          <a:bodyPr wrap="square" lIns="0" tIns="0" rIns="0" bIns="0" rtlCol="0" anchor="ctr"/>
          <a:lstStyle/>
          <a:p>
            <a:pPr indent="0" marL="0">
              <a:buNone/>
            </a:pPr>
            <a:r>
              <a:rPr lang="en-US" sz="1600" b="1" dirty="0">
                <a:solidFill>
                  <a:srgbClr val="1B2533"/>
                </a:solidFill>
                <a:latin typeface="Inter" pitchFamily="34" charset="0"/>
                <a:ea typeface="Inter" pitchFamily="34" charset="-122"/>
                <a:cs typeface="Inter" pitchFamily="34" charset="-120"/>
              </a:rPr>
              <a:t>New staffing levels</a:t>
            </a:r>
            <a:endParaRPr lang="en-US" sz="1600" dirty="0"/>
          </a:p>
        </p:txBody>
      </p:sp>
      <p:sp>
        <p:nvSpPr>
          <p:cNvPr id="15" name="Text 10"/>
          <p:cNvSpPr txBox="1"/>
          <p:nvPr/>
        </p:nvSpPr>
        <p:spPr>
          <a:xfrm>
            <a:off x="1097280" y="3044952"/>
            <a:ext cx="7589520" cy="274320"/>
          </a:xfrm>
          <a:prstGeom prst="rect">
            <a:avLst/>
          </a:prstGeom>
          <a:noFill/>
          <a:ln/>
        </p:spPr>
        <p:txBody>
          <a:bodyPr wrap="square" lIns="0" tIns="0" rIns="0" bIns="0" rtlCol="0" anchor="ctr"/>
          <a:lstStyle/>
          <a:p>
            <a:pPr indent="0" marL="0">
              <a:buNone/>
            </a:pPr>
            <a:r>
              <a:rPr lang="en-US" sz="1300" dirty="0">
                <a:solidFill>
                  <a:srgbClr val="5B6778"/>
                </a:solidFill>
                <a:latin typeface="Inter" pitchFamily="34" charset="0"/>
                <a:ea typeface="Inter" pitchFamily="34" charset="-122"/>
                <a:cs typeface="Inter" pitchFamily="34" charset="-120"/>
              </a:rPr>
              <a:t>At least 10 on a Sunday, and more at the open and the close. We also aim for 14 on a Saturday.</a:t>
            </a:r>
            <a:endParaRPr lang="en-US" sz="1300" dirty="0"/>
          </a:p>
        </p:txBody>
      </p:sp>
      <p:sp>
        <p:nvSpPr>
          <p:cNvPr id="16" name="Shape 11"/>
          <p:cNvSpPr/>
          <p:nvPr/>
        </p:nvSpPr>
        <p:spPr>
          <a:xfrm>
            <a:off x="457200" y="3511296"/>
            <a:ext cx="457200" cy="457200"/>
          </a:xfrm>
          <a:prstGeom prst="ellipse">
            <a:avLst/>
          </a:prstGeom>
          <a:solidFill>
            <a:srgbClr val="F5C800"/>
          </a:solidFill>
          <a:ln w="12700">
            <a:solidFill>
              <a:srgbClr val="F5C800"/>
            </a:solidFill>
            <a:prstDash val="solid"/>
          </a:ln>
        </p:spPr>
      </p:sp>
      <p:pic>
        <p:nvPicPr>
          <p:cNvPr id="17" name="Image 3" descr="preencoded.png">    </p:cNvPr>
          <p:cNvPicPr>
            <a:picLocks noChangeAspect="1"/>
          </p:cNvPicPr>
          <p:nvPr/>
        </p:nvPicPr>
        <p:blipFill>
          <a:blip r:embed="rId4"/>
          <a:stretch>
            <a:fillRect/>
          </a:stretch>
        </p:blipFill>
        <p:spPr>
          <a:xfrm>
            <a:off x="557784" y="3611880"/>
            <a:ext cx="256032" cy="256032"/>
          </a:xfrm>
          <a:prstGeom prst="rect">
            <a:avLst/>
          </a:prstGeom>
        </p:spPr>
      </p:pic>
      <p:sp>
        <p:nvSpPr>
          <p:cNvPr id="18" name="Text 12"/>
          <p:cNvSpPr txBox="1"/>
          <p:nvPr/>
        </p:nvSpPr>
        <p:spPr>
          <a:xfrm>
            <a:off x="1097280" y="3474720"/>
            <a:ext cx="7589520" cy="292608"/>
          </a:xfrm>
          <a:prstGeom prst="rect">
            <a:avLst/>
          </a:prstGeom>
          <a:noFill/>
          <a:ln/>
        </p:spPr>
        <p:txBody>
          <a:bodyPr wrap="square" lIns="0" tIns="0" rIns="0" bIns="0" rtlCol="0" anchor="ctr"/>
          <a:lstStyle/>
          <a:p>
            <a:pPr indent="0" marL="0">
              <a:buNone/>
            </a:pPr>
            <a:r>
              <a:rPr lang="en-US" sz="1600" b="1" dirty="0">
                <a:solidFill>
                  <a:srgbClr val="1B2533"/>
                </a:solidFill>
                <a:latin typeface="Inter" pitchFamily="34" charset="0"/>
                <a:ea typeface="Inter" pitchFamily="34" charset="-122"/>
                <a:cs typeface="Inter" pitchFamily="34" charset="-120"/>
              </a:rPr>
              <a:t>The ticket office in fixed pairs</a:t>
            </a:r>
            <a:endParaRPr lang="en-US" sz="1600" dirty="0"/>
          </a:p>
        </p:txBody>
      </p:sp>
      <p:sp>
        <p:nvSpPr>
          <p:cNvPr id="19" name="Text 13"/>
          <p:cNvSpPr txBox="1"/>
          <p:nvPr/>
        </p:nvSpPr>
        <p:spPr>
          <a:xfrm>
            <a:off x="1097280" y="3758184"/>
            <a:ext cx="7589520" cy="274320"/>
          </a:xfrm>
          <a:prstGeom prst="rect">
            <a:avLst/>
          </a:prstGeom>
          <a:noFill/>
          <a:ln/>
        </p:spPr>
        <p:txBody>
          <a:bodyPr wrap="square" lIns="0" tIns="0" rIns="0" bIns="0" rtlCol="0" anchor="ctr"/>
          <a:lstStyle/>
          <a:p>
            <a:pPr indent="0" marL="0">
              <a:buNone/>
            </a:pPr>
            <a:r>
              <a:rPr lang="en-US" sz="1300" dirty="0">
                <a:solidFill>
                  <a:srgbClr val="5B6778"/>
                </a:solidFill>
                <a:latin typeface="Inter" pitchFamily="34" charset="0"/>
                <a:ea typeface="Inter" pitchFamily="34" charset="-122"/>
                <a:cs typeface="Inter" pitchFamily="34" charset="-120"/>
              </a:rPr>
              <a:t>Two early and two late, on the same shifts, every day.</a:t>
            </a:r>
            <a:endParaRPr lang="en-US" sz="1300" dirty="0"/>
          </a:p>
        </p:txBody>
      </p:sp>
      <p:sp>
        <p:nvSpPr>
          <p:cNvPr id="21" name="Banner"/>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22" name="Banner text"/>
          <p:cNvSpPr txBox="1"/>
          <p:nvPr/>
        </p:nvSpPr>
        <p:spPr>
          <a:xfrm>
            <a:off x="640080" y="4160520"/>
            <a:ext cx="7863840" cy="548640"/>
          </a:xfrm>
          <a:prstGeom prst="rect">
            <a:avLst/>
          </a:prstGeom>
          <a:noFill/>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The change is coming whatever we do — the question is which version we want.</a:t>
            </a:r>
          </a:p>
        </p:txBody>
      </p:sp>
      <p:sp>
        <p:nvSpPr>
          <p:cNvPr id="20" name="Text 14"/>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In Step · December 2026 link proposal · 3</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Will I work more?</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The first thing everyone asks</a:t>
            </a:r>
            <a:endParaRPr lang="en-US" sz="1500" dirty="0"/>
          </a:p>
        </p:txBody>
      </p:sp>
      <p:sp>
        <p:nvSpPr>
          <p:cNvPr id="4" name="Text 2"/>
          <p:cNvSpPr txBox="1"/>
          <p:nvPr/>
        </p:nvSpPr>
        <p:spPr>
          <a:xfrm>
            <a:off x="4663440" y="1417320"/>
            <a:ext cx="2011680" cy="320040"/>
          </a:xfrm>
          <a:prstGeom prst="rect">
            <a:avLst/>
          </a:prstGeom>
          <a:noFill/>
          <a:ln/>
        </p:spPr>
        <p:txBody>
          <a:bodyPr wrap="square" lIns="0" tIns="0" rIns="0" bIns="0" rtlCol="0" anchor="ctr"/>
          <a:lstStyle/>
          <a:p>
            <a:pPr algn="ctr" indent="0" marL="0">
              <a:buNone/>
            </a:pPr>
            <a:r>
              <a:rPr lang="en-US" sz="1300" b="1" dirty="0">
                <a:solidFill>
                  <a:srgbClr val="5B6778"/>
                </a:solidFill>
                <a:latin typeface="Inter" pitchFamily="34" charset="0"/>
                <a:ea typeface="Inter" pitchFamily="34" charset="-122"/>
                <a:cs typeface="Inter" pitchFamily="34" charset="-120"/>
              </a:rPr>
              <a:t>Today</a:t>
            </a:r>
            <a:endParaRPr lang="en-US" sz="1300" dirty="0"/>
          </a:p>
        </p:txBody>
      </p:sp>
      <p:sp>
        <p:nvSpPr>
          <p:cNvPr id="5" name="Text 3"/>
          <p:cNvSpPr txBox="1"/>
          <p:nvPr/>
        </p:nvSpPr>
        <p:spPr>
          <a:xfrm>
            <a:off x="6675120" y="1417320"/>
            <a:ext cx="2011680" cy="320040"/>
          </a:xfrm>
          <a:prstGeom prst="rect">
            <a:avLst/>
          </a:prstGeom>
          <a:noFill/>
          <a:ln/>
        </p:spPr>
        <p:txBody>
          <a:bodyPr wrap="square" lIns="0" tIns="0" rIns="0" bIns="0" rtlCol="0" anchor="ctr"/>
          <a:lstStyle/>
          <a:p>
            <a:pPr algn="ctr" indent="0" marL="0">
              <a:buNone/>
            </a:pPr>
            <a:r>
              <a:rPr lang="en-US" sz="1300" b="1" dirty="0">
                <a:solidFill>
                  <a:srgbClr val="001E3C"/>
                </a:solidFill>
                <a:latin typeface="Inter" pitchFamily="34" charset="0"/>
                <a:ea typeface="Inter" pitchFamily="34" charset="-122"/>
                <a:cs typeface="Inter" pitchFamily="34" charset="-120"/>
              </a:rPr>
              <a:t>In Step</a:t>
            </a:r>
            <a:endParaRPr lang="en-US" sz="1300" dirty="0"/>
          </a:p>
        </p:txBody>
      </p:sp>
      <p:sp>
        <p:nvSpPr>
          <p:cNvPr id="6" name="Shape 4"/>
          <p:cNvSpPr/>
          <p:nvPr/>
        </p:nvSpPr>
        <p:spPr>
          <a:xfrm>
            <a:off x="457200" y="1801368"/>
            <a:ext cx="8229600" cy="365760"/>
          </a:xfrm>
          <a:prstGeom prst="roundRect">
            <a:avLst>
              <a:gd name="adj" fmla="val 11538"/>
            </a:avLst>
          </a:prstGeom>
          <a:solidFill>
            <a:srgbClr val="EEF2F7"/>
          </a:solidFill>
          <a:ln w="12700">
            <a:solidFill>
              <a:srgbClr val="EEF2F7"/>
            </a:solidFill>
            <a:prstDash val="solid"/>
          </a:ln>
        </p:spPr>
      </p:sp>
      <p:sp>
        <p:nvSpPr>
          <p:cNvPr id="7" name="Text 5"/>
          <p:cNvSpPr txBox="1"/>
          <p:nvPr/>
        </p:nvSpPr>
        <p:spPr>
          <a:xfrm>
            <a:off x="640080" y="1801368"/>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Contracted hours a week</a:t>
            </a:r>
            <a:endParaRPr lang="en-US" sz="1400" dirty="0"/>
          </a:p>
        </p:txBody>
      </p:sp>
      <p:sp>
        <p:nvSpPr>
          <p:cNvPr id="8" name="Text 6"/>
          <p:cNvSpPr txBox="1"/>
          <p:nvPr/>
        </p:nvSpPr>
        <p:spPr>
          <a:xfrm>
            <a:off x="4663440" y="1801368"/>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35h</a:t>
            </a:r>
            <a:endParaRPr lang="en-US" sz="1600" dirty="0"/>
          </a:p>
        </p:txBody>
      </p:sp>
      <p:sp>
        <p:nvSpPr>
          <p:cNvPr id="9" name="Text 7"/>
          <p:cNvSpPr txBox="1"/>
          <p:nvPr/>
        </p:nvSpPr>
        <p:spPr>
          <a:xfrm>
            <a:off x="6675120" y="1801368"/>
            <a:ext cx="2011680" cy="365760"/>
          </a:xfrm>
          <a:prstGeom prst="rect">
            <a:avLst/>
          </a:prstGeom>
          <a:noFill/>
          <a:ln/>
        </p:spPr>
        <p:txBody>
          <a:bodyPr wrap="square" lIns="0" tIns="0" rIns="0" bIns="0" rtlCol="0" anchor="ctr"/>
          <a:lstStyle/>
          <a:p>
            <a:pPr algn="ctr" indent="0" marL="0">
              <a:buNone/>
            </a:pPr>
            <a:r>
              <a:rPr lang="en-US" sz="1800" b="1" dirty="0">
                <a:solidFill>
                  <a:srgbClr val="001E3C"/>
                </a:solidFill>
                <a:latin typeface="Inter" pitchFamily="34" charset="0"/>
                <a:ea typeface="Inter" pitchFamily="34" charset="-122"/>
                <a:cs typeface="Inter" pitchFamily="34" charset="-120"/>
              </a:rPr>
              <a:t>35h</a:t>
            </a:r>
            <a:endParaRPr lang="en-US" sz="1800" dirty="0"/>
          </a:p>
        </p:txBody>
      </p:sp>
      <p:sp>
        <p:nvSpPr>
          <p:cNvPr id="10" name="Shape 8"/>
          <p:cNvSpPr/>
          <p:nvPr/>
        </p:nvSpPr>
        <p:spPr>
          <a:xfrm>
            <a:off x="457200" y="2240280"/>
            <a:ext cx="8229600" cy="365760"/>
          </a:xfrm>
          <a:prstGeom prst="roundRect">
            <a:avLst>
              <a:gd name="adj" fmla="val 11538"/>
            </a:avLst>
          </a:prstGeom>
          <a:solidFill>
            <a:srgbClr val="FFFFFF"/>
          </a:solidFill>
          <a:ln w="12700">
            <a:solidFill>
              <a:srgbClr val="DDE3EA"/>
            </a:solidFill>
            <a:prstDash val="solid"/>
          </a:ln>
        </p:spPr>
      </p:sp>
      <p:sp>
        <p:nvSpPr>
          <p:cNvPr id="11" name="Text 9"/>
          <p:cNvSpPr txBox="1"/>
          <p:nvPr/>
        </p:nvSpPr>
        <p:spPr>
          <a:xfrm>
            <a:off x="640080" y="2240280"/>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Contracted days at work a week</a:t>
            </a:r>
            <a:endParaRPr lang="en-US" sz="1400" dirty="0"/>
          </a:p>
        </p:txBody>
      </p:sp>
      <p:sp>
        <p:nvSpPr>
          <p:cNvPr id="12" name="Text 10"/>
          <p:cNvSpPr txBox="1"/>
          <p:nvPr/>
        </p:nvSpPr>
        <p:spPr>
          <a:xfrm>
            <a:off x="4663440" y="2240280"/>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4.20</a:t>
            </a:r>
            <a:endParaRPr lang="en-US" sz="1600" dirty="0"/>
          </a:p>
        </p:txBody>
      </p:sp>
      <p:sp>
        <p:nvSpPr>
          <p:cNvPr id="13" name="Text 11"/>
          <p:cNvSpPr txBox="1"/>
          <p:nvPr/>
        </p:nvSpPr>
        <p:spPr>
          <a:xfrm>
            <a:off x="6675120" y="2240280"/>
            <a:ext cx="2011680" cy="365760"/>
          </a:xfrm>
          <a:prstGeom prst="rect">
            <a:avLst/>
          </a:prstGeom>
          <a:noFill/>
          <a:ln/>
        </p:spPr>
        <p:txBody>
          <a:bodyPr wrap="square" lIns="0" tIns="0" rIns="0" bIns="0" rtlCol="0" anchor="ctr"/>
          <a:lstStyle/>
          <a:p>
            <a:pPr algn="ctr" indent="0" marL="0">
              <a:buNone/>
            </a:pPr>
            <a:r>
              <a:rPr lang="en-US" sz="1800" b="1" dirty="0">
                <a:solidFill>
                  <a:srgbClr val="001E3C"/>
                </a:solidFill>
                <a:latin typeface="Inter" pitchFamily="34" charset="0"/>
                <a:ea typeface="Inter" pitchFamily="34" charset="-122"/>
                <a:cs typeface="Inter" pitchFamily="34" charset="-120"/>
              </a:rPr>
              <a:t>4.19</a:t>
            </a:r>
            <a:endParaRPr lang="en-US" sz="1800" dirty="0"/>
          </a:p>
        </p:txBody>
      </p:sp>
      <p:sp>
        <p:nvSpPr>
          <p:cNvPr id="14" name="Shape 12"/>
          <p:cNvSpPr/>
          <p:nvPr/>
        </p:nvSpPr>
        <p:spPr>
          <a:xfrm>
            <a:off x="457200" y="2679192"/>
            <a:ext cx="8229600" cy="365760"/>
          </a:xfrm>
          <a:prstGeom prst="roundRect">
            <a:avLst>
              <a:gd name="adj" fmla="val 11538"/>
            </a:avLst>
          </a:prstGeom>
          <a:solidFill>
            <a:srgbClr val="EEF2F7"/>
          </a:solidFill>
          <a:ln w="12700">
            <a:solidFill>
              <a:srgbClr val="EEF2F7"/>
            </a:solidFill>
            <a:prstDash val="solid"/>
          </a:ln>
        </p:spPr>
      </p:sp>
      <p:sp>
        <p:nvSpPr>
          <p:cNvPr id="15" name="Text 13"/>
          <p:cNvSpPr txBox="1"/>
          <p:nvPr/>
        </p:nvSpPr>
        <p:spPr>
          <a:xfrm>
            <a:off x="640080" y="2679192"/>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Contracted days at work a year</a:t>
            </a:r>
            <a:endParaRPr lang="en-US" sz="1400" dirty="0"/>
          </a:p>
        </p:txBody>
      </p:sp>
      <p:sp>
        <p:nvSpPr>
          <p:cNvPr id="16" name="Text 14"/>
          <p:cNvSpPr txBox="1"/>
          <p:nvPr/>
        </p:nvSpPr>
        <p:spPr>
          <a:xfrm>
            <a:off x="4663440" y="2679192"/>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219.0</a:t>
            </a:r>
            <a:endParaRPr lang="en-US" sz="1600" dirty="0"/>
          </a:p>
        </p:txBody>
      </p:sp>
      <p:sp>
        <p:nvSpPr>
          <p:cNvPr id="17" name="Text 15"/>
          <p:cNvSpPr txBox="1"/>
          <p:nvPr/>
        </p:nvSpPr>
        <p:spPr>
          <a:xfrm>
            <a:off x="6675120" y="2679192"/>
            <a:ext cx="2011680" cy="365760"/>
          </a:xfrm>
          <a:prstGeom prst="rect">
            <a:avLst/>
          </a:prstGeom>
          <a:noFill/>
          <a:ln/>
        </p:spPr>
        <p:txBody>
          <a:bodyPr wrap="square" lIns="0" tIns="0" rIns="0" bIns="0" rtlCol="0" anchor="ctr"/>
          <a:lstStyle/>
          <a:p>
            <a:pPr algn="ctr" indent="0" marL="0">
              <a:buNone/>
            </a:pPr>
            <a:r>
              <a:rPr lang="en-US" sz="1800" b="1" dirty="0">
                <a:solidFill>
                  <a:srgbClr val="001E3C"/>
                </a:solidFill>
                <a:latin typeface="Inter" pitchFamily="34" charset="0"/>
                <a:ea typeface="Inter" pitchFamily="34" charset="-122"/>
                <a:cs typeface="Inter" pitchFamily="34" charset="-120"/>
              </a:rPr>
              <a:t>218.6</a:t>
            </a:r>
            <a:endParaRPr lang="en-US" sz="1800" dirty="0"/>
          </a:p>
        </p:txBody>
      </p:sp>
      <p:sp>
        <p:nvSpPr>
          <p:cNvPr id="18" name="Shape 16"/>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19" name="Text 17"/>
          <p:cNvSpPr txBox="1"/>
          <p:nvPr/>
        </p:nvSpPr>
        <p:spPr>
          <a:xfrm>
            <a:off x="640080" y="4160520"/>
            <a:ext cx="7863840" cy="548640"/>
          </a:xfrm>
          <a:prstGeom prst="rect">
            <a:avLst/>
          </a:prstGeom>
          <a:noFill/>
          <a:ln/>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No. The same 35-hour week on average and no more days; weeks run from 25h 30m to 41h 05m (today 25h 10m to 43h 50m), and two more of the days fall on a Saturday.</a:t>
            </a:r>
            <a:endParaRPr lang="en-US" sz="1400" dirty="0"/>
          </a:p>
        </p:txBody>
      </p:sp>
      <p:sp>
        <p:nvSpPr>
          <p:cNvPr id="20" name="Text 18"/>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In Step · December 2026 link proposal · 4</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Will my basic pay change?</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Basic pay follows your contracted hours</a:t>
            </a:r>
            <a:endParaRPr lang="en-US" sz="1500" dirty="0"/>
          </a:p>
        </p:txBody>
      </p:sp>
      <p:sp>
        <p:nvSpPr>
          <p:cNvPr id="4" name="Text 2"/>
          <p:cNvSpPr txBox="1"/>
          <p:nvPr/>
        </p:nvSpPr>
        <p:spPr>
          <a:xfrm>
            <a:off x="4663440" y="1417320"/>
            <a:ext cx="2011680" cy="320040"/>
          </a:xfrm>
          <a:prstGeom prst="rect">
            <a:avLst/>
          </a:prstGeom>
          <a:noFill/>
          <a:ln/>
        </p:spPr>
        <p:txBody>
          <a:bodyPr wrap="square" lIns="0" tIns="0" rIns="0" bIns="0" rtlCol="0" anchor="ctr"/>
          <a:lstStyle/>
          <a:p>
            <a:pPr algn="ctr" indent="0" marL="0">
              <a:buNone/>
            </a:pPr>
            <a:r>
              <a:rPr lang="en-US" sz="1300" b="1" dirty="0">
                <a:solidFill>
                  <a:srgbClr val="5B6778"/>
                </a:solidFill>
                <a:latin typeface="Inter" pitchFamily="34" charset="0"/>
                <a:ea typeface="Inter" pitchFamily="34" charset="-122"/>
                <a:cs typeface="Inter" pitchFamily="34" charset="-120"/>
              </a:rPr>
              <a:t>Today</a:t>
            </a:r>
            <a:endParaRPr lang="en-US" sz="1300" dirty="0"/>
          </a:p>
        </p:txBody>
      </p:sp>
      <p:sp>
        <p:nvSpPr>
          <p:cNvPr id="5" name="Text 3"/>
          <p:cNvSpPr txBox="1"/>
          <p:nvPr/>
        </p:nvSpPr>
        <p:spPr>
          <a:xfrm>
            <a:off x="6675120" y="1417320"/>
            <a:ext cx="2011680" cy="320040"/>
          </a:xfrm>
          <a:prstGeom prst="rect">
            <a:avLst/>
          </a:prstGeom>
          <a:noFill/>
          <a:ln/>
        </p:spPr>
        <p:txBody>
          <a:bodyPr wrap="square" lIns="0" tIns="0" rIns="0" bIns="0" rtlCol="0" anchor="ctr"/>
          <a:lstStyle/>
          <a:p>
            <a:pPr algn="ctr" indent="0" marL="0">
              <a:buNone/>
            </a:pPr>
            <a:r>
              <a:rPr lang="en-US" sz="1300" b="1" dirty="0">
                <a:solidFill>
                  <a:srgbClr val="001E3C"/>
                </a:solidFill>
                <a:latin typeface="Inter" pitchFamily="34" charset="0"/>
                <a:ea typeface="Inter" pitchFamily="34" charset="-122"/>
                <a:cs typeface="Inter" pitchFamily="34" charset="-120"/>
              </a:rPr>
              <a:t>In Step</a:t>
            </a:r>
            <a:endParaRPr lang="en-US" sz="1300" dirty="0"/>
          </a:p>
        </p:txBody>
      </p:sp>
      <p:sp>
        <p:nvSpPr>
          <p:cNvPr id="6" name="Shape 4"/>
          <p:cNvSpPr/>
          <p:nvPr/>
        </p:nvSpPr>
        <p:spPr>
          <a:xfrm>
            <a:off x="457200" y="1801368"/>
            <a:ext cx="8229600" cy="365760"/>
          </a:xfrm>
          <a:prstGeom prst="roundRect">
            <a:avLst>
              <a:gd name="adj" fmla="val 11538"/>
            </a:avLst>
          </a:prstGeom>
          <a:solidFill>
            <a:srgbClr val="EEF2F7"/>
          </a:solidFill>
          <a:ln w="12700">
            <a:solidFill>
              <a:srgbClr val="EEF2F7"/>
            </a:solidFill>
            <a:prstDash val="solid"/>
          </a:ln>
        </p:spPr>
      </p:sp>
      <p:sp>
        <p:nvSpPr>
          <p:cNvPr id="7" name="Text 5"/>
          <p:cNvSpPr txBox="1"/>
          <p:nvPr/>
        </p:nvSpPr>
        <p:spPr>
          <a:xfrm>
            <a:off x="640080" y="1801368"/>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Contracted hours a week</a:t>
            </a:r>
            <a:endParaRPr lang="en-US" sz="1400" dirty="0"/>
          </a:p>
        </p:txBody>
      </p:sp>
      <p:sp>
        <p:nvSpPr>
          <p:cNvPr id="8" name="Text 6"/>
          <p:cNvSpPr txBox="1"/>
          <p:nvPr/>
        </p:nvSpPr>
        <p:spPr>
          <a:xfrm>
            <a:off x="4663440" y="1801368"/>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35h</a:t>
            </a:r>
            <a:endParaRPr lang="en-US" sz="1600" dirty="0"/>
          </a:p>
        </p:txBody>
      </p:sp>
      <p:sp>
        <p:nvSpPr>
          <p:cNvPr id="9" name="Text 7"/>
          <p:cNvSpPr txBox="1"/>
          <p:nvPr/>
        </p:nvSpPr>
        <p:spPr>
          <a:xfrm>
            <a:off x="6675120" y="1801368"/>
            <a:ext cx="2011680" cy="365760"/>
          </a:xfrm>
          <a:prstGeom prst="rect">
            <a:avLst/>
          </a:prstGeom>
          <a:noFill/>
          <a:ln/>
        </p:spPr>
        <p:txBody>
          <a:bodyPr wrap="square" lIns="0" tIns="0" rIns="0" bIns="0" rtlCol="0" anchor="ctr"/>
          <a:lstStyle/>
          <a:p>
            <a:pPr algn="ctr" indent="0" marL="0">
              <a:buNone/>
            </a:pPr>
            <a:r>
              <a:rPr lang="en-US" sz="1800" b="1" dirty="0">
                <a:solidFill>
                  <a:srgbClr val="001E3C"/>
                </a:solidFill>
                <a:latin typeface="Inter" pitchFamily="34" charset="0"/>
                <a:ea typeface="Inter" pitchFamily="34" charset="-122"/>
                <a:cs typeface="Inter" pitchFamily="34" charset="-120"/>
              </a:rPr>
              <a:t>35h</a:t>
            </a:r>
            <a:endParaRPr lang="en-US" sz="1800" dirty="0"/>
          </a:p>
        </p:txBody>
      </p:sp>
      <p:sp>
        <p:nvSpPr>
          <p:cNvPr id="10" name="Shape 8"/>
          <p:cNvSpPr/>
          <p:nvPr/>
        </p:nvSpPr>
        <p:spPr>
          <a:xfrm>
            <a:off x="457200" y="2240280"/>
            <a:ext cx="8229600" cy="365760"/>
          </a:xfrm>
          <a:prstGeom prst="roundRect">
            <a:avLst>
              <a:gd name="adj" fmla="val 11538"/>
            </a:avLst>
          </a:prstGeom>
          <a:solidFill>
            <a:srgbClr val="FFFFFF"/>
          </a:solidFill>
          <a:ln w="12700">
            <a:solidFill>
              <a:srgbClr val="DDE3EA"/>
            </a:solidFill>
            <a:prstDash val="solid"/>
          </a:ln>
        </p:spPr>
      </p:sp>
      <p:sp>
        <p:nvSpPr>
          <p:cNvPr id="11" name="Text 9"/>
          <p:cNvSpPr txBox="1"/>
          <p:nvPr/>
        </p:nvSpPr>
        <p:spPr>
          <a:xfrm>
            <a:off x="640080" y="2240280"/>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Saturdays a year, at time and a quarter</a:t>
            </a:r>
            <a:endParaRPr lang="en-US" sz="1400" dirty="0"/>
          </a:p>
        </p:txBody>
      </p:sp>
      <p:sp>
        <p:nvSpPr>
          <p:cNvPr id="12" name="Text 10"/>
          <p:cNvSpPr txBox="1"/>
          <p:nvPr/>
        </p:nvSpPr>
        <p:spPr>
          <a:xfrm>
            <a:off x="4663440" y="2240280"/>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26</a:t>
            </a:r>
            <a:endParaRPr lang="en-US" sz="1600" dirty="0"/>
          </a:p>
        </p:txBody>
      </p:sp>
      <p:sp>
        <p:nvSpPr>
          <p:cNvPr id="13" name="Text 11"/>
          <p:cNvSpPr txBox="1"/>
          <p:nvPr/>
        </p:nvSpPr>
        <p:spPr>
          <a:xfrm>
            <a:off x="6675120" y="2240280"/>
            <a:ext cx="2011680" cy="365760"/>
          </a:xfrm>
          <a:prstGeom prst="rect">
            <a:avLst/>
          </a:prstGeom>
          <a:noFill/>
          <a:ln/>
        </p:spPr>
        <p:txBody>
          <a:bodyPr wrap="square" lIns="0" tIns="0" rIns="0" bIns="0" rtlCol="0" anchor="ctr"/>
          <a:lstStyle/>
          <a:p>
            <a:pPr algn="ctr" indent="0" marL="0">
              <a:buNone/>
            </a:pPr>
            <a:r>
              <a:rPr lang="en-US" sz="1800" b="1" dirty="0">
                <a:solidFill>
                  <a:srgbClr val="001E3C"/>
                </a:solidFill>
                <a:latin typeface="Inter" pitchFamily="34" charset="0"/>
                <a:ea typeface="Inter" pitchFamily="34" charset="-122"/>
                <a:cs typeface="Inter" pitchFamily="34" charset="-120"/>
              </a:rPr>
              <a:t>28</a:t>
            </a:r>
            <a:endParaRPr lang="en-US" sz="1800" dirty="0"/>
          </a:p>
        </p:txBody>
      </p:sp>
      <p:sp>
        <p:nvSpPr>
          <p:cNvPr id="14" name="Shape 12"/>
          <p:cNvSpPr/>
          <p:nvPr/>
        </p:nvSpPr>
        <p:spPr>
          <a:xfrm>
            <a:off x="457200" y="2679192"/>
            <a:ext cx="8229600" cy="365760"/>
          </a:xfrm>
          <a:prstGeom prst="roundRect">
            <a:avLst>
              <a:gd name="adj" fmla="val 11538"/>
            </a:avLst>
          </a:prstGeom>
          <a:solidFill>
            <a:srgbClr val="EEF2F7"/>
          </a:solidFill>
          <a:ln w="12700">
            <a:solidFill>
              <a:srgbClr val="EEF2F7"/>
            </a:solidFill>
            <a:prstDash val="solid"/>
          </a:ln>
        </p:spPr>
      </p:sp>
      <p:sp>
        <p:nvSpPr>
          <p:cNvPr id="15" name="Text 13"/>
          <p:cNvSpPr txBox="1"/>
          <p:nvPr/>
        </p:nvSpPr>
        <p:spPr>
          <a:xfrm>
            <a:off x="640080" y="2679192"/>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Sunday overtime to share — each, a year</a:t>
            </a:r>
            <a:endParaRPr lang="en-US" sz="1400" dirty="0"/>
          </a:p>
        </p:txBody>
      </p:sp>
      <p:sp>
        <p:nvSpPr>
          <p:cNvPr id="16" name="Text 14"/>
          <p:cNvSpPr txBox="1"/>
          <p:nvPr/>
        </p:nvSpPr>
        <p:spPr>
          <a:xfrm>
            <a:off x="4663440" y="2679192"/>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21</a:t>
            </a:r>
            <a:endParaRPr lang="en-US" sz="1600" dirty="0"/>
          </a:p>
        </p:txBody>
      </p:sp>
      <p:sp>
        <p:nvSpPr>
          <p:cNvPr id="17" name="Text 15"/>
          <p:cNvSpPr txBox="1"/>
          <p:nvPr/>
        </p:nvSpPr>
        <p:spPr>
          <a:xfrm>
            <a:off x="6675120" y="2679192"/>
            <a:ext cx="2011680" cy="365760"/>
          </a:xfrm>
          <a:prstGeom prst="rect">
            <a:avLst/>
          </a:prstGeom>
          <a:noFill/>
          <a:ln/>
        </p:spPr>
        <p:txBody>
          <a:bodyPr wrap="square" lIns="0" tIns="0" rIns="0" bIns="0" rtlCol="0" anchor="ctr"/>
          <a:lstStyle/>
          <a:p>
            <a:pPr algn="ctr" indent="0" marL="0">
              <a:buNone/>
            </a:pPr>
            <a:r>
              <a:rPr lang="en-US" sz="1800" b="1" dirty="0">
                <a:solidFill>
                  <a:srgbClr val="001E3C"/>
                </a:solidFill>
                <a:latin typeface="Inter" pitchFamily="34" charset="0"/>
                <a:ea typeface="Inter" pitchFamily="34" charset="-122"/>
                <a:cs typeface="Inter" pitchFamily="34" charset="-120"/>
              </a:rPr>
              <a:t>20</a:t>
            </a:r>
            <a:endParaRPr lang="en-US" sz="1800" dirty="0"/>
          </a:p>
        </p:txBody>
      </p:sp>
      <p:sp>
        <p:nvSpPr>
          <p:cNvPr id="18" name="Shape 16"/>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19" name="Text 17"/>
          <p:cNvSpPr txBox="1"/>
          <p:nvPr/>
        </p:nvSpPr>
        <p:spPr>
          <a:xfrm>
            <a:off x="640080" y="4160520"/>
            <a:ext cx="7863840" cy="548640"/>
          </a:xfrm>
          <a:prstGeom prst="rect">
            <a:avLst/>
          </a:prstGeom>
          <a:noFill/>
          <a:ln/>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No. The same 35-hour week — plus about two more Saturdays at time and a quarter.</a:t>
            </a:r>
            <a:endParaRPr lang="en-US" sz="1400" dirty="0"/>
          </a:p>
        </p:txBody>
      </p:sp>
      <p:sp>
        <p:nvSpPr>
          <p:cNvPr id="21" name="Text 19"/>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In Step · December 2026 link proposal · 5</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Will my shifts be longer?</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Every closing shift gets shorter — the average goes up about two minutes</a:t>
            </a:r>
            <a:endParaRPr lang="en-US" sz="1500" dirty="0"/>
          </a:p>
        </p:txBody>
      </p:sp>
      <p:sp>
        <p:nvSpPr>
          <p:cNvPr id="4" name="Text 2"/>
          <p:cNvSpPr txBox="1"/>
          <p:nvPr/>
        </p:nvSpPr>
        <p:spPr>
          <a:xfrm>
            <a:off x="4663440" y="1417320"/>
            <a:ext cx="2011680" cy="320040"/>
          </a:xfrm>
          <a:prstGeom prst="rect">
            <a:avLst/>
          </a:prstGeom>
          <a:noFill/>
          <a:ln/>
        </p:spPr>
        <p:txBody>
          <a:bodyPr wrap="square" lIns="0" tIns="0" rIns="0" bIns="0" rtlCol="0" anchor="ctr"/>
          <a:lstStyle/>
          <a:p>
            <a:pPr algn="ctr" indent="0" marL="0">
              <a:buNone/>
            </a:pPr>
            <a:r>
              <a:rPr lang="en-US" sz="1300" b="1" dirty="0">
                <a:solidFill>
                  <a:srgbClr val="5B6778"/>
                </a:solidFill>
                <a:latin typeface="Inter" pitchFamily="34" charset="0"/>
                <a:ea typeface="Inter" pitchFamily="34" charset="-122"/>
                <a:cs typeface="Inter" pitchFamily="34" charset="-120"/>
              </a:rPr>
              <a:t>Today</a:t>
            </a:r>
            <a:endParaRPr lang="en-US" sz="1300" dirty="0"/>
          </a:p>
        </p:txBody>
      </p:sp>
      <p:sp>
        <p:nvSpPr>
          <p:cNvPr id="5" name="Text 3"/>
          <p:cNvSpPr txBox="1"/>
          <p:nvPr/>
        </p:nvSpPr>
        <p:spPr>
          <a:xfrm>
            <a:off x="6675120" y="1417320"/>
            <a:ext cx="2011680" cy="320040"/>
          </a:xfrm>
          <a:prstGeom prst="rect">
            <a:avLst/>
          </a:prstGeom>
          <a:noFill/>
          <a:ln/>
        </p:spPr>
        <p:txBody>
          <a:bodyPr wrap="square" lIns="0" tIns="0" rIns="0" bIns="0" rtlCol="0" anchor="ctr"/>
          <a:lstStyle/>
          <a:p>
            <a:pPr algn="ctr" indent="0" marL="0">
              <a:buNone/>
            </a:pPr>
            <a:r>
              <a:rPr lang="en-US" sz="1300" b="1" dirty="0">
                <a:solidFill>
                  <a:srgbClr val="001E3C"/>
                </a:solidFill>
                <a:latin typeface="Inter" pitchFamily="34" charset="0"/>
                <a:ea typeface="Inter" pitchFamily="34" charset="-122"/>
                <a:cs typeface="Inter" pitchFamily="34" charset="-120"/>
              </a:rPr>
              <a:t>In Step</a:t>
            </a:r>
            <a:endParaRPr lang="en-US" sz="1300" dirty="0"/>
          </a:p>
        </p:txBody>
      </p:sp>
      <p:sp>
        <p:nvSpPr>
          <p:cNvPr id="6" name="Shape 4"/>
          <p:cNvSpPr/>
          <p:nvPr/>
        </p:nvSpPr>
        <p:spPr>
          <a:xfrm>
            <a:off x="457200" y="1801368"/>
            <a:ext cx="8229600" cy="365760"/>
          </a:xfrm>
          <a:prstGeom prst="roundRect">
            <a:avLst>
              <a:gd name="adj" fmla="val 15000"/>
            </a:avLst>
          </a:prstGeom>
          <a:solidFill>
            <a:srgbClr val="EEF2F7"/>
          </a:solidFill>
          <a:ln w="12700">
            <a:solidFill>
              <a:srgbClr val="EEF2F7"/>
            </a:solidFill>
            <a:prstDash val="solid"/>
          </a:ln>
        </p:spPr>
      </p:sp>
      <p:sp>
        <p:nvSpPr>
          <p:cNvPr id="7" name="Text 5"/>
          <p:cNvSpPr txBox="1"/>
          <p:nvPr/>
        </p:nvSpPr>
        <p:spPr>
          <a:xfrm>
            <a:off x="640080" y="1801368"/>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Weekday closer — starts 15:45, not 15:15</a:t>
            </a:r>
            <a:endParaRPr lang="en-US" sz="1400" dirty="0"/>
          </a:p>
        </p:txBody>
      </p:sp>
      <p:sp>
        <p:nvSpPr>
          <p:cNvPr id="8" name="Text 6"/>
          <p:cNvSpPr txBox="1"/>
          <p:nvPr/>
        </p:nvSpPr>
        <p:spPr>
          <a:xfrm>
            <a:off x="4663440" y="1801368"/>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8h 40m</a:t>
            </a:r>
            <a:endParaRPr lang="en-US" sz="1600" dirty="0"/>
          </a:p>
        </p:txBody>
      </p:sp>
      <p:sp>
        <p:nvSpPr>
          <p:cNvPr id="9" name="Text 7"/>
          <p:cNvSpPr txBox="1"/>
          <p:nvPr/>
        </p:nvSpPr>
        <p:spPr>
          <a:xfrm>
            <a:off x="6675120" y="1801368"/>
            <a:ext cx="2011680" cy="365760"/>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8h 10m</a:t>
            </a:r>
            <a:endParaRPr lang="en-US" sz="1800" dirty="0"/>
          </a:p>
        </p:txBody>
      </p:sp>
      <p:sp>
        <p:nvSpPr>
          <p:cNvPr id="10" name="Shape 8"/>
          <p:cNvSpPr/>
          <p:nvPr/>
        </p:nvSpPr>
        <p:spPr>
          <a:xfrm>
            <a:off x="457200" y="2240280"/>
            <a:ext cx="8229600" cy="365760"/>
          </a:xfrm>
          <a:prstGeom prst="roundRect">
            <a:avLst>
              <a:gd name="adj" fmla="val 15000"/>
            </a:avLst>
          </a:prstGeom>
          <a:solidFill>
            <a:srgbClr val="FFFFFF"/>
          </a:solidFill>
          <a:ln w="12700">
            <a:solidFill>
              <a:srgbClr val="DDE3EA"/>
            </a:solidFill>
            <a:prstDash val="solid"/>
          </a:ln>
        </p:spPr>
      </p:sp>
      <p:sp>
        <p:nvSpPr>
          <p:cNvPr id="11" name="Text 9"/>
          <p:cNvSpPr txBox="1"/>
          <p:nvPr/>
        </p:nvSpPr>
        <p:spPr>
          <a:xfrm>
            <a:off x="640080" y="2240280"/>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Saturday closer — starts 15:45, not 14:45</a:t>
            </a:r>
            <a:endParaRPr lang="en-US" sz="1400" dirty="0"/>
          </a:p>
        </p:txBody>
      </p:sp>
      <p:sp>
        <p:nvSpPr>
          <p:cNvPr id="12" name="Text 10"/>
          <p:cNvSpPr txBox="1"/>
          <p:nvPr/>
        </p:nvSpPr>
        <p:spPr>
          <a:xfrm>
            <a:off x="4663440" y="2240280"/>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9h 10m</a:t>
            </a:r>
            <a:endParaRPr lang="en-US" sz="1600" dirty="0"/>
          </a:p>
        </p:txBody>
      </p:sp>
      <p:sp>
        <p:nvSpPr>
          <p:cNvPr id="13" name="Text 11"/>
          <p:cNvSpPr txBox="1"/>
          <p:nvPr/>
        </p:nvSpPr>
        <p:spPr>
          <a:xfrm>
            <a:off x="6675120" y="2240280"/>
            <a:ext cx="2011680" cy="365760"/>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8h 10m</a:t>
            </a:r>
            <a:endParaRPr lang="en-US" sz="1800" dirty="0"/>
          </a:p>
        </p:txBody>
      </p:sp>
      <p:sp>
        <p:nvSpPr>
          <p:cNvPr id="14" name="Shape 12"/>
          <p:cNvSpPr/>
          <p:nvPr/>
        </p:nvSpPr>
        <p:spPr>
          <a:xfrm>
            <a:off x="457200" y="2679192"/>
            <a:ext cx="8229600" cy="365760"/>
          </a:xfrm>
          <a:prstGeom prst="roundRect">
            <a:avLst>
              <a:gd name="adj" fmla="val 15000"/>
            </a:avLst>
          </a:prstGeom>
          <a:solidFill>
            <a:srgbClr val="EEF2F7"/>
          </a:solidFill>
          <a:ln w="12700">
            <a:solidFill>
              <a:srgbClr val="EEF2F7"/>
            </a:solidFill>
            <a:prstDash val="solid"/>
          </a:ln>
        </p:spPr>
      </p:sp>
      <p:sp>
        <p:nvSpPr>
          <p:cNvPr id="15" name="Text 13"/>
          <p:cNvSpPr txBox="1"/>
          <p:nvPr/>
        </p:nvSpPr>
        <p:spPr>
          <a:xfrm>
            <a:off x="640080" y="2679192"/>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Sunday closer — starts 15:15, not 14:30</a:t>
            </a:r>
            <a:endParaRPr lang="en-US" sz="1400" dirty="0"/>
          </a:p>
        </p:txBody>
      </p:sp>
      <p:sp>
        <p:nvSpPr>
          <p:cNvPr id="16" name="Text 14"/>
          <p:cNvSpPr txBox="1"/>
          <p:nvPr/>
        </p:nvSpPr>
        <p:spPr>
          <a:xfrm>
            <a:off x="4663440" y="2679192"/>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8h 55m</a:t>
            </a:r>
            <a:endParaRPr lang="en-US" sz="1600" dirty="0"/>
          </a:p>
        </p:txBody>
      </p:sp>
      <p:sp>
        <p:nvSpPr>
          <p:cNvPr id="17" name="Text 15"/>
          <p:cNvSpPr txBox="1"/>
          <p:nvPr/>
        </p:nvSpPr>
        <p:spPr>
          <a:xfrm>
            <a:off x="6675120" y="2679192"/>
            <a:ext cx="2011680" cy="365760"/>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8h 10m</a:t>
            </a:r>
            <a:endParaRPr lang="en-US" sz="1800" dirty="0"/>
          </a:p>
        </p:txBody>
      </p:sp>
      <p:sp>
        <p:nvSpPr>
          <p:cNvPr id="18" name="Shape 16"/>
          <p:cNvSpPr/>
          <p:nvPr/>
        </p:nvSpPr>
        <p:spPr>
          <a:xfrm>
            <a:off x="457200" y="3118104"/>
            <a:ext cx="8229600" cy="365760"/>
          </a:xfrm>
          <a:prstGeom prst="roundRect">
            <a:avLst>
              <a:gd name="adj" fmla="val 15000"/>
            </a:avLst>
          </a:prstGeom>
          <a:solidFill>
            <a:srgbClr val="FFFFFF"/>
          </a:solidFill>
          <a:ln w="12700">
            <a:solidFill>
              <a:srgbClr val="DDE3EA"/>
            </a:solidFill>
            <a:prstDash val="solid"/>
          </a:ln>
        </p:spPr>
      </p:sp>
      <p:sp>
        <p:nvSpPr>
          <p:cNvPr id="19" name="Text 17"/>
          <p:cNvSpPr txBox="1"/>
          <p:nvPr/>
        </p:nvSpPr>
        <p:spPr>
          <a:xfrm>
            <a:off x="640080" y="3118104"/>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Longest shift anywhere</a:t>
            </a:r>
            <a:endParaRPr lang="en-US" sz="1400" dirty="0"/>
          </a:p>
        </p:txBody>
      </p:sp>
      <p:sp>
        <p:nvSpPr>
          <p:cNvPr id="20" name="Text 18"/>
          <p:cNvSpPr txBox="1"/>
          <p:nvPr/>
        </p:nvSpPr>
        <p:spPr>
          <a:xfrm>
            <a:off x="4663440" y="3118104"/>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9h 10m</a:t>
            </a:r>
            <a:endParaRPr lang="en-US" sz="1600" dirty="0"/>
          </a:p>
        </p:txBody>
      </p:sp>
      <p:sp>
        <p:nvSpPr>
          <p:cNvPr id="21" name="Text 19"/>
          <p:cNvSpPr txBox="1"/>
          <p:nvPr/>
        </p:nvSpPr>
        <p:spPr>
          <a:xfrm>
            <a:off x="6675120" y="3118104"/>
            <a:ext cx="2011680" cy="365760"/>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9h 00m</a:t>
            </a:r>
            <a:endParaRPr lang="en-US" sz="1800" dirty="0"/>
          </a:p>
        </p:txBody>
      </p:sp>
      <p:sp>
        <p:nvSpPr>
          <p:cNvPr id="22" name="Shape 20"/>
          <p:cNvSpPr/>
          <p:nvPr/>
        </p:nvSpPr>
        <p:spPr>
          <a:xfrm>
            <a:off x="457200" y="3557016"/>
            <a:ext cx="8229600" cy="365760"/>
          </a:xfrm>
          <a:prstGeom prst="roundRect">
            <a:avLst>
              <a:gd name="adj" fmla="val 15000"/>
            </a:avLst>
          </a:prstGeom>
          <a:solidFill>
            <a:srgbClr val="EEF2F7"/>
          </a:solidFill>
          <a:ln w="12700">
            <a:solidFill>
              <a:srgbClr val="EEF2F7"/>
            </a:solidFill>
            <a:prstDash val="solid"/>
          </a:ln>
        </p:spPr>
      </p:sp>
      <p:sp>
        <p:nvSpPr>
          <p:cNvPr id="23" name="Text 21"/>
          <p:cNvSpPr txBox="1"/>
          <p:nvPr/>
        </p:nvSpPr>
        <p:spPr>
          <a:xfrm>
            <a:off x="640080" y="3557016"/>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Average shift</a:t>
            </a:r>
            <a:endParaRPr lang="en-US" sz="1400" dirty="0"/>
          </a:p>
        </p:txBody>
      </p:sp>
      <p:sp>
        <p:nvSpPr>
          <p:cNvPr id="24" name="Text 22"/>
          <p:cNvSpPr txBox="1"/>
          <p:nvPr/>
        </p:nvSpPr>
        <p:spPr>
          <a:xfrm>
            <a:off x="4663440" y="3557016"/>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8h 14m</a:t>
            </a:r>
            <a:endParaRPr lang="en-US" sz="1600" dirty="0"/>
          </a:p>
        </p:txBody>
      </p:sp>
      <p:sp>
        <p:nvSpPr>
          <p:cNvPr id="25" name="Text 23"/>
          <p:cNvSpPr txBox="1"/>
          <p:nvPr/>
        </p:nvSpPr>
        <p:spPr>
          <a:xfrm>
            <a:off x="6675120" y="3557016"/>
            <a:ext cx="2011680" cy="365760"/>
          </a:xfrm>
          <a:prstGeom prst="rect">
            <a:avLst/>
          </a:prstGeom>
          <a:noFill/>
          <a:ln/>
        </p:spPr>
        <p:txBody>
          <a:bodyPr wrap="square" lIns="0" tIns="0" rIns="0" bIns="0" rtlCol="0" anchor="ctr"/>
          <a:lstStyle/>
          <a:p>
            <a:pPr algn="ctr" indent="0" marL="0">
              <a:buNone/>
            </a:pPr>
            <a:r>
              <a:rPr lang="en-US" sz="1800" b="1" dirty="0">
                <a:solidFill>
                  <a:srgbClr val="A15C00"/>
                </a:solidFill>
                <a:latin typeface="Inter" pitchFamily="34" charset="0"/>
                <a:ea typeface="Inter" pitchFamily="34" charset="-122"/>
                <a:cs typeface="Inter" pitchFamily="34" charset="-120"/>
              </a:rPr>
              <a:t>8h 16m</a:t>
            </a:r>
            <a:endParaRPr lang="en-US" sz="1800" dirty="0"/>
          </a:p>
        </p:txBody>
      </p:sp>
      <p:sp>
        <p:nvSpPr>
          <p:cNvPr id="26" name="Shape 24"/>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27" name="Text 25"/>
          <p:cNvSpPr txBox="1"/>
          <p:nvPr/>
        </p:nvSpPr>
        <p:spPr>
          <a:xfrm>
            <a:off x="640080" y="4160520"/>
            <a:ext cx="7863840" cy="548640"/>
          </a:xfrm>
          <a:prstGeom prst="rect">
            <a:avLst/>
          </a:prstGeom>
          <a:noFill/>
          <a:ln/>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Every closing shift is 30 to 60 minutes shorter; the longest early turn goes from 8h 30m to 9h 00m, and nothing runs over 9 hours.</a:t>
            </a:r>
            <a:endParaRPr lang="en-US" sz="1400" dirty="0"/>
          </a:p>
        </p:txBody>
      </p:sp>
      <p:sp>
        <p:nvSpPr>
          <p:cNvPr id="28" name="Text 26"/>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In Step · December 2026 link proposal · 6</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Will I finish late more often?</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3 more a year after 23:00 (42, today 39); 16 more at 22:00 or later (94, today 78)</a:t>
            </a:r>
            <a:endParaRPr lang="en-US" sz="1500" dirty="0"/>
          </a:p>
        </p:txBody>
      </p:sp>
      <p:sp>
        <p:nvSpPr>
          <p:cNvPr id="4" name="Text 2"/>
          <p:cNvSpPr txBox="1"/>
          <p:nvPr/>
        </p:nvSpPr>
        <p:spPr>
          <a:xfrm>
            <a:off x="4663440" y="1417320"/>
            <a:ext cx="2011680" cy="320040"/>
          </a:xfrm>
          <a:prstGeom prst="rect">
            <a:avLst/>
          </a:prstGeom>
          <a:noFill/>
          <a:ln/>
        </p:spPr>
        <p:txBody>
          <a:bodyPr wrap="square" lIns="0" tIns="0" rIns="0" bIns="0" rtlCol="0" anchor="ctr"/>
          <a:lstStyle/>
          <a:p>
            <a:pPr algn="ctr" indent="0" marL="0">
              <a:buNone/>
            </a:pPr>
            <a:r>
              <a:rPr lang="en-US" sz="1300" b="1" dirty="0">
                <a:solidFill>
                  <a:srgbClr val="5B6778"/>
                </a:solidFill>
                <a:latin typeface="Inter" pitchFamily="34" charset="0"/>
                <a:ea typeface="Inter" pitchFamily="34" charset="-122"/>
                <a:cs typeface="Inter" pitchFamily="34" charset="-120"/>
              </a:rPr>
              <a:t>Today</a:t>
            </a:r>
            <a:endParaRPr lang="en-US" sz="1300" dirty="0"/>
          </a:p>
        </p:txBody>
      </p:sp>
      <p:sp>
        <p:nvSpPr>
          <p:cNvPr id="5" name="Text 3"/>
          <p:cNvSpPr txBox="1"/>
          <p:nvPr/>
        </p:nvSpPr>
        <p:spPr>
          <a:xfrm>
            <a:off x="6675120" y="1417320"/>
            <a:ext cx="2011680" cy="320040"/>
          </a:xfrm>
          <a:prstGeom prst="rect">
            <a:avLst/>
          </a:prstGeom>
          <a:noFill/>
          <a:ln/>
        </p:spPr>
        <p:txBody>
          <a:bodyPr wrap="square" lIns="0" tIns="0" rIns="0" bIns="0" rtlCol="0" anchor="ctr"/>
          <a:lstStyle/>
          <a:p>
            <a:pPr algn="ctr" indent="0" marL="0">
              <a:buNone/>
            </a:pPr>
            <a:r>
              <a:rPr lang="en-US" sz="1300" b="1" dirty="0">
                <a:solidFill>
                  <a:srgbClr val="001E3C"/>
                </a:solidFill>
                <a:latin typeface="Inter" pitchFamily="34" charset="0"/>
                <a:ea typeface="Inter" pitchFamily="34" charset="-122"/>
                <a:cs typeface="Inter" pitchFamily="34" charset="-120"/>
              </a:rPr>
              <a:t>In Step</a:t>
            </a:r>
            <a:endParaRPr lang="en-US" sz="1300" dirty="0"/>
          </a:p>
        </p:txBody>
      </p:sp>
      <p:sp>
        <p:nvSpPr>
          <p:cNvPr id="6" name="Shape 4"/>
          <p:cNvSpPr/>
          <p:nvPr/>
        </p:nvSpPr>
        <p:spPr>
          <a:xfrm>
            <a:off x="457200" y="1801368"/>
            <a:ext cx="8229600" cy="365760"/>
          </a:xfrm>
          <a:prstGeom prst="roundRect">
            <a:avLst>
              <a:gd name="adj" fmla="val 11538"/>
            </a:avLst>
          </a:prstGeom>
          <a:solidFill>
            <a:srgbClr val="EEF2F7"/>
          </a:solidFill>
          <a:ln w="12700">
            <a:solidFill>
              <a:srgbClr val="EEF2F7"/>
            </a:solidFill>
            <a:prstDash val="solid"/>
          </a:ln>
        </p:spPr>
      </p:sp>
      <p:sp>
        <p:nvSpPr>
          <p:cNvPr id="7" name="Text 5"/>
          <p:cNvSpPr txBox="1"/>
          <p:nvPr/>
        </p:nvSpPr>
        <p:spPr>
          <a:xfrm>
            <a:off x="640080" y="1801368"/>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Finishing at 23:00 or later — each, a year</a:t>
            </a:r>
            <a:endParaRPr lang="en-US" sz="1400" dirty="0"/>
          </a:p>
        </p:txBody>
      </p:sp>
      <p:sp>
        <p:nvSpPr>
          <p:cNvPr id="8" name="Text 6"/>
          <p:cNvSpPr txBox="1"/>
          <p:nvPr/>
        </p:nvSpPr>
        <p:spPr>
          <a:xfrm>
            <a:off x="4663440" y="1801368"/>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39</a:t>
            </a:r>
            <a:endParaRPr lang="en-US" sz="1600" dirty="0"/>
          </a:p>
        </p:txBody>
      </p:sp>
      <p:sp>
        <p:nvSpPr>
          <p:cNvPr id="9" name="Text 7"/>
          <p:cNvSpPr txBox="1"/>
          <p:nvPr/>
        </p:nvSpPr>
        <p:spPr>
          <a:xfrm>
            <a:off x="6675120" y="1801368"/>
            <a:ext cx="2011680" cy="365760"/>
          </a:xfrm>
          <a:prstGeom prst="rect">
            <a:avLst/>
          </a:prstGeom>
          <a:noFill/>
          <a:ln/>
        </p:spPr>
        <p:txBody>
          <a:bodyPr wrap="square" lIns="0" tIns="0" rIns="0" bIns="0" rtlCol="0" anchor="ctr"/>
          <a:lstStyle/>
          <a:p>
            <a:pPr algn="ctr" indent="0" marL="0">
              <a:buNone/>
            </a:pPr>
            <a:r>
              <a:rPr lang="en-US" sz="1800" b="1" dirty="0">
                <a:solidFill>
                  <a:srgbClr val="A15C00"/>
                </a:solidFill>
                <a:latin typeface="Inter" pitchFamily="34" charset="0"/>
                <a:ea typeface="Inter" pitchFamily="34" charset="-122"/>
                <a:cs typeface="Inter" pitchFamily="34" charset="-120"/>
              </a:rPr>
              <a:t>42</a:t>
            </a:r>
            <a:endParaRPr lang="en-US" sz="1800" dirty="0"/>
          </a:p>
        </p:txBody>
      </p:sp>
      <p:sp>
        <p:nvSpPr>
          <p:cNvPr id="10" name="Shape 8"/>
          <p:cNvSpPr/>
          <p:nvPr/>
        </p:nvSpPr>
        <p:spPr>
          <a:xfrm>
            <a:off x="457200" y="2240280"/>
            <a:ext cx="8229600" cy="365760"/>
          </a:xfrm>
          <a:prstGeom prst="roundRect">
            <a:avLst>
              <a:gd name="adj" fmla="val 11538"/>
            </a:avLst>
          </a:prstGeom>
          <a:solidFill>
            <a:srgbClr val="FFFFFF"/>
          </a:solidFill>
          <a:ln w="12700">
            <a:solidFill>
              <a:srgbClr val="DDE3EA"/>
            </a:solidFill>
            <a:prstDash val="solid"/>
          </a:ln>
        </p:spPr>
      </p:sp>
      <p:sp>
        <p:nvSpPr>
          <p:cNvPr id="11" name="Text 9"/>
          <p:cNvSpPr txBox="1"/>
          <p:nvPr/>
        </p:nvSpPr>
        <p:spPr>
          <a:xfrm>
            <a:off x="640080" y="2240280"/>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Finishing at 22:00 or later — each, a year</a:t>
            </a:r>
            <a:endParaRPr lang="en-US" sz="1400" dirty="0"/>
          </a:p>
        </p:txBody>
      </p:sp>
      <p:sp>
        <p:nvSpPr>
          <p:cNvPr id="12" name="Text 10"/>
          <p:cNvSpPr txBox="1"/>
          <p:nvPr/>
        </p:nvSpPr>
        <p:spPr>
          <a:xfrm>
            <a:off x="4663440" y="2240280"/>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78</a:t>
            </a:r>
            <a:endParaRPr lang="en-US" sz="1600" dirty="0"/>
          </a:p>
        </p:txBody>
      </p:sp>
      <p:sp>
        <p:nvSpPr>
          <p:cNvPr id="13" name="Text 11"/>
          <p:cNvSpPr txBox="1"/>
          <p:nvPr/>
        </p:nvSpPr>
        <p:spPr>
          <a:xfrm>
            <a:off x="6675120" y="2240280"/>
            <a:ext cx="2011680" cy="365760"/>
          </a:xfrm>
          <a:prstGeom prst="rect">
            <a:avLst/>
          </a:prstGeom>
          <a:noFill/>
          <a:ln/>
        </p:spPr>
        <p:txBody>
          <a:bodyPr wrap="square" lIns="0" tIns="0" rIns="0" bIns="0" rtlCol="0" anchor="ctr"/>
          <a:lstStyle/>
          <a:p>
            <a:pPr algn="ctr" indent="0" marL="0">
              <a:buNone/>
            </a:pPr>
            <a:r>
              <a:rPr lang="en-US" sz="1800" b="1" dirty="0">
                <a:solidFill>
                  <a:srgbClr val="A15C00"/>
                </a:solidFill>
                <a:latin typeface="Inter" pitchFamily="34" charset="0"/>
                <a:ea typeface="Inter" pitchFamily="34" charset="-122"/>
                <a:cs typeface="Inter" pitchFamily="34" charset="-120"/>
              </a:rPr>
              <a:t>94</a:t>
            </a:r>
            <a:endParaRPr lang="en-US" sz="1800" dirty="0"/>
          </a:p>
        </p:txBody>
      </p:sp>
      <p:sp>
        <p:nvSpPr>
          <p:cNvPr id="14" name="Shape 12"/>
          <p:cNvSpPr/>
          <p:nvPr/>
        </p:nvSpPr>
        <p:spPr>
          <a:xfrm>
            <a:off x="457200" y="2679192"/>
            <a:ext cx="8229600" cy="365760"/>
          </a:xfrm>
          <a:prstGeom prst="roundRect">
            <a:avLst>
              <a:gd name="adj" fmla="val 11538"/>
            </a:avLst>
          </a:prstGeom>
          <a:solidFill>
            <a:srgbClr val="EEF2F7"/>
          </a:solidFill>
          <a:ln w="12700">
            <a:solidFill>
              <a:srgbClr val="EEF2F7"/>
            </a:solidFill>
            <a:prstDash val="solid"/>
          </a:ln>
        </p:spPr>
      </p:sp>
      <p:sp>
        <p:nvSpPr>
          <p:cNvPr id="15" name="Text 13"/>
          <p:cNvSpPr txBox="1"/>
          <p:nvPr/>
        </p:nvSpPr>
        <p:spPr>
          <a:xfrm>
            <a:off x="640080" y="2679192"/>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Starting at 06:20 — each, a year</a:t>
            </a:r>
            <a:endParaRPr lang="en-US" sz="1400" dirty="0"/>
          </a:p>
        </p:txBody>
      </p:sp>
      <p:sp>
        <p:nvSpPr>
          <p:cNvPr id="16" name="Text 14"/>
          <p:cNvSpPr txBox="1"/>
          <p:nvPr/>
        </p:nvSpPr>
        <p:spPr>
          <a:xfrm>
            <a:off x="4663440" y="2679192"/>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62</a:t>
            </a:r>
            <a:endParaRPr lang="en-US" sz="1600" dirty="0"/>
          </a:p>
        </p:txBody>
      </p:sp>
      <p:sp>
        <p:nvSpPr>
          <p:cNvPr id="17" name="Text 15"/>
          <p:cNvSpPr txBox="1"/>
          <p:nvPr/>
        </p:nvSpPr>
        <p:spPr>
          <a:xfrm>
            <a:off x="6675120" y="2679192"/>
            <a:ext cx="2011680" cy="365760"/>
          </a:xfrm>
          <a:prstGeom prst="rect">
            <a:avLst/>
          </a:prstGeom>
          <a:noFill/>
          <a:ln/>
        </p:spPr>
        <p:txBody>
          <a:bodyPr wrap="square" lIns="0" tIns="0" rIns="0" bIns="0" rtlCol="0" anchor="ctr"/>
          <a:lstStyle/>
          <a:p>
            <a:pPr algn="ctr" indent="0" marL="0">
              <a:buNone/>
            </a:pPr>
            <a:r>
              <a:rPr lang="en-US" sz="1800" b="1" dirty="0">
                <a:solidFill>
                  <a:srgbClr val="001E3C"/>
                </a:solidFill>
                <a:latin typeface="Inter" pitchFamily="34" charset="0"/>
                <a:ea typeface="Inter" pitchFamily="34" charset="-122"/>
                <a:cs typeface="Inter" pitchFamily="34" charset="-120"/>
              </a:rPr>
              <a:t>60</a:t>
            </a:r>
            <a:endParaRPr lang="en-US" sz="1800" dirty="0"/>
          </a:p>
        </p:txBody>
      </p:sp>
      <p:sp>
        <p:nvSpPr>
          <p:cNvPr id="18" name="Shape 16"/>
          <p:cNvSpPr/>
          <p:nvPr/>
        </p:nvSpPr>
        <p:spPr>
          <a:xfrm>
            <a:off x="457200" y="3118104"/>
            <a:ext cx="8229600" cy="365760"/>
          </a:xfrm>
          <a:prstGeom prst="roundRect">
            <a:avLst>
              <a:gd name="adj" fmla="val 11538"/>
            </a:avLst>
          </a:prstGeom>
          <a:solidFill>
            <a:srgbClr val="FFFFFF"/>
          </a:solidFill>
          <a:ln w="12700">
            <a:solidFill>
              <a:srgbClr val="DDE3EA"/>
            </a:solidFill>
            <a:prstDash val="solid"/>
          </a:ln>
        </p:spPr>
      </p:sp>
      <p:sp>
        <p:nvSpPr>
          <p:cNvPr id="19" name="Text 17"/>
          <p:cNvSpPr txBox="1"/>
          <p:nvPr/>
        </p:nvSpPr>
        <p:spPr>
          <a:xfrm>
            <a:off x="640080" y="3118104"/>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Shortest gap between two shifts</a:t>
            </a:r>
            <a:endParaRPr lang="en-US" sz="1400" dirty="0"/>
          </a:p>
        </p:txBody>
      </p:sp>
      <p:sp>
        <p:nvSpPr>
          <p:cNvPr id="20" name="Text 18"/>
          <p:cNvSpPr txBox="1"/>
          <p:nvPr/>
        </p:nvSpPr>
        <p:spPr>
          <a:xfrm>
            <a:off x="4663440" y="3118104"/>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12h 30m</a:t>
            </a:r>
            <a:endParaRPr lang="en-US" sz="1600" dirty="0"/>
          </a:p>
        </p:txBody>
      </p:sp>
      <p:sp>
        <p:nvSpPr>
          <p:cNvPr id="21" name="Text 19"/>
          <p:cNvSpPr txBox="1"/>
          <p:nvPr/>
        </p:nvSpPr>
        <p:spPr>
          <a:xfrm>
            <a:off x="6675120" y="3118104"/>
            <a:ext cx="2011680" cy="365760"/>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14h 35m</a:t>
            </a:r>
            <a:endParaRPr lang="en-US" sz="1800" dirty="0"/>
          </a:p>
        </p:txBody>
      </p:sp>
      <p:sp>
        <p:nvSpPr>
          <p:cNvPr id="22" name="Shape 20"/>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23" name="Text 21"/>
          <p:cNvSpPr txBox="1"/>
          <p:nvPr/>
        </p:nvSpPr>
        <p:spPr>
          <a:xfrm>
            <a:off x="640080" y="4160520"/>
            <a:ext cx="7863840" cy="548640"/>
          </a:xfrm>
          <a:prstGeom prst="rect">
            <a:avLst/>
          </a:prstGeom>
          <a:noFill/>
          <a:ln/>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More people stay on after 22:00 under the December staffing; the three more after 23:00 are the fewest the rules allow.</a:t>
            </a:r>
            <a:endParaRPr lang="en-US" sz="1400" dirty="0"/>
          </a:p>
        </p:txBody>
      </p:sp>
      <p:sp>
        <p:nvSpPr>
          <p:cNvPr id="25" name="Text 23"/>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In Step · December 2026 link proposal · 7</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Will I know the times?</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15 shift times in all — 9 of them you already work</a:t>
            </a:r>
            <a:endParaRPr lang="en-US" sz="1500" dirty="0"/>
          </a:p>
        </p:txBody>
      </p:sp>
      <p:sp>
        <p:nvSpPr>
          <p:cNvPr id="4" name="Shape 2"/>
          <p:cNvSpPr/>
          <p:nvPr/>
        </p:nvSpPr>
        <p:spPr>
          <a:xfrm>
            <a:off x="457200" y="1371600"/>
            <a:ext cx="3291840" cy="2651760"/>
          </a:xfrm>
          <a:prstGeom prst="roundRect">
            <a:avLst>
              <a:gd name="adj" fmla="val 3448"/>
            </a:avLst>
          </a:prstGeom>
          <a:solidFill>
            <a:srgbClr val="EEF2F7"/>
          </a:solidFill>
          <a:ln w="12700">
            <a:solidFill>
              <a:srgbClr val="EEF2F7"/>
            </a:solidFill>
            <a:prstDash val="solid"/>
          </a:ln>
        </p:spPr>
      </p:sp>
      <p:sp>
        <p:nvSpPr>
          <p:cNvPr id="5" name="Shape 3"/>
          <p:cNvSpPr/>
          <p:nvPr/>
        </p:nvSpPr>
        <p:spPr>
          <a:xfrm>
            <a:off x="640080" y="1508760"/>
            <a:ext cx="411480" cy="411480"/>
          </a:xfrm>
          <a:prstGeom prst="ellipse">
            <a:avLst/>
          </a:prstGeom>
          <a:solidFill>
            <a:srgbClr val="F5C800"/>
          </a:solidFill>
          <a:ln w="12700">
            <a:solidFill>
              <a:srgbClr val="F5C800"/>
            </a:solidFill>
            <a:prstDash val="solid"/>
          </a:ln>
        </p:spPr>
      </p:sp>
      <p:pic>
        <p:nvPicPr>
          <p:cNvPr id="6" name="Image 0" descr="preencoded.png">    </p:cNvPr>
          <p:cNvPicPr>
            <a:picLocks noChangeAspect="1"/>
          </p:cNvPicPr>
          <p:nvPr/>
        </p:nvPicPr>
        <p:blipFill>
          <a:blip r:embed="rId1"/>
          <a:stretch>
            <a:fillRect/>
          </a:stretch>
        </p:blipFill>
        <p:spPr>
          <a:xfrm>
            <a:off x="730606" y="1599286"/>
            <a:ext cx="230429" cy="230429"/>
          </a:xfrm>
          <a:prstGeom prst="rect">
            <a:avLst/>
          </a:prstGeom>
        </p:spPr>
      </p:pic>
      <p:sp>
        <p:nvSpPr>
          <p:cNvPr id="7" name="Text 4"/>
          <p:cNvSpPr txBox="1"/>
          <p:nvPr/>
        </p:nvSpPr>
        <p:spPr>
          <a:xfrm>
            <a:off x="1188720" y="1508760"/>
            <a:ext cx="2377440" cy="411480"/>
          </a:xfrm>
          <a:prstGeom prst="rect">
            <a:avLst/>
          </a:prstGeom>
          <a:noFill/>
          <a:ln/>
        </p:spPr>
        <p:txBody>
          <a:bodyPr wrap="square" lIns="0" tIns="0" rIns="0" bIns="0" rtlCol="0" anchor="ctr"/>
          <a:lstStyle/>
          <a:p>
            <a:pPr indent="0" marL="0">
              <a:buNone/>
            </a:pPr>
            <a:r>
              <a:rPr lang="en-US" sz="1500" b="1" dirty="0">
                <a:solidFill>
                  <a:srgbClr val="1E7B4B"/>
                </a:solidFill>
                <a:latin typeface="Inter" pitchFamily="34" charset="0"/>
                <a:ea typeface="Inter" pitchFamily="34" charset="-122"/>
                <a:cs typeface="Inter" pitchFamily="34" charset="-120"/>
              </a:rPr>
              <a:t>You work these today (9)</a:t>
            </a:r>
            <a:endParaRPr lang="en-US" sz="1500" dirty="0"/>
          </a:p>
        </p:txBody>
      </p:sp>
      <p:sp>
        <p:nvSpPr>
          <p:cNvPr id="8" name="Text 5"/>
          <p:cNvSpPr txBox="1"/>
          <p:nvPr/>
        </p:nvSpPr>
        <p:spPr>
          <a:xfrm>
            <a:off x="685800" y="2011680"/>
            <a:ext cx="2926080" cy="1965960"/>
          </a:xfrm>
          <a:prstGeom prst="rect">
            <a:avLst/>
          </a:prstGeom>
          <a:noFill/>
          <a:ln/>
        </p:spPr>
        <p:txBody>
          <a:bodyPr wrap="square" lIns="0" tIns="0" rIns="0" bIns="0" rtlCol="0" anchor="t"/>
          <a:lstStyle/>
          <a:p>
            <a:pPr marL="152400" indent="-152400">
              <a:spcAft>
                <a:spcPts val="200"/>
              </a:spcAft>
              <a:buSzPct val="100000"/>
              <a:buFont typeface="Inter" pitchFamily="34" charset="0"/>
              <a:buChar char="•"/>
            </a:pPr>
            <a:r>
              <a:rPr lang="en-US" sz="1050" dirty="0">
                <a:solidFill>
                  <a:srgbClr val="1B2533"/>
                </a:solidFill>
                <a:latin typeface="Inter" pitchFamily="34" charset="0"/>
                <a:ea typeface="Inter" pitchFamily="34" charset="-122"/>
                <a:cs typeface="Inter" pitchFamily="34" charset="-120"/>
              </a:rPr>
              <a:t>06:20–13:35</a:t>
            </a:r>
            <a:endParaRPr lang="en-US" sz="1050" dirty="0"/>
          </a:p>
          <a:p>
            <a:pPr marL="152400" indent="-152400">
              <a:spcAft>
                <a:spcPts val="200"/>
              </a:spcAft>
              <a:buSzPct val="100000"/>
              <a:buFont typeface="Inter" pitchFamily="34" charset="0"/>
              <a:buChar char="•"/>
            </a:pPr>
            <a:r>
              <a:rPr lang="en-US" sz="1050" dirty="0">
                <a:solidFill>
                  <a:srgbClr val="1B2533"/>
                </a:solidFill>
                <a:latin typeface="Inter" pitchFamily="34" charset="0"/>
                <a:ea typeface="Inter" pitchFamily="34" charset="-122"/>
                <a:cs typeface="Inter" pitchFamily="34" charset="-120"/>
              </a:rPr>
              <a:t>06:20–13:45</a:t>
            </a:r>
            <a:endParaRPr lang="en-US" sz="1050" dirty="0"/>
          </a:p>
          <a:p>
            <a:pPr marL="152400" indent="-152400">
              <a:spcAft>
                <a:spcPts val="200"/>
              </a:spcAft>
              <a:buSzPct val="100000"/>
              <a:buFont typeface="Inter" pitchFamily="34" charset="0"/>
              <a:buChar char="•"/>
            </a:pPr>
            <a:r>
              <a:rPr lang="en-US" sz="1050" dirty="0">
                <a:solidFill>
                  <a:srgbClr val="1B2533"/>
                </a:solidFill>
                <a:latin typeface="Inter" pitchFamily="34" charset="0"/>
                <a:ea typeface="Inter" pitchFamily="34" charset="-122"/>
                <a:cs typeface="Inter" pitchFamily="34" charset="-120"/>
              </a:rPr>
              <a:t>06:20–14:20</a:t>
            </a:r>
            <a:endParaRPr lang="en-US" sz="1050" dirty="0"/>
          </a:p>
          <a:p>
            <a:pPr marL="152400" indent="-152400">
              <a:spcAft>
                <a:spcPts val="200"/>
              </a:spcAft>
              <a:buSzPct val="100000"/>
              <a:buFont typeface="Inter" pitchFamily="34" charset="0"/>
              <a:buChar char="•"/>
            </a:pPr>
            <a:r>
              <a:rPr lang="en-US" sz="1050" dirty="0">
                <a:solidFill>
                  <a:srgbClr val="1B2533"/>
                </a:solidFill>
                <a:latin typeface="Inter" pitchFamily="34" charset="0"/>
                <a:ea typeface="Inter" pitchFamily="34" charset="-122"/>
                <a:cs typeface="Inter" pitchFamily="34" charset="-120"/>
              </a:rPr>
              <a:t>06:20–14:50</a:t>
            </a:r>
            <a:endParaRPr lang="en-US" sz="1050" dirty="0"/>
          </a:p>
          <a:p>
            <a:pPr marL="152400" indent="-152400">
              <a:spcAft>
                <a:spcPts val="200"/>
              </a:spcAft>
              <a:buSzPct val="100000"/>
              <a:buFont typeface="Inter" pitchFamily="34" charset="0"/>
              <a:buChar char="•"/>
            </a:pPr>
            <a:r>
              <a:rPr lang="en-US" sz="1050" dirty="0">
                <a:solidFill>
                  <a:srgbClr val="1B2533"/>
                </a:solidFill>
                <a:latin typeface="Inter" pitchFamily="34" charset="0"/>
                <a:ea typeface="Inter" pitchFamily="34" charset="-122"/>
                <a:cs typeface="Inter" pitchFamily="34" charset="-120"/>
              </a:rPr>
              <a:t>07:15–15:45</a:t>
            </a:r>
            <a:endParaRPr lang="en-US" sz="1050" dirty="0"/>
          </a:p>
          <a:p>
            <a:pPr marL="152400" indent="-152400">
              <a:spcAft>
                <a:spcPts val="200"/>
              </a:spcAft>
              <a:buSzPct val="100000"/>
              <a:buFont typeface="Inter" pitchFamily="34" charset="0"/>
              <a:buChar char="•"/>
            </a:pPr>
            <a:r>
              <a:rPr lang="en-US" sz="1050" dirty="0">
                <a:solidFill>
                  <a:srgbClr val="1B2533"/>
                </a:solidFill>
                <a:latin typeface="Inter" pitchFamily="34" charset="0"/>
                <a:ea typeface="Inter" pitchFamily="34" charset="-122"/>
                <a:cs typeface="Inter" pitchFamily="34" charset="-120"/>
              </a:rPr>
              <a:t>08:00–16:30</a:t>
            </a:r>
            <a:endParaRPr lang="en-US" sz="1050" dirty="0"/>
          </a:p>
          <a:p>
            <a:pPr marL="152400" indent="-152400">
              <a:spcAft>
                <a:spcPts val="200"/>
              </a:spcAft>
              <a:buSzPct val="100000"/>
              <a:buFont typeface="Inter" pitchFamily="34" charset="0"/>
              <a:buChar char="•"/>
            </a:pPr>
            <a:r>
              <a:rPr lang="en-US" sz="1050" dirty="0">
                <a:solidFill>
                  <a:srgbClr val="1B2533"/>
                </a:solidFill>
                <a:latin typeface="Inter" pitchFamily="34" charset="0"/>
                <a:ea typeface="Inter" pitchFamily="34" charset="-122"/>
                <a:cs typeface="Inter" pitchFamily="34" charset="-120"/>
              </a:rPr>
              <a:t>12:00–20:00</a:t>
            </a:r>
            <a:endParaRPr lang="en-US" sz="1050" dirty="0"/>
          </a:p>
          <a:p>
            <a:pPr marL="152400" indent="-152400">
              <a:spcAft>
                <a:spcPts val="200"/>
              </a:spcAft>
              <a:buSzPct val="100000"/>
              <a:buFont typeface="Inter" pitchFamily="34" charset="0"/>
              <a:buChar char="•"/>
            </a:pPr>
            <a:r>
              <a:rPr lang="en-US" sz="1050" dirty="0">
                <a:solidFill>
                  <a:srgbClr val="1B2533"/>
                </a:solidFill>
                <a:latin typeface="Inter" pitchFamily="34" charset="0"/>
                <a:ea typeface="Inter" pitchFamily="34" charset="-122"/>
                <a:cs typeface="Inter" pitchFamily="34" charset="-120"/>
              </a:rPr>
              <a:t>14:00–22:30</a:t>
            </a:r>
            <a:endParaRPr lang="en-US" sz="1050" dirty="0"/>
          </a:p>
          <a:p>
            <a:pPr marL="152400" indent="-152400">
              <a:spcAft>
                <a:spcPts val="200"/>
              </a:spcAft>
              <a:buSzPct val="100000"/>
              <a:buFont typeface="Inter" pitchFamily="34" charset="0"/>
              <a:buChar char="•"/>
            </a:pPr>
            <a:r>
              <a:rPr lang="en-US" sz="1050" dirty="0">
                <a:solidFill>
                  <a:srgbClr val="1B2533"/>
                </a:solidFill>
                <a:latin typeface="Inter" pitchFamily="34" charset="0"/>
                <a:ea typeface="Inter" pitchFamily="34" charset="-122"/>
                <a:cs typeface="Inter" pitchFamily="34" charset="-120"/>
              </a:rPr>
              <a:t>14:30–22:00</a:t>
            </a:r>
            <a:endParaRPr lang="en-US" sz="1050" dirty="0"/>
          </a:p>
        </p:txBody>
      </p:sp>
      <p:sp>
        <p:nvSpPr>
          <p:cNvPr id="9" name="Shape 6"/>
          <p:cNvSpPr/>
          <p:nvPr/>
        </p:nvSpPr>
        <p:spPr>
          <a:xfrm>
            <a:off x="3931920" y="1371600"/>
            <a:ext cx="4754880" cy="2651760"/>
          </a:xfrm>
          <a:prstGeom prst="roundRect">
            <a:avLst>
              <a:gd name="adj" fmla="val 3448"/>
            </a:avLst>
          </a:prstGeom>
          <a:solidFill>
            <a:srgbClr val="EEF2F7"/>
          </a:solidFill>
          <a:ln w="12700">
            <a:solidFill>
              <a:srgbClr val="EEF2F7"/>
            </a:solidFill>
            <a:prstDash val="solid"/>
          </a:ln>
        </p:spPr>
      </p:sp>
      <p:sp>
        <p:nvSpPr>
          <p:cNvPr id="10" name="Shape 7"/>
          <p:cNvSpPr/>
          <p:nvPr/>
        </p:nvSpPr>
        <p:spPr>
          <a:xfrm>
            <a:off x="4114800" y="1508760"/>
            <a:ext cx="411480" cy="411480"/>
          </a:xfrm>
          <a:prstGeom prst="ellipse">
            <a:avLst/>
          </a:prstGeom>
          <a:solidFill>
            <a:srgbClr val="F5C800"/>
          </a:solidFill>
          <a:ln w="12700">
            <a:solidFill>
              <a:srgbClr val="F5C800"/>
            </a:solidFill>
            <a:prstDash val="solid"/>
          </a:ln>
        </p:spPr>
      </p:sp>
      <p:pic>
        <p:nvPicPr>
          <p:cNvPr id="11" name="Image 1" descr="preencoded.png">    </p:cNvPr>
          <p:cNvPicPr>
            <a:picLocks noChangeAspect="1"/>
          </p:cNvPicPr>
          <p:nvPr/>
        </p:nvPicPr>
        <p:blipFill>
          <a:blip r:embed="rId2"/>
          <a:stretch>
            <a:fillRect/>
          </a:stretch>
        </p:blipFill>
        <p:spPr>
          <a:xfrm>
            <a:off x="4205326" y="1599286"/>
            <a:ext cx="230429" cy="230429"/>
          </a:xfrm>
          <a:prstGeom prst="rect">
            <a:avLst/>
          </a:prstGeom>
        </p:spPr>
      </p:pic>
      <p:sp>
        <p:nvSpPr>
          <p:cNvPr id="12" name="Text 8"/>
          <p:cNvSpPr txBox="1"/>
          <p:nvPr/>
        </p:nvSpPr>
        <p:spPr>
          <a:xfrm>
            <a:off x="4663440" y="1508760"/>
            <a:ext cx="3840480" cy="411480"/>
          </a:xfrm>
          <a:prstGeom prst="rect">
            <a:avLst/>
          </a:prstGeom>
          <a:noFill/>
          <a:ln/>
        </p:spPr>
        <p:txBody>
          <a:bodyPr wrap="square" lIns="0" tIns="0" rIns="0" bIns="0" rtlCol="0" anchor="ctr"/>
          <a:lstStyle/>
          <a:p>
            <a:pPr indent="0" marL="0">
              <a:buNone/>
            </a:pPr>
            <a:r>
              <a:rPr lang="en-US" sz="1500" b="1" dirty="0">
                <a:solidFill>
                  <a:srgbClr val="001E3C"/>
                </a:solidFill>
                <a:latin typeface="Inter" pitchFamily="34" charset="0"/>
                <a:ea typeface="Inter" pitchFamily="34" charset="-122"/>
                <a:cs typeface="Inter" pitchFamily="34" charset="-120"/>
              </a:rPr>
              <a:t>New times (6)</a:t>
            </a:r>
            <a:endParaRPr lang="en-US" sz="1500" dirty="0"/>
          </a:p>
        </p:txBody>
      </p:sp>
      <p:sp>
        <p:nvSpPr>
          <p:cNvPr id="13" name="Text 9"/>
          <p:cNvSpPr txBox="1"/>
          <p:nvPr/>
        </p:nvSpPr>
        <p:spPr>
          <a:xfrm>
            <a:off x="4160520" y="2011680"/>
            <a:ext cx="4389120" cy="1965960"/>
          </a:xfrm>
          <a:prstGeom prst="rect">
            <a:avLst/>
          </a:prstGeom>
          <a:noFill/>
          <a:ln/>
        </p:spPr>
        <p:txBody>
          <a:bodyPr wrap="square" lIns="0" tIns="0" rIns="0" bIns="0" rtlCol="0" anchor="t"/>
          <a:lstStyle/>
          <a:p>
            <a:pPr indent="0" marL="0">
              <a:spcAft>
                <a:spcPts val="100"/>
              </a:spcAft>
              <a:buNone/>
            </a:pPr>
            <a:r>
              <a:rPr lang="en-US" sz="1050" b="1" dirty="0">
                <a:solidFill>
                  <a:srgbClr val="001E3C"/>
                </a:solidFill>
                <a:latin typeface="Inter" pitchFamily="34" charset="0"/>
                <a:ea typeface="Inter" pitchFamily="34" charset="-122"/>
                <a:cs typeface="Inter" pitchFamily="34" charset="-120"/>
              </a:rPr>
              <a:t>Weekdays</a:t>
            </a:r>
            <a:endParaRPr lang="en-US" sz="1050" dirty="0"/>
          </a:p>
          <a:p>
            <a:pPr marL="152400" indent="-152400">
              <a:spcAft>
                <a:spcPts val="100"/>
              </a:spcAft>
              <a:buSzPct val="100000"/>
              <a:buFont typeface="Inter" pitchFamily="34" charset="0"/>
              <a:buChar char="•"/>
            </a:pPr>
            <a:r>
              <a:rPr lang="en-US" sz="1050" dirty="0">
                <a:solidFill>
                  <a:srgbClr val="1B2533"/>
                </a:solidFill>
                <a:latin typeface="Inter" pitchFamily="34" charset="0"/>
                <a:ea typeface="Inter" pitchFamily="34" charset="-122"/>
                <a:cs typeface="Inter" pitchFamily="34" charset="-120"/>
              </a:rPr>
              <a:t>06:20–15:15 and 07:00–15:45 — new earlies, 8h 55m and 8h 45m</a:t>
            </a:r>
            <a:endParaRPr lang="en-US" sz="1050" dirty="0"/>
          </a:p>
          <a:p>
            <a:pPr marL="152400" indent="-152400">
              <a:spcAft>
                <a:spcPts val="100"/>
              </a:spcAft>
              <a:buSzPct val="100000"/>
              <a:buFont typeface="Inter" pitchFamily="34" charset="0"/>
              <a:buChar char="•"/>
            </a:pPr>
            <a:r>
              <a:rPr lang="en-US" sz="1050" dirty="0">
                <a:solidFill>
                  <a:srgbClr val="1B2533"/>
                </a:solidFill>
                <a:latin typeface="Inter" pitchFamily="34" charset="0"/>
                <a:ea typeface="Inter" pitchFamily="34" charset="-122"/>
                <a:cs typeface="Inter" pitchFamily="34" charset="-120"/>
              </a:rPr>
              <a:t>14:30–22:30 — a new late, ending with the ticket office</a:t>
            </a:r>
            <a:endParaRPr lang="en-US" sz="1050" dirty="0"/>
          </a:p>
          <a:p>
            <a:pPr marL="152400" indent="-152400">
              <a:spcAft>
                <a:spcPts val="100"/>
              </a:spcAft>
              <a:buSzPct val="100000"/>
              <a:buFont typeface="Inter" pitchFamily="34" charset="0"/>
              <a:buChar char="•"/>
            </a:pPr>
            <a:r>
              <a:rPr lang="en-US" sz="1050" dirty="0">
                <a:solidFill>
                  <a:srgbClr val="1B2533"/>
                </a:solidFill>
                <a:latin typeface="Inter" pitchFamily="34" charset="0"/>
                <a:ea typeface="Inter" pitchFamily="34" charset="-122"/>
                <a:cs typeface="Inter" pitchFamily="34" charset="-120"/>
              </a:rPr>
              <a:t>15:45–23:55 — the closer, 30 minutes later than 15:15</a:t>
            </a:r>
            <a:endParaRPr lang="en-US" sz="1050" dirty="0"/>
          </a:p>
          <a:p>
            <a:pPr indent="0" marL="0">
              <a:spcBef>
                <a:spcPts val="400"/>
              </a:spcBef>
              <a:spcAft>
                <a:spcPts val="100"/>
              </a:spcAft>
              <a:buNone/>
            </a:pPr>
            <a:r>
              <a:rPr lang="en-US" sz="1050" b="1" dirty="0">
                <a:solidFill>
                  <a:srgbClr val="001E3C"/>
                </a:solidFill>
                <a:latin typeface="Inter" pitchFamily="34" charset="0"/>
                <a:ea typeface="Inter" pitchFamily="34" charset="-122"/>
                <a:cs typeface="Inter" pitchFamily="34" charset="-120"/>
              </a:rPr>
              <a:t>Saturday</a:t>
            </a:r>
            <a:endParaRPr lang="en-US" sz="1050" dirty="0"/>
          </a:p>
          <a:p>
            <a:pPr marL="152400" indent="-152400">
              <a:spcAft>
                <a:spcPts val="100"/>
              </a:spcAft>
              <a:buSzPct val="100000"/>
              <a:buFont typeface="Inter" pitchFamily="34" charset="0"/>
              <a:buChar char="•"/>
            </a:pPr>
            <a:r>
              <a:rPr lang="en-US" sz="1050" dirty="0">
                <a:solidFill>
                  <a:srgbClr val="1B2533"/>
                </a:solidFill>
                <a:latin typeface="Inter" pitchFamily="34" charset="0"/>
                <a:ea typeface="Inter" pitchFamily="34" charset="-122"/>
                <a:cs typeface="Inter" pitchFamily="34" charset="-120"/>
              </a:rPr>
              <a:t>15:45–23:55 — the weekday closer, 1 hour later than 14:45</a:t>
            </a:r>
            <a:endParaRPr lang="en-US" sz="1050" dirty="0"/>
          </a:p>
          <a:p>
            <a:pPr indent="0" marL="0">
              <a:spcBef>
                <a:spcPts val="400"/>
              </a:spcBef>
              <a:spcAft>
                <a:spcPts val="100"/>
              </a:spcAft>
              <a:buNone/>
            </a:pPr>
            <a:r>
              <a:rPr lang="en-US" sz="1050" b="1" dirty="0">
                <a:solidFill>
                  <a:srgbClr val="001E3C"/>
                </a:solidFill>
                <a:latin typeface="Inter" pitchFamily="34" charset="0"/>
                <a:ea typeface="Inter" pitchFamily="34" charset="-122"/>
                <a:cs typeface="Inter" pitchFamily="34" charset="-120"/>
              </a:rPr>
              <a:t>Sunday</a:t>
            </a:r>
            <a:endParaRPr lang="en-US" sz="1050" dirty="0"/>
          </a:p>
          <a:p>
            <a:pPr marL="152400" indent="-152400">
              <a:spcAft>
                <a:spcPts val="100"/>
              </a:spcAft>
              <a:buSzPct val="100000"/>
              <a:buFont typeface="Inter" pitchFamily="34" charset="0"/>
              <a:buChar char="•"/>
            </a:pPr>
            <a:r>
              <a:rPr lang="en-US" sz="1050" dirty="0">
                <a:solidFill>
                  <a:srgbClr val="1B2533"/>
                </a:solidFill>
                <a:latin typeface="Inter" pitchFamily="34" charset="0"/>
                <a:ea typeface="Inter" pitchFamily="34" charset="-122"/>
                <a:cs typeface="Inter" pitchFamily="34" charset="-120"/>
              </a:rPr>
              <a:t>15:15–23:25 — the closer, 45 minutes later than 14:30</a:t>
            </a:r>
            <a:endParaRPr lang="en-US" sz="1050" dirty="0"/>
          </a:p>
          <a:p>
            <a:pPr marL="152400" indent="-152400">
              <a:spcAft>
                <a:spcPts val="100"/>
              </a:spcAft>
              <a:buSzPct val="100000"/>
              <a:buFont typeface="Inter" pitchFamily="34" charset="0"/>
              <a:buChar char="•"/>
            </a:pPr>
            <a:r>
              <a:rPr lang="en-US" sz="1050" dirty="0">
                <a:solidFill>
                  <a:srgbClr val="1B2533"/>
                </a:solidFill>
                <a:latin typeface="Inter" pitchFamily="34" charset="0"/>
                <a:ea typeface="Inter" pitchFamily="34" charset="-122"/>
                <a:cs typeface="Inter" pitchFamily="34" charset="-120"/>
              </a:rPr>
              <a:t>09:00–18:00 — a new early, 9 hours</a:t>
            </a:r>
            <a:endParaRPr lang="en-US" sz="1050" dirty="0"/>
          </a:p>
          <a:p>
            <a:pPr marL="152400" indent="-152400">
              <a:spcAft>
                <a:spcPts val="100"/>
              </a:spcAft>
              <a:buSzPct val="100000"/>
              <a:buFont typeface="Inter" pitchFamily="34" charset="0"/>
              <a:buChar char="•"/>
            </a:pPr>
            <a:r>
              <a:rPr lang="en-US" sz="1050" dirty="0">
                <a:solidFill>
                  <a:srgbClr val="1B2533"/>
                </a:solidFill>
                <a:latin typeface="Inter" pitchFamily="34" charset="0"/>
                <a:ea typeface="Inter" pitchFamily="34" charset="-122"/>
                <a:cs typeface="Inter" pitchFamily="34" charset="-120"/>
              </a:rPr>
              <a:t>14:30–22:30 — the ticket-office late (also a weekday time)</a:t>
            </a:r>
            <a:endParaRPr lang="en-US" sz="1050" dirty="0"/>
          </a:p>
        </p:txBody>
      </p:sp>
      <p:sp>
        <p:nvSpPr>
          <p:cNvPr id="14" name="Shape 10"/>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15" name="Text 11"/>
          <p:cNvSpPr txBox="1"/>
          <p:nvPr/>
        </p:nvSpPr>
        <p:spPr>
          <a:xfrm>
            <a:off x="640080" y="4160520"/>
            <a:ext cx="7863840" cy="548640"/>
          </a:xfrm>
          <a:prstGeom prst="rect">
            <a:avLst/>
          </a:prstGeom>
          <a:noFill/>
          <a:ln/>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Fewer shift times than today (15, not 18) — and on a Saturday only the closer is new.</a:t>
            </a:r>
            <a:endParaRPr lang="en-US" sz="1400" dirty="0"/>
          </a:p>
        </p:txBody>
      </p:sp>
      <p:sp>
        <p:nvSpPr>
          <p:cNvPr id="16" name="Text 12"/>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In Step · December 2026 link proposal · 8</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Rest and weekends</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The biggest improvement over today</a:t>
            </a:r>
            <a:endParaRPr lang="en-US" sz="1500" dirty="0"/>
          </a:p>
        </p:txBody>
      </p:sp>
      <p:sp>
        <p:nvSpPr>
          <p:cNvPr id="4" name="Text 2"/>
          <p:cNvSpPr txBox="1"/>
          <p:nvPr/>
        </p:nvSpPr>
        <p:spPr>
          <a:xfrm>
            <a:off x="4663440" y="1417320"/>
            <a:ext cx="2011680" cy="320040"/>
          </a:xfrm>
          <a:prstGeom prst="rect">
            <a:avLst/>
          </a:prstGeom>
          <a:noFill/>
          <a:ln/>
        </p:spPr>
        <p:txBody>
          <a:bodyPr wrap="square" lIns="0" tIns="0" rIns="0" bIns="0" rtlCol="0" anchor="ctr"/>
          <a:lstStyle/>
          <a:p>
            <a:pPr algn="ctr" indent="0" marL="0">
              <a:buNone/>
            </a:pPr>
            <a:r>
              <a:rPr lang="en-US" sz="1300" b="1" dirty="0">
                <a:solidFill>
                  <a:srgbClr val="5B6778"/>
                </a:solidFill>
                <a:latin typeface="Inter" pitchFamily="34" charset="0"/>
                <a:ea typeface="Inter" pitchFamily="34" charset="-122"/>
                <a:cs typeface="Inter" pitchFamily="34" charset="-120"/>
              </a:rPr>
              <a:t>Today</a:t>
            </a:r>
            <a:endParaRPr lang="en-US" sz="1300" dirty="0"/>
          </a:p>
        </p:txBody>
      </p:sp>
      <p:sp>
        <p:nvSpPr>
          <p:cNvPr id="5" name="Text 3"/>
          <p:cNvSpPr txBox="1"/>
          <p:nvPr/>
        </p:nvSpPr>
        <p:spPr>
          <a:xfrm>
            <a:off x="6675120" y="1417320"/>
            <a:ext cx="2011680" cy="320040"/>
          </a:xfrm>
          <a:prstGeom prst="rect">
            <a:avLst/>
          </a:prstGeom>
          <a:noFill/>
          <a:ln/>
        </p:spPr>
        <p:txBody>
          <a:bodyPr wrap="square" lIns="0" tIns="0" rIns="0" bIns="0" rtlCol="0" anchor="ctr"/>
          <a:lstStyle/>
          <a:p>
            <a:pPr algn="ctr" indent="0" marL="0">
              <a:buNone/>
            </a:pPr>
            <a:r>
              <a:rPr lang="en-US" sz="1300" b="1" dirty="0">
                <a:solidFill>
                  <a:srgbClr val="001E3C"/>
                </a:solidFill>
                <a:latin typeface="Inter" pitchFamily="34" charset="0"/>
                <a:ea typeface="Inter" pitchFamily="34" charset="-122"/>
                <a:cs typeface="Inter" pitchFamily="34" charset="-120"/>
              </a:rPr>
              <a:t>In Step</a:t>
            </a:r>
            <a:endParaRPr lang="en-US" sz="1300" dirty="0"/>
          </a:p>
        </p:txBody>
      </p:sp>
      <p:sp>
        <p:nvSpPr>
          <p:cNvPr id="6" name="Shape 4"/>
          <p:cNvSpPr/>
          <p:nvPr/>
        </p:nvSpPr>
        <p:spPr>
          <a:xfrm>
            <a:off x="457200" y="1801368"/>
            <a:ext cx="8229600" cy="365760"/>
          </a:xfrm>
          <a:prstGeom prst="roundRect">
            <a:avLst>
              <a:gd name="adj" fmla="val 15000"/>
            </a:avLst>
          </a:prstGeom>
          <a:solidFill>
            <a:srgbClr val="EEF2F7"/>
          </a:solidFill>
          <a:ln w="12700">
            <a:solidFill>
              <a:srgbClr val="EEF2F7"/>
            </a:solidFill>
            <a:prstDash val="solid"/>
          </a:ln>
        </p:spPr>
      </p:sp>
      <p:sp>
        <p:nvSpPr>
          <p:cNvPr id="7" name="Text 5"/>
          <p:cNvSpPr txBox="1"/>
          <p:nvPr/>
        </p:nvSpPr>
        <p:spPr>
          <a:xfrm>
            <a:off x="640080" y="1801368"/>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Full weekends off, about a year</a:t>
            </a:r>
            <a:endParaRPr lang="en-US" sz="1400" dirty="0"/>
          </a:p>
        </p:txBody>
      </p:sp>
      <p:sp>
        <p:nvSpPr>
          <p:cNvPr id="8" name="Text 6"/>
          <p:cNvSpPr txBox="1"/>
          <p:nvPr/>
        </p:nvSpPr>
        <p:spPr>
          <a:xfrm>
            <a:off x="4663440" y="1801368"/>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10</a:t>
            </a:r>
            <a:endParaRPr lang="en-US" sz="1600" dirty="0"/>
          </a:p>
        </p:txBody>
      </p:sp>
      <p:sp>
        <p:nvSpPr>
          <p:cNvPr id="9" name="Text 7"/>
          <p:cNvSpPr txBox="1"/>
          <p:nvPr/>
        </p:nvSpPr>
        <p:spPr>
          <a:xfrm>
            <a:off x="6675120" y="1801368"/>
            <a:ext cx="2011680" cy="365760"/>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14</a:t>
            </a:r>
            <a:endParaRPr lang="en-US" sz="1800" dirty="0"/>
          </a:p>
        </p:txBody>
      </p:sp>
      <p:sp>
        <p:nvSpPr>
          <p:cNvPr id="10" name="Shape 8"/>
          <p:cNvSpPr/>
          <p:nvPr/>
        </p:nvSpPr>
        <p:spPr>
          <a:xfrm>
            <a:off x="457200" y="2240280"/>
            <a:ext cx="8229600" cy="365760"/>
          </a:xfrm>
          <a:prstGeom prst="roundRect">
            <a:avLst>
              <a:gd name="adj" fmla="val 15000"/>
            </a:avLst>
          </a:prstGeom>
          <a:solidFill>
            <a:srgbClr val="FFFFFF"/>
          </a:solidFill>
          <a:ln w="12700">
            <a:solidFill>
              <a:srgbClr val="DDE3EA"/>
            </a:solidFill>
            <a:prstDash val="solid"/>
          </a:ln>
        </p:spPr>
      </p:sp>
      <p:sp>
        <p:nvSpPr>
          <p:cNvPr id="11" name="Text 9"/>
          <p:cNvSpPr txBox="1"/>
          <p:nvPr/>
        </p:nvSpPr>
        <p:spPr>
          <a:xfrm>
            <a:off x="640080" y="2240280"/>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Most days worked in a row</a:t>
            </a:r>
            <a:endParaRPr lang="en-US" sz="1400" dirty="0"/>
          </a:p>
        </p:txBody>
      </p:sp>
      <p:sp>
        <p:nvSpPr>
          <p:cNvPr id="12" name="Text 10"/>
          <p:cNvSpPr txBox="1"/>
          <p:nvPr/>
        </p:nvSpPr>
        <p:spPr>
          <a:xfrm>
            <a:off x="4663440" y="2240280"/>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7 (up to 9)</a:t>
            </a:r>
            <a:endParaRPr lang="en-US" sz="1600" dirty="0"/>
          </a:p>
        </p:txBody>
      </p:sp>
      <p:sp>
        <p:nvSpPr>
          <p:cNvPr id="13" name="Text 11"/>
          <p:cNvSpPr txBox="1"/>
          <p:nvPr/>
        </p:nvSpPr>
        <p:spPr>
          <a:xfrm>
            <a:off x="6675120" y="2240280"/>
            <a:ext cx="2011680" cy="365760"/>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5 (up to 6)</a:t>
            </a:r>
            <a:endParaRPr lang="en-US" sz="1800" dirty="0"/>
          </a:p>
        </p:txBody>
      </p:sp>
      <p:sp>
        <p:nvSpPr>
          <p:cNvPr id="14" name="Shape 12"/>
          <p:cNvSpPr/>
          <p:nvPr/>
        </p:nvSpPr>
        <p:spPr>
          <a:xfrm>
            <a:off x="457200" y="2679192"/>
            <a:ext cx="8229600" cy="365760"/>
          </a:xfrm>
          <a:prstGeom prst="roundRect">
            <a:avLst>
              <a:gd name="adj" fmla="val 15000"/>
            </a:avLst>
          </a:prstGeom>
          <a:solidFill>
            <a:srgbClr val="EEF2F7"/>
          </a:solidFill>
          <a:ln w="12700">
            <a:solidFill>
              <a:srgbClr val="EEF2F7"/>
            </a:solidFill>
            <a:prstDash val="solid"/>
          </a:ln>
        </p:spPr>
      </p:sp>
      <p:sp>
        <p:nvSpPr>
          <p:cNvPr id="15" name="Text 13"/>
          <p:cNvSpPr txBox="1"/>
          <p:nvPr/>
        </p:nvSpPr>
        <p:spPr>
          <a:xfrm>
            <a:off x="640080" y="2679192"/>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Rest-day breaks of two days or more</a:t>
            </a:r>
            <a:endParaRPr lang="en-US" sz="1400" dirty="0"/>
          </a:p>
        </p:txBody>
      </p:sp>
      <p:sp>
        <p:nvSpPr>
          <p:cNvPr id="16" name="Text 14"/>
          <p:cNvSpPr txBox="1"/>
          <p:nvPr/>
        </p:nvSpPr>
        <p:spPr>
          <a:xfrm>
            <a:off x="4663440" y="2679192"/>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13 of 17</a:t>
            </a:r>
            <a:endParaRPr lang="en-US" sz="1600" dirty="0"/>
          </a:p>
        </p:txBody>
      </p:sp>
      <p:sp>
        <p:nvSpPr>
          <p:cNvPr id="17" name="Text 15"/>
          <p:cNvSpPr txBox="1"/>
          <p:nvPr/>
        </p:nvSpPr>
        <p:spPr>
          <a:xfrm>
            <a:off x="6675120" y="2679192"/>
            <a:ext cx="2011680" cy="365760"/>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22 of 26</a:t>
            </a:r>
            <a:endParaRPr lang="en-US" sz="1800" dirty="0"/>
          </a:p>
        </p:txBody>
      </p:sp>
      <p:sp>
        <p:nvSpPr>
          <p:cNvPr id="18" name="Shape 16"/>
          <p:cNvSpPr/>
          <p:nvPr/>
        </p:nvSpPr>
        <p:spPr>
          <a:xfrm>
            <a:off x="457200" y="3118104"/>
            <a:ext cx="8229600" cy="365760"/>
          </a:xfrm>
          <a:prstGeom prst="roundRect">
            <a:avLst>
              <a:gd name="adj" fmla="val 15000"/>
            </a:avLst>
          </a:prstGeom>
          <a:solidFill>
            <a:srgbClr val="FFFFFF"/>
          </a:solidFill>
          <a:ln w="12700">
            <a:solidFill>
              <a:srgbClr val="DDE3EA"/>
            </a:solidFill>
            <a:prstDash val="solid"/>
          </a:ln>
        </p:spPr>
      </p:sp>
      <p:sp>
        <p:nvSpPr>
          <p:cNvPr id="19" name="Text 17"/>
          <p:cNvSpPr txBox="1"/>
          <p:nvPr/>
        </p:nvSpPr>
        <p:spPr>
          <a:xfrm>
            <a:off x="640080" y="3118104"/>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Shortest gap between two shifts</a:t>
            </a:r>
            <a:endParaRPr lang="en-US" sz="1400" dirty="0"/>
          </a:p>
        </p:txBody>
      </p:sp>
      <p:sp>
        <p:nvSpPr>
          <p:cNvPr id="20" name="Text 18"/>
          <p:cNvSpPr txBox="1"/>
          <p:nvPr/>
        </p:nvSpPr>
        <p:spPr>
          <a:xfrm>
            <a:off x="4663440" y="3118104"/>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12h 30m</a:t>
            </a:r>
            <a:endParaRPr lang="en-US" sz="1600" dirty="0"/>
          </a:p>
        </p:txBody>
      </p:sp>
      <p:sp>
        <p:nvSpPr>
          <p:cNvPr id="21" name="Text 19"/>
          <p:cNvSpPr txBox="1"/>
          <p:nvPr/>
        </p:nvSpPr>
        <p:spPr>
          <a:xfrm>
            <a:off x="6675120" y="3118104"/>
            <a:ext cx="2011680" cy="365760"/>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14h 35m</a:t>
            </a:r>
            <a:endParaRPr lang="en-US" sz="1800" dirty="0"/>
          </a:p>
        </p:txBody>
      </p:sp>
      <p:sp>
        <p:nvSpPr>
          <p:cNvPr id="22" name="Shape 20"/>
          <p:cNvSpPr/>
          <p:nvPr/>
        </p:nvSpPr>
        <p:spPr>
          <a:xfrm>
            <a:off x="457200" y="3557016"/>
            <a:ext cx="8229600" cy="365760"/>
          </a:xfrm>
          <a:prstGeom prst="roundRect">
            <a:avLst>
              <a:gd name="adj" fmla="val 15000"/>
            </a:avLst>
          </a:prstGeom>
          <a:solidFill>
            <a:srgbClr val="EEF2F7"/>
          </a:solidFill>
          <a:ln w="12700">
            <a:solidFill>
              <a:srgbClr val="EEF2F7"/>
            </a:solidFill>
            <a:prstDash val="solid"/>
          </a:ln>
        </p:spPr>
      </p:sp>
      <p:sp>
        <p:nvSpPr>
          <p:cNvPr id="23" name="Text 21"/>
          <p:cNvSpPr txBox="1"/>
          <p:nvPr/>
        </p:nvSpPr>
        <p:spPr>
          <a:xfrm>
            <a:off x="640080" y="3557016"/>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Weeks on one turn, no early–late switch</a:t>
            </a:r>
            <a:endParaRPr lang="en-US" sz="1400" dirty="0"/>
          </a:p>
        </p:txBody>
      </p:sp>
      <p:sp>
        <p:nvSpPr>
          <p:cNvPr id="24" name="Text 22"/>
          <p:cNvSpPr txBox="1"/>
          <p:nvPr/>
        </p:nvSpPr>
        <p:spPr>
          <a:xfrm>
            <a:off x="4663440" y="3557016"/>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7 of 16</a:t>
            </a:r>
            <a:endParaRPr lang="en-US" sz="1600" dirty="0"/>
          </a:p>
        </p:txBody>
      </p:sp>
      <p:sp>
        <p:nvSpPr>
          <p:cNvPr id="25" name="Text 23"/>
          <p:cNvSpPr txBox="1"/>
          <p:nvPr/>
        </p:nvSpPr>
        <p:spPr>
          <a:xfrm>
            <a:off x="6675120" y="3557016"/>
            <a:ext cx="2011680" cy="365760"/>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18 of 21</a:t>
            </a:r>
            <a:endParaRPr lang="en-US" sz="1800" dirty="0"/>
          </a:p>
        </p:txBody>
      </p:sp>
      <p:sp>
        <p:nvSpPr>
          <p:cNvPr id="26" name="Shape 24"/>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27" name="Text 25"/>
          <p:cNvSpPr txBox="1"/>
          <p:nvPr/>
        </p:nvSpPr>
        <p:spPr>
          <a:xfrm>
            <a:off x="640080" y="4160520"/>
            <a:ext cx="7863840" cy="548640"/>
          </a:xfrm>
          <a:prstGeom prst="rect">
            <a:avLst/>
          </a:prstGeom>
          <a:noFill/>
          <a:ln/>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14 full weekends off a year, at most five weeks apart, and never more than five days in a row on the fixed rota.</a:t>
            </a:r>
            <a:endParaRPr lang="en-US" sz="1400" dirty="0"/>
          </a:p>
        </p:txBody>
      </p:sp>
      <p:sp>
        <p:nvSpPr>
          <p:cNvPr id="28" name="Text 26"/>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In Step · December 2026 link proposal · 9</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Your 26 weeks at a glance</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The green bars are the full weekends off; where you start is decided later</a:t>
            </a:r>
            <a:endParaRPr lang="en-US" sz="1500" dirty="0"/>
          </a:p>
        </p:txBody>
      </p:sp>
      <p:pic>
        <p:nvPicPr>
          <p:cNvPr id="990" name="Rota strip" descr="The 26 weeks of the link"/>
          <p:cNvPicPr>
            <a:picLocks noChangeAspect="1"/>
          </p:cNvPicPr>
          <p:nvPr/>
        </p:nvPicPr>
        <p:blipFill>
          <a:blip r:embed="rIdStrip"/>
          <a:stretch>
            <a:fillRect/>
          </a:stretch>
        </p:blipFill>
        <p:spPr>
          <a:xfrm>
            <a:off x="457200" y="1371600"/>
            <a:ext cx="8229600" cy="2575381"/>
          </a:xfrm>
          <a:prstGeom prst="rect">
            <a:avLst/>
          </a:prstGeom>
        </p:spPr>
      </p:pic>
      <p:sp>
        <p:nvSpPr>
          <p:cNvPr id="19" name="Shape 14"/>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20" name="Text 15"/>
          <p:cNvSpPr txBox="1"/>
          <p:nvPr/>
        </p:nvSpPr>
        <p:spPr>
          <a:xfrm>
            <a:off x="640080" y="4160520"/>
            <a:ext cx="7863840" cy="548640"/>
          </a:xfrm>
          <a:prstGeom prst="rect">
            <a:avLst/>
          </a:prstGeom>
          <a:noFill/>
          <a:ln/>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14 full weekends off a year, at most five weeks apart; blocks of earlies or lates up to 5 weeks, 7 if the cover weeks go the same way.</a:t>
            </a:r>
            <a:endParaRPr lang="en-US" sz="1400" dirty="0"/>
          </a:p>
        </p:txBody>
      </p:sp>
      <p:sp>
        <p:nvSpPr>
          <p:cNvPr id="21" name="Text 16"/>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In Step · December 2026 link proposal · 10</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Booking leave</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What 14 days of annual leave buys you, with Sundays off</a:t>
            </a:r>
            <a:endParaRPr lang="en-US" sz="1500" dirty="0"/>
          </a:p>
        </p:txBody>
      </p:sp>
      <p:sp>
        <p:nvSpPr>
          <p:cNvPr id="4" name="Text 2"/>
          <p:cNvSpPr txBox="1"/>
          <p:nvPr/>
        </p:nvSpPr>
        <p:spPr>
          <a:xfrm>
            <a:off x="4663440" y="1417320"/>
            <a:ext cx="2011680" cy="320040"/>
          </a:xfrm>
          <a:prstGeom prst="rect">
            <a:avLst/>
          </a:prstGeom>
          <a:noFill/>
          <a:ln/>
        </p:spPr>
        <p:txBody>
          <a:bodyPr wrap="square" lIns="0" tIns="0" rIns="0" bIns="0" rtlCol="0" anchor="ctr"/>
          <a:lstStyle/>
          <a:p>
            <a:pPr algn="ctr" indent="0" marL="0">
              <a:buNone/>
            </a:pPr>
            <a:r>
              <a:rPr lang="en-US" sz="1300" b="1" dirty="0">
                <a:solidFill>
                  <a:srgbClr val="5B6778"/>
                </a:solidFill>
                <a:latin typeface="Inter" pitchFamily="34" charset="0"/>
                <a:ea typeface="Inter" pitchFamily="34" charset="-122"/>
                <a:cs typeface="Inter" pitchFamily="34" charset="-120"/>
              </a:rPr>
              <a:t>Today</a:t>
            </a:r>
            <a:endParaRPr lang="en-US" sz="1300" dirty="0"/>
          </a:p>
        </p:txBody>
      </p:sp>
      <p:sp>
        <p:nvSpPr>
          <p:cNvPr id="5" name="Text 3"/>
          <p:cNvSpPr txBox="1"/>
          <p:nvPr/>
        </p:nvSpPr>
        <p:spPr>
          <a:xfrm>
            <a:off x="6675120" y="1417320"/>
            <a:ext cx="2011680" cy="320040"/>
          </a:xfrm>
          <a:prstGeom prst="rect">
            <a:avLst/>
          </a:prstGeom>
          <a:noFill/>
          <a:ln/>
        </p:spPr>
        <p:txBody>
          <a:bodyPr wrap="square" lIns="0" tIns="0" rIns="0" bIns="0" rtlCol="0" anchor="ctr"/>
          <a:lstStyle/>
          <a:p>
            <a:pPr algn="ctr" indent="0" marL="0">
              <a:buNone/>
            </a:pPr>
            <a:r>
              <a:rPr lang="en-US" sz="1300" b="1" dirty="0">
                <a:solidFill>
                  <a:srgbClr val="001E3C"/>
                </a:solidFill>
                <a:latin typeface="Inter" pitchFamily="34" charset="0"/>
                <a:ea typeface="Inter" pitchFamily="34" charset="-122"/>
                <a:cs typeface="Inter" pitchFamily="34" charset="-120"/>
              </a:rPr>
              <a:t>In Step</a:t>
            </a:r>
            <a:endParaRPr lang="en-US" sz="1300" dirty="0"/>
          </a:p>
        </p:txBody>
      </p:sp>
      <p:sp>
        <p:nvSpPr>
          <p:cNvPr id="6" name="Shape 4"/>
          <p:cNvSpPr/>
          <p:nvPr/>
        </p:nvSpPr>
        <p:spPr>
          <a:xfrm>
            <a:off x="457200" y="1801368"/>
            <a:ext cx="8229600" cy="365760"/>
          </a:xfrm>
          <a:prstGeom prst="roundRect">
            <a:avLst>
              <a:gd name="adj" fmla="val 11538"/>
            </a:avLst>
          </a:prstGeom>
          <a:solidFill>
            <a:srgbClr val="EEF2F7"/>
          </a:solidFill>
          <a:ln w="12700">
            <a:solidFill>
              <a:srgbClr val="EEF2F7"/>
            </a:solidFill>
            <a:prstDash val="solid"/>
          </a:ln>
        </p:spPr>
      </p:sp>
      <p:sp>
        <p:nvSpPr>
          <p:cNvPr id="7" name="Text 5"/>
          <p:cNvSpPr txBox="1"/>
          <p:nvPr/>
        </p:nvSpPr>
        <p:spPr>
          <a:xfrm>
            <a:off x="640080" y="1801368"/>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Days off in a row — best place to book</a:t>
            </a:r>
            <a:endParaRPr lang="en-US" sz="1400" dirty="0"/>
          </a:p>
        </p:txBody>
      </p:sp>
      <p:sp>
        <p:nvSpPr>
          <p:cNvPr id="8" name="Text 6"/>
          <p:cNvSpPr txBox="1"/>
          <p:nvPr/>
        </p:nvSpPr>
        <p:spPr>
          <a:xfrm>
            <a:off x="4663440" y="1801368"/>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30</a:t>
            </a:r>
            <a:endParaRPr lang="en-US" sz="1600" dirty="0"/>
          </a:p>
        </p:txBody>
      </p:sp>
      <p:sp>
        <p:nvSpPr>
          <p:cNvPr id="9" name="Text 7"/>
          <p:cNvSpPr txBox="1"/>
          <p:nvPr/>
        </p:nvSpPr>
        <p:spPr>
          <a:xfrm>
            <a:off x="6675120" y="1801368"/>
            <a:ext cx="2011680" cy="365760"/>
          </a:xfrm>
          <a:prstGeom prst="rect">
            <a:avLst/>
          </a:prstGeom>
          <a:noFill/>
          <a:ln/>
        </p:spPr>
        <p:txBody>
          <a:bodyPr wrap="square" lIns="0" tIns="0" rIns="0" bIns="0" rtlCol="0" anchor="ctr"/>
          <a:lstStyle/>
          <a:p>
            <a:pPr algn="ctr" indent="0" marL="0">
              <a:buNone/>
            </a:pPr>
            <a:r>
              <a:rPr lang="en-US" sz="1800" b="1" dirty="0">
                <a:solidFill>
                  <a:srgbClr val="A15C00"/>
                </a:solidFill>
                <a:latin typeface="Inter" pitchFamily="34" charset="0"/>
                <a:ea typeface="Inter" pitchFamily="34" charset="-122"/>
                <a:cs typeface="Inter" pitchFamily="34" charset="-120"/>
              </a:rPr>
              <a:t>28</a:t>
            </a:r>
            <a:endParaRPr lang="en-US" sz="1800" dirty="0"/>
          </a:p>
        </p:txBody>
      </p:sp>
      <p:sp>
        <p:nvSpPr>
          <p:cNvPr id="10" name="Shape 8"/>
          <p:cNvSpPr/>
          <p:nvPr/>
        </p:nvSpPr>
        <p:spPr>
          <a:xfrm>
            <a:off x="457200" y="2240280"/>
            <a:ext cx="8229600" cy="365760"/>
          </a:xfrm>
          <a:prstGeom prst="roundRect">
            <a:avLst>
              <a:gd name="adj" fmla="val 11538"/>
            </a:avLst>
          </a:prstGeom>
          <a:solidFill>
            <a:srgbClr val="FFFFFF"/>
          </a:solidFill>
          <a:ln w="12700">
            <a:solidFill>
              <a:srgbClr val="DDE3EA"/>
            </a:solidFill>
            <a:prstDash val="solid"/>
          </a:ln>
        </p:spPr>
      </p:sp>
      <p:sp>
        <p:nvSpPr>
          <p:cNvPr id="11" name="Text 9"/>
          <p:cNvSpPr txBox="1"/>
          <p:nvPr/>
        </p:nvSpPr>
        <p:spPr>
          <a:xfrm>
            <a:off x="640080" y="2240280"/>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Days off in a row — on average</a:t>
            </a:r>
            <a:endParaRPr lang="en-US" sz="1400" dirty="0"/>
          </a:p>
        </p:txBody>
      </p:sp>
      <p:sp>
        <p:nvSpPr>
          <p:cNvPr id="12" name="Text 10"/>
          <p:cNvSpPr txBox="1"/>
          <p:nvPr/>
        </p:nvSpPr>
        <p:spPr>
          <a:xfrm>
            <a:off x="4663440" y="2240280"/>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23.4</a:t>
            </a:r>
            <a:endParaRPr lang="en-US" sz="1600" dirty="0"/>
          </a:p>
        </p:txBody>
      </p:sp>
      <p:sp>
        <p:nvSpPr>
          <p:cNvPr id="13" name="Text 11"/>
          <p:cNvSpPr txBox="1"/>
          <p:nvPr/>
        </p:nvSpPr>
        <p:spPr>
          <a:xfrm>
            <a:off x="6675120" y="2240280"/>
            <a:ext cx="2011680" cy="365760"/>
          </a:xfrm>
          <a:prstGeom prst="rect">
            <a:avLst/>
          </a:prstGeom>
          <a:noFill/>
          <a:ln/>
        </p:spPr>
        <p:txBody>
          <a:bodyPr wrap="square" lIns="0" tIns="0" rIns="0" bIns="0" rtlCol="0" anchor="ctr"/>
          <a:lstStyle/>
          <a:p>
            <a:pPr algn="ctr" indent="0" marL="0">
              <a:buNone/>
            </a:pPr>
            <a:r>
              <a:rPr lang="en-US" sz="1800" b="1" dirty="0">
                <a:solidFill>
                  <a:srgbClr val="001E3C"/>
                </a:solidFill>
                <a:latin typeface="Inter" pitchFamily="34" charset="0"/>
                <a:ea typeface="Inter" pitchFamily="34" charset="-122"/>
                <a:cs typeface="Inter" pitchFamily="34" charset="-120"/>
              </a:rPr>
              <a:t>23.4</a:t>
            </a:r>
            <a:endParaRPr lang="en-US" sz="1800" dirty="0"/>
          </a:p>
        </p:txBody>
      </p:sp>
      <p:sp>
        <p:nvSpPr>
          <p:cNvPr id="14" name="Shape 12"/>
          <p:cNvSpPr/>
          <p:nvPr/>
        </p:nvSpPr>
        <p:spPr>
          <a:xfrm>
            <a:off x="457200" y="2679192"/>
            <a:ext cx="8229600" cy="365760"/>
          </a:xfrm>
          <a:prstGeom prst="roundRect">
            <a:avLst>
              <a:gd name="adj" fmla="val 11538"/>
            </a:avLst>
          </a:prstGeom>
          <a:solidFill>
            <a:srgbClr val="EEF2F7"/>
          </a:solidFill>
          <a:ln w="12700">
            <a:solidFill>
              <a:srgbClr val="EEF2F7"/>
            </a:solidFill>
            <a:prstDash val="solid"/>
          </a:ln>
        </p:spPr>
      </p:sp>
      <p:sp>
        <p:nvSpPr>
          <p:cNvPr id="15" name="Text 13"/>
          <p:cNvSpPr txBox="1"/>
          <p:nvPr/>
        </p:nvSpPr>
        <p:spPr>
          <a:xfrm>
            <a:off x="640080" y="2679192"/>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Days off in a row — worst place</a:t>
            </a:r>
            <a:endParaRPr lang="en-US" sz="1400" dirty="0"/>
          </a:p>
        </p:txBody>
      </p:sp>
      <p:sp>
        <p:nvSpPr>
          <p:cNvPr id="16" name="Text 14"/>
          <p:cNvSpPr txBox="1"/>
          <p:nvPr/>
        </p:nvSpPr>
        <p:spPr>
          <a:xfrm>
            <a:off x="4663440" y="2679192"/>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19</a:t>
            </a:r>
            <a:endParaRPr lang="en-US" sz="1600" dirty="0"/>
          </a:p>
        </p:txBody>
      </p:sp>
      <p:sp>
        <p:nvSpPr>
          <p:cNvPr id="17" name="Text 15"/>
          <p:cNvSpPr txBox="1"/>
          <p:nvPr/>
        </p:nvSpPr>
        <p:spPr>
          <a:xfrm>
            <a:off x="6675120" y="2679192"/>
            <a:ext cx="2011680" cy="365760"/>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20</a:t>
            </a:r>
            <a:endParaRPr lang="en-US" sz="1800" dirty="0"/>
          </a:p>
        </p:txBody>
      </p:sp>
      <p:sp>
        <p:nvSpPr>
          <p:cNvPr id="18" name="Shape 16"/>
          <p:cNvSpPr/>
          <p:nvPr/>
        </p:nvSpPr>
        <p:spPr>
          <a:xfrm>
            <a:off x="457200" y="3118104"/>
            <a:ext cx="8229600" cy="365760"/>
          </a:xfrm>
          <a:prstGeom prst="roundRect">
            <a:avLst>
              <a:gd name="adj" fmla="val 11538"/>
            </a:avLst>
          </a:prstGeom>
          <a:solidFill>
            <a:srgbClr val="FFFFFF"/>
          </a:solidFill>
          <a:ln w="12700">
            <a:solidFill>
              <a:srgbClr val="DDE3EA"/>
            </a:solidFill>
            <a:prstDash val="solid"/>
          </a:ln>
        </p:spPr>
      </p:sp>
      <p:sp>
        <p:nvSpPr>
          <p:cNvPr id="19" name="Text 17"/>
          <p:cNvSpPr txBox="1"/>
          <p:nvPr/>
        </p:nvSpPr>
        <p:spPr>
          <a:xfrm>
            <a:off x="640080" y="3118104"/>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Leave for four full weeks off, at best</a:t>
            </a:r>
            <a:endParaRPr lang="en-US" sz="1400" dirty="0"/>
          </a:p>
        </p:txBody>
      </p:sp>
      <p:sp>
        <p:nvSpPr>
          <p:cNvPr id="20" name="Text 18"/>
          <p:cNvSpPr txBox="1"/>
          <p:nvPr/>
        </p:nvSpPr>
        <p:spPr>
          <a:xfrm>
            <a:off x="4663440" y="3118104"/>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14</a:t>
            </a:r>
            <a:endParaRPr lang="en-US" sz="1600" dirty="0"/>
          </a:p>
        </p:txBody>
      </p:sp>
      <p:sp>
        <p:nvSpPr>
          <p:cNvPr id="21" name="Text 19"/>
          <p:cNvSpPr txBox="1"/>
          <p:nvPr/>
        </p:nvSpPr>
        <p:spPr>
          <a:xfrm>
            <a:off x="6675120" y="3118104"/>
            <a:ext cx="2011680" cy="365760"/>
          </a:xfrm>
          <a:prstGeom prst="rect">
            <a:avLst/>
          </a:prstGeom>
          <a:noFill/>
          <a:ln/>
        </p:spPr>
        <p:txBody>
          <a:bodyPr wrap="square" lIns="0" tIns="0" rIns="0" bIns="0" rtlCol="0" anchor="ctr"/>
          <a:lstStyle/>
          <a:p>
            <a:pPr algn="ctr" indent="0" marL="0">
              <a:buNone/>
            </a:pPr>
            <a:r>
              <a:rPr lang="en-US" sz="1800" b="1" dirty="0">
                <a:solidFill>
                  <a:srgbClr val="A15C00"/>
                </a:solidFill>
                <a:latin typeface="Inter" pitchFamily="34" charset="0"/>
                <a:ea typeface="Inter" pitchFamily="34" charset="-122"/>
                <a:cs typeface="Inter" pitchFamily="34" charset="-120"/>
              </a:rPr>
              <a:t>15</a:t>
            </a:r>
            <a:endParaRPr lang="en-US" sz="1800" dirty="0"/>
          </a:p>
        </p:txBody>
      </p:sp>
      <p:sp>
        <p:nvSpPr>
          <p:cNvPr id="22" name="Shape 20"/>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23" name="Text 21"/>
          <p:cNvSpPr txBox="1"/>
          <p:nvPr/>
        </p:nvSpPr>
        <p:spPr>
          <a:xfrm>
            <a:off x="640080" y="4160520"/>
            <a:ext cx="7863840" cy="548640"/>
          </a:xfrm>
          <a:prstGeom prst="rect">
            <a:avLst/>
          </a:prstGeom>
          <a:noFill/>
          <a:ln/>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Best stretch 28 days, not 30; four full weeks off, Sunday to Saturday, costs 15 days’ leave, not 14. Average the same, worst a day better.</a:t>
            </a:r>
            <a:endParaRPr lang="en-US" sz="1400" dirty="0"/>
          </a:p>
        </p:txBody>
      </p:sp>
      <p:sp>
        <p:nvSpPr>
          <p:cNvPr id="24" name="Text 22"/>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In Step · December 2026 link proposal · 11</a:t>
            </a:r>
            <a:endParaRPr lang="en-US" sz="9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More staff on the floor</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More people rostered every day, and more at the open and the close on most days</a:t>
            </a:r>
            <a:endParaRPr lang="en-US" sz="1500" dirty="0"/>
          </a:p>
        </p:txBody>
      </p:sp>
      <p:sp>
        <p:nvSpPr>
          <p:cNvPr id="4" name="Text 2"/>
          <p:cNvSpPr txBox="1"/>
          <p:nvPr/>
        </p:nvSpPr>
        <p:spPr>
          <a:xfrm>
            <a:off x="4663440" y="1417320"/>
            <a:ext cx="2011680" cy="320040"/>
          </a:xfrm>
          <a:prstGeom prst="rect">
            <a:avLst/>
          </a:prstGeom>
          <a:noFill/>
          <a:ln/>
        </p:spPr>
        <p:txBody>
          <a:bodyPr wrap="square" lIns="0" tIns="0" rIns="0" bIns="0" rtlCol="0" anchor="ctr"/>
          <a:lstStyle/>
          <a:p>
            <a:pPr algn="ctr" indent="0" marL="0">
              <a:buNone/>
            </a:pPr>
            <a:r>
              <a:rPr lang="en-US" sz="1300" b="1" dirty="0">
                <a:solidFill>
                  <a:srgbClr val="5B6778"/>
                </a:solidFill>
                <a:latin typeface="Inter" pitchFamily="34" charset="0"/>
                <a:ea typeface="Inter" pitchFamily="34" charset="-122"/>
                <a:cs typeface="Inter" pitchFamily="34" charset="-120"/>
              </a:rPr>
              <a:t>Today</a:t>
            </a:r>
            <a:endParaRPr lang="en-US" sz="1300" dirty="0"/>
          </a:p>
        </p:txBody>
      </p:sp>
      <p:sp>
        <p:nvSpPr>
          <p:cNvPr id="5" name="Text 3"/>
          <p:cNvSpPr txBox="1"/>
          <p:nvPr/>
        </p:nvSpPr>
        <p:spPr>
          <a:xfrm>
            <a:off x="6675120" y="1417320"/>
            <a:ext cx="2011680" cy="320040"/>
          </a:xfrm>
          <a:prstGeom prst="rect">
            <a:avLst/>
          </a:prstGeom>
          <a:noFill/>
          <a:ln/>
        </p:spPr>
        <p:txBody>
          <a:bodyPr wrap="square" lIns="0" tIns="0" rIns="0" bIns="0" rtlCol="0" anchor="ctr"/>
          <a:lstStyle/>
          <a:p>
            <a:pPr algn="ctr" indent="0" marL="0">
              <a:buNone/>
            </a:pPr>
            <a:r>
              <a:rPr lang="en-US" sz="1300" b="1" dirty="0">
                <a:solidFill>
                  <a:srgbClr val="001E3C"/>
                </a:solidFill>
                <a:latin typeface="Inter" pitchFamily="34" charset="0"/>
                <a:ea typeface="Inter" pitchFamily="34" charset="-122"/>
                <a:cs typeface="Inter" pitchFamily="34" charset="-120"/>
              </a:rPr>
              <a:t>In Step</a:t>
            </a:r>
            <a:endParaRPr lang="en-US" sz="1300" dirty="0"/>
          </a:p>
        </p:txBody>
      </p:sp>
      <p:sp>
        <p:nvSpPr>
          <p:cNvPr id="6" name="Shape 4"/>
          <p:cNvSpPr/>
          <p:nvPr/>
        </p:nvSpPr>
        <p:spPr>
          <a:xfrm>
            <a:off x="457200" y="1801368"/>
            <a:ext cx="8229600" cy="365760"/>
          </a:xfrm>
          <a:prstGeom prst="roundRect">
            <a:avLst>
              <a:gd name="adj" fmla="val 11538"/>
            </a:avLst>
          </a:prstGeom>
          <a:solidFill>
            <a:srgbClr val="EEF2F7"/>
          </a:solidFill>
          <a:ln w="12700">
            <a:solidFill>
              <a:srgbClr val="EEF2F7"/>
            </a:solidFill>
            <a:prstDash val="solid"/>
          </a:ln>
        </p:spPr>
      </p:sp>
      <p:sp>
        <p:nvSpPr>
          <p:cNvPr id="7" name="Text 5"/>
          <p:cNvSpPr txBox="1"/>
          <p:nvPr/>
        </p:nvSpPr>
        <p:spPr>
          <a:xfrm>
            <a:off x="640080" y="1801368"/>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On duty on a weekday</a:t>
            </a:r>
            <a:endParaRPr lang="en-US" sz="1400" dirty="0"/>
          </a:p>
        </p:txBody>
      </p:sp>
      <p:sp>
        <p:nvSpPr>
          <p:cNvPr id="8" name="Text 6"/>
          <p:cNvSpPr txBox="1"/>
          <p:nvPr/>
        </p:nvSpPr>
        <p:spPr>
          <a:xfrm>
            <a:off x="4663440" y="1801368"/>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11–12</a:t>
            </a:r>
            <a:endParaRPr lang="en-US" sz="1600" dirty="0"/>
          </a:p>
        </p:txBody>
      </p:sp>
      <p:sp>
        <p:nvSpPr>
          <p:cNvPr id="9" name="Text 7"/>
          <p:cNvSpPr txBox="1"/>
          <p:nvPr/>
        </p:nvSpPr>
        <p:spPr>
          <a:xfrm>
            <a:off x="6675120" y="1801368"/>
            <a:ext cx="2011680" cy="365760"/>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15</a:t>
            </a:r>
            <a:endParaRPr lang="en-US" sz="1800" dirty="0"/>
          </a:p>
        </p:txBody>
      </p:sp>
      <p:sp>
        <p:nvSpPr>
          <p:cNvPr id="10" name="Shape 8"/>
          <p:cNvSpPr/>
          <p:nvPr/>
        </p:nvSpPr>
        <p:spPr>
          <a:xfrm>
            <a:off x="457200" y="2240280"/>
            <a:ext cx="8229600" cy="365760"/>
          </a:xfrm>
          <a:prstGeom prst="roundRect">
            <a:avLst>
              <a:gd name="adj" fmla="val 11538"/>
            </a:avLst>
          </a:prstGeom>
          <a:solidFill>
            <a:srgbClr val="FFFFFF"/>
          </a:solidFill>
          <a:ln w="12700">
            <a:solidFill>
              <a:srgbClr val="DDE3EA"/>
            </a:solidFill>
            <a:prstDash val="solid"/>
          </a:ln>
        </p:spPr>
      </p:sp>
      <p:sp>
        <p:nvSpPr>
          <p:cNvPr id="11" name="Text 9"/>
          <p:cNvSpPr txBox="1"/>
          <p:nvPr/>
        </p:nvSpPr>
        <p:spPr>
          <a:xfrm>
            <a:off x="640080" y="2240280"/>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On duty on a Saturday / Sunday</a:t>
            </a:r>
            <a:endParaRPr lang="en-US" sz="1400" dirty="0"/>
          </a:p>
        </p:txBody>
      </p:sp>
      <p:sp>
        <p:nvSpPr>
          <p:cNvPr id="12" name="Text 10"/>
          <p:cNvSpPr txBox="1"/>
          <p:nvPr/>
        </p:nvSpPr>
        <p:spPr>
          <a:xfrm>
            <a:off x="4663440" y="2240280"/>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10 / 8</a:t>
            </a:r>
            <a:endParaRPr lang="en-US" sz="1600" dirty="0"/>
          </a:p>
        </p:txBody>
      </p:sp>
      <p:sp>
        <p:nvSpPr>
          <p:cNvPr id="13" name="Text 11"/>
          <p:cNvSpPr txBox="1"/>
          <p:nvPr/>
        </p:nvSpPr>
        <p:spPr>
          <a:xfrm>
            <a:off x="6675120" y="2240280"/>
            <a:ext cx="2011680" cy="365760"/>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14 / 10</a:t>
            </a:r>
            <a:endParaRPr lang="en-US" sz="1800" dirty="0"/>
          </a:p>
        </p:txBody>
      </p:sp>
      <p:sp>
        <p:nvSpPr>
          <p:cNvPr id="14" name="Shape 12"/>
          <p:cNvSpPr/>
          <p:nvPr/>
        </p:nvSpPr>
        <p:spPr>
          <a:xfrm>
            <a:off x="457200" y="2679192"/>
            <a:ext cx="8229600" cy="365760"/>
          </a:xfrm>
          <a:prstGeom prst="roundRect">
            <a:avLst>
              <a:gd name="adj" fmla="val 11538"/>
            </a:avLst>
          </a:prstGeom>
          <a:solidFill>
            <a:srgbClr val="EEF2F7"/>
          </a:solidFill>
          <a:ln w="12700">
            <a:solidFill>
              <a:srgbClr val="EEF2F7"/>
            </a:solidFill>
            <a:prstDash val="solid"/>
          </a:ln>
        </p:spPr>
      </p:sp>
      <p:sp>
        <p:nvSpPr>
          <p:cNvPr id="15" name="Text 13"/>
          <p:cNvSpPr txBox="1"/>
          <p:nvPr/>
        </p:nvSpPr>
        <p:spPr>
          <a:xfrm>
            <a:off x="640080" y="2679192"/>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Fewest rostered on the floor</a:t>
            </a:r>
            <a:endParaRPr lang="en-US" sz="1400" dirty="0"/>
          </a:p>
        </p:txBody>
      </p:sp>
      <p:sp>
        <p:nvSpPr>
          <p:cNvPr id="16" name="Text 14"/>
          <p:cNvSpPr txBox="1"/>
          <p:nvPr/>
        </p:nvSpPr>
        <p:spPr>
          <a:xfrm>
            <a:off x="4663440" y="2679192"/>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2</a:t>
            </a:r>
            <a:endParaRPr lang="en-US" sz="1600" dirty="0"/>
          </a:p>
        </p:txBody>
      </p:sp>
      <p:sp>
        <p:nvSpPr>
          <p:cNvPr id="17" name="Text 15"/>
          <p:cNvSpPr txBox="1"/>
          <p:nvPr/>
        </p:nvSpPr>
        <p:spPr>
          <a:xfrm>
            <a:off x="6675120" y="2679192"/>
            <a:ext cx="2011680" cy="365760"/>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3</a:t>
            </a:r>
            <a:endParaRPr lang="en-US" sz="1800" dirty="0"/>
          </a:p>
        </p:txBody>
      </p:sp>
      <p:sp>
        <p:nvSpPr>
          <p:cNvPr id="18" name="Shape 16"/>
          <p:cNvSpPr/>
          <p:nvPr/>
        </p:nvSpPr>
        <p:spPr>
          <a:xfrm>
            <a:off x="457200" y="3118104"/>
            <a:ext cx="8229600" cy="365760"/>
          </a:xfrm>
          <a:prstGeom prst="roundRect">
            <a:avLst>
              <a:gd name="adj" fmla="val 11538"/>
            </a:avLst>
          </a:prstGeom>
          <a:solidFill>
            <a:srgbClr val="FFFFFF"/>
          </a:solidFill>
          <a:ln w="12700">
            <a:solidFill>
              <a:srgbClr val="DDE3EA"/>
            </a:solidFill>
            <a:prstDash val="solid"/>
          </a:ln>
        </p:spPr>
      </p:sp>
      <p:sp>
        <p:nvSpPr>
          <p:cNvPr id="19" name="Text 17"/>
          <p:cNvSpPr txBox="1"/>
          <p:nvPr/>
        </p:nvSpPr>
        <p:spPr>
          <a:xfrm>
            <a:off x="640080" y="3118104"/>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Avoidable fatigue warnings in the fixed rota</a:t>
            </a:r>
            <a:endParaRPr lang="en-US" sz="1400" dirty="0"/>
          </a:p>
        </p:txBody>
      </p:sp>
      <p:sp>
        <p:nvSpPr>
          <p:cNvPr id="20" name="Text 18"/>
          <p:cNvSpPr txBox="1"/>
          <p:nvPr/>
        </p:nvSpPr>
        <p:spPr>
          <a:xfrm>
            <a:off x="4663440" y="3118104"/>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4 (up to 5)</a:t>
            </a:r>
            <a:endParaRPr lang="en-US" sz="1600" dirty="0"/>
          </a:p>
        </p:txBody>
      </p:sp>
      <p:sp>
        <p:nvSpPr>
          <p:cNvPr id="21" name="Text 19"/>
          <p:cNvSpPr txBox="1"/>
          <p:nvPr/>
        </p:nvSpPr>
        <p:spPr>
          <a:xfrm>
            <a:off x="6675120" y="3118104"/>
            <a:ext cx="2011680" cy="365760"/>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0</a:t>
            </a:r>
            <a:endParaRPr lang="en-US" sz="1800" dirty="0"/>
          </a:p>
        </p:txBody>
      </p:sp>
      <p:sp>
        <p:nvSpPr>
          <p:cNvPr id="22" name="Shape 20"/>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23" name="Text 21"/>
          <p:cNvSpPr txBox="1"/>
          <p:nvPr/>
        </p:nvSpPr>
        <p:spPr>
          <a:xfrm>
            <a:off x="640080" y="4160520"/>
            <a:ext cx="7863840" cy="548640"/>
          </a:xfrm>
          <a:prstGeom prst="rect">
            <a:avLst/>
          </a:prstGeom>
          <a:noFill/>
          <a:ln/>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At least three rostered on the floor, and no avoidable fatigue warnings in the fixed rota.</a:t>
            </a:r>
            <a:endParaRPr lang="en-US" sz="1400" dirty="0"/>
          </a:p>
        </p:txBody>
      </p:sp>
      <p:sp>
        <p:nvSpPr>
          <p:cNvPr id="24" name="Text 22"/>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In Step · December 2026 link proposal · 12</a:t>
            </a:r>
            <a:endParaRPr lang="en-US" sz="9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The honest trade-offs</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Nothing is free — here is what it costs</a:t>
            </a:r>
            <a:endParaRPr lang="en-US" sz="1500" dirty="0"/>
          </a:p>
        </p:txBody>
      </p:sp>
      <p:sp>
        <p:nvSpPr>
          <p:cNvPr id="4" name="Shape 2"/>
          <p:cNvSpPr/>
          <p:nvPr/>
        </p:nvSpPr>
        <p:spPr>
          <a:xfrm>
            <a:off x="457200" y="1371600"/>
            <a:ext cx="4023360" cy="822960"/>
          </a:xfrm>
          <a:prstGeom prst="roundRect">
            <a:avLst>
              <a:gd name="adj" fmla="val 9091"/>
            </a:avLst>
          </a:prstGeom>
          <a:solidFill>
            <a:srgbClr val="EEF2F7"/>
          </a:solidFill>
          <a:ln w="12700">
            <a:solidFill>
              <a:srgbClr val="EEF2F7"/>
            </a:solidFill>
            <a:prstDash val="solid"/>
          </a:ln>
        </p:spPr>
      </p:sp>
      <p:sp>
        <p:nvSpPr>
          <p:cNvPr id="5" name="Text 3"/>
          <p:cNvSpPr txBox="1"/>
          <p:nvPr/>
        </p:nvSpPr>
        <p:spPr>
          <a:xfrm>
            <a:off x="640080" y="1444752"/>
            <a:ext cx="3703320" cy="274320"/>
          </a:xfrm>
          <a:prstGeom prst="rect">
            <a:avLst/>
          </a:prstGeom>
          <a:noFill/>
          <a:ln/>
        </p:spPr>
        <p:txBody>
          <a:bodyPr wrap="square" lIns="0" tIns="0" rIns="0" bIns="0" rtlCol="0" anchor="ctr"/>
          <a:lstStyle/>
          <a:p>
            <a:pPr indent="0" marL="0">
              <a:buNone/>
            </a:pPr>
            <a:r>
              <a:rPr lang="en-US" sz="1400" b="1" dirty="0">
                <a:solidFill>
                  <a:srgbClr val="1B2533"/>
                </a:solidFill>
                <a:latin typeface="Inter" pitchFamily="34" charset="0"/>
                <a:ea typeface="Inter" pitchFamily="34" charset="-122"/>
                <a:cs typeface="Inter" pitchFamily="34" charset="-120"/>
              </a:rPr>
              <a:t>Six new shift times to learn</a:t>
            </a:r>
            <a:endParaRPr lang="en-US" sz="1400" dirty="0"/>
          </a:p>
        </p:txBody>
      </p:sp>
      <p:sp>
        <p:nvSpPr>
          <p:cNvPr id="6" name="Text 4"/>
          <p:cNvSpPr txBox="1"/>
          <p:nvPr/>
        </p:nvSpPr>
        <p:spPr>
          <a:xfrm>
            <a:off x="640080" y="1719072"/>
            <a:ext cx="3657600" cy="347472"/>
          </a:xfrm>
          <a:prstGeom prst="rect">
            <a:avLst/>
          </a:prstGeom>
          <a:noFill/>
          <a:ln/>
        </p:spPr>
        <p:txBody>
          <a:bodyPr anchor="t" wrap="square" lIns="0" tIns="0" rIns="0" bIns="0" rtlCol="0"/>
          <a:lstStyle/>
          <a:p>
            <a:pPr indent="0" marL="0">
              <a:buNone/>
            </a:pPr>
            <a:r>
              <a:rPr lang="en-US" sz="1250" dirty="0">
                <a:solidFill>
                  <a:srgbClr val="5B6778"/>
                </a:solidFill>
                <a:latin typeface="Inter" pitchFamily="34" charset="0"/>
                <a:ea typeface="Inter" pitchFamily="34" charset="-122"/>
                <a:cs typeface="Inter" pitchFamily="34" charset="-120"/>
              </a:rPr>
              <a:t>Three are shorter versions of today’s lates; two are longer weekday earlies.</a:t>
            </a:r>
            <a:endParaRPr lang="en-US" sz="1250" dirty="0"/>
          </a:p>
        </p:txBody>
      </p:sp>
      <p:sp>
        <p:nvSpPr>
          <p:cNvPr id="7" name="Shape 5"/>
          <p:cNvSpPr/>
          <p:nvPr/>
        </p:nvSpPr>
        <p:spPr>
          <a:xfrm>
            <a:off x="4663440" y="1371600"/>
            <a:ext cx="4023360" cy="822960"/>
          </a:xfrm>
          <a:prstGeom prst="roundRect">
            <a:avLst>
              <a:gd name="adj" fmla="val 9091"/>
            </a:avLst>
          </a:prstGeom>
          <a:solidFill>
            <a:srgbClr val="EEF2F7"/>
          </a:solidFill>
          <a:ln w="12700">
            <a:solidFill>
              <a:srgbClr val="EEF2F7"/>
            </a:solidFill>
            <a:prstDash val="solid"/>
          </a:ln>
        </p:spPr>
      </p:sp>
      <p:sp>
        <p:nvSpPr>
          <p:cNvPr id="8" name="Text 6"/>
          <p:cNvSpPr txBox="1"/>
          <p:nvPr/>
        </p:nvSpPr>
        <p:spPr>
          <a:xfrm>
            <a:off x="4846320" y="1444752"/>
            <a:ext cx="3703320" cy="274320"/>
          </a:xfrm>
          <a:prstGeom prst="rect">
            <a:avLst/>
          </a:prstGeom>
          <a:noFill/>
          <a:ln/>
        </p:spPr>
        <p:txBody>
          <a:bodyPr wrap="square" lIns="0" tIns="0" rIns="0" bIns="0" rtlCol="0" anchor="ctr"/>
          <a:lstStyle/>
          <a:p>
            <a:pPr indent="0" marL="0">
              <a:buNone/>
            </a:pPr>
            <a:r>
              <a:rPr lang="en-US" sz="1400" b="1" dirty="0">
                <a:solidFill>
                  <a:srgbClr val="1B2533"/>
                </a:solidFill>
                <a:latin typeface="Inter" pitchFamily="34" charset="0"/>
                <a:ea typeface="Inter" pitchFamily="34" charset="-122"/>
                <a:cs typeface="Inter" pitchFamily="34" charset="-120"/>
              </a:rPr>
              <a:t>Shifts about 2 minutes longer on average</a:t>
            </a:r>
            <a:endParaRPr lang="en-US" sz="1400" dirty="0"/>
          </a:p>
        </p:txBody>
      </p:sp>
      <p:sp>
        <p:nvSpPr>
          <p:cNvPr id="9" name="Text 7"/>
          <p:cNvSpPr txBox="1"/>
          <p:nvPr/>
        </p:nvSpPr>
        <p:spPr>
          <a:xfrm>
            <a:off x="4846320" y="1719072"/>
            <a:ext cx="3657600" cy="347472"/>
          </a:xfrm>
          <a:prstGeom prst="rect">
            <a:avLst/>
          </a:prstGeom>
          <a:noFill/>
          <a:ln/>
        </p:spPr>
        <p:txBody>
          <a:bodyPr anchor="t" wrap="square" lIns="0" tIns="0" rIns="0" bIns="0" rtlCol="0"/>
          <a:lstStyle/>
          <a:p>
            <a:pPr indent="0" marL="0">
              <a:buNone/>
            </a:pPr>
            <a:r>
              <a:rPr lang="en-US" sz="1250" dirty="0">
                <a:solidFill>
                  <a:srgbClr val="5B6778"/>
                </a:solidFill>
                <a:latin typeface="Inter" pitchFamily="34" charset="0"/>
                <a:ea typeface="Inter" pitchFamily="34" charset="-122"/>
                <a:cs typeface="Inter" pitchFamily="34" charset="-120"/>
              </a:rPr>
              <a:t>That is what keeps days at work to 219 a year or fewer on the same 35 hours.</a:t>
            </a:r>
            <a:endParaRPr lang="en-US" sz="1250" dirty="0"/>
          </a:p>
        </p:txBody>
      </p:sp>
      <p:sp>
        <p:nvSpPr>
          <p:cNvPr id="10" name="Shape 8"/>
          <p:cNvSpPr/>
          <p:nvPr/>
        </p:nvSpPr>
        <p:spPr>
          <a:xfrm>
            <a:off x="457200" y="2267712"/>
            <a:ext cx="4023360" cy="822960"/>
          </a:xfrm>
          <a:prstGeom prst="roundRect">
            <a:avLst>
              <a:gd name="adj" fmla="val 9091"/>
            </a:avLst>
          </a:prstGeom>
          <a:solidFill>
            <a:srgbClr val="EEF2F7"/>
          </a:solidFill>
          <a:ln w="12700">
            <a:solidFill>
              <a:srgbClr val="EEF2F7"/>
            </a:solidFill>
            <a:prstDash val="solid"/>
          </a:ln>
        </p:spPr>
      </p:sp>
      <p:sp>
        <p:nvSpPr>
          <p:cNvPr id="11" name="Text 9"/>
          <p:cNvSpPr txBox="1"/>
          <p:nvPr/>
        </p:nvSpPr>
        <p:spPr>
          <a:xfrm>
            <a:off x="640080" y="2340864"/>
            <a:ext cx="3703320" cy="274320"/>
          </a:xfrm>
          <a:prstGeom prst="rect">
            <a:avLst/>
          </a:prstGeom>
          <a:noFill/>
          <a:ln/>
        </p:spPr>
        <p:txBody>
          <a:bodyPr wrap="square" lIns="0" tIns="0" rIns="0" bIns="0" rtlCol="0" anchor="ctr"/>
          <a:lstStyle/>
          <a:p>
            <a:pPr indent="0" marL="0">
              <a:buNone/>
            </a:pPr>
            <a:r>
              <a:rPr lang="en-US" sz="1400" b="1" dirty="0">
                <a:solidFill>
                  <a:srgbClr val="1B2533"/>
                </a:solidFill>
                <a:latin typeface="Inter" pitchFamily="34" charset="0"/>
                <a:ea typeface="Inter" pitchFamily="34" charset="-122"/>
                <a:cs typeface="Inter" pitchFamily="34" charset="-120"/>
              </a:rPr>
              <a:t>Four weeks off: 15 days’ leave, not 14</a:t>
            </a:r>
            <a:endParaRPr lang="en-US" sz="1400" dirty="0"/>
          </a:p>
        </p:txBody>
      </p:sp>
      <p:sp>
        <p:nvSpPr>
          <p:cNvPr id="12" name="Text 10"/>
          <p:cNvSpPr txBox="1"/>
          <p:nvPr/>
        </p:nvSpPr>
        <p:spPr>
          <a:xfrm>
            <a:off x="640080" y="2615184"/>
            <a:ext cx="3657600" cy="347472"/>
          </a:xfrm>
          <a:prstGeom prst="rect">
            <a:avLst/>
          </a:prstGeom>
          <a:noFill/>
          <a:ln/>
        </p:spPr>
        <p:txBody>
          <a:bodyPr anchor="t" wrap="square" lIns="0" tIns="0" rIns="0" bIns="0" rtlCol="0"/>
          <a:lstStyle/>
          <a:p>
            <a:pPr indent="0" marL="0">
              <a:buNone/>
            </a:pPr>
            <a:r>
              <a:rPr lang="en-US" sz="1250" dirty="0">
                <a:solidFill>
                  <a:srgbClr val="5B6778"/>
                </a:solidFill>
                <a:latin typeface="Inter" pitchFamily="34" charset="0"/>
                <a:ea typeface="Inter" pitchFamily="34" charset="-122"/>
                <a:cs typeface="Inter" pitchFamily="34" charset="-120"/>
              </a:rPr>
              <a:t>The least leave for four complete weeks off, Sunday to Saturday.</a:t>
            </a:r>
            <a:endParaRPr lang="en-US" sz="1250" dirty="0"/>
          </a:p>
        </p:txBody>
      </p:sp>
      <p:sp>
        <p:nvSpPr>
          <p:cNvPr id="13" name="Shape 11"/>
          <p:cNvSpPr/>
          <p:nvPr/>
        </p:nvSpPr>
        <p:spPr>
          <a:xfrm>
            <a:off x="4663440" y="2267712"/>
            <a:ext cx="4023360" cy="822960"/>
          </a:xfrm>
          <a:prstGeom prst="roundRect">
            <a:avLst>
              <a:gd name="adj" fmla="val 9091"/>
            </a:avLst>
          </a:prstGeom>
          <a:solidFill>
            <a:srgbClr val="EEF2F7"/>
          </a:solidFill>
          <a:ln w="12700">
            <a:solidFill>
              <a:srgbClr val="EEF2F7"/>
            </a:solidFill>
            <a:prstDash val="solid"/>
          </a:ln>
        </p:spPr>
      </p:sp>
      <p:sp>
        <p:nvSpPr>
          <p:cNvPr id="14" name="Text 12"/>
          <p:cNvSpPr txBox="1"/>
          <p:nvPr/>
        </p:nvSpPr>
        <p:spPr>
          <a:xfrm>
            <a:off x="4846320" y="2340864"/>
            <a:ext cx="3703320" cy="274320"/>
          </a:xfrm>
          <a:prstGeom prst="rect">
            <a:avLst/>
          </a:prstGeom>
          <a:noFill/>
          <a:ln/>
        </p:spPr>
        <p:txBody>
          <a:bodyPr wrap="square" lIns="0" tIns="0" rIns="0" bIns="0" rtlCol="0" anchor="ctr"/>
          <a:lstStyle/>
          <a:p>
            <a:pPr indent="0" marL="0">
              <a:buNone/>
            </a:pPr>
            <a:r>
              <a:rPr lang="en-US" sz="1400" b="1" dirty="0">
                <a:solidFill>
                  <a:srgbClr val="1B2533"/>
                </a:solidFill>
                <a:latin typeface="Inter" pitchFamily="34" charset="0"/>
                <a:ea typeface="Inter" pitchFamily="34" charset="-122"/>
                <a:cs typeface="Inter" pitchFamily="34" charset="-120"/>
              </a:rPr>
              <a:t>Two more Saturdays a year</a:t>
            </a:r>
            <a:endParaRPr lang="en-US" sz="1400" dirty="0"/>
          </a:p>
        </p:txBody>
      </p:sp>
      <p:sp>
        <p:nvSpPr>
          <p:cNvPr id="15" name="Text 13"/>
          <p:cNvSpPr txBox="1"/>
          <p:nvPr/>
        </p:nvSpPr>
        <p:spPr>
          <a:xfrm>
            <a:off x="4846320" y="2615184"/>
            <a:ext cx="3657600" cy="347472"/>
          </a:xfrm>
          <a:prstGeom prst="rect">
            <a:avLst/>
          </a:prstGeom>
          <a:noFill/>
          <a:ln/>
        </p:spPr>
        <p:txBody>
          <a:bodyPr anchor="t" wrap="square" lIns="0" tIns="0" rIns="0" bIns="0" rtlCol="0"/>
          <a:lstStyle/>
          <a:p>
            <a:pPr indent="0" marL="0">
              <a:buNone/>
            </a:pPr>
            <a:r>
              <a:rPr lang="en-US" sz="1250" dirty="0">
                <a:solidFill>
                  <a:srgbClr val="5B6778"/>
                </a:solidFill>
                <a:latin typeface="Inter" pitchFamily="34" charset="0"/>
                <a:ea typeface="Inter" pitchFamily="34" charset="-122"/>
                <a:cs typeface="Inter" pitchFamily="34" charset="-120"/>
              </a:rPr>
              <a:t>28 a year each, today 26 — fourteen on a Saturday, shared across 26 lines.</a:t>
            </a:r>
            <a:endParaRPr lang="en-US" sz="1250" dirty="0"/>
          </a:p>
        </p:txBody>
      </p:sp>
      <p:sp>
        <p:nvSpPr>
          <p:cNvPr id="16" name="Shape 14"/>
          <p:cNvSpPr/>
          <p:nvPr/>
        </p:nvSpPr>
        <p:spPr>
          <a:xfrm>
            <a:off x="457200" y="3163824"/>
            <a:ext cx="4023360" cy="822960"/>
          </a:xfrm>
          <a:prstGeom prst="roundRect">
            <a:avLst>
              <a:gd name="adj" fmla="val 9091"/>
            </a:avLst>
          </a:prstGeom>
          <a:solidFill>
            <a:srgbClr val="EEF2F7"/>
          </a:solidFill>
          <a:ln w="12700">
            <a:solidFill>
              <a:srgbClr val="EEF2F7"/>
            </a:solidFill>
            <a:prstDash val="solid"/>
          </a:ln>
        </p:spPr>
      </p:sp>
      <p:sp>
        <p:nvSpPr>
          <p:cNvPr id="17" name="Text 15"/>
          <p:cNvSpPr txBox="1"/>
          <p:nvPr/>
        </p:nvSpPr>
        <p:spPr>
          <a:xfrm>
            <a:off x="640080" y="3236976"/>
            <a:ext cx="3703320" cy="274320"/>
          </a:xfrm>
          <a:prstGeom prst="rect">
            <a:avLst/>
          </a:prstGeom>
          <a:noFill/>
          <a:ln/>
        </p:spPr>
        <p:txBody>
          <a:bodyPr wrap="square" lIns="0" tIns="0" rIns="0" bIns="0" rtlCol="0" anchor="ctr"/>
          <a:lstStyle/>
          <a:p>
            <a:pPr indent="0" marL="0">
              <a:buNone/>
            </a:pPr>
            <a:r>
              <a:rPr lang="en-US" sz="1400" b="1" dirty="0">
                <a:solidFill>
                  <a:srgbClr val="1B2533"/>
                </a:solidFill>
                <a:latin typeface="Inter" pitchFamily="34" charset="0"/>
                <a:ea typeface="Inter" pitchFamily="34" charset="-122"/>
                <a:cs typeface="Inter" pitchFamily="34" charset="-120"/>
              </a:rPr>
              <a:t>A few more late finishes</a:t>
            </a:r>
            <a:endParaRPr lang="en-US" sz="1400" dirty="0"/>
          </a:p>
        </p:txBody>
      </p:sp>
      <p:sp>
        <p:nvSpPr>
          <p:cNvPr id="18" name="Text 16"/>
          <p:cNvSpPr txBox="1"/>
          <p:nvPr/>
        </p:nvSpPr>
        <p:spPr>
          <a:xfrm>
            <a:off x="640080" y="3511296"/>
            <a:ext cx="3657600" cy="347472"/>
          </a:xfrm>
          <a:prstGeom prst="rect">
            <a:avLst/>
          </a:prstGeom>
          <a:noFill/>
          <a:ln/>
        </p:spPr>
        <p:txBody>
          <a:bodyPr anchor="t" wrap="square" lIns="0" tIns="0" rIns="0" bIns="0" rtlCol="0"/>
          <a:lstStyle/>
          <a:p>
            <a:pPr indent="0" marL="0">
              <a:buNone/>
            </a:pPr>
            <a:r>
              <a:rPr lang="en-US" sz="1250" dirty="0">
                <a:solidFill>
                  <a:srgbClr val="5B6778"/>
                </a:solidFill>
                <a:latin typeface="Inter" pitchFamily="34" charset="0"/>
                <a:ea typeface="Inter" pitchFamily="34" charset="-122"/>
                <a:cs typeface="Inter" pitchFamily="34" charset="-120"/>
              </a:rPr>
              <a:t>42 a year each at 23:00 or later (today 39) — the rules’ minimum.</a:t>
            </a:r>
            <a:endParaRPr lang="en-US" sz="1250" dirty="0"/>
          </a:p>
        </p:txBody>
      </p:sp>
      <p:sp>
        <p:nvSpPr>
          <p:cNvPr id="19" name="Shape 17"/>
          <p:cNvSpPr/>
          <p:nvPr/>
        </p:nvSpPr>
        <p:spPr>
          <a:xfrm>
            <a:off x="4663440" y="3163824"/>
            <a:ext cx="4023360" cy="822960"/>
          </a:xfrm>
          <a:prstGeom prst="roundRect">
            <a:avLst>
              <a:gd name="adj" fmla="val 9091"/>
            </a:avLst>
          </a:prstGeom>
          <a:solidFill>
            <a:srgbClr val="EEF2F7"/>
          </a:solidFill>
          <a:ln w="12700">
            <a:solidFill>
              <a:srgbClr val="EEF2F7"/>
            </a:solidFill>
            <a:prstDash val="solid"/>
          </a:ln>
        </p:spPr>
      </p:sp>
      <p:sp>
        <p:nvSpPr>
          <p:cNvPr id="20" name="Text 18"/>
          <p:cNvSpPr txBox="1"/>
          <p:nvPr/>
        </p:nvSpPr>
        <p:spPr>
          <a:xfrm>
            <a:off x="4846320" y="3236976"/>
            <a:ext cx="3703320" cy="274320"/>
          </a:xfrm>
          <a:prstGeom prst="rect">
            <a:avLst/>
          </a:prstGeom>
          <a:noFill/>
          <a:ln/>
        </p:spPr>
        <p:txBody>
          <a:bodyPr wrap="square" lIns="0" tIns="0" rIns="0" bIns="0" rtlCol="0" anchor="ctr"/>
          <a:lstStyle/>
          <a:p>
            <a:pPr indent="0" marL="0">
              <a:buNone/>
            </a:pPr>
            <a:r>
              <a:rPr lang="en-US" sz="1400" b="1" dirty="0">
                <a:solidFill>
                  <a:srgbClr val="1B2533"/>
                </a:solidFill>
                <a:latin typeface="Inter" pitchFamily="34" charset="0"/>
                <a:ea typeface="Inter" pitchFamily="34" charset="-122"/>
                <a:cs typeface="Inter" pitchFamily="34" charset="-120"/>
              </a:rPr>
              <a:t>Still a proposal</a:t>
            </a:r>
            <a:endParaRPr lang="en-US" sz="1400" dirty="0"/>
          </a:p>
        </p:txBody>
      </p:sp>
      <p:sp>
        <p:nvSpPr>
          <p:cNvPr id="21" name="Text 19"/>
          <p:cNvSpPr txBox="1"/>
          <p:nvPr/>
        </p:nvSpPr>
        <p:spPr>
          <a:xfrm>
            <a:off x="4846320" y="3511296"/>
            <a:ext cx="3657600" cy="347472"/>
          </a:xfrm>
          <a:prstGeom prst="rect">
            <a:avLst/>
          </a:prstGeom>
          <a:noFill/>
          <a:ln/>
        </p:spPr>
        <p:txBody>
          <a:bodyPr anchor="t" wrap="square" lIns="0" tIns="0" rIns="0" bIns="0" rtlCol="0"/>
          <a:lstStyle/>
          <a:p>
            <a:pPr indent="0" marL="0">
              <a:buNone/>
            </a:pPr>
            <a:r>
              <a:rPr lang="en-US" sz="1250" dirty="0">
                <a:solidFill>
                  <a:srgbClr val="5B6778"/>
                </a:solidFill>
                <a:latin typeface="Inter" pitchFamily="34" charset="0"/>
                <a:ea typeface="Inter" pitchFamily="34" charset="-122"/>
                <a:cs typeface="Inter" pitchFamily="34" charset="-120"/>
              </a:rPr>
              <a:t>Your views count before a link is chosen, and who goes on which line is not decided.</a:t>
            </a:r>
            <a:endParaRPr lang="en-US" sz="1250" dirty="0"/>
          </a:p>
        </p:txBody>
      </p:sp>
      <p:sp>
        <p:nvSpPr>
          <p:cNvPr id="23" name="Banner"/>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24" name="Banner text"/>
          <p:cNvSpPr txBox="1"/>
          <p:nvPr/>
        </p:nvSpPr>
        <p:spPr>
          <a:xfrm>
            <a:off x="640080" y="4160520"/>
            <a:ext cx="7863840" cy="548640"/>
          </a:xfrm>
          <a:prstGeom prst="rect">
            <a:avLst/>
          </a:prstGeom>
          <a:noFill/>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None of these is hidden: each one is on the full proposal sheet too.</a:t>
            </a:r>
          </a:p>
        </p:txBody>
      </p:sp>
      <p:sp>
        <p:nvSpPr>
          <p:cNvPr id="22" name="Text 20"/>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In Step · December 2026 link proposal · 13</a:t>
            </a:r>
            <a:endParaRPr lang="en-US" sz="9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At a glance</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Today’s roster and In Step, side by side</a:t>
            </a:r>
            <a:endParaRPr lang="en-US" sz="1500" dirty="0"/>
          </a:p>
        </p:txBody>
      </p:sp>
      <p:graphicFrame>
        <p:nvGraphicFramePr>
          <p:cNvPr id="15" name="Table 0"/>
          <p:cNvGraphicFramePr>
            <a:graphicFrameLocks noGrp="1"/>
          </p:cNvGraphicFramePr>
          <p:nvPr>
            <p:extLst>
              <p:ext uri="{D42A27DB-BD31-4B8C-83A1-F6EECF244321}">
                <p14:modId xmlns:p14="http://schemas.microsoft.com/office/powerpoint/2010/main" val="1579011935"/>
              </p:ext>
            </p:extLst>
          </p:nvPr>
        </p:nvGraphicFramePr>
        <p:xfrm>
          <a:off x="457200" y="1325880"/>
          <a:ext cx="8229600" cy="914400"/>
        </p:xfrm>
        <a:graphic>
          <a:graphicData uri="http://schemas.openxmlformats.org/drawingml/2006/table">
            <a:tbl>
              <a:tblPr/>
              <a:tblGrid>
                <a:gridCol w="3840480"/>
                <a:gridCol w="2194560"/>
                <a:gridCol w="2194560"/>
              </a:tblGrid>
              <a:tr h="246888">
                <a:tc>
                  <a:txBody>
                    <a:bodyPr/>
                    <a:lstStyle/>
                    <a:p>
                      <a:pPr algn="ctr" indent="0" marL="0">
                        <a:buNone/>
                      </a:pPr>
                      <a:endParaRPr lang="en-US" sz="1200" dirty="0">
                        <a:latin typeface="Inter" charset="0"/>
                        <a:ea typeface="Inter" charset="0"/>
                        <a:cs typeface="Inter" charset="0"/>
                      </a:endParaRPr>
                    </a:p>
                  </a:txBody>
                  <a:tcPr marL="182880" marR="91440" marT="0" marB="0" anchor="ctr">
                    <a:lnL>
                      <a:noFill/>
                    </a:lnL>
                    <a:lnR>
                      <a:noFill/>
                    </a:lnR>
                    <a:lnT w="6350" cap="flat" cmpd="sng" algn="ctr">
                      <a:solidFill>
                        <a:srgbClr val="DDE3EA"/>
                      </a:solidFill>
                      <a:prstDash val="solid"/>
                      <a:round/>
                      <a:headEnd type="none" w="med" len="med"/>
                      <a:tailEnd type="none" w="med" len="med"/>
                    </a:lnT>
                    <a:lnB w="6350" cap="flat" cmpd="sng" algn="ctr">
                      <a:solidFill>
                        <a:srgbClr val="DDE3EA"/>
                      </a:solidFill>
                      <a:prstDash val="solid"/>
                      <a:round/>
                      <a:headEnd type="none" w="med" len="med"/>
                      <a:tailEnd type="none" w="med" len="med"/>
                    </a:lnB>
                    <a:solidFill>
                      <a:srgbClr val="EEF2F7"/>
                    </a:solidFill>
                  </a:tcPr>
                </a:tc>
                <a:tc>
                  <a:txBody>
                    <a:bodyPr/>
                    <a:lstStyle/>
                    <a:p>
                      <a:pPr algn="ctr" indent="0" marL="0">
                        <a:buNone/>
                      </a:pPr>
                      <a:r>
                        <a:rPr lang="en-US" sz="1200" b="1" dirty="0">
                          <a:solidFill>
                            <a:srgbClr val="001E3C"/>
                          </a:solidFill>
                          <a:latin typeface="Inter" pitchFamily="34" charset="0"/>
                          <a:ea typeface="Inter" pitchFamily="34" charset="-122"/>
                          <a:cs typeface="Inter" pitchFamily="34" charset="-120"/>
                        </a:rPr>
                        <a:t>Today</a:t>
                      </a:r>
                      <a:endParaRPr lang="en-US" sz="1200" dirty="0">
                        <a:latin typeface="Inter" charset="0"/>
                        <a:ea typeface="Inter" charset="0"/>
                        <a:cs typeface="Inter" charset="0"/>
                      </a:endParaRPr>
                    </a:p>
                  </a:txBody>
                  <a:tcPr marL="91440" marR="91440" marT="0" marB="0" anchor="ctr">
                    <a:lnL>
                      <a:noFill/>
                    </a:lnL>
                    <a:lnR>
                      <a:noFill/>
                    </a:lnR>
                    <a:lnT w="6350" cap="flat" cmpd="sng" algn="ctr">
                      <a:solidFill>
                        <a:srgbClr val="DDE3EA"/>
                      </a:solidFill>
                      <a:prstDash val="solid"/>
                      <a:round/>
                      <a:headEnd type="none" w="med" len="med"/>
                      <a:tailEnd type="none" w="med" len="med"/>
                    </a:lnT>
                    <a:lnB w="6350" cap="flat" cmpd="sng" algn="ctr">
                      <a:solidFill>
                        <a:srgbClr val="DDE3EA"/>
                      </a:solidFill>
                      <a:prstDash val="solid"/>
                      <a:round/>
                      <a:headEnd type="none" w="med" len="med"/>
                      <a:tailEnd type="none" w="med" len="med"/>
                    </a:lnB>
                    <a:solidFill>
                      <a:srgbClr val="EEF2F7"/>
                    </a:solidFill>
                  </a:tcPr>
                </a:tc>
                <a:tc>
                  <a:txBody>
                    <a:bodyPr/>
                    <a:lstStyle/>
                    <a:p>
                      <a:pPr algn="ctr" indent="0" marL="0">
                        <a:buNone/>
                      </a:pPr>
                      <a:r>
                        <a:rPr lang="en-US" sz="1200" b="1" dirty="0">
                          <a:solidFill>
                            <a:srgbClr val="FFFFFF"/>
                          </a:solidFill>
                          <a:latin typeface="Inter" pitchFamily="34" charset="0"/>
                          <a:ea typeface="Inter" pitchFamily="34" charset="-122"/>
                          <a:cs typeface="Inter" pitchFamily="34" charset="-120"/>
                        </a:rPr>
                        <a:t>In Step</a:t>
                      </a:r>
                      <a:endParaRPr lang="en-US" sz="1200" dirty="0">
                        <a:latin typeface="Inter" charset="0"/>
                        <a:ea typeface="Inter" charset="0"/>
                        <a:cs typeface="Inter" charset="0"/>
                      </a:endParaRPr>
                    </a:p>
                  </a:txBody>
                  <a:tcPr marL="91440" marR="91440" marT="0" marB="0" anchor="ctr">
                    <a:lnL>
                      <a:noFill/>
                    </a:lnL>
                    <a:lnR>
                      <a:noFill/>
                    </a:lnR>
                    <a:lnT w="6350" cap="flat" cmpd="sng" algn="ctr">
                      <a:solidFill>
                        <a:srgbClr val="DDE3EA"/>
                      </a:solidFill>
                      <a:prstDash val="solid"/>
                      <a:round/>
                      <a:headEnd type="none" w="med" len="med"/>
                      <a:tailEnd type="none" w="med" len="med"/>
                    </a:lnT>
                    <a:lnB w="6350" cap="flat" cmpd="sng" algn="ctr">
                      <a:solidFill>
                        <a:srgbClr val="DDE3EA"/>
                      </a:solidFill>
                      <a:prstDash val="solid"/>
                      <a:round/>
                      <a:headEnd type="none" w="med" len="med"/>
                      <a:tailEnd type="none" w="med" len="med"/>
                    </a:lnB>
                    <a:solidFill>
                      <a:srgbClr val="001E3C"/>
                    </a:solidFill>
                  </a:tcPr>
                </a:tc>
              </a:tr>
              <a:tr h="246888">
                <a:tc>
                  <a:txBody>
                    <a:bodyPr/>
                    <a:lstStyle/>
                    <a:p>
                      <a:pPr algn="l" indent="0" marL="0">
                        <a:buNone/>
                      </a:pPr>
                      <a:r>
                        <a:rPr lang="en-US" sz="1200" b="1" dirty="0">
                          <a:solidFill>
                            <a:srgbClr val="1B2533"/>
                          </a:solidFill>
                          <a:latin typeface="Inter" pitchFamily="34" charset="0"/>
                          <a:ea typeface="Inter" pitchFamily="34" charset="-122"/>
                          <a:cs typeface="Inter" pitchFamily="34" charset="-120"/>
                        </a:rPr>
                        <a:t>Contracted hours a week</a:t>
                      </a:r>
                      <a:endParaRPr lang="en-US" sz="1200" dirty="0">
                        <a:latin typeface="Inter" charset="0"/>
                        <a:ea typeface="Inter" charset="0"/>
                        <a:cs typeface="Inter" charset="0"/>
                      </a:endParaRPr>
                    </a:p>
                  </a:txBody>
                  <a:tcPr marL="182880" marR="91440" marT="0" marB="0" anchor="ctr">
                    <a:lnL>
                      <a:noFill/>
                    </a:lnL>
                    <a:lnR>
                      <a:noFill/>
                    </a:lnR>
                    <a:lnT w="6350" cap="flat" cmpd="sng" algn="ctr">
                      <a:solidFill>
                        <a:srgbClr val="DDE3EA"/>
                      </a:solidFill>
                      <a:prstDash val="solid"/>
                      <a:round/>
                      <a:headEnd type="none" w="med" len="med"/>
                      <a:tailEnd type="none" w="med" len="med"/>
                    </a:lnT>
                    <a:lnB w="6350"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5B6778"/>
                          </a:solidFill>
                          <a:latin typeface="Inter" pitchFamily="34" charset="0"/>
                          <a:ea typeface="Inter" pitchFamily="34" charset="-122"/>
                          <a:cs typeface="Inter" pitchFamily="34" charset="-120"/>
                        </a:rPr>
                        <a:t>35h</a:t>
                      </a:r>
                      <a:endParaRPr lang="en-US" sz="1200" dirty="0">
                        <a:latin typeface="Inter" charset="0"/>
                        <a:ea typeface="Inter" charset="0"/>
                        <a:cs typeface="Inter" charset="0"/>
                      </a:endParaRPr>
                    </a:p>
                  </a:txBody>
                  <a:tcPr marL="91440" marR="91440" marT="0" marB="0" anchor="ctr">
                    <a:lnL>
                      <a:noFill/>
                    </a:lnL>
                    <a:lnR>
                      <a:noFill/>
                    </a:lnR>
                    <a:lnT w="6350" cap="flat" cmpd="sng" algn="ctr">
                      <a:solidFill>
                        <a:srgbClr val="DDE3EA"/>
                      </a:solidFill>
                      <a:prstDash val="solid"/>
                      <a:round/>
                      <a:headEnd type="none" w="med" len="med"/>
                      <a:tailEnd type="none" w="med" len="med"/>
                    </a:lnT>
                    <a:lnB w="6350"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001E3C"/>
                          </a:solidFill>
                          <a:latin typeface="Inter" pitchFamily="34" charset="0"/>
                          <a:ea typeface="Inter" pitchFamily="34" charset="-122"/>
                          <a:cs typeface="Inter" pitchFamily="34" charset="-120"/>
                        </a:rPr>
                        <a:t>35h</a:t>
                      </a:r>
                      <a:endParaRPr lang="en-US" sz="1200" dirty="0">
                        <a:latin typeface="Inter" charset="0"/>
                        <a:ea typeface="Inter" charset="0"/>
                        <a:cs typeface="Inter" charset="0"/>
                      </a:endParaRPr>
                    </a:p>
                  </a:txBody>
                  <a:tcPr marL="91440" marR="91440" marT="0" marB="0" anchor="ctr">
                    <a:lnL>
                      <a:noFill/>
                    </a:lnL>
                    <a:lnR>
                      <a:noFill/>
                    </a:lnR>
                    <a:lnT w="6350" cap="flat" cmpd="sng" algn="ctr">
                      <a:solidFill>
                        <a:srgbClr val="DDE3EA"/>
                      </a:solidFill>
                      <a:prstDash val="solid"/>
                      <a:round/>
                      <a:headEnd type="none" w="med" len="med"/>
                      <a:tailEnd type="none" w="med" len="med"/>
                    </a:lnT>
                    <a:lnB w="6350" cap="flat" cmpd="sng" algn="ctr">
                      <a:solidFill>
                        <a:srgbClr val="DDE3EA"/>
                      </a:solidFill>
                      <a:prstDash val="solid"/>
                      <a:round/>
                      <a:headEnd type="none" w="med" len="med"/>
                      <a:tailEnd type="none" w="med" len="med"/>
                    </a:lnB>
                    <a:solidFill>
                      <a:srgbClr val="FFF4C2"/>
                    </a:solidFill>
                  </a:tcPr>
                </a:tc>
              </a:tr>
              <a:tr h="246888">
                <a:tc>
                  <a:txBody>
                    <a:bodyPr/>
                    <a:lstStyle/>
                    <a:p>
                      <a:pPr algn="l" indent="0" marL="0">
                        <a:buNone/>
                      </a:pPr>
                      <a:r>
                        <a:rPr lang="en-US" sz="1200" b="1" dirty="0">
                          <a:solidFill>
                            <a:srgbClr val="1B2533"/>
                          </a:solidFill>
                          <a:latin typeface="Inter" pitchFamily="34" charset="0"/>
                          <a:ea typeface="Inter" pitchFamily="34" charset="-122"/>
                          <a:cs typeface="Inter" pitchFamily="34" charset="-120"/>
                        </a:rPr>
                        <a:t>Contracted days at work a year</a:t>
                      </a:r>
                      <a:endParaRPr lang="en-US" sz="1200" dirty="0">
                        <a:latin typeface="Inter" charset="0"/>
                        <a:ea typeface="Inter" charset="0"/>
                        <a:cs typeface="Inter" charset="0"/>
                      </a:endParaRPr>
                    </a:p>
                  </a:txBody>
                  <a:tcPr marL="182880" marR="91440" marT="0" marB="0" anchor="ctr">
                    <a:lnL>
                      <a:noFill/>
                    </a:lnL>
                    <a:lnR>
                      <a:noFill/>
                    </a:lnR>
                    <a:lnT w="6350" cap="flat" cmpd="sng" algn="ctr">
                      <a:solidFill>
                        <a:srgbClr val="DDE3EA"/>
                      </a:solidFill>
                      <a:prstDash val="solid"/>
                      <a:round/>
                      <a:headEnd type="none" w="med" len="med"/>
                      <a:tailEnd type="none" w="med" len="med"/>
                    </a:lnT>
                    <a:lnB w="6350"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5B6778"/>
                          </a:solidFill>
                          <a:latin typeface="Inter" pitchFamily="34" charset="0"/>
                          <a:ea typeface="Inter" pitchFamily="34" charset="-122"/>
                          <a:cs typeface="Inter" pitchFamily="34" charset="-120"/>
                        </a:rPr>
                        <a:t>219.0</a:t>
                      </a:r>
                      <a:endParaRPr lang="en-US" sz="1200" dirty="0">
                        <a:latin typeface="Inter" charset="0"/>
                        <a:ea typeface="Inter" charset="0"/>
                        <a:cs typeface="Inter" charset="0"/>
                      </a:endParaRPr>
                    </a:p>
                  </a:txBody>
                  <a:tcPr marL="91440" marR="91440" marT="0" marB="0" anchor="ctr">
                    <a:lnL>
                      <a:noFill/>
                    </a:lnL>
                    <a:lnR>
                      <a:noFill/>
                    </a:lnR>
                    <a:lnT w="6350" cap="flat" cmpd="sng" algn="ctr">
                      <a:solidFill>
                        <a:srgbClr val="DDE3EA"/>
                      </a:solidFill>
                      <a:prstDash val="solid"/>
                      <a:round/>
                      <a:headEnd type="none" w="med" len="med"/>
                      <a:tailEnd type="none" w="med" len="med"/>
                    </a:lnT>
                    <a:lnB w="6350"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001E3C"/>
                          </a:solidFill>
                          <a:latin typeface="Inter" pitchFamily="34" charset="0"/>
                          <a:ea typeface="Inter" pitchFamily="34" charset="-122"/>
                          <a:cs typeface="Inter" pitchFamily="34" charset="-120"/>
                        </a:rPr>
                        <a:t>218.6</a:t>
                      </a:r>
                      <a:endParaRPr lang="en-US" sz="1200" dirty="0">
                        <a:latin typeface="Inter" charset="0"/>
                        <a:ea typeface="Inter" charset="0"/>
                        <a:cs typeface="Inter" charset="0"/>
                      </a:endParaRPr>
                    </a:p>
                  </a:txBody>
                  <a:tcPr marL="91440" marR="91440" marT="0" marB="0" anchor="ctr">
                    <a:lnL>
                      <a:noFill/>
                    </a:lnL>
                    <a:lnR>
                      <a:noFill/>
                    </a:lnR>
                    <a:lnT w="6350" cap="flat" cmpd="sng" algn="ctr">
                      <a:solidFill>
                        <a:srgbClr val="DDE3EA"/>
                      </a:solidFill>
                      <a:prstDash val="solid"/>
                      <a:round/>
                      <a:headEnd type="none" w="med" len="med"/>
                      <a:tailEnd type="none" w="med" len="med"/>
                    </a:lnT>
                    <a:lnB w="6350" cap="flat" cmpd="sng" algn="ctr">
                      <a:solidFill>
                        <a:srgbClr val="DDE3EA"/>
                      </a:solidFill>
                      <a:prstDash val="solid"/>
                      <a:round/>
                      <a:headEnd type="none" w="med" len="med"/>
                      <a:tailEnd type="none" w="med" len="med"/>
                    </a:lnB>
                    <a:solidFill>
                      <a:srgbClr val="FFF4C2"/>
                    </a:solidFill>
                  </a:tcPr>
                </a:tc>
              </a:tr>
              <a:tr h="246888">
                <a:tc>
                  <a:txBody>
                    <a:bodyPr/>
                    <a:lstStyle/>
                    <a:p>
                      <a:pPr algn="l" indent="0" marL="0">
                        <a:buNone/>
                      </a:pPr>
                      <a:r>
                        <a:rPr lang="en-US" sz="1200" b="1" dirty="0">
                          <a:solidFill>
                            <a:srgbClr val="1B2533"/>
                          </a:solidFill>
                          <a:latin typeface="Inter" pitchFamily="34" charset="0"/>
                          <a:ea typeface="Inter" pitchFamily="34" charset="-122"/>
                          <a:cs typeface="Inter" pitchFamily="34" charset="-120"/>
                        </a:rPr>
                        <a:t>Average shift · longest shift</a:t>
                      </a:r>
                      <a:endParaRPr lang="en-US" sz="1200" dirty="0">
                        <a:latin typeface="Inter" charset="0"/>
                        <a:ea typeface="Inter" charset="0"/>
                        <a:cs typeface="Inter" charset="0"/>
                      </a:endParaRPr>
                    </a:p>
                  </a:txBody>
                  <a:tcPr marL="182880" marR="91440" marT="0" marB="0" anchor="ctr">
                    <a:lnL>
                      <a:noFill/>
                    </a:lnL>
                    <a:lnR>
                      <a:noFill/>
                    </a:lnR>
                    <a:lnT w="6350" cap="flat" cmpd="sng" algn="ctr">
                      <a:solidFill>
                        <a:srgbClr val="DDE3EA"/>
                      </a:solidFill>
                      <a:prstDash val="solid"/>
                      <a:round/>
                      <a:headEnd type="none" w="med" len="med"/>
                      <a:tailEnd type="none" w="med" len="med"/>
                    </a:lnT>
                    <a:lnB w="6350"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5B6778"/>
                          </a:solidFill>
                          <a:latin typeface="Inter" pitchFamily="34" charset="0"/>
                          <a:ea typeface="Inter" pitchFamily="34" charset="-122"/>
                          <a:cs typeface="Inter" pitchFamily="34" charset="-120"/>
                        </a:rPr>
                        <a:t>8h 14m · 9h 10m</a:t>
                      </a:r>
                      <a:endParaRPr lang="en-US" sz="1200" dirty="0">
                        <a:latin typeface="Inter" charset="0"/>
                        <a:ea typeface="Inter" charset="0"/>
                        <a:cs typeface="Inter" charset="0"/>
                      </a:endParaRPr>
                    </a:p>
                  </a:txBody>
                  <a:tcPr marL="91440" marR="91440" marT="0" marB="0" anchor="ctr">
                    <a:lnL>
                      <a:noFill/>
                    </a:lnL>
                    <a:lnR>
                      <a:noFill/>
                    </a:lnR>
                    <a:lnT w="6350" cap="flat" cmpd="sng" algn="ctr">
                      <a:solidFill>
                        <a:srgbClr val="DDE3EA"/>
                      </a:solidFill>
                      <a:prstDash val="solid"/>
                      <a:round/>
                      <a:headEnd type="none" w="med" len="med"/>
                      <a:tailEnd type="none" w="med" len="med"/>
                    </a:lnT>
                    <a:lnB w="6350"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001E3C"/>
                          </a:solidFill>
                          <a:latin typeface="Inter" pitchFamily="34" charset="0"/>
                          <a:ea typeface="Inter" pitchFamily="34" charset="-122"/>
                          <a:cs typeface="Inter" pitchFamily="34" charset="-120"/>
                        </a:rPr>
                        <a:t>8h 16m · 9h 00m</a:t>
                      </a:r>
                      <a:endParaRPr lang="en-US" sz="1200" dirty="0">
                        <a:latin typeface="Inter" charset="0"/>
                        <a:ea typeface="Inter" charset="0"/>
                        <a:cs typeface="Inter" charset="0"/>
                      </a:endParaRPr>
                    </a:p>
                  </a:txBody>
                  <a:tcPr marL="91440" marR="91440" marT="0" marB="0" anchor="ctr">
                    <a:lnL>
                      <a:noFill/>
                    </a:lnL>
                    <a:lnR>
                      <a:noFill/>
                    </a:lnR>
                    <a:lnT w="6350" cap="flat" cmpd="sng" algn="ctr">
                      <a:solidFill>
                        <a:srgbClr val="DDE3EA"/>
                      </a:solidFill>
                      <a:prstDash val="solid"/>
                      <a:round/>
                      <a:headEnd type="none" w="med" len="med"/>
                      <a:tailEnd type="none" w="med" len="med"/>
                    </a:lnT>
                    <a:lnB w="6350" cap="flat" cmpd="sng" algn="ctr">
                      <a:solidFill>
                        <a:srgbClr val="DDE3EA"/>
                      </a:solidFill>
                      <a:prstDash val="solid"/>
                      <a:round/>
                      <a:headEnd type="none" w="med" len="med"/>
                      <a:tailEnd type="none" w="med" len="med"/>
                    </a:lnB>
                    <a:solidFill>
                      <a:srgbClr val="FFF4C2"/>
                    </a:solidFill>
                  </a:tcPr>
                </a:tc>
              </a:tr>
              <a:tr h="246888">
                <a:tc>
                  <a:txBody>
                    <a:bodyPr/>
                    <a:lstStyle/>
                    <a:p>
                      <a:pPr algn="l" indent="0" marL="0">
                        <a:buNone/>
                      </a:pPr>
                      <a:r>
                        <a:rPr lang="en-US" sz="1200" b="1" dirty="0">
                          <a:solidFill>
                            <a:srgbClr val="1B2533"/>
                          </a:solidFill>
                          <a:latin typeface="Inter" pitchFamily="34" charset="0"/>
                          <a:ea typeface="Inter" pitchFamily="34" charset="-122"/>
                          <a:cs typeface="Inter" pitchFamily="34" charset="-120"/>
                        </a:rPr>
                        <a:t>Closing shift: weekday · Saturday · Sunday</a:t>
                      </a:r>
                      <a:endParaRPr lang="en-US" sz="1200" dirty="0">
                        <a:latin typeface="Inter" charset="0"/>
                        <a:ea typeface="Inter" charset="0"/>
                        <a:cs typeface="Inter" charset="0"/>
                      </a:endParaRPr>
                    </a:p>
                  </a:txBody>
                  <a:tcPr marL="182880" marR="91440" marT="0" marB="0" anchor="ctr">
                    <a:lnL>
                      <a:noFill/>
                    </a:lnL>
                    <a:lnR>
                      <a:noFill/>
                    </a:lnR>
                    <a:lnT w="6350" cap="flat" cmpd="sng" algn="ctr">
                      <a:solidFill>
                        <a:srgbClr val="DDE3EA"/>
                      </a:solidFill>
                      <a:prstDash val="solid"/>
                      <a:round/>
                      <a:headEnd type="none" w="med" len="med"/>
                      <a:tailEnd type="none" w="med" len="med"/>
                    </a:lnT>
                    <a:lnB w="6350"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5B6778"/>
                          </a:solidFill>
                          <a:latin typeface="Inter" pitchFamily="34" charset="0"/>
                          <a:ea typeface="Inter" pitchFamily="34" charset="-122"/>
                          <a:cs typeface="Inter" pitchFamily="34" charset="-120"/>
                        </a:rPr>
                        <a:t>8h 40m · 9h 10m · 8h 55m</a:t>
                      </a:r>
                      <a:endParaRPr lang="en-US" sz="1200" dirty="0">
                        <a:latin typeface="Inter" charset="0"/>
                        <a:ea typeface="Inter" charset="0"/>
                        <a:cs typeface="Inter" charset="0"/>
                      </a:endParaRPr>
                    </a:p>
                  </a:txBody>
                  <a:tcPr marL="91440" marR="91440" marT="0" marB="0" anchor="ctr">
                    <a:lnL>
                      <a:noFill/>
                    </a:lnL>
                    <a:lnR>
                      <a:noFill/>
                    </a:lnR>
                    <a:lnT w="6350" cap="flat" cmpd="sng" algn="ctr">
                      <a:solidFill>
                        <a:srgbClr val="DDE3EA"/>
                      </a:solidFill>
                      <a:prstDash val="solid"/>
                      <a:round/>
                      <a:headEnd type="none" w="med" len="med"/>
                      <a:tailEnd type="none" w="med" len="med"/>
                    </a:lnT>
                    <a:lnB w="6350"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001E3C"/>
                          </a:solidFill>
                          <a:latin typeface="Inter" pitchFamily="34" charset="0"/>
                          <a:ea typeface="Inter" pitchFamily="34" charset="-122"/>
                          <a:cs typeface="Inter" pitchFamily="34" charset="-120"/>
                        </a:rPr>
                        <a:t>8h 10m · 8h 10m · 8h 10m</a:t>
                      </a:r>
                      <a:endParaRPr lang="en-US" sz="1200" dirty="0">
                        <a:latin typeface="Inter" charset="0"/>
                        <a:ea typeface="Inter" charset="0"/>
                        <a:cs typeface="Inter" charset="0"/>
                      </a:endParaRPr>
                    </a:p>
                  </a:txBody>
                  <a:tcPr marL="91440" marR="91440" marT="0" marB="0" anchor="ctr">
                    <a:lnL>
                      <a:noFill/>
                    </a:lnL>
                    <a:lnR>
                      <a:noFill/>
                    </a:lnR>
                    <a:lnT w="6350" cap="flat" cmpd="sng" algn="ctr">
                      <a:solidFill>
                        <a:srgbClr val="DDE3EA"/>
                      </a:solidFill>
                      <a:prstDash val="solid"/>
                      <a:round/>
                      <a:headEnd type="none" w="med" len="med"/>
                      <a:tailEnd type="none" w="med" len="med"/>
                    </a:lnT>
                    <a:lnB w="6350" cap="flat" cmpd="sng" algn="ctr">
                      <a:solidFill>
                        <a:srgbClr val="DDE3EA"/>
                      </a:solidFill>
                      <a:prstDash val="solid"/>
                      <a:round/>
                      <a:headEnd type="none" w="med" len="med"/>
                      <a:tailEnd type="none" w="med" len="med"/>
                    </a:lnB>
                    <a:solidFill>
                      <a:srgbClr val="FFF4C2"/>
                    </a:solidFill>
                  </a:tcPr>
                </a:tc>
              </a:tr>
              <a:tr h="246888">
                <a:tc>
                  <a:txBody>
                    <a:bodyPr/>
                    <a:lstStyle/>
                    <a:p>
                      <a:pPr algn="l" indent="0" marL="0">
                        <a:buNone/>
                      </a:pPr>
                      <a:r>
                        <a:rPr lang="en-US" sz="1200" b="1" dirty="0">
                          <a:solidFill>
                            <a:srgbClr val="1B2533"/>
                          </a:solidFill>
                          <a:latin typeface="Inter" pitchFamily="34" charset="0"/>
                          <a:ea typeface="Inter" pitchFamily="34" charset="-122"/>
                          <a:cs typeface="Inter" pitchFamily="34" charset="-120"/>
                        </a:rPr>
                        <a:t>Full weekends off, about a year</a:t>
                      </a:r>
                      <a:endParaRPr lang="en-US" sz="1200" dirty="0">
                        <a:latin typeface="Inter" charset="0"/>
                        <a:ea typeface="Inter" charset="0"/>
                        <a:cs typeface="Inter" charset="0"/>
                      </a:endParaRPr>
                    </a:p>
                  </a:txBody>
                  <a:tcPr marL="182880" marR="91440" marT="0" marB="0" anchor="ctr">
                    <a:lnL>
                      <a:noFill/>
                    </a:lnL>
                    <a:lnR>
                      <a:noFill/>
                    </a:lnR>
                    <a:lnT w="6350" cap="flat" cmpd="sng" algn="ctr">
                      <a:solidFill>
                        <a:srgbClr val="DDE3EA"/>
                      </a:solidFill>
                      <a:prstDash val="solid"/>
                      <a:round/>
                      <a:headEnd type="none" w="med" len="med"/>
                      <a:tailEnd type="none" w="med" len="med"/>
                    </a:lnT>
                    <a:lnB w="6350"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5B6778"/>
                          </a:solidFill>
                          <a:latin typeface="Inter" pitchFamily="34" charset="0"/>
                          <a:ea typeface="Inter" pitchFamily="34" charset="-122"/>
                          <a:cs typeface="Inter" pitchFamily="34" charset="-120"/>
                        </a:rPr>
                        <a:t>10</a:t>
                      </a:r>
                      <a:endParaRPr lang="en-US" sz="1200" dirty="0">
                        <a:latin typeface="Inter" charset="0"/>
                        <a:ea typeface="Inter" charset="0"/>
                        <a:cs typeface="Inter" charset="0"/>
                      </a:endParaRPr>
                    </a:p>
                  </a:txBody>
                  <a:tcPr marL="91440" marR="91440" marT="0" marB="0" anchor="ctr">
                    <a:lnL>
                      <a:noFill/>
                    </a:lnL>
                    <a:lnR>
                      <a:noFill/>
                    </a:lnR>
                    <a:lnT w="6350" cap="flat" cmpd="sng" algn="ctr">
                      <a:solidFill>
                        <a:srgbClr val="DDE3EA"/>
                      </a:solidFill>
                      <a:prstDash val="solid"/>
                      <a:round/>
                      <a:headEnd type="none" w="med" len="med"/>
                      <a:tailEnd type="none" w="med" len="med"/>
                    </a:lnT>
                    <a:lnB w="6350"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001E3C"/>
                          </a:solidFill>
                          <a:latin typeface="Inter" pitchFamily="34" charset="0"/>
                          <a:ea typeface="Inter" pitchFamily="34" charset="-122"/>
                          <a:cs typeface="Inter" pitchFamily="34" charset="-120"/>
                        </a:rPr>
                        <a:t>14</a:t>
                      </a:r>
                      <a:endParaRPr lang="en-US" sz="1200" dirty="0">
                        <a:latin typeface="Inter" charset="0"/>
                        <a:ea typeface="Inter" charset="0"/>
                        <a:cs typeface="Inter" charset="0"/>
                      </a:endParaRPr>
                    </a:p>
                  </a:txBody>
                  <a:tcPr marL="91440" marR="91440" marT="0" marB="0" anchor="ctr">
                    <a:lnL>
                      <a:noFill/>
                    </a:lnL>
                    <a:lnR>
                      <a:noFill/>
                    </a:lnR>
                    <a:lnT w="6350" cap="flat" cmpd="sng" algn="ctr">
                      <a:solidFill>
                        <a:srgbClr val="DDE3EA"/>
                      </a:solidFill>
                      <a:prstDash val="solid"/>
                      <a:round/>
                      <a:headEnd type="none" w="med" len="med"/>
                      <a:tailEnd type="none" w="med" len="med"/>
                    </a:lnT>
                    <a:lnB w="6350" cap="flat" cmpd="sng" algn="ctr">
                      <a:solidFill>
                        <a:srgbClr val="DDE3EA"/>
                      </a:solidFill>
                      <a:prstDash val="solid"/>
                      <a:round/>
                      <a:headEnd type="none" w="med" len="med"/>
                      <a:tailEnd type="none" w="med" len="med"/>
                    </a:lnB>
                    <a:solidFill>
                      <a:srgbClr val="FFF4C2"/>
                    </a:solidFill>
                  </a:tcPr>
                </a:tc>
              </a:tr>
              <a:tr h="246888">
                <a:tc>
                  <a:txBody>
                    <a:bodyPr/>
                    <a:lstStyle/>
                    <a:p>
                      <a:pPr algn="l" indent="0" marL="0">
                        <a:buNone/>
                      </a:pPr>
                      <a:r>
                        <a:rPr lang="en-US" sz="1200" b="1" dirty="0">
                          <a:solidFill>
                            <a:srgbClr val="1B2533"/>
                          </a:solidFill>
                          <a:latin typeface="Inter" pitchFamily="34" charset="0"/>
                          <a:ea typeface="Inter" pitchFamily="34" charset="-122"/>
                          <a:cs typeface="Inter" pitchFamily="34" charset="-120"/>
                        </a:rPr>
                        <a:t>Most days worked in a row</a:t>
                      </a:r>
                      <a:endParaRPr lang="en-US" sz="1200" dirty="0">
                        <a:latin typeface="Inter" charset="0"/>
                        <a:ea typeface="Inter" charset="0"/>
                        <a:cs typeface="Inter" charset="0"/>
                      </a:endParaRPr>
                    </a:p>
                  </a:txBody>
                  <a:tcPr marL="182880" marR="91440" marT="0" marB="0" anchor="ctr">
                    <a:lnL>
                      <a:noFill/>
                    </a:lnL>
                    <a:lnR>
                      <a:noFill/>
                    </a:lnR>
                    <a:lnT w="6350" cap="flat" cmpd="sng" algn="ctr">
                      <a:solidFill>
                        <a:srgbClr val="DDE3EA"/>
                      </a:solidFill>
                      <a:prstDash val="solid"/>
                      <a:round/>
                      <a:headEnd type="none" w="med" len="med"/>
                      <a:tailEnd type="none" w="med" len="med"/>
                    </a:lnT>
                    <a:lnB w="6350"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5B6778"/>
                          </a:solidFill>
                          <a:latin typeface="Inter" pitchFamily="34" charset="0"/>
                          <a:ea typeface="Inter" pitchFamily="34" charset="-122"/>
                          <a:cs typeface="Inter" pitchFamily="34" charset="-120"/>
                        </a:rPr>
                        <a:t>7 (up to 9)</a:t>
                      </a:r>
                      <a:endParaRPr lang="en-US" sz="1200" dirty="0">
                        <a:latin typeface="Inter" charset="0"/>
                        <a:ea typeface="Inter" charset="0"/>
                        <a:cs typeface="Inter" charset="0"/>
                      </a:endParaRPr>
                    </a:p>
                  </a:txBody>
                  <a:tcPr marL="91440" marR="91440" marT="0" marB="0" anchor="ctr">
                    <a:lnL>
                      <a:noFill/>
                    </a:lnL>
                    <a:lnR>
                      <a:noFill/>
                    </a:lnR>
                    <a:lnT w="6350" cap="flat" cmpd="sng" algn="ctr">
                      <a:solidFill>
                        <a:srgbClr val="DDE3EA"/>
                      </a:solidFill>
                      <a:prstDash val="solid"/>
                      <a:round/>
                      <a:headEnd type="none" w="med" len="med"/>
                      <a:tailEnd type="none" w="med" len="med"/>
                    </a:lnT>
                    <a:lnB w="6350"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001E3C"/>
                          </a:solidFill>
                          <a:latin typeface="Inter" pitchFamily="34" charset="0"/>
                          <a:ea typeface="Inter" pitchFamily="34" charset="-122"/>
                          <a:cs typeface="Inter" pitchFamily="34" charset="-120"/>
                        </a:rPr>
                        <a:t>5 (up to 6)</a:t>
                      </a:r>
                      <a:endParaRPr lang="en-US" sz="1200" dirty="0">
                        <a:latin typeface="Inter" charset="0"/>
                        <a:ea typeface="Inter" charset="0"/>
                        <a:cs typeface="Inter" charset="0"/>
                      </a:endParaRPr>
                    </a:p>
                  </a:txBody>
                  <a:tcPr marL="91440" marR="91440" marT="0" marB="0" anchor="ctr">
                    <a:lnL>
                      <a:noFill/>
                    </a:lnL>
                    <a:lnR>
                      <a:noFill/>
                    </a:lnR>
                    <a:lnT w="6350" cap="flat" cmpd="sng" algn="ctr">
                      <a:solidFill>
                        <a:srgbClr val="DDE3EA"/>
                      </a:solidFill>
                      <a:prstDash val="solid"/>
                      <a:round/>
                      <a:headEnd type="none" w="med" len="med"/>
                      <a:tailEnd type="none" w="med" len="med"/>
                    </a:lnT>
                    <a:lnB w="6350" cap="flat" cmpd="sng" algn="ctr">
                      <a:solidFill>
                        <a:srgbClr val="DDE3EA"/>
                      </a:solidFill>
                      <a:prstDash val="solid"/>
                      <a:round/>
                      <a:headEnd type="none" w="med" len="med"/>
                      <a:tailEnd type="none" w="med" len="med"/>
                    </a:lnB>
                    <a:solidFill>
                      <a:srgbClr val="FFF4C2"/>
                    </a:solidFill>
                  </a:tcPr>
                </a:tc>
              </a:tr>
              <a:tr h="246888">
                <a:tc>
                  <a:txBody>
                    <a:bodyPr/>
                    <a:lstStyle/>
                    <a:p>
                      <a:pPr algn="l" indent="0" marL="0">
                        <a:buNone/>
                      </a:pPr>
                      <a:r>
                        <a:rPr lang="en-US" sz="1200" b="1" dirty="0">
                          <a:solidFill>
                            <a:srgbClr val="1B2533"/>
                          </a:solidFill>
                          <a:latin typeface="Inter" pitchFamily="34" charset="0"/>
                          <a:ea typeface="Inter" pitchFamily="34" charset="-122"/>
                          <a:cs typeface="Inter" pitchFamily="34" charset="-120"/>
                        </a:rPr>
                        <a:t>Shortest gap between two shifts</a:t>
                      </a:r>
                      <a:endParaRPr lang="en-US" sz="1200" dirty="0">
                        <a:latin typeface="Inter" charset="0"/>
                        <a:ea typeface="Inter" charset="0"/>
                        <a:cs typeface="Inter" charset="0"/>
                      </a:endParaRPr>
                    </a:p>
                  </a:txBody>
                  <a:tcPr marL="182880" marR="91440" marT="0" marB="0" anchor="ctr">
                    <a:lnL>
                      <a:noFill/>
                    </a:lnL>
                    <a:lnR>
                      <a:noFill/>
                    </a:lnR>
                    <a:lnT w="6350" cap="flat" cmpd="sng" algn="ctr">
                      <a:solidFill>
                        <a:srgbClr val="DDE3EA"/>
                      </a:solidFill>
                      <a:prstDash val="solid"/>
                      <a:round/>
                      <a:headEnd type="none" w="med" len="med"/>
                      <a:tailEnd type="none" w="med" len="med"/>
                    </a:lnT>
                    <a:lnB w="6350"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5B6778"/>
                          </a:solidFill>
                          <a:latin typeface="Inter" pitchFamily="34" charset="0"/>
                          <a:ea typeface="Inter" pitchFamily="34" charset="-122"/>
                          <a:cs typeface="Inter" pitchFamily="34" charset="-120"/>
                        </a:rPr>
                        <a:t>12h 30m</a:t>
                      </a:r>
                      <a:endParaRPr lang="en-US" sz="1200" dirty="0">
                        <a:latin typeface="Inter" charset="0"/>
                        <a:ea typeface="Inter" charset="0"/>
                        <a:cs typeface="Inter" charset="0"/>
                      </a:endParaRPr>
                    </a:p>
                  </a:txBody>
                  <a:tcPr marL="91440" marR="91440" marT="0" marB="0" anchor="ctr">
                    <a:lnL>
                      <a:noFill/>
                    </a:lnL>
                    <a:lnR>
                      <a:noFill/>
                    </a:lnR>
                    <a:lnT w="6350" cap="flat" cmpd="sng" algn="ctr">
                      <a:solidFill>
                        <a:srgbClr val="DDE3EA"/>
                      </a:solidFill>
                      <a:prstDash val="solid"/>
                      <a:round/>
                      <a:headEnd type="none" w="med" len="med"/>
                      <a:tailEnd type="none" w="med" len="med"/>
                    </a:lnT>
                    <a:lnB w="6350"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001E3C"/>
                          </a:solidFill>
                          <a:latin typeface="Inter" pitchFamily="34" charset="0"/>
                          <a:ea typeface="Inter" pitchFamily="34" charset="-122"/>
                          <a:cs typeface="Inter" pitchFamily="34" charset="-120"/>
                        </a:rPr>
                        <a:t>14h 35m</a:t>
                      </a:r>
                      <a:endParaRPr lang="en-US" sz="1200" dirty="0">
                        <a:latin typeface="Inter" charset="0"/>
                        <a:ea typeface="Inter" charset="0"/>
                        <a:cs typeface="Inter" charset="0"/>
                      </a:endParaRPr>
                    </a:p>
                  </a:txBody>
                  <a:tcPr marL="91440" marR="91440" marT="0" marB="0" anchor="ctr">
                    <a:lnL>
                      <a:noFill/>
                    </a:lnL>
                    <a:lnR>
                      <a:noFill/>
                    </a:lnR>
                    <a:lnT w="6350" cap="flat" cmpd="sng" algn="ctr">
                      <a:solidFill>
                        <a:srgbClr val="DDE3EA"/>
                      </a:solidFill>
                      <a:prstDash val="solid"/>
                      <a:round/>
                      <a:headEnd type="none" w="med" len="med"/>
                      <a:tailEnd type="none" w="med" len="med"/>
                    </a:lnT>
                    <a:lnB w="6350" cap="flat" cmpd="sng" algn="ctr">
                      <a:solidFill>
                        <a:srgbClr val="DDE3EA"/>
                      </a:solidFill>
                      <a:prstDash val="solid"/>
                      <a:round/>
                      <a:headEnd type="none" w="med" len="med"/>
                      <a:tailEnd type="none" w="med" len="med"/>
                    </a:lnB>
                    <a:solidFill>
                      <a:srgbClr val="FFF4C2"/>
                    </a:solidFill>
                  </a:tcPr>
                </a:tc>
              </a:tr>
              <a:tr h="246888">
                <a:tc>
                  <a:txBody>
                    <a:bodyPr/>
                    <a:lstStyle/>
                    <a:p>
                      <a:pPr algn="l" indent="0" marL="0">
                        <a:buNone/>
                      </a:pPr>
                      <a:r>
                        <a:rPr lang="en-US" sz="1200" b="1" dirty="0">
                          <a:solidFill>
                            <a:srgbClr val="1B2533"/>
                          </a:solidFill>
                          <a:latin typeface="Inter" pitchFamily="34" charset="0"/>
                          <a:ea typeface="Inter" pitchFamily="34" charset="-122"/>
                          <a:cs typeface="Inter" pitchFamily="34" charset="-120"/>
                        </a:rPr>
                        <a:t>Different shift times</a:t>
                      </a:r>
                      <a:endParaRPr lang="en-US" sz="1200" dirty="0">
                        <a:latin typeface="Inter" charset="0"/>
                        <a:ea typeface="Inter" charset="0"/>
                        <a:cs typeface="Inter" charset="0"/>
                      </a:endParaRPr>
                    </a:p>
                  </a:txBody>
                  <a:tcPr marL="182880" marR="91440" marT="0" marB="0" anchor="ctr">
                    <a:lnL>
                      <a:noFill/>
                    </a:lnL>
                    <a:lnR>
                      <a:noFill/>
                    </a:lnR>
                    <a:lnT w="6350" cap="flat" cmpd="sng" algn="ctr">
                      <a:solidFill>
                        <a:srgbClr val="DDE3EA"/>
                      </a:solidFill>
                      <a:prstDash val="solid"/>
                      <a:round/>
                      <a:headEnd type="none" w="med" len="med"/>
                      <a:tailEnd type="none" w="med" len="med"/>
                    </a:lnT>
                    <a:lnB w="6350"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5B6778"/>
                          </a:solidFill>
                          <a:latin typeface="Inter" pitchFamily="34" charset="0"/>
                          <a:ea typeface="Inter" pitchFamily="34" charset="-122"/>
                          <a:cs typeface="Inter" pitchFamily="34" charset="-120"/>
                        </a:rPr>
                        <a:t>18</a:t>
                      </a:r>
                      <a:endParaRPr lang="en-US" sz="1200" dirty="0">
                        <a:latin typeface="Inter" charset="0"/>
                        <a:ea typeface="Inter" charset="0"/>
                        <a:cs typeface="Inter" charset="0"/>
                      </a:endParaRPr>
                    </a:p>
                  </a:txBody>
                  <a:tcPr marL="91440" marR="91440" marT="0" marB="0" anchor="ctr">
                    <a:lnL>
                      <a:noFill/>
                    </a:lnL>
                    <a:lnR>
                      <a:noFill/>
                    </a:lnR>
                    <a:lnT w="6350" cap="flat" cmpd="sng" algn="ctr">
                      <a:solidFill>
                        <a:srgbClr val="DDE3EA"/>
                      </a:solidFill>
                      <a:prstDash val="solid"/>
                      <a:round/>
                      <a:headEnd type="none" w="med" len="med"/>
                      <a:tailEnd type="none" w="med" len="med"/>
                    </a:lnT>
                    <a:lnB w="6350"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001E3C"/>
                          </a:solidFill>
                          <a:latin typeface="Inter" pitchFamily="34" charset="0"/>
                          <a:ea typeface="Inter" pitchFamily="34" charset="-122"/>
                          <a:cs typeface="Inter" pitchFamily="34" charset="-120"/>
                        </a:rPr>
                        <a:t>15 (9 you know)</a:t>
                      </a:r>
                      <a:endParaRPr lang="en-US" sz="1200" dirty="0">
                        <a:latin typeface="Inter" charset="0"/>
                        <a:ea typeface="Inter" charset="0"/>
                        <a:cs typeface="Inter" charset="0"/>
                      </a:endParaRPr>
                    </a:p>
                  </a:txBody>
                  <a:tcPr marL="91440" marR="91440" marT="0" marB="0" anchor="ctr">
                    <a:lnL>
                      <a:noFill/>
                    </a:lnL>
                    <a:lnR>
                      <a:noFill/>
                    </a:lnR>
                    <a:lnT w="6350" cap="flat" cmpd="sng" algn="ctr">
                      <a:solidFill>
                        <a:srgbClr val="DDE3EA"/>
                      </a:solidFill>
                      <a:prstDash val="solid"/>
                      <a:round/>
                      <a:headEnd type="none" w="med" len="med"/>
                      <a:tailEnd type="none" w="med" len="med"/>
                    </a:lnT>
                    <a:lnB w="6350" cap="flat" cmpd="sng" algn="ctr">
                      <a:solidFill>
                        <a:srgbClr val="DDE3EA"/>
                      </a:solidFill>
                      <a:prstDash val="solid"/>
                      <a:round/>
                      <a:headEnd type="none" w="med" len="med"/>
                      <a:tailEnd type="none" w="med" len="med"/>
                    </a:lnB>
                    <a:solidFill>
                      <a:srgbClr val="FFF4C2"/>
                    </a:solidFill>
                  </a:tcPr>
                </a:tc>
              </a:tr>
              <a:tr h="246888">
                <a:tc>
                  <a:txBody>
                    <a:bodyPr/>
                    <a:lstStyle/>
                    <a:p>
                      <a:pPr algn="l" indent="0" marL="0">
                        <a:buNone/>
                      </a:pPr>
                      <a:r>
                        <a:rPr lang="en-US" sz="1200" b="1" dirty="0">
                          <a:solidFill>
                            <a:srgbClr val="1B2533"/>
                          </a:solidFill>
                          <a:latin typeface="Inter" pitchFamily="34" charset="0"/>
                          <a:ea typeface="Inter" pitchFamily="34" charset="-122"/>
                          <a:cs typeface="Inter" pitchFamily="34" charset="-120"/>
                        </a:rPr>
                        <a:t>On duty weekday · Saturday · Sunday</a:t>
                      </a:r>
                      <a:endParaRPr lang="en-US" sz="1200" dirty="0">
                        <a:latin typeface="Inter" charset="0"/>
                        <a:ea typeface="Inter" charset="0"/>
                        <a:cs typeface="Inter" charset="0"/>
                      </a:endParaRPr>
                    </a:p>
                  </a:txBody>
                  <a:tcPr marL="182880" marR="91440" marT="0" marB="0" anchor="ctr">
                    <a:lnL>
                      <a:noFill/>
                    </a:lnL>
                    <a:lnR>
                      <a:noFill/>
                    </a:lnR>
                    <a:lnT w="6350" cap="flat" cmpd="sng" algn="ctr">
                      <a:solidFill>
                        <a:srgbClr val="DDE3EA"/>
                      </a:solidFill>
                      <a:prstDash val="solid"/>
                      <a:round/>
                      <a:headEnd type="none" w="med" len="med"/>
                      <a:tailEnd type="none" w="med" len="med"/>
                    </a:lnT>
                    <a:lnB w="6350"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5B6778"/>
                          </a:solidFill>
                          <a:latin typeface="Inter" pitchFamily="34" charset="0"/>
                          <a:ea typeface="Inter" pitchFamily="34" charset="-122"/>
                          <a:cs typeface="Inter" pitchFamily="34" charset="-120"/>
                        </a:rPr>
                        <a:t>11–12 · 10 · 8</a:t>
                      </a:r>
                      <a:endParaRPr lang="en-US" sz="1200" dirty="0">
                        <a:latin typeface="Inter" charset="0"/>
                        <a:ea typeface="Inter" charset="0"/>
                        <a:cs typeface="Inter" charset="0"/>
                      </a:endParaRPr>
                    </a:p>
                  </a:txBody>
                  <a:tcPr marL="91440" marR="91440" marT="0" marB="0" anchor="ctr">
                    <a:lnL>
                      <a:noFill/>
                    </a:lnL>
                    <a:lnR>
                      <a:noFill/>
                    </a:lnR>
                    <a:lnT w="6350" cap="flat" cmpd="sng" algn="ctr">
                      <a:solidFill>
                        <a:srgbClr val="DDE3EA"/>
                      </a:solidFill>
                      <a:prstDash val="solid"/>
                      <a:round/>
                      <a:headEnd type="none" w="med" len="med"/>
                      <a:tailEnd type="none" w="med" len="med"/>
                    </a:lnT>
                    <a:lnB w="6350"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001E3C"/>
                          </a:solidFill>
                          <a:latin typeface="Inter" pitchFamily="34" charset="0"/>
                          <a:ea typeface="Inter" pitchFamily="34" charset="-122"/>
                          <a:cs typeface="Inter" pitchFamily="34" charset="-120"/>
                        </a:rPr>
                        <a:t>15 · 14 · 10</a:t>
                      </a:r>
                      <a:endParaRPr lang="en-US" sz="1200" dirty="0">
                        <a:latin typeface="Inter" charset="0"/>
                        <a:ea typeface="Inter" charset="0"/>
                        <a:cs typeface="Inter" charset="0"/>
                      </a:endParaRPr>
                    </a:p>
                  </a:txBody>
                  <a:tcPr marL="91440" marR="91440" marT="0" marB="0" anchor="ctr">
                    <a:lnL>
                      <a:noFill/>
                    </a:lnL>
                    <a:lnR>
                      <a:noFill/>
                    </a:lnR>
                    <a:lnT w="6350" cap="flat" cmpd="sng" algn="ctr">
                      <a:solidFill>
                        <a:srgbClr val="DDE3EA"/>
                      </a:solidFill>
                      <a:prstDash val="solid"/>
                      <a:round/>
                      <a:headEnd type="none" w="med" len="med"/>
                      <a:tailEnd type="none" w="med" len="med"/>
                    </a:lnT>
                    <a:lnB w="6350" cap="flat" cmpd="sng" algn="ctr">
                      <a:solidFill>
                        <a:srgbClr val="DDE3EA"/>
                      </a:solidFill>
                      <a:prstDash val="solid"/>
                      <a:round/>
                      <a:headEnd type="none" w="med" len="med"/>
                      <a:tailEnd type="none" w="med" len="med"/>
                    </a:lnB>
                    <a:solidFill>
                      <a:srgbClr val="FFF4C2"/>
                    </a:solidFill>
                  </a:tcPr>
                </a:tc>
              </a:tr>
              <a:tr h="246888">
                <a:tc>
                  <a:txBody>
                    <a:bodyPr/>
                    <a:lstStyle/>
                    <a:p>
                      <a:pPr algn="l" indent="0" marL="0">
                        <a:buNone/>
                      </a:pPr>
                      <a:r>
                        <a:rPr lang="en-US" sz="1200" b="1" dirty="0">
                          <a:solidFill>
                            <a:srgbClr val="1B2533"/>
                          </a:solidFill>
                          <a:latin typeface="Inter" pitchFamily="34" charset="0"/>
                          <a:ea typeface="Inter" pitchFamily="34" charset="-122"/>
                          <a:cs typeface="Inter" pitchFamily="34" charset="-120"/>
                        </a:rPr>
                        <a:t>Avoidable fatigue warnings in the fixed rota</a:t>
                      </a:r>
                      <a:endParaRPr lang="en-US" sz="1200" dirty="0">
                        <a:latin typeface="Inter" charset="0"/>
                        <a:ea typeface="Inter" charset="0"/>
                        <a:cs typeface="Inter" charset="0"/>
                      </a:endParaRPr>
                    </a:p>
                  </a:txBody>
                  <a:tcPr marL="182880" marR="91440" marT="0" marB="0" anchor="ctr">
                    <a:lnL>
                      <a:noFill/>
                    </a:lnL>
                    <a:lnR>
                      <a:noFill/>
                    </a:lnR>
                    <a:lnT w="6350" cap="flat" cmpd="sng" algn="ctr">
                      <a:solidFill>
                        <a:srgbClr val="DDE3EA"/>
                      </a:solidFill>
                      <a:prstDash val="solid"/>
                      <a:round/>
                      <a:headEnd type="none" w="med" len="med"/>
                      <a:tailEnd type="none" w="med" len="med"/>
                    </a:lnT>
                    <a:lnB w="6350"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5B6778"/>
                          </a:solidFill>
                          <a:latin typeface="Inter" pitchFamily="34" charset="0"/>
                          <a:ea typeface="Inter" pitchFamily="34" charset="-122"/>
                          <a:cs typeface="Inter" pitchFamily="34" charset="-120"/>
                        </a:rPr>
                        <a:t>4 (up to 5)</a:t>
                      </a:r>
                      <a:endParaRPr lang="en-US" sz="1200" dirty="0">
                        <a:latin typeface="Inter" charset="0"/>
                        <a:ea typeface="Inter" charset="0"/>
                        <a:cs typeface="Inter" charset="0"/>
                      </a:endParaRPr>
                    </a:p>
                  </a:txBody>
                  <a:tcPr marL="91440" marR="91440" marT="0" marB="0" anchor="ctr">
                    <a:lnL>
                      <a:noFill/>
                    </a:lnL>
                    <a:lnR>
                      <a:noFill/>
                    </a:lnR>
                    <a:lnT w="6350" cap="flat" cmpd="sng" algn="ctr">
                      <a:solidFill>
                        <a:srgbClr val="DDE3EA"/>
                      </a:solidFill>
                      <a:prstDash val="solid"/>
                      <a:round/>
                      <a:headEnd type="none" w="med" len="med"/>
                      <a:tailEnd type="none" w="med" len="med"/>
                    </a:lnT>
                    <a:lnB w="6350"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001E3C"/>
                          </a:solidFill>
                          <a:latin typeface="Inter" pitchFamily="34" charset="0"/>
                          <a:ea typeface="Inter" pitchFamily="34" charset="-122"/>
                          <a:cs typeface="Inter" pitchFamily="34" charset="-120"/>
                        </a:rPr>
                        <a:t>0</a:t>
                      </a:r>
                      <a:endParaRPr lang="en-US" sz="1200" dirty="0">
                        <a:latin typeface="Inter" charset="0"/>
                        <a:ea typeface="Inter" charset="0"/>
                        <a:cs typeface="Inter" charset="0"/>
                      </a:endParaRPr>
                    </a:p>
                  </a:txBody>
                  <a:tcPr marL="91440" marR="91440" marT="0" marB="0" anchor="ctr">
                    <a:lnL>
                      <a:noFill/>
                    </a:lnL>
                    <a:lnR>
                      <a:noFill/>
                    </a:lnR>
                    <a:lnT w="6350" cap="flat" cmpd="sng" algn="ctr">
                      <a:solidFill>
                        <a:srgbClr val="DDE3EA"/>
                      </a:solidFill>
                      <a:prstDash val="solid"/>
                      <a:round/>
                      <a:headEnd type="none" w="med" len="med"/>
                      <a:tailEnd type="none" w="med" len="med"/>
                    </a:lnT>
                    <a:lnB w="6350" cap="flat" cmpd="sng" algn="ctr">
                      <a:solidFill>
                        <a:srgbClr val="DDE3EA"/>
                      </a:solidFill>
                      <a:prstDash val="solid"/>
                      <a:round/>
                      <a:headEnd type="none" w="med" len="med"/>
                      <a:tailEnd type="none" w="med" len="med"/>
                    </a:lnB>
                    <a:solidFill>
                      <a:srgbClr val="FFF4C2"/>
                    </a:solidFill>
                  </a:tcPr>
                </a:tc>
              </a:tr>
            </a:tbl>
          </a:graphicData>
        </a:graphic>
      </p:graphicFrame>
      <p:sp>
        <p:nvSpPr>
          <p:cNvPr id="5" name="Shape 2"/>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6" name="Text 3"/>
          <p:cNvSpPr txBox="1"/>
          <p:nvPr/>
        </p:nvSpPr>
        <p:spPr>
          <a:xfrm>
            <a:off x="640080" y="4160520"/>
            <a:ext cx="7863840" cy="548640"/>
          </a:xfrm>
          <a:prstGeom prst="rect">
            <a:avLst/>
          </a:prstGeom>
          <a:noFill/>
          <a:ln/>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Same hours and days, shorter closers, more full weekends off.</a:t>
            </a:r>
            <a:endParaRPr lang="en-US" sz="1400" dirty="0"/>
          </a:p>
        </p:txBody>
      </p:sp>
      <p:sp>
        <p:nvSpPr>
          <p:cNvPr id="7" name="Text 4"/>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In Step · December 2026 link proposal · 14</a:t>
            </a:r>
            <a:endParaRPr lang="en-US" sz="9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001E3C"/>
        </a:solidFill>
      </p:bgPr>
    </p:bg>
    <p:spTree>
      <p:nvGrpSpPr>
        <p:cNvPr id="1" name=""/>
        <p:cNvGrpSpPr/>
        <p:nvPr/>
      </p:nvGrpSpPr>
      <p:grpSpPr>
        <a:xfrm>
          <a:off x="0" y="0"/>
          <a:ext cx="0" cy="0"/>
          <a:chOff x="0" y="0"/>
          <a:chExt cx="0" cy="0"/>
        </a:xfrm>
      </p:grpSpPr>
      <p:sp>
        <p:nvSpPr>
          <p:cNvPr id="2" name="Shape 0"/>
          <p:cNvSpPr/>
          <p:nvPr/>
        </p:nvSpPr>
        <p:spPr>
          <a:xfrm>
            <a:off x="548640" y="640080"/>
            <a:ext cx="731520" cy="731520"/>
          </a:xfrm>
          <a:prstGeom prst="ellipse">
            <a:avLst/>
          </a:prstGeom>
          <a:solidFill>
            <a:srgbClr val="F5C800"/>
          </a:solidFill>
          <a:ln w="12700">
            <a:solidFill>
              <a:srgbClr val="F5C800"/>
            </a:solidFill>
            <a:prstDash val="solid"/>
          </a:ln>
        </p:spPr>
      </p:sp>
      <p:pic>
        <p:nvPicPr>
          <p:cNvPr id="3" name="Image 0" descr="preencoded.png">    </p:cNvPr>
          <p:cNvPicPr>
            <a:picLocks noChangeAspect="1"/>
          </p:cNvPicPr>
          <p:nvPr/>
        </p:nvPicPr>
        <p:blipFill>
          <a:blip r:embed="rId1"/>
          <a:stretch>
            <a:fillRect/>
          </a:stretch>
        </p:blipFill>
        <p:spPr>
          <a:xfrm>
            <a:off x="709574" y="801014"/>
            <a:ext cx="409651" cy="409651"/>
          </a:xfrm>
          <a:prstGeom prst="rect">
            <a:avLst/>
          </a:prstGeom>
        </p:spPr>
      </p:pic>
      <p:sp>
        <p:nvSpPr>
          <p:cNvPr id="4" name="Text 1"/>
          <p:cNvSpPr txBox="1"/>
          <p:nvPr/>
        </p:nvSpPr>
        <p:spPr>
          <a:xfrm>
            <a:off x="548640" y="1600200"/>
            <a:ext cx="8046720" cy="731520"/>
          </a:xfrm>
          <a:prstGeom prst="rect">
            <a:avLst/>
          </a:prstGeom>
          <a:noFill/>
          <a:ln/>
        </p:spPr>
        <p:txBody>
          <a:bodyPr wrap="square" lIns="0" tIns="0" rIns="0" bIns="0" rtlCol="0" anchor="ctr"/>
          <a:lstStyle/>
          <a:p>
            <a:pPr indent="0" marL="0">
              <a:buNone/>
            </a:pPr>
            <a:r>
              <a:rPr lang="en-US" sz="4000" b="1" dirty="0">
                <a:solidFill>
                  <a:srgbClr val="FFFFFF"/>
                </a:solidFill>
                <a:latin typeface="Inter" pitchFamily="34" charset="0"/>
                <a:ea typeface="Inter" pitchFamily="34" charset="-122"/>
                <a:cs typeface="Inter" pitchFamily="34" charset="-120"/>
              </a:rPr>
              <a:t>What happens next</a:t>
            </a:r>
            <a:endParaRPr lang="en-US" sz="4000" dirty="0"/>
          </a:p>
        </p:txBody>
      </p:sp>
      <p:sp>
        <p:nvSpPr>
          <p:cNvPr id="5" name="Text 2"/>
          <p:cNvSpPr txBox="1"/>
          <p:nvPr/>
        </p:nvSpPr>
        <p:spPr>
          <a:xfrm>
            <a:off x="548640" y="2468880"/>
            <a:ext cx="8046720" cy="1463040"/>
          </a:xfrm>
          <a:prstGeom prst="rect">
            <a:avLst/>
          </a:prstGeom>
          <a:noFill/>
          <a:ln/>
        </p:spPr>
        <p:txBody>
          <a:bodyPr wrap="square" lIns="0" tIns="0" rIns="0" bIns="0" rtlCol="0" anchor="ctr"/>
          <a:lstStyle/>
          <a:p>
            <a:pPr marL="342900" indent="-342900">
              <a:spcAft>
                <a:spcPts val="800"/>
              </a:spcAft>
              <a:buSzPct val="100000"/>
              <a:buFont typeface="+mj-lt"/>
              <a:buAutoNum type="arabicPeriod" startAt="1"/>
            </a:pPr>
            <a:r>
              <a:rPr lang="en-US" sz="1800" dirty="0">
                <a:solidFill>
                  <a:srgbClr val="FFFFFF"/>
                </a:solidFill>
                <a:latin typeface="Inter" pitchFamily="34" charset="0"/>
                <a:ea typeface="Inter" pitchFamily="34" charset="-122"/>
                <a:cs typeface="Inter" pitchFamily="34" charset="-120"/>
              </a:rPr>
              <a:t>Look at the full proposal sheet — page 3 shows every week of the link</a:t>
            </a:r>
            <a:endParaRPr lang="en-US" sz="1800" dirty="0"/>
          </a:p>
          <a:p>
            <a:pPr marL="342900" indent="-342900">
              <a:spcAft>
                <a:spcPts val="800"/>
              </a:spcAft>
              <a:buSzPct val="100000"/>
              <a:buFont typeface="+mj-lt"/>
              <a:buAutoNum type="arabicPeriod" startAt="1"/>
            </a:pPr>
            <a:r>
              <a:rPr lang="en-US" sz="1800" dirty="0">
                <a:solidFill>
                  <a:srgbClr val="FFFFFF"/>
                </a:solidFill>
                <a:latin typeface="Inter" pitchFamily="34" charset="0"/>
                <a:ea typeface="Inter" pitchFamily="34" charset="-122"/>
                <a:cs typeface="Inter" pitchFamily="34" charset="-120"/>
              </a:rPr>
              <a:t>Tell us what worries you, even if it is small</a:t>
            </a:r>
            <a:endParaRPr lang="en-US" sz="1800" dirty="0"/>
          </a:p>
          <a:p>
            <a:pPr marL="342900" indent="-342900">
              <a:spcAft>
                <a:spcPts val="800"/>
              </a:spcAft>
              <a:buSzPct val="100000"/>
              <a:buFont typeface="+mj-lt"/>
              <a:buAutoNum type="arabicPeriod" startAt="1"/>
            </a:pPr>
            <a:r>
              <a:rPr lang="en-US" sz="1800" dirty="0">
                <a:solidFill>
                  <a:srgbClr val="FFFFFF"/>
                </a:solidFill>
                <a:latin typeface="Inter" pitchFamily="34" charset="0"/>
                <a:ea typeface="Inter" pitchFamily="34" charset="-122"/>
                <a:cs typeface="Inter" pitchFamily="34" charset="-120"/>
              </a:rPr>
              <a:t>Your feedback goes to the managers with the proposal</a:t>
            </a:r>
            <a:endParaRPr lang="en-US" sz="1800" dirty="0"/>
          </a:p>
        </p:txBody>
      </p:sp>
      <p:sp>
        <p:nvSpPr>
          <p:cNvPr id="6" name="Text 3"/>
          <p:cNvSpPr txBox="1"/>
          <p:nvPr/>
        </p:nvSpPr>
        <p:spPr>
          <a:xfrm>
            <a:off x="548640" y="4343400"/>
            <a:ext cx="8046720" cy="365760"/>
          </a:xfrm>
          <a:prstGeom prst="rect">
            <a:avLst/>
          </a:prstGeom>
          <a:noFill/>
          <a:ln/>
        </p:spPr>
        <p:txBody>
          <a:bodyPr wrap="square" lIns="0" tIns="0" rIns="0" bIns="0" rtlCol="0" anchor="ctr"/>
          <a:lstStyle/>
          <a:p>
            <a:pPr indent="0" marL="0">
              <a:buNone/>
            </a:pPr>
            <a:r>
              <a:rPr lang="en-US" sz="1200" dirty="0">
                <a:solidFill>
                  <a:srgbClr val="F5C800"/>
                </a:solidFill>
                <a:latin typeface="Inter" pitchFamily="34" charset="0"/>
                <a:ea typeface="Inter" pitchFamily="34" charset="-122"/>
                <a:cs typeface="Inter" pitchFamily="34" charset="-120"/>
              </a:rPr>
              <a:t>In Step · IS-26-T4 · every figure worked out from the rota by the Marylebone Roster app</a:t>
            </a:r>
            <a:endParaRPr lang="en-US" sz="12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15</Slides>
  <Notes>15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15</vt:i4>
      </vt:variant>
    </vt:vector>
  </HeadingPairs>
  <TitlesOfParts>
    <vt:vector size="1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In Step — the December 2026 link</dc:title>
  <dc:subject>PptxGenJS Presentation</dc:subject>
  <dc:creator>PptxGenJS</dc:creator>
  <cp:lastModifiedBy>PptxGenJS</cp:lastModifiedBy>
  <cp:revision>1</cp:revision>
  <dcterms:created xsi:type="dcterms:W3CDTF">2026-09-30T09:26:59Z</dcterms:created>
  <dcterms:modified xsi:type="dcterms:W3CDTF">2026-09-30T09:26:59Z</dcterms:modified>
</cp:coreProperties>
</file>