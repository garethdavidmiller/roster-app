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five days in a row on the fixed rota — six at most when a cover week falls badly, where today it is seven and can reach nine. Seven full weekends off in every 26 weeks, against four in 20 today, and never more than five weeks apart — though each person works about two more Saturdays a year. Every working week is all earlies or all lates, and 18 of the 21 working weeks keep one shift time Monday to Friday. Nine of the fifteen shift times are ones people already work, today’s 13:45 finish among them. And every closing shift is shorter: the weekday closer by 30 minutes, the Saturday closer by an hour and the Sunday closer by 45 minutes. Say the leave cost here too, before anyone asks: four full weeks off, Sunday to Saturday, takes 15 days’ leave rather than 14, and the best 14-day stretch is 28 days off rather than 30; the average is the same and the worst a day better. A cover week is one of the five weeks in 26 with no fixed shifts: its four duties are placed later to cover leave and sickness; the fixed rota is the other 21 weeks, whose shifts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with the ticket office’s pairs and the cap on shift times they are the nine December rules every proposal is scored on. The 26-week link, its five cover weeks and the ceiling of 219 contracted days a year were set on 1 October 2026.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today’s or In Step’s. Exactly, In Step works out at 218.6 days a year: just under today’s 219, which is also the most the 26-week link is allowed (set on 1 October 2026; a year here is 365 days, as the ceiling’s is).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On this link they are everyone’s figures, whichever line you start on: a year is exactly two turns of the 26 weeks, so everyone works each week twice — today’s, on 20 weeks, are averages.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15:45 too, instead of 14:45 (8h 10m, not 9h 10m); Sunday 15:15 to 23:25 instead of 14:30 (8h 10m, not 8h 55m). Some earlies go the other way: two new weekday earlies, 06:20–15:15 and 07:00–15:45, are 8h 55m and 8h 45m, each about 20 a year — 40 in all — where no early today is longer than 8h 30m. Be upfront about the two minutes on the average: the 26-week link may have no more than 219 contracted days a year, so the same 35 hours go into slightly fewer, slightly longer shifts. Nothing runs over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 has two Monday to Saturday. With In Step the only people who finish after 23:00 are those three closers, so no link that meets the rules on 26 weeks can have fewer. Finishes at 22:00 or later go up more, from 78 to 94 a year: the rules also want five still on duty after 22:00, and two weekday lates finish at 22:30 with the ticket office. Early 06:20 starts hardly change. And because the shortest gap between two shifts is 14h 35m, nobody finishes late and starts early the next morning. The yearly figures are the fixed rota’s, which everyone works through twice a year;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Step was built keeping the times people already work wherever that cost little. Nine of its fifteen are worked today, and it uses fewer different times overall than today’s eighteen. Today’s 06:20–13:45 stays on every weekday, and today’s 06:20–13:35 moves to a Saturday. Three of the new times are shorter versions of today’s lates: the weekday and Saturday closers start at 15:45 and the Sunday closer at 15:15, and the Sunday office late finishes at 22:30, not 23:25 — the same 14:30–22:30 is a new weekday late too, ending with the ticket office. Two new weekday earlies, 06:20–15:15 and 07:00–15:45, are longer than any early worked today, and the Sunday 09:00–18:00 is new. The full list is on the slide.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In Step gives 7 in 26, and they are never more than five weeks apart, against seven today. Five is as close as they can be: a full weekend cannot start in a cover week or the week before one, so only 16 of the 26 weeks can begin one. Nobody works more than five days in a row on the fixed rota — today it is seven — and six is the most a badly placed cover week can make it. Every working week is all earlies or all lates — today seven weeks in 16 mix the two — and 18 of the 21 keep the same shift time Monday to Friday. Rest days mostly come in pairs: 22 of the 26 rest-day breaks are two days or more, against 13 of 17 today, and single rest days stay at four, as today.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strip left to right; week 27 is week 1 again. A cover week has no fixed shifts of its own — its four duties are placed later to cover leave and sickness, which is why it is drawn empty. Earlies here means a start before 11:00. A weekday has 7 earlies and 8 lates; a Saturday 7 and 7; a Sunday 5 and 5. Sundays stay overtime, 20 a year each (today 21), and still finish at 23:25. Who starts on which week is decided after the link is chosen. A block is weeks in a row all on earlies or all on lates. On the fixed rota the longest is 5 weeks (today 2); because a cover week’s duties are placed later, a block can run to 7 if the cover weeks beside it are given the same kind (today 3). Fewer switches between earlies and lates, but someone who prefers one kind waits longer for it to come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In Step spreads rest days more evenly, so its best is 28. On average it is the same, 23.4 days, and at its worst it is a day better than today. Four full weeks off (Sunday to Saturday) takes at least 15 days of leave, instead of 14 at best today. Say the four-weeks figure plainly: both shortlisted links are worse than today here (Long Break, the leave-first design in the pack, keeps the 14), and people plan a year around it. The averages depend on where you count a booking as starting, so quote those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In Step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Strip" Type="http://schemas.openxmlformats.org/officeDocument/2006/relationships/image" Target="../media/rota-strip.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In Step</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IS-26-T4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12064"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contracted</a:t>
            </a:r>
            <a:br/>
            <a:r>
              <a:rPr lang="en-US" sz="1400" b="1" dirty="0">
                <a:solidFill>
                  <a:srgbClr val="1B2533"/>
                </a:solidFill>
                <a:latin typeface="Inter" pitchFamily="34" charset="0"/>
                <a:ea typeface="Inter" pitchFamily="34" charset="-122"/>
                <a:cs typeface="Inter" pitchFamily="34" charset="-120"/>
              </a:rPr>
              <a:t>week, as now</a:t>
            </a:r>
            <a:endParaRPr lang="en-US" sz="1400" dirty="0"/>
          </a:p>
        </p:txBody>
      </p:sp>
      <p:sp>
        <p:nvSpPr>
          <p:cNvPr id="7" name="Text 5"/>
          <p:cNvSpPr txBox="1"/>
          <p:nvPr/>
        </p:nvSpPr>
        <p:spPr>
          <a:xfrm>
            <a:off x="512064"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5</a:t>
            </a:r>
            <a:endParaRPr lang="en-US" sz="3000" dirty="0"/>
          </a:p>
        </p:txBody>
      </p:sp>
      <p:sp>
        <p:nvSpPr>
          <p:cNvPr id="10" name="Text 8"/>
          <p:cNvSpPr txBox="1"/>
          <p:nvPr/>
        </p:nvSpPr>
        <p:spPr>
          <a:xfrm>
            <a:off x="2185416"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a:t>
            </a:r>
            <a:br/>
            <a:r>
              <a:rPr lang="en-US" sz="1400" b="1" dirty="0">
                <a:solidFill>
                  <a:srgbClr val="1B2533"/>
                </a:solidFill>
                <a:latin typeface="Inter" pitchFamily="34" charset="0"/>
                <a:ea typeface="Inter" pitchFamily="34" charset="-122"/>
                <a:cs typeface="Inter" pitchFamily="34" charset="-120"/>
              </a:rPr>
              <a:t>in a row</a:t>
            </a:r>
            <a:endParaRPr lang="en-US" sz="1400" dirty="0"/>
          </a:p>
        </p:txBody>
      </p:sp>
      <p:sp>
        <p:nvSpPr>
          <p:cNvPr id="11" name="Text 9"/>
          <p:cNvSpPr txBox="1"/>
          <p:nvPr/>
        </p:nvSpPr>
        <p:spPr>
          <a:xfrm>
            <a:off x="2185416"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up to 6 · today 7</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14</a:t>
            </a:r>
            <a:endParaRPr lang="en-US" sz="3000" dirty="0"/>
          </a:p>
        </p:txBody>
      </p:sp>
      <p:sp>
        <p:nvSpPr>
          <p:cNvPr id="14" name="Text 12"/>
          <p:cNvSpPr txBox="1"/>
          <p:nvPr/>
        </p:nvSpPr>
        <p:spPr>
          <a:xfrm>
            <a:off x="3858768"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a:t>
            </a:r>
            <a:br/>
            <a:r>
              <a:rPr lang="en-US" sz="1400" b="1" dirty="0">
                <a:solidFill>
                  <a:srgbClr val="1B2533"/>
                </a:solidFill>
                <a:latin typeface="Inter" pitchFamily="34" charset="0"/>
                <a:ea typeface="Inter" pitchFamily="34" charset="-122"/>
                <a:cs typeface="Inter" pitchFamily="34" charset="-120"/>
              </a:rPr>
              <a:t>off a year</a:t>
            </a:r>
            <a:endParaRPr lang="en-US" sz="1400" dirty="0"/>
          </a:p>
        </p:txBody>
      </p:sp>
      <p:sp>
        <p:nvSpPr>
          <p:cNvPr id="15" name="Text 13"/>
          <p:cNvSpPr txBox="1"/>
          <p:nvPr/>
        </p:nvSpPr>
        <p:spPr>
          <a:xfrm>
            <a:off x="3858768"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10 · 7 in 26</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9 of 15</a:t>
            </a:r>
            <a:endParaRPr lang="en-US" sz="3000" dirty="0"/>
          </a:p>
        </p:txBody>
      </p:sp>
      <p:sp>
        <p:nvSpPr>
          <p:cNvPr id="18" name="Text 16"/>
          <p:cNvSpPr txBox="1"/>
          <p:nvPr/>
        </p:nvSpPr>
        <p:spPr>
          <a:xfrm>
            <a:off x="5532120"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a:t>
            </a:r>
            <a:br/>
            <a:r>
              <a:rPr lang="en-US" sz="1400" b="1" dirty="0">
                <a:solidFill>
                  <a:srgbClr val="1B2533"/>
                </a:solidFill>
                <a:latin typeface="Inter" pitchFamily="34" charset="0"/>
                <a:ea typeface="Inter" pitchFamily="34" charset="-122"/>
                <a:cs typeface="Inter" pitchFamily="34" charset="-120"/>
              </a:rPr>
              <a:t>already work</a:t>
            </a:r>
            <a:endParaRPr lang="en-US" sz="1400" dirty="0"/>
          </a:p>
        </p:txBody>
      </p:sp>
      <p:sp>
        <p:nvSpPr>
          <p:cNvPr id="19" name="Text 17"/>
          <p:cNvSpPr txBox="1"/>
          <p:nvPr/>
        </p:nvSpPr>
        <p:spPr>
          <a:xfrm>
            <a:off x="5532120"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6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05472"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off every</a:t>
            </a:r>
            <a:br/>
            <a:r>
              <a:rPr lang="en-US" sz="1400" b="1" dirty="0">
                <a:solidFill>
                  <a:srgbClr val="1B2533"/>
                </a:solidFill>
                <a:latin typeface="Inter" pitchFamily="34" charset="0"/>
                <a:ea typeface="Inter" pitchFamily="34" charset="-122"/>
                <a:cs typeface="Inter" pitchFamily="34" charset="-120"/>
              </a:rPr>
              <a:t>closing shift</a:t>
            </a:r>
            <a:endParaRPr lang="en-US" sz="1400" dirty="0"/>
          </a:p>
        </p:txBody>
      </p:sp>
      <p:sp>
        <p:nvSpPr>
          <p:cNvPr id="23" name="Text 21"/>
          <p:cNvSpPr txBox="1"/>
          <p:nvPr/>
        </p:nvSpPr>
        <p:spPr>
          <a:xfrm>
            <a:off x="7205472"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up to 1 hour</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weekends off never more than five weeks apart, and never more than five days in a row on the fixed rota.</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84832"/>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85416"/>
            <a:ext cx="256032" cy="256032"/>
          </a:xfrm>
          <a:prstGeom prst="rect">
            <a:avLst/>
          </a:prstGeom>
        </p:spPr>
      </p:pic>
      <p:sp>
        <p:nvSpPr>
          <p:cNvPr id="10" name="Text 6"/>
          <p:cNvSpPr txBox="1"/>
          <p:nvPr/>
        </p:nvSpPr>
        <p:spPr>
          <a:xfrm>
            <a:off x="1097280" y="2048256"/>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331720"/>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2798064"/>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898648"/>
            <a:ext cx="256032" cy="256032"/>
          </a:xfrm>
          <a:prstGeom prst="rect">
            <a:avLst/>
          </a:prstGeom>
        </p:spPr>
      </p:pic>
      <p:sp>
        <p:nvSpPr>
          <p:cNvPr id="14" name="Text 9"/>
          <p:cNvSpPr txBox="1"/>
          <p:nvPr/>
        </p:nvSpPr>
        <p:spPr>
          <a:xfrm>
            <a:off x="1097280" y="276148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04495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close and at 22:00. We also aim for 14 on a Saturday.</a:t>
            </a:r>
            <a:endParaRPr lang="en-US" sz="1300" dirty="0"/>
          </a:p>
        </p:txBody>
      </p:sp>
      <p:sp>
        <p:nvSpPr>
          <p:cNvPr id="16" name="Shape 11"/>
          <p:cNvSpPr/>
          <p:nvPr/>
        </p:nvSpPr>
        <p:spPr>
          <a:xfrm>
            <a:off x="457200" y="3511296"/>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611880"/>
            <a:ext cx="256032" cy="256032"/>
          </a:xfrm>
          <a:prstGeom prst="rect">
            <a:avLst/>
          </a:prstGeom>
        </p:spPr>
      </p:pic>
      <p:sp>
        <p:nvSpPr>
          <p:cNvPr id="18" name="Text 12"/>
          <p:cNvSpPr txBox="1"/>
          <p:nvPr/>
        </p:nvSpPr>
        <p:spPr>
          <a:xfrm>
            <a:off x="1097280" y="347472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75818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1"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2"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change is coming whatever we do — the question is which version we want.</a:t>
            </a:r>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4.20</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219.0</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218.6</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on average and no more days; weeks run from 25h 30m to 41h 05m (today 25h 10m to 43h 50m), and two more of the days fall on a Saturday.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15:45, not 14:45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60 minutes shorter; the longest early turn goes from 8h 30m to 9h 00m,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3 more a year after 23:00 (42, today 39); 16 more at 22:00 or later (94, today 78)</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More people stay on after 22:00 under the December staffing; the three more after 23:00 are the fewest the rules allow.</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9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(9)</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06:20–13:35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06:20–13:45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06:20–14:20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06:20–14:50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07:15–15:45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08:00–16:30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12:00–20:00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14:00–22:30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14:30–22:00</a:t>
            </a:r>
            <a:endParaRPr lang="en-US" sz="105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(6)</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06:20–15:15 and 07:00–15:45 — new earlies, 8h 55m and 8h 45m</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14:30–22:30 — a new late, ending with the ticket office</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15:45–23:55 — the weekday closer, 1 hour later than 14:45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14:30–22:30 — the ticket-office late (also a weekday time)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(15, not 18) — and on a Saturday only the closer is new.</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 about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6)</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26</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no early–late switch</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18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and never more than five days in a row on the fixed rota.</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Your 26 weeks 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green bars are the full weekends off; where you start is decided later</a:t>
            </a:r>
            <a:endParaRPr lang="en-US" sz="1500" dirty="0"/>
          </a:p>
        </p:txBody>
      </p:sp>
      <p:pic>
        <p:nvPicPr>
          <p:cNvPr id="990" name="Rota strip" descr="The 26 weeks of the link"/>
          <p:cNvPicPr>
            <a:picLocks noChangeAspect="1"/>
          </p:cNvPicPr>
          <p:nvPr/>
        </p:nvPicPr>
        <p:blipFill>
          <a:blip r:embed="rIdStrip"/>
          <a:stretch>
            <a:fillRect/>
          </a:stretch>
        </p:blipFill>
        <p:spPr>
          <a:xfrm>
            <a:off x="457200" y="1371600"/>
            <a:ext cx="8229600" cy="2575381"/>
          </a:xfrm>
          <a:prstGeom prst="rect">
            <a:avLst/>
          </a:prstGeom>
        </p:spPr>
      </p:pic>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blocks of earlies or lates up to 5 weeks, 7 if the cover weeks go the same way.</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Best stretch 28 days, not 30; four full weeks off, Sunday to Saturday, costs 15 days’ leave, not 14. Average the same, worst a day better.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and more at the open and the close on most days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In Step</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22960"/>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Six new shift times to learn</a:t>
            </a:r>
            <a:endParaRPr lang="en-US" sz="1400" dirty="0"/>
          </a:p>
        </p:txBody>
      </p:sp>
      <p:sp>
        <p:nvSpPr>
          <p:cNvPr id="6" name="Text 4"/>
          <p:cNvSpPr txBox="1"/>
          <p:nvPr/>
        </p:nvSpPr>
        <p:spPr>
          <a:xfrm>
            <a:off x="64008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Three are shorter versions of today’s lates; two are longer weekday earlies.</a:t>
            </a:r>
            <a:endParaRPr lang="en-US" sz="1250" dirty="0"/>
          </a:p>
        </p:txBody>
      </p:sp>
      <p:sp>
        <p:nvSpPr>
          <p:cNvPr id="7" name="Shape 5"/>
          <p:cNvSpPr/>
          <p:nvPr/>
        </p:nvSpPr>
        <p:spPr>
          <a:xfrm>
            <a:off x="4663440" y="1371600"/>
            <a:ext cx="4023360" cy="822960"/>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about 2 minutes longer on average</a:t>
            </a:r>
            <a:endParaRPr lang="en-US" sz="1400" dirty="0"/>
          </a:p>
        </p:txBody>
      </p:sp>
      <p:sp>
        <p:nvSpPr>
          <p:cNvPr id="9" name="Text 7"/>
          <p:cNvSpPr txBox="1"/>
          <p:nvPr/>
        </p:nvSpPr>
        <p:spPr>
          <a:xfrm>
            <a:off x="484632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That is what keeps days at work to 219 a year or fewer on the same 35 hours.</a:t>
            </a:r>
            <a:endParaRPr lang="en-US" sz="1250" dirty="0"/>
          </a:p>
        </p:txBody>
      </p:sp>
      <p:sp>
        <p:nvSpPr>
          <p:cNvPr id="10" name="Shape 8"/>
          <p:cNvSpPr/>
          <p:nvPr/>
        </p:nvSpPr>
        <p:spPr>
          <a:xfrm>
            <a:off x="457200" y="2267712"/>
            <a:ext cx="4023360" cy="822960"/>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weeks off: 15 days’ leave, not 14</a:t>
            </a:r>
            <a:endParaRPr lang="en-US" sz="1400" dirty="0"/>
          </a:p>
        </p:txBody>
      </p:sp>
      <p:sp>
        <p:nvSpPr>
          <p:cNvPr id="12" name="Text 10"/>
          <p:cNvSpPr txBox="1"/>
          <p:nvPr/>
        </p:nvSpPr>
        <p:spPr>
          <a:xfrm>
            <a:off x="64008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The least leave for four complete weeks off, Sunday to Saturday.</a:t>
            </a:r>
            <a:endParaRPr lang="en-US" sz="1250" dirty="0"/>
          </a:p>
        </p:txBody>
      </p:sp>
      <p:sp>
        <p:nvSpPr>
          <p:cNvPr id="13" name="Shape 11"/>
          <p:cNvSpPr/>
          <p:nvPr/>
        </p:nvSpPr>
        <p:spPr>
          <a:xfrm>
            <a:off x="4663440" y="2267712"/>
            <a:ext cx="4023360" cy="822960"/>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Two more Saturdays a year</a:t>
            </a:r>
            <a:endParaRPr lang="en-US" sz="1400" dirty="0"/>
          </a:p>
        </p:txBody>
      </p:sp>
      <p:sp>
        <p:nvSpPr>
          <p:cNvPr id="15" name="Text 13"/>
          <p:cNvSpPr txBox="1"/>
          <p:nvPr/>
        </p:nvSpPr>
        <p:spPr>
          <a:xfrm>
            <a:off x="484632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28 a year each, today 26 — fourteen on a Saturday, shared across 26 lines.</a:t>
            </a:r>
            <a:endParaRPr lang="en-US" sz="1250" dirty="0"/>
          </a:p>
        </p:txBody>
      </p:sp>
      <p:sp>
        <p:nvSpPr>
          <p:cNvPr id="16" name="Shape 14"/>
          <p:cNvSpPr/>
          <p:nvPr/>
        </p:nvSpPr>
        <p:spPr>
          <a:xfrm>
            <a:off x="457200" y="3163824"/>
            <a:ext cx="4023360" cy="822960"/>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42 a year each at 23:00 or later (today 39) — the rules’ minimum.</a:t>
            </a:r>
            <a:endParaRPr lang="en-US" sz="1250" dirty="0"/>
          </a:p>
        </p:txBody>
      </p:sp>
      <p:sp>
        <p:nvSpPr>
          <p:cNvPr id="19" name="Shape 17"/>
          <p:cNvSpPr/>
          <p:nvPr/>
        </p:nvSpPr>
        <p:spPr>
          <a:xfrm>
            <a:off x="4663440" y="3163824"/>
            <a:ext cx="4023360" cy="822960"/>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3"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4"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None of these is hidden: each one is on the full proposal sheet too.</a:t>
            </a:r>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In Step,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In Step</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218.6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10m · 8h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 about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5 (up to 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35m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(9 you know)</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In Step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In Step · IS-26-T4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 Step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