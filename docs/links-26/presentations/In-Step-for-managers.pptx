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c:v>
                </c:pt>
              </c:strCache>
            </c:strRef>
          </c:tx>
          <c:spPr>
            <a:solidFill>
              <a:srgbClr val="A9B3C1"/>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Sheet1!$B$2:$B$4</c:f>
              <c:numCache>
                <c:formatCode>General</c:formatCode>
                <c:ptCount val="3"/>
                <c:pt idx="0">
                  <c:v>52</c:v>
                </c:pt>
                <c:pt idx="1">
                  <c:v>65.9</c:v>
                </c:pt>
                <c:pt idx="2">
                  <c:v>71.7</c:v>
                </c:pt>
              </c:numCache>
            </c:numRef>
          </c:val>
        </c:ser>
        <c:ser>
          <c:idx val="1"/>
          <c:order val="1"/>
          <c:tx>
            <c:strRef>
              <c:f>Sheet1!$C$1</c:f>
              <c:strCache>
                <c:ptCount val="1"/>
                <c:pt idx="0">
                  <c:v>In Step</c:v>
                </c:pt>
              </c:strCache>
            </c:strRef>
          </c:tx>
          <c:spPr>
            <a:solidFill>
              <a:srgbClr val="001E3C"/>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Sheet1!$C$2:$C$4</c:f>
              <c:numCache>
                <c:formatCode>General</c:formatCode>
                <c:ptCount val="3"/>
                <c:pt idx="0">
                  <c:v>29.8</c:v>
                </c:pt>
                <c:pt idx="1">
                  <c:v>9.6</c:v>
                </c:pt>
                <c:pt idx="2">
                  <c:v>29</c:v>
                </c:pt>
              </c:numCache>
            </c:numRef>
          </c:val>
        </c:ser>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533"/>
                </a:solidFill>
                <a:latin typeface="Inter"/>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Inter"/>
              <a:cs typeface="Inter"/>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figures only. Everything week-by-week, hour-by-hour and rule-by-rule is on the eight-page proposal sheet, and every number here comes from the Marylebone Roster app’s rota calculations and has been independently checked; the slides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rules are the December 2026 rules, as confirmed verbally on 29 September 2026: at least four at the open, three to the close, five after 22:00, 10 on a Sunday, the ticket office in fixed pairs, two on the floor at all times, handovers, 8–9 hour Sundays and no more shift times than today. Behind them sit three flexible rules that are aimed for when designing but not scored on: 14 on a Saturday, five cover weeks as evenly spaced as 26 weeks allow, and weekday closers starting at 15:45. In Step meets all three. It also stays under the ceiling of 219 contracted days a year agreed on 1 October 2026, at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link meets 4 of the 9 December rules; In Step meets all 9, and the three flexible ones as well (14 on a Saturday, evenly spaced cover weeks, 15:45 weekday closers). Someone finishing at exactly 22:00 is not counted as still on after 22:00. The floor figure leaves out the ticket office, except its second person at the quiet ends of the day. Three to the close every day is the minimum, and In Step rosters exactly that, which is what keeps its late finishes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compares, hour by hour, the share of the day’s floor staff on duty with the share of the day’s train service, each train weighted by its length. 0 would be a perfect match. It is a guide to shape, not a staffing requirement — the rules on the previous slide are the requirement. Against today’s link, In Step’s score is a little over half on weekdays, about a seventh on a Saturday and about two-fifths on a Sunday; lower is closer. The score is a measure of the day’s shape only — not a staffing requirement or a passenger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weeks average exactly 35 hours Monday to Saturday — 44,100 minutes across the 21 working weeks — so no overtime is needed to balance the Monday-to-Saturday week. Individual weeks range from 25h 30m to 41h 05m — today’s run from 25h 10m to 43h 50m, so both the heaviest and the lightest week sit inside today’s range; only the average is the contract, as today. Five cover weeks keep about the same share of the link as today’s four in 20 (one week in 5.2, against one in 5). Sunday is not contracted, so the ten Sunday duties are worked as rest-day overtime, exactly as today’s eight are. The two extra Sunday overtime duties a week come from the Sunday staffing of ten, confirmed verbally — any link that meets the rules needs them. The 26-week link, its five cover weeks and the ceiling of 219 contracted days a year were agreed on 1 October 2026; In Step gives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ORR factors are good practice, not pass/fail limits, and this is not a fatigue risk assessment. Two factors — early starts at a 06:20 station and a weekly rotation — come with every weekly link, so they are recorded on the proposal sheet for information and not counted. One definition, successive start times varying by more than two hours, is counted on our reading and should be confirmed by whoever assesses it. Early starts and a weekly rotation come with every link, so they are not counted. The written source of the 13-day limit is still to be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in one slide. In Step (30 October 2026) is Closing Time’s weeks with the shift times chosen again, to put five on at every opening Monday to Saturday and to follow the weekday trains more closely; it is on the shortlist with Short Run, and this slide sets the two side by side. It meets every December staffing rule and all three flexible ones. Nine of its fifteen shift times are worked today, today’s 13:45 finish among them on every weekday. Nobody works more than five days in a row on the fixed rota, where today it is seven; a cover week placed badly can make it six, never more. Every working week is all earlies or all lates, and 18 of the 21 keep one shift time Monday to Friday, where today it is seven weeks in 16. Its seven full weekends off in 26 weeks are never more than five weeks apart, which is as close as the five cover weeks allow; today it is four in 20, up to seven weeks apart. Its working weeks run from 25h 30m to 41h 05m (today 25h 10m to 43h 50m), and the shortest rest is 14h 35m. Against Short Run it has the same run, weekends, weeks on one shift time, late finishes and leave; it adds today’s 13:45, an 8h 10m Saturday closer (Short Run’s is 8h 40m) and lighter, more even weeks (Short Run’s run from 24h 30m to 42h 30m), and its fit to the trains is the closer with the three days’ scores added together, though counted day by day across a week Short Run’s is a shade closer (26.7 against 26.8), as it is on weekdays alone. The honest costs: its two new weekday earlies are 8h 55m and 8h 45m, about 40 a year each, where today no early is over 8h 30m and Short Run has 20, at 9h 00m; finishes at 23:00 or later go from about 39 to 42 a year each, the smallest rise possible — the December staffing needs three to the close every day, and only those three finish after 23:00 — and finishes at 22:00 or later from about 78 to 94; and six shift times are new. Every closing shift is 30 to 60 minutes shorter than today’s.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at work stay at 219 a year (218.6 exactly; Monday to Saturday; Sunday is overtime), under the ceiling agreed on 1 October 2026. Late finishes average about three more a year each, all of them from the December staffing — three to the close every day, where today’s weekdays have two — so no link meeting the same rules on 26 weeks could have fewer. Full weekends off are seven in 26 and never more than five weeks apart; nobody works more than five days in a row on the fixed rota; no week mixes earlies and lates, and 18 of the 21 working weeks keep one shift time. Weekly hours run from 25h 30m to 41h 05m (today 25h 10m to 43h 50m); only the average is the contract. Two new weekday earlies, 06:20–15:15 and 07:00–15:45, are 8h 55m and 8h 45m, about 40 a year each, where today no early is over 8h 30m. The average shift is about two minutes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Sunday finish stays at 23:25 — that is agreed practice. The 13-day limit used in the checks is Chiltern practice; its written source is still to be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sheet with them. Questions about a particular week or hour are answered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In Step</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The December 2026 CEA link — the proposal in ten minutes</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For managers · 26 weeks · code IS-26-T4 · the full proposal sheet has the detail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Four numbers</a:t>
            </a:r>
            <a:endParaRPr lang="en-US" sz="1500" dirty="0"/>
          </a:p>
        </p:txBody>
      </p:sp>
      <p:sp>
        <p:nvSpPr>
          <p:cNvPr id="4" name="Shape 2"/>
          <p:cNvSpPr/>
          <p:nvPr/>
        </p:nvSpPr>
        <p:spPr>
          <a:xfrm>
            <a:off x="457200" y="1463040"/>
            <a:ext cx="1874520" cy="2377440"/>
          </a:xfrm>
          <a:prstGeom prst="roundRect">
            <a:avLst>
              <a:gd name="adj" fmla="val 5854"/>
            </a:avLst>
          </a:prstGeom>
          <a:solidFill>
            <a:srgbClr val="EEF2F7"/>
          </a:solidFill>
          <a:ln w="12700">
            <a:solidFill>
              <a:srgbClr val="EEF2F7"/>
            </a:solidFill>
            <a:prstDash val="solid"/>
          </a:ln>
        </p:spPr>
      </p:sp>
      <p:sp>
        <p:nvSpPr>
          <p:cNvPr id="5" name="Text 3"/>
          <p:cNvSpPr txBox="1"/>
          <p:nvPr/>
        </p:nvSpPr>
        <p:spPr>
          <a:xfrm>
            <a:off x="45720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9 of 9</a:t>
            </a:r>
            <a:endParaRPr lang="en-US" sz="3400" dirty="0"/>
          </a:p>
        </p:txBody>
      </p:sp>
      <p:sp>
        <p:nvSpPr>
          <p:cNvPr id="6" name="Text 4"/>
          <p:cNvSpPr txBox="1"/>
          <p:nvPr/>
        </p:nvSpPr>
        <p:spPr>
          <a:xfrm>
            <a:off x="52578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December</a:t>
            </a:r>
            <a:br/>
            <a:r>
              <a:rPr lang="en-US" sz="1500" b="1" dirty="0">
                <a:solidFill>
                  <a:srgbClr val="1B2533"/>
                </a:solidFill>
                <a:latin typeface="Inter" pitchFamily="34" charset="0"/>
                <a:ea typeface="Inter" pitchFamily="34" charset="-122"/>
                <a:cs typeface="Inter" pitchFamily="34" charset="-120"/>
              </a:rPr>
              <a:t>rules met</a:t>
            </a:r>
            <a:endParaRPr lang="en-US" sz="1500" dirty="0"/>
          </a:p>
        </p:txBody>
      </p:sp>
      <p:sp>
        <p:nvSpPr>
          <p:cNvPr id="7" name="Text 5"/>
          <p:cNvSpPr txBox="1"/>
          <p:nvPr/>
        </p:nvSpPr>
        <p:spPr>
          <a:xfrm>
            <a:off x="52578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today’s link: 4</a:t>
            </a:r>
            <a:endParaRPr lang="en-US" sz="1300" dirty="0"/>
          </a:p>
        </p:txBody>
      </p:sp>
      <p:sp>
        <p:nvSpPr>
          <p:cNvPr id="8" name="Shape 6"/>
          <p:cNvSpPr/>
          <p:nvPr/>
        </p:nvSpPr>
        <p:spPr>
          <a:xfrm>
            <a:off x="2560320" y="1463040"/>
            <a:ext cx="1874520" cy="2377440"/>
          </a:xfrm>
          <a:prstGeom prst="roundRect">
            <a:avLst>
              <a:gd name="adj" fmla="val 5854"/>
            </a:avLst>
          </a:prstGeom>
          <a:solidFill>
            <a:srgbClr val="EEF2F7"/>
          </a:solidFill>
          <a:ln w="12700">
            <a:solidFill>
              <a:srgbClr val="EEF2F7"/>
            </a:solidFill>
            <a:prstDash val="solid"/>
          </a:ln>
        </p:spPr>
      </p:sp>
      <p:sp>
        <p:nvSpPr>
          <p:cNvPr id="9" name="Text 7"/>
          <p:cNvSpPr txBox="1"/>
          <p:nvPr/>
        </p:nvSpPr>
        <p:spPr>
          <a:xfrm>
            <a:off x="256032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35h</a:t>
            </a:r>
            <a:endParaRPr lang="en-US" sz="3400" dirty="0"/>
          </a:p>
        </p:txBody>
      </p:sp>
      <p:sp>
        <p:nvSpPr>
          <p:cNvPr id="10" name="Text 8"/>
          <p:cNvSpPr txBox="1"/>
          <p:nvPr/>
        </p:nvSpPr>
        <p:spPr>
          <a:xfrm>
            <a:off x="262890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contracted hours</a:t>
            </a:r>
            <a:br/>
            <a:r>
              <a:rPr lang="en-US" sz="1500" b="1" dirty="0">
                <a:solidFill>
                  <a:srgbClr val="1B2533"/>
                </a:solidFill>
                <a:latin typeface="Inter" pitchFamily="34" charset="0"/>
                <a:ea typeface="Inter" pitchFamily="34" charset="-122"/>
                <a:cs typeface="Inter" pitchFamily="34" charset="-120"/>
              </a:rPr>
              <a:t>a week</a:t>
            </a:r>
            <a:endParaRPr lang="en-US" sz="1500" dirty="0"/>
          </a:p>
        </p:txBody>
      </p:sp>
      <p:sp>
        <p:nvSpPr>
          <p:cNvPr id="11" name="Text 9"/>
          <p:cNvSpPr txBox="1"/>
          <p:nvPr/>
        </p:nvSpPr>
        <p:spPr>
          <a:xfrm>
            <a:off x="262890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Mon–Sat average</a:t>
            </a:r>
            <a:endParaRPr lang="en-US" sz="1300" dirty="0"/>
          </a:p>
        </p:txBody>
      </p:sp>
      <p:sp>
        <p:nvSpPr>
          <p:cNvPr id="12" name="Shape 10"/>
          <p:cNvSpPr/>
          <p:nvPr/>
        </p:nvSpPr>
        <p:spPr>
          <a:xfrm>
            <a:off x="4663440" y="1463040"/>
            <a:ext cx="1874520" cy="2377440"/>
          </a:xfrm>
          <a:prstGeom prst="roundRect">
            <a:avLst>
              <a:gd name="adj" fmla="val 5854"/>
            </a:avLst>
          </a:prstGeom>
          <a:solidFill>
            <a:srgbClr val="EEF2F7"/>
          </a:solidFill>
          <a:ln w="12700">
            <a:solidFill>
              <a:srgbClr val="EEF2F7"/>
            </a:solidFill>
            <a:prstDash val="solid"/>
          </a:ln>
        </p:spPr>
      </p:sp>
      <p:sp>
        <p:nvSpPr>
          <p:cNvPr id="13" name="Text 11"/>
          <p:cNvSpPr txBox="1"/>
          <p:nvPr/>
        </p:nvSpPr>
        <p:spPr>
          <a:xfrm>
            <a:off x="466344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0</a:t>
            </a:r>
            <a:endParaRPr lang="en-US" sz="3400" dirty="0"/>
          </a:p>
        </p:txBody>
      </p:sp>
      <p:sp>
        <p:nvSpPr>
          <p:cNvPr id="14" name="Text 12"/>
          <p:cNvSpPr txBox="1"/>
          <p:nvPr/>
        </p:nvSpPr>
        <p:spPr>
          <a:xfrm>
            <a:off x="473202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avoidable</a:t>
            </a:r>
            <a:br/>
            <a:r>
              <a:rPr lang="en-US" sz="1500" b="1" dirty="0">
                <a:solidFill>
                  <a:srgbClr val="1B2533"/>
                </a:solidFill>
                <a:latin typeface="Inter" pitchFamily="34" charset="0"/>
                <a:ea typeface="Inter" pitchFamily="34" charset="-122"/>
                <a:cs typeface="Inter" pitchFamily="34" charset="-120"/>
              </a:rPr>
              <a:t>fatigue warnings</a:t>
            </a:r>
            <a:endParaRPr lang="en-US" sz="1500" dirty="0"/>
          </a:p>
        </p:txBody>
      </p:sp>
      <p:sp>
        <p:nvSpPr>
          <p:cNvPr id="15" name="Text 13"/>
          <p:cNvSpPr txBox="1"/>
          <p:nvPr/>
        </p:nvSpPr>
        <p:spPr>
          <a:xfrm>
            <a:off x="473202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fixed rota · today 4</a:t>
            </a:r>
            <a:endParaRPr lang="en-US" sz="1300" dirty="0"/>
          </a:p>
        </p:txBody>
      </p:sp>
      <p:sp>
        <p:nvSpPr>
          <p:cNvPr id="16" name="Shape 14"/>
          <p:cNvSpPr/>
          <p:nvPr/>
        </p:nvSpPr>
        <p:spPr>
          <a:xfrm>
            <a:off x="6766560" y="1463040"/>
            <a:ext cx="1874520" cy="2377440"/>
          </a:xfrm>
          <a:prstGeom prst="roundRect">
            <a:avLst>
              <a:gd name="adj" fmla="val 5854"/>
            </a:avLst>
          </a:prstGeom>
          <a:solidFill>
            <a:srgbClr val="EEF2F7"/>
          </a:solidFill>
          <a:ln w="12700">
            <a:solidFill>
              <a:srgbClr val="EEF2F7"/>
            </a:solidFill>
            <a:prstDash val="solid"/>
          </a:ln>
        </p:spPr>
      </p:sp>
      <p:sp>
        <p:nvSpPr>
          <p:cNvPr id="17" name="Text 15"/>
          <p:cNvSpPr txBox="1"/>
          <p:nvPr/>
        </p:nvSpPr>
        <p:spPr>
          <a:xfrm>
            <a:off x="676656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26</a:t>
            </a:r>
            <a:endParaRPr lang="en-US" sz="3400" dirty="0"/>
          </a:p>
        </p:txBody>
      </p:sp>
      <p:sp>
        <p:nvSpPr>
          <p:cNvPr id="18" name="Text 16"/>
          <p:cNvSpPr txBox="1"/>
          <p:nvPr/>
        </p:nvSpPr>
        <p:spPr>
          <a:xfrm>
            <a:off x="683514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people</a:t>
            </a:r>
            <a:br/>
            <a:r>
              <a:rPr lang="en-US" sz="1500" b="1" dirty="0">
                <a:solidFill>
                  <a:srgbClr val="1B2533"/>
                </a:solidFill>
                <a:latin typeface="Inter" pitchFamily="34" charset="0"/>
                <a:ea typeface="Inter" pitchFamily="34" charset="-122"/>
                <a:cs typeface="Inter" pitchFamily="34" charset="-120"/>
              </a:rPr>
              <a:t>on the link</a:t>
            </a:r>
            <a:endParaRPr lang="en-US" sz="1500" dirty="0"/>
          </a:p>
        </p:txBody>
      </p:sp>
      <p:sp>
        <p:nvSpPr>
          <p:cNvPr id="19" name="Text 17"/>
          <p:cNvSpPr txBox="1"/>
          <p:nvPr/>
        </p:nvSpPr>
        <p:spPr>
          <a:xfrm>
            <a:off x="683514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 20</a:t>
            </a:r>
            <a:endParaRPr lang="en-US" sz="1300" dirty="0"/>
          </a:p>
        </p:txBody>
      </p:sp>
      <p:sp>
        <p:nvSpPr>
          <p:cNvPr id="20" name="Shape 18"/>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1" name="Text 19"/>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December rule met — and no avoidable fatigue warnings in the fixed rota.</a:t>
            </a:r>
            <a:endParaRPr lang="en-US" sz="140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for managers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staffing you asked for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Weekday · Saturday · Sunday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In Step</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during the day</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 · 10 · 8</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 · 14 · 10</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At the open (06:20, Sunday 07:15)</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4 · 3</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 5 · 4</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Still on after 22:00</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2 · 3</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7 · 5 · 5</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Through to the close</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3</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2</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level met on every day — and the ticket office staffed in pairs, including Sundays.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for managers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where the trains are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How far the floor staffing is from the shape of the December timetable — lower is better</a:t>
            </a:r>
            <a:endParaRPr lang="en-US" sz="1500" dirty="0"/>
          </a:p>
        </p:txBody>
      </p:sp>
      <p:graphicFrame>
        <p:nvGraphicFramePr>
          <p:cNvPr id="4" name="Chart 0" descr=""/>
          <p:cNvGraphicFramePr/>
          <p:nvPr/>
        </p:nvGraphicFramePr>
        <p:xfrm>
          <a:off x="457200" y="1325880"/>
          <a:ext cx="8229600" cy="2697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Much closer to the December pattern every day. The score: hour by hour, how far staffing sits from the trains; 0 would track them exactly.</a:t>
            </a:r>
            <a:endParaRPr lang="en-US" sz="1400" dirty="0"/>
          </a:p>
        </p:txBody>
      </p:sp>
      <p:sp>
        <p:nvSpPr>
          <p:cNvPr id="8" name="Text 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for managers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and hours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it takes to run</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In Step</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on the link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26</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Cover weeks (for leave and sickness)</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in 20 (1 in 5)</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5 in 26 (1 in 5.2)</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needed each Sunday (overtime)</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10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Six more people, 35 hours a week on average; Sunday overtime 83h 30m a week across the link (today 68h 15m).</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for managers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Fatigue checks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Against the Office of Rail and Road’s good-practice list and the rail industry’s own checks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In Step</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fixed rota</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in a row (limit 13)</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(up to 6)</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rest between shifts (limit 12h)</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35m</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Rest and run limits met with room to spare; no avoidable fatigue warnings in the fixed rota.</a:t>
            </a:r>
            <a:endParaRPr lang="en-US" sz="140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for managers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In Step?</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both shortlisted links give, what this one adds, and what it costs</a:t>
            </a:r>
            <a:endParaRPr lang="en-US" sz="1500" dirty="0"/>
          </a:p>
        </p:txBody>
      </p:sp>
      <p:sp>
        <p:nvSpPr>
          <p:cNvPr id="4" name="Shape 2"/>
          <p:cNvSpPr/>
          <p:nvPr/>
        </p:nvSpPr>
        <p:spPr>
          <a:xfrm>
            <a:off x="457200" y="1325880"/>
            <a:ext cx="292608" cy="292608"/>
          </a:xfrm>
          <a:prstGeom prst="ellipse">
            <a:avLst/>
          </a:prstGeom>
          <a:solidFill>
            <a:srgbClr val="1E7B4B"/>
          </a:solidFill>
          <a:ln w="12700">
            <a:solidFill>
              <a:srgbClr val="1E7B4B"/>
            </a:solidFill>
            <a:prstDash val="solid"/>
          </a:ln>
        </p:spPr>
      </p:sp>
      <p:sp>
        <p:nvSpPr>
          <p:cNvPr id="5" name="Text 3"/>
          <p:cNvSpPr txBox="1"/>
          <p:nvPr/>
        </p:nvSpPr>
        <p:spPr>
          <a:xfrm>
            <a:off x="457200" y="1325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6" name="Text 4"/>
          <p:cNvSpPr txBox="1"/>
          <p:nvPr/>
        </p:nvSpPr>
        <p:spPr>
          <a:xfrm>
            <a:off x="914400" y="1307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Both shortlisted: all 9 December rules and no avoidable fatigue warning</a:t>
            </a:r>
            <a:endParaRPr lang="en-US" sz="1500" dirty="0"/>
          </a:p>
        </p:txBody>
      </p:sp>
      <p:sp>
        <p:nvSpPr>
          <p:cNvPr id="7" name="Shape 5"/>
          <p:cNvSpPr/>
          <p:nvPr/>
        </p:nvSpPr>
        <p:spPr>
          <a:xfrm>
            <a:off x="457200" y="1783080"/>
            <a:ext cx="292608" cy="292608"/>
          </a:xfrm>
          <a:prstGeom prst="ellipse">
            <a:avLst/>
          </a:prstGeom>
          <a:solidFill>
            <a:srgbClr val="1E7B4B"/>
          </a:solidFill>
          <a:ln w="12700">
            <a:solidFill>
              <a:srgbClr val="1E7B4B"/>
            </a:solidFill>
            <a:prstDash val="solid"/>
          </a:ln>
        </p:spPr>
      </p:sp>
      <p:sp>
        <p:nvSpPr>
          <p:cNvPr id="8" name="Text 6"/>
          <p:cNvSpPr txBox="1"/>
          <p:nvPr/>
        </p:nvSpPr>
        <p:spPr>
          <a:xfrm>
            <a:off x="457200" y="17830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9" name="Text 7"/>
          <p:cNvSpPr txBox="1"/>
          <p:nvPr/>
        </p:nvSpPr>
        <p:spPr>
          <a:xfrm>
            <a:off x="914400" y="17647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Both shortlisted: about 14 full weekends off a year (today 10), at most 5 apart</a:t>
            </a:r>
            <a:endParaRPr lang="en-US" sz="1500" dirty="0"/>
          </a:p>
        </p:txBody>
      </p:sp>
      <p:sp>
        <p:nvSpPr>
          <p:cNvPr id="10" name="Shape 8"/>
          <p:cNvSpPr/>
          <p:nvPr/>
        </p:nvSpPr>
        <p:spPr>
          <a:xfrm>
            <a:off x="457200" y="2240280"/>
            <a:ext cx="292608" cy="292608"/>
          </a:xfrm>
          <a:prstGeom prst="ellipse">
            <a:avLst/>
          </a:prstGeom>
          <a:solidFill>
            <a:srgbClr val="1E7B4B"/>
          </a:solidFill>
          <a:ln w="12700">
            <a:solidFill>
              <a:srgbClr val="1E7B4B"/>
            </a:solidFill>
            <a:prstDash val="solid"/>
          </a:ln>
        </p:spPr>
      </p:sp>
      <p:sp>
        <p:nvSpPr>
          <p:cNvPr id="11" name="Text 9"/>
          <p:cNvSpPr txBox="1"/>
          <p:nvPr/>
        </p:nvSpPr>
        <p:spPr>
          <a:xfrm>
            <a:off x="457200" y="22402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2" name="Text 10"/>
          <p:cNvSpPr txBox="1"/>
          <p:nvPr/>
        </p:nvSpPr>
        <p:spPr>
          <a:xfrm>
            <a:off x="914400" y="22219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Both shortlisted: no shift over 9 hours, and every closing shift shorter</a:t>
            </a:r>
            <a:endParaRPr lang="en-US" sz="1500" dirty="0"/>
          </a:p>
        </p:txBody>
      </p:sp>
      <p:sp>
        <p:nvSpPr>
          <p:cNvPr id="13" name="Shape 11"/>
          <p:cNvSpPr/>
          <p:nvPr/>
        </p:nvSpPr>
        <p:spPr>
          <a:xfrm>
            <a:off x="457200" y="2697480"/>
            <a:ext cx="292608" cy="292608"/>
          </a:xfrm>
          <a:prstGeom prst="ellipse">
            <a:avLst/>
          </a:prstGeom>
          <a:solidFill>
            <a:srgbClr val="1E7B4B"/>
          </a:solidFill>
          <a:ln w="12700">
            <a:solidFill>
              <a:srgbClr val="1E7B4B"/>
            </a:solidFill>
            <a:prstDash val="solid"/>
          </a:ln>
        </p:spPr>
      </p:sp>
      <p:sp>
        <p:nvSpPr>
          <p:cNvPr id="14" name="Text 12"/>
          <p:cNvSpPr txBox="1"/>
          <p:nvPr/>
        </p:nvSpPr>
        <p:spPr>
          <a:xfrm>
            <a:off x="457200" y="26974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5" name="Text 13"/>
          <p:cNvSpPr txBox="1"/>
          <p:nvPr/>
        </p:nvSpPr>
        <p:spPr>
          <a:xfrm>
            <a:off x="914400" y="26791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This one adds: today’s 13:45, an 8h 10m Saturday closer, no week over 41h 05m</a:t>
            </a:r>
            <a:endParaRPr lang="en-US" sz="1500" dirty="0"/>
          </a:p>
        </p:txBody>
      </p:sp>
      <p:sp>
        <p:nvSpPr>
          <p:cNvPr id="16" name="Shape 14"/>
          <p:cNvSpPr/>
          <p:nvPr/>
        </p:nvSpPr>
        <p:spPr>
          <a:xfrm>
            <a:off x="457200" y="3154680"/>
            <a:ext cx="292608" cy="292608"/>
          </a:xfrm>
          <a:prstGeom prst="ellipse">
            <a:avLst/>
          </a:prstGeom>
          <a:solidFill>
            <a:srgbClr val="1E7B4B"/>
          </a:solidFill>
          <a:ln w="12700">
            <a:solidFill>
              <a:srgbClr val="1E7B4B"/>
            </a:solidFill>
            <a:prstDash val="solid"/>
          </a:ln>
        </p:spPr>
      </p:sp>
      <p:sp>
        <p:nvSpPr>
          <p:cNvPr id="17" name="Text 15"/>
          <p:cNvSpPr txBox="1"/>
          <p:nvPr/>
        </p:nvSpPr>
        <p:spPr>
          <a:xfrm>
            <a:off x="457200" y="31546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8" name="Text 16"/>
          <p:cNvSpPr txBox="1"/>
          <p:nvPr/>
        </p:nvSpPr>
        <p:spPr>
          <a:xfrm>
            <a:off x="914400" y="31363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9 of 15 shift times worked today; 6 new, three shorter versions of today’s lates</a:t>
            </a:r>
            <a:endParaRPr lang="en-US" sz="1500" dirty="0"/>
          </a:p>
        </p:txBody>
      </p:sp>
      <p:sp>
        <p:nvSpPr>
          <p:cNvPr id="19" name="Shape 17"/>
          <p:cNvSpPr/>
          <p:nvPr/>
        </p:nvSpPr>
        <p:spPr>
          <a:xfrm>
            <a:off x="457200" y="3611880"/>
            <a:ext cx="292608" cy="292608"/>
          </a:xfrm>
          <a:prstGeom prst="ellipse">
            <a:avLst/>
          </a:prstGeom>
          <a:solidFill>
            <a:srgbClr val="1E7B4B"/>
          </a:solidFill>
          <a:ln w="12700">
            <a:solidFill>
              <a:srgbClr val="1E7B4B"/>
            </a:solidFill>
            <a:prstDash val="solid"/>
          </a:ln>
        </p:spPr>
      </p:sp>
      <p:sp>
        <p:nvSpPr>
          <p:cNvPr id="20" name="Text 18"/>
          <p:cNvSpPr txBox="1"/>
          <p:nvPr/>
        </p:nvSpPr>
        <p:spPr>
          <a:xfrm>
            <a:off x="457200" y="3611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21" name="Text 19"/>
          <p:cNvSpPr txBox="1"/>
          <p:nvPr/>
        </p:nvSpPr>
        <p:spPr>
          <a:xfrm>
            <a:off x="914400" y="3593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Costs: 40 weekday earlies a year over 8h 30m; four weeks off 15 days, not 14</a:t>
            </a:r>
            <a:endParaRPr lang="en-US" sz="15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Late finishes: 42 a year each (today 39) — the rules’ minimum. The colleague deck shows every cost openly.</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for managers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What colleagues will notice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good and the not so good — the colleague presentation shows both</a:t>
            </a:r>
            <a:endParaRPr lang="en-US" sz="1500" dirty="0"/>
          </a:p>
        </p:txBody>
      </p:sp>
      <p:sp>
        <p:nvSpPr>
          <p:cNvPr id="4" name="Shape 2"/>
          <p:cNvSpPr/>
          <p:nvPr/>
        </p:nvSpPr>
        <p:spPr>
          <a:xfrm>
            <a:off x="457200" y="1325880"/>
            <a:ext cx="4023360" cy="2697480"/>
          </a:xfrm>
          <a:prstGeom prst="roundRect">
            <a:avLst>
              <a:gd name="adj" fmla="val 3390"/>
            </a:avLst>
          </a:prstGeom>
          <a:solidFill>
            <a:srgbClr val="EEF2F7"/>
          </a:solidFill>
          <a:ln w="12700">
            <a:solidFill>
              <a:srgbClr val="EEF2F7"/>
            </a:solidFill>
            <a:prstDash val="solid"/>
          </a:ln>
        </p:spPr>
      </p:sp>
      <p:sp>
        <p:nvSpPr>
          <p:cNvPr id="5" name="Shape 3"/>
          <p:cNvSpPr/>
          <p:nvPr/>
        </p:nvSpPr>
        <p:spPr>
          <a:xfrm>
            <a:off x="457200" y="1325880"/>
            <a:ext cx="73152" cy="2697480"/>
          </a:xfrm>
          <a:prstGeom prst="rect">
            <a:avLst/>
          </a:prstGeom>
          <a:solidFill>
            <a:srgbClr val="1E7B4B"/>
          </a:solidFill>
          <a:ln w="12700">
            <a:solidFill>
              <a:srgbClr val="1E7B4B"/>
            </a:solidFill>
            <a:prstDash val="solid"/>
          </a:ln>
        </p:spPr>
      </p:sp>
      <p:sp>
        <p:nvSpPr>
          <p:cNvPr id="6" name="Text 4"/>
          <p:cNvSpPr txBox="1"/>
          <p:nvPr/>
        </p:nvSpPr>
        <p:spPr>
          <a:xfrm>
            <a:off x="731520" y="1463040"/>
            <a:ext cx="3566160" cy="365760"/>
          </a:xfrm>
          <a:prstGeom prst="rect">
            <a:avLst/>
          </a:prstGeom>
          <a:noFill/>
          <a:ln/>
        </p:spPr>
        <p:txBody>
          <a:bodyPr wrap="square" lIns="0" tIns="0" rIns="0" bIns="0" rtlCol="0" anchor="ctr"/>
          <a:lstStyle/>
          <a:p>
            <a:pPr indent="0" marL="0">
              <a:buNone/>
            </a:pPr>
            <a:r>
              <a:rPr lang="en-US" sz="1600" b="1" dirty="0">
                <a:solidFill>
                  <a:srgbClr val="1E7B4B"/>
                </a:solidFill>
                <a:latin typeface="Inter" pitchFamily="34" charset="0"/>
                <a:ea typeface="Inter" pitchFamily="34" charset="-122"/>
                <a:cs typeface="Inter" pitchFamily="34" charset="-120"/>
              </a:rPr>
              <a:t>Likely to welcome</a:t>
            </a:r>
            <a:endParaRPr lang="en-US" sz="1600" dirty="0"/>
          </a:p>
        </p:txBody>
      </p:sp>
      <p:sp>
        <p:nvSpPr>
          <p:cNvPr id="7" name="Text 5"/>
          <p:cNvSpPr txBox="1"/>
          <p:nvPr/>
        </p:nvSpPr>
        <p:spPr>
          <a:xfrm>
            <a:off x="731520" y="1901952"/>
            <a:ext cx="3657600" cy="2011680"/>
          </a:xfrm>
          <a:prstGeom prst="rect">
            <a:avLst/>
          </a:prstGeom>
          <a:noFill/>
          <a:ln/>
        </p:spPr>
        <p:txBody>
          <a:bodyPr wrap="square" lIns="0" tIns="0" rIns="0" bIns="0" rtlCol="0" anchor="t"/>
          <a:lstStyle/>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14 full weekends off a year (today 10)</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At most 5 days in a row, fixed rota (today 7)</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One turn in 18 of 21 weeks (today 7 of 16)</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Every closing shift 30–60 minutes shorter</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9 of the 15 shift times already worked</a:t>
            </a:r>
            <a:endParaRPr lang="en-US" sz="1300" dirty="0"/>
          </a:p>
        </p:txBody>
      </p:sp>
      <p:sp>
        <p:nvSpPr>
          <p:cNvPr id="8" name="Shape 6"/>
          <p:cNvSpPr/>
          <p:nvPr/>
        </p:nvSpPr>
        <p:spPr>
          <a:xfrm>
            <a:off x="4663440" y="1325880"/>
            <a:ext cx="4023360" cy="2697480"/>
          </a:xfrm>
          <a:prstGeom prst="roundRect">
            <a:avLst>
              <a:gd name="adj" fmla="val 3390"/>
            </a:avLst>
          </a:prstGeom>
          <a:solidFill>
            <a:srgbClr val="EEF2F7"/>
          </a:solidFill>
          <a:ln w="12700">
            <a:solidFill>
              <a:srgbClr val="EEF2F7"/>
            </a:solidFill>
            <a:prstDash val="solid"/>
          </a:ln>
        </p:spPr>
      </p:sp>
      <p:sp>
        <p:nvSpPr>
          <p:cNvPr id="9" name="Shape 7"/>
          <p:cNvSpPr/>
          <p:nvPr/>
        </p:nvSpPr>
        <p:spPr>
          <a:xfrm>
            <a:off x="4663440" y="1325880"/>
            <a:ext cx="73152" cy="2697480"/>
          </a:xfrm>
          <a:prstGeom prst="rect">
            <a:avLst/>
          </a:prstGeom>
          <a:solidFill>
            <a:srgbClr val="A15C00"/>
          </a:solidFill>
          <a:ln w="12700">
            <a:solidFill>
              <a:srgbClr val="A15C00"/>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600" b="1" dirty="0">
                <a:solidFill>
                  <a:srgbClr val="A15C00"/>
                </a:solidFill>
                <a:latin typeface="Inter" pitchFamily="34" charset="0"/>
                <a:ea typeface="Inter" pitchFamily="34" charset="-122"/>
                <a:cs typeface="Inter" pitchFamily="34" charset="-120"/>
              </a:rPr>
              <a:t>Likely to worry about</a:t>
            </a:r>
            <a:endParaRPr lang="en-US" sz="1600" dirty="0"/>
          </a:p>
        </p:txBody>
      </p:sp>
      <p:sp>
        <p:nvSpPr>
          <p:cNvPr id="11" name="Text 9"/>
          <p:cNvSpPr txBox="1"/>
          <p:nvPr/>
        </p:nvSpPr>
        <p:spPr>
          <a:xfrm>
            <a:off x="4937760" y="1901952"/>
            <a:ext cx="3657600" cy="2011680"/>
          </a:xfrm>
          <a:prstGeom prst="rect">
            <a:avLst/>
          </a:prstGeom>
          <a:noFill/>
          <a:ln/>
        </p:spPr>
        <p:txBody>
          <a:bodyPr wrap="square" lIns="0" tIns="0" rIns="0" bIns="0" rtlCol="0" anchor="t"/>
          <a:lstStyle/>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Late finishes: 42 a year (today 39)</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6 new shift times to learn</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Longer weekday earlies, up to 8h 55m</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Best 14-day leave stretch 28 days, not 30</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Four weeks off needs 15 days’ leave, not 14</a:t>
            </a:r>
            <a:endParaRPr lang="en-US" sz="1300" dirty="0"/>
          </a:p>
        </p:txBody>
      </p:sp>
      <p:sp>
        <p:nvSpPr>
          <p:cNvPr id="12"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3"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Expect late finishes to be the first question — the colleague deck answers it openly.</a:t>
            </a:r>
            <a:endParaRPr lang="en-US" sz="1400" dirty="0"/>
          </a:p>
        </p:txBody>
      </p:sp>
      <p:sp>
        <p:nvSpPr>
          <p:cNvPr id="14"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for managers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Where it stands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Three things confirmed verbally, two decisions left, two points still open</a:t>
            </a:r>
            <a:endParaRPr lang="en-US" sz="1500" dirty="0"/>
          </a:p>
        </p:txBody>
      </p:sp>
      <p:sp>
        <p:nvSpPr>
          <p:cNvPr id="4" name="Shape 2"/>
          <p:cNvSpPr/>
          <p:nvPr/>
        </p:nvSpPr>
        <p:spPr>
          <a:xfrm>
            <a:off x="457200" y="1325880"/>
            <a:ext cx="457200" cy="457200"/>
          </a:xfrm>
          <a:prstGeom prst="ellipse">
            <a:avLst/>
          </a:prstGeom>
          <a:solidFill>
            <a:srgbClr val="1E7B4B"/>
          </a:solidFill>
          <a:ln w="12700">
            <a:solidFill>
              <a:srgbClr val="1E7B4B"/>
            </a:solidFill>
            <a:prstDash val="solid"/>
          </a:ln>
        </p:spPr>
      </p:sp>
      <p:sp>
        <p:nvSpPr>
          <p:cNvPr id="5" name="Text 3"/>
          <p:cNvSpPr txBox="1"/>
          <p:nvPr/>
        </p:nvSpPr>
        <p:spPr>
          <a:xfrm>
            <a:off x="457200" y="1325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6" name="Text 4"/>
          <p:cNvSpPr txBox="1"/>
          <p:nvPr/>
        </p:nvSpPr>
        <p:spPr>
          <a:xfrm>
            <a:off x="1097280" y="128930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December rules — confirmed</a:t>
            </a:r>
            <a:endParaRPr lang="en-US" sz="1600" dirty="0"/>
          </a:p>
        </p:txBody>
      </p:sp>
      <p:sp>
        <p:nvSpPr>
          <p:cNvPr id="7" name="Text 5"/>
          <p:cNvSpPr txBox="1"/>
          <p:nvPr/>
        </p:nvSpPr>
        <p:spPr>
          <a:xfrm>
            <a:off x="1097280" y="157276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The nine December rules. Everything here is built on them.</a:t>
            </a:r>
            <a:endParaRPr lang="en-US" sz="1300" dirty="0"/>
          </a:p>
        </p:txBody>
      </p:sp>
      <p:sp>
        <p:nvSpPr>
          <p:cNvPr id="8" name="Shape 6"/>
          <p:cNvSpPr/>
          <p:nvPr/>
        </p:nvSpPr>
        <p:spPr>
          <a:xfrm>
            <a:off x="457200" y="1874520"/>
            <a:ext cx="457200" cy="457200"/>
          </a:xfrm>
          <a:prstGeom prst="ellipse">
            <a:avLst/>
          </a:prstGeom>
          <a:solidFill>
            <a:srgbClr val="1E7B4B"/>
          </a:solidFill>
          <a:ln w="12700">
            <a:solidFill>
              <a:srgbClr val="1E7B4B"/>
            </a:solidFill>
            <a:prstDash val="solid"/>
          </a:ln>
        </p:spPr>
      </p:sp>
      <p:sp>
        <p:nvSpPr>
          <p:cNvPr id="9" name="Text 7"/>
          <p:cNvSpPr txBox="1"/>
          <p:nvPr/>
        </p:nvSpPr>
        <p:spPr>
          <a:xfrm>
            <a:off x="457200" y="1874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0" name="Text 8"/>
          <p:cNvSpPr txBox="1"/>
          <p:nvPr/>
        </p:nvSpPr>
        <p:spPr>
          <a:xfrm>
            <a:off x="1097280" y="183794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26 people on the link — confirmed</a:t>
            </a:r>
            <a:endParaRPr lang="en-US" sz="1600" dirty="0"/>
          </a:p>
        </p:txBody>
      </p:sp>
      <p:sp>
        <p:nvSpPr>
          <p:cNvPr id="11" name="Text 9"/>
          <p:cNvSpPr txBox="1"/>
          <p:nvPr/>
        </p:nvSpPr>
        <p:spPr>
          <a:xfrm>
            <a:off x="1097280" y="212140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Six more than today, with five cover weeks.</a:t>
            </a:r>
            <a:endParaRPr lang="en-US" sz="1300" dirty="0"/>
          </a:p>
        </p:txBody>
      </p:sp>
      <p:sp>
        <p:nvSpPr>
          <p:cNvPr id="12" name="Shape 10"/>
          <p:cNvSpPr/>
          <p:nvPr/>
        </p:nvSpPr>
        <p:spPr>
          <a:xfrm>
            <a:off x="457200" y="2423160"/>
            <a:ext cx="457200" cy="457200"/>
          </a:xfrm>
          <a:prstGeom prst="ellipse">
            <a:avLst/>
          </a:prstGeom>
          <a:solidFill>
            <a:srgbClr val="1E7B4B"/>
          </a:solidFill>
          <a:ln w="12700">
            <a:solidFill>
              <a:srgbClr val="1E7B4B"/>
            </a:solidFill>
            <a:prstDash val="solid"/>
          </a:ln>
        </p:spPr>
      </p:sp>
      <p:sp>
        <p:nvSpPr>
          <p:cNvPr id="13" name="Text 11"/>
          <p:cNvSpPr txBox="1"/>
          <p:nvPr/>
        </p:nvSpPr>
        <p:spPr>
          <a:xfrm>
            <a:off x="457200" y="2423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4" name="Text 12"/>
          <p:cNvSpPr txBox="1"/>
          <p:nvPr/>
        </p:nvSpPr>
        <p:spPr>
          <a:xfrm>
            <a:off x="1097280" y="238658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 cover — confirmed</a:t>
            </a:r>
            <a:endParaRPr lang="en-US" sz="1600" dirty="0"/>
          </a:p>
        </p:txBody>
      </p:sp>
      <p:sp>
        <p:nvSpPr>
          <p:cNvPr id="15" name="Text 13"/>
          <p:cNvSpPr txBox="1"/>
          <p:nvPr/>
        </p:nvSpPr>
        <p:spPr>
          <a:xfrm>
            <a:off x="1097280" y="267004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Ten on a Sunday — Sunday work stays overtime.</a:t>
            </a:r>
            <a:endParaRPr lang="en-US" sz="1300" dirty="0"/>
          </a:p>
        </p:txBody>
      </p:sp>
      <p:sp>
        <p:nvSpPr>
          <p:cNvPr id="16" name="Shape 14"/>
          <p:cNvSpPr/>
          <p:nvPr/>
        </p:nvSpPr>
        <p:spPr>
          <a:xfrm>
            <a:off x="457200" y="2971800"/>
            <a:ext cx="457200" cy="457200"/>
          </a:xfrm>
          <a:prstGeom prst="ellipse">
            <a:avLst/>
          </a:prstGeom>
          <a:solidFill>
            <a:srgbClr val="F5C800"/>
          </a:solidFill>
          <a:ln w="12700">
            <a:solidFill>
              <a:srgbClr val="F5C800"/>
            </a:solidFill>
            <a:prstDash val="solid"/>
          </a:ln>
        </p:spPr>
      </p:sp>
      <p:sp>
        <p:nvSpPr>
          <p:cNvPr id="17" name="Text 15"/>
          <p:cNvSpPr txBox="1"/>
          <p:nvPr/>
        </p:nvSpPr>
        <p:spPr>
          <a:xfrm>
            <a:off x="457200" y="297180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18" name="Text 16"/>
          <p:cNvSpPr txBox="1"/>
          <p:nvPr/>
        </p:nvSpPr>
        <p:spPr>
          <a:xfrm>
            <a:off x="1097280" y="29352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To decide: which link we use</a:t>
            </a:r>
            <a:endParaRPr lang="en-US" sz="1600" dirty="0"/>
          </a:p>
        </p:txBody>
      </p:sp>
      <p:sp>
        <p:nvSpPr>
          <p:cNvPr id="19" name="Text 17"/>
          <p:cNvSpPr txBox="1"/>
          <p:nvPr/>
        </p:nvSpPr>
        <p:spPr>
          <a:xfrm>
            <a:off x="1097280" y="32186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Colleagues’ views come first.</a:t>
            </a:r>
            <a:endParaRPr lang="en-US" sz="1300" dirty="0"/>
          </a:p>
        </p:txBody>
      </p:sp>
      <p:sp>
        <p:nvSpPr>
          <p:cNvPr id="20" name="Shape 18"/>
          <p:cNvSpPr/>
          <p:nvPr/>
        </p:nvSpPr>
        <p:spPr>
          <a:xfrm>
            <a:off x="457200" y="3520440"/>
            <a:ext cx="457200" cy="457200"/>
          </a:xfrm>
          <a:prstGeom prst="ellipse">
            <a:avLst/>
          </a:prstGeom>
          <a:solidFill>
            <a:srgbClr val="F5C800"/>
          </a:solidFill>
          <a:ln w="12700">
            <a:solidFill>
              <a:srgbClr val="F5C800"/>
            </a:solidFill>
            <a:prstDash val="solid"/>
          </a:ln>
        </p:spPr>
      </p:sp>
      <p:sp>
        <p:nvSpPr>
          <p:cNvPr id="21" name="Text 19"/>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22" name="Text 20"/>
          <p:cNvSpPr txBox="1"/>
          <p:nvPr/>
        </p:nvSpPr>
        <p:spPr>
          <a:xfrm>
            <a:off x="1097280" y="348386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Then: who starts on which line</a:t>
            </a:r>
            <a:endParaRPr lang="en-US" sz="1600" dirty="0"/>
          </a:p>
        </p:txBody>
      </p:sp>
      <p:sp>
        <p:nvSpPr>
          <p:cNvPr id="23" name="Text 21"/>
          <p:cNvSpPr txBox="1"/>
          <p:nvPr/>
        </p:nvSpPr>
        <p:spPr>
          <a:xfrm>
            <a:off x="1097280" y="376732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Who begins on which week. Open: the 13-day limit’s written source; the FF19 reading.</a:t>
            </a:r>
            <a:endParaRPr lang="en-US" sz="1300" dirty="0"/>
          </a:p>
        </p:txBody>
      </p:sp>
      <p:sp>
        <p:nvSpPr>
          <p:cNvPr id="25"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6"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Colleagues’ views come first; the link is chosen after them, then who starts where.</a:t>
            </a:r>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for managers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detail</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Every week of the link, day by day</a:t>
            </a:r>
            <a:endParaRPr lang="en-US" sz="1800" dirty="0"/>
          </a:p>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Staff on duty hour by hour, against the trains</a:t>
            </a:r>
            <a:endParaRPr lang="en-US" sz="1800" dirty="0"/>
          </a:p>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Every December rule and fatigue check, worked through</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300" dirty="0">
                <a:solidFill>
                  <a:srgbClr val="F5C800"/>
                </a:solidFill>
                <a:latin typeface="Inter" pitchFamily="34" charset="0"/>
                <a:ea typeface="Inter" pitchFamily="34" charset="-122"/>
                <a:cs typeface="Inter" pitchFamily="34" charset="-120"/>
              </a:rPr>
              <a:t>All in the eight-page proposal sheet · In Step · IS-26-T4</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 Step — the December 2026 CEA link, for managers</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