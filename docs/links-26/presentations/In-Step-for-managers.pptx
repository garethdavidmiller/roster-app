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or later.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weekday closers from 15:45).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“up to 1” beside the fatigue warnings is the rail industry’s 55-hour guideline: worked as four 8-hour duties straight after a busy line, with its Sunday as overtime too, a cover week can make 56.3 hours in seven days. Where the four fall, and whether the Sunday is worked, is for the roster office.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is Closing Time’s weeks with the shift times chosen again, to put five on at every opening Monday to Saturday and to follow the weekday trains more closely. It is on the shortlist with Even Step, the recommended design, and Short Run, and this slide sets it beside both. It meets every December staffing rule and all three flexible ones. Nine of its fifteen shift times are worked today, today’s 13:45 finish among them on every weekday. Nobody works more than five days in a row on the fixed rota, where today it is seven; a cover week placed badly, with its Sunday worked as overtime, can make it seven,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(today 25h 10m to 43h 50m), the most even of the three, and the shortest rest is 14h 35m. Even Step is these same weeks with no shift over 8h 30m Monday to Saturday; against it In Step’s weekday lates are shorter (8h 12m on average, closers aside, against 8h 27m), its working day moves less from one week to the next (1h 13m on average, against 1h 31m) and its weekday fit to the trains is closer (29.8 against 32.6), and the price is its two new weekday earlies, 8h 55m and 8h 45m, which come round about 20 times a year each, 40 in all, where Even Step has none over 8h 30m and neither has today.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Short Run has 20 weekday earlies a year over 8h 30m, at 9h 00m. The other honest costs: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461176"/>
          </a:xfrm>
          <a:prstGeom prst="roundRect">
            <a:avLst>
              <a:gd name="adj" fmla="val 9151"/>
            </a:avLst>
          </a:prstGeom>
          <a:solidFill>
            <a:srgbClr val="EEF2F7"/>
          </a:solidFill>
          <a:ln w="12700">
            <a:solidFill>
              <a:srgbClr val="EEF2F7"/>
            </a:solidFill>
            <a:prstDash val="solid"/>
          </a:ln>
        </p:spPr>
      </p:sp>
      <p:sp>
        <p:nvSpPr>
          <p:cNvPr id="7" name="Text 5"/>
          <p:cNvSpPr txBox="1"/>
          <p:nvPr/>
        </p:nvSpPr>
        <p:spPr>
          <a:xfrm>
            <a:off x="640080" y="1801368"/>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 (up to 1)</a:t>
            </a:r>
            <a:endParaRPr lang="en-US" sz="1800" dirty="0"/>
          </a:p>
        </p:txBody>
      </p:sp>
      <p:sp>
        <p:nvSpPr>
          <p:cNvPr id="10" name="Shape 8"/>
          <p:cNvSpPr/>
          <p:nvPr/>
        </p:nvSpPr>
        <p:spPr>
          <a:xfrm>
            <a:off x="457200" y="2354779"/>
            <a:ext cx="8229600" cy="461176"/>
          </a:xfrm>
          <a:prstGeom prst="roundRect">
            <a:avLst>
              <a:gd name="adj" fmla="val 9151"/>
            </a:avLst>
          </a:prstGeom>
          <a:solidFill>
            <a:srgbClr val="FFFFFF"/>
          </a:solidFill>
          <a:ln w="12700">
            <a:solidFill>
              <a:srgbClr val="DDE3EA"/>
            </a:solidFill>
            <a:prstDash val="solid"/>
          </a:ln>
        </p:spPr>
      </p:sp>
      <p:sp>
        <p:nvSpPr>
          <p:cNvPr id="11" name="Text 9"/>
          <p:cNvSpPr txBox="1"/>
          <p:nvPr/>
        </p:nvSpPr>
        <p:spPr>
          <a:xfrm>
            <a:off x="640080" y="2354779"/>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354779"/>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354779"/>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7)</a:t>
            </a:r>
            <a:endParaRPr lang="en-US" sz="1800" dirty="0"/>
          </a:p>
        </p:txBody>
      </p:sp>
      <p:sp>
        <p:nvSpPr>
          <p:cNvPr id="14" name="Shape 12"/>
          <p:cNvSpPr/>
          <p:nvPr/>
        </p:nvSpPr>
        <p:spPr>
          <a:xfrm>
            <a:off x="457200" y="2908190"/>
            <a:ext cx="8229600" cy="461176"/>
          </a:xfrm>
          <a:prstGeom prst="roundRect">
            <a:avLst>
              <a:gd name="adj" fmla="val 9151"/>
            </a:avLst>
          </a:prstGeom>
          <a:solidFill>
            <a:srgbClr val="EEF2F7"/>
          </a:solidFill>
          <a:ln w="12700">
            <a:solidFill>
              <a:srgbClr val="EEF2F7"/>
            </a:solidFill>
            <a:prstDash val="solid"/>
          </a:ln>
        </p:spPr>
      </p:sp>
      <p:sp>
        <p:nvSpPr>
          <p:cNvPr id="15" name="Text 13"/>
          <p:cNvSpPr txBox="1"/>
          <p:nvPr/>
        </p:nvSpPr>
        <p:spPr>
          <a:xfrm>
            <a:off x="640080" y="2908190"/>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908190"/>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908190"/>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461601"/>
            <a:ext cx="8229600" cy="461176"/>
          </a:xfrm>
          <a:prstGeom prst="roundRect">
            <a:avLst>
              <a:gd name="adj" fmla="val 9151"/>
            </a:avLst>
          </a:prstGeom>
          <a:solidFill>
            <a:srgbClr val="FFFFFF"/>
          </a:solidFill>
          <a:ln w="12700">
            <a:solidFill>
              <a:srgbClr val="DDE3EA"/>
            </a:solidFill>
            <a:prstDash val="solid"/>
          </a:ln>
        </p:spPr>
      </p:sp>
      <p:sp>
        <p:nvSpPr>
          <p:cNvPr id="19" name="Text 17"/>
          <p:cNvSpPr txBox="1"/>
          <p:nvPr/>
        </p:nvSpPr>
        <p:spPr>
          <a:xfrm>
            <a:off x="640080" y="3461601"/>
            <a:ext cx="4023360" cy="461176"/>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461601"/>
            <a:ext cx="2011680" cy="461176"/>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461601"/>
            <a:ext cx="2011680" cy="461176"/>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no avoidable fatigue warning, fixed rota</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05m, and the closest Saturday fit</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3 of them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