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In Step</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29.8</c:v>
                </c:pt>
                <c:pt idx="1">
                  <c:v>9.6</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or later. In Step meets all three. It also stays under the ceiling of 219 contracted days a year set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In Step meets all 9, and the three flexible ones as well (14 on a Saturday, evenly spaced cover weeks, weekday closers from 15:45). Someone finishing at exactly 22:00 is not counted as still on after 22:00. The floor figure leaves out the ticket office, except at the quiet ends of the day, when one of each pair helps on the floor — on a Sunday one early until 09:00, and both lates until 15:00, one of them again from 18:00. Three to the close every day is the minimum, and In Step rosters exactly that, which is what keeps its late finishes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or a passenger forecast — the rules on the previous slide are the requirement. Against today’s link, In Step’s score is a little over half on weekdays, about a seventh on a Saturday and about two-fifths on a Sunday; lower is closer.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25h 30m to 41h 05m — today’s run from 25h 10m to 43h 50m, so both the heaviest and the lightest week sit inside today’s range;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set on 1 October 2026; In Step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in which a rest day breaks the run, and whoever assesses it should confirm that: on the stricter reading every link has it (FF19 on the rules sheet). The “up to 1” beside the fatigue warnings is the rail industry’s 55-hour guideline: worked as four 8-hour duties straight after a busy line, with its Sunday as overtime too, a cover week can make 56.3 hours in seven days. Where the four fall, and whether the Sunday is worked, is for the roster office. The written source of the 13-day limit is still to be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In Step (30 October 2026) takes the weeks of Closing Time, another design in the pack, and chooses the shift times again, to put five on at every opening Monday to Saturday and to follow the weekday trains more closely. It is on the shortlist with Even Step, the recommended design, and Short Run, and this slide sets it beside both. It meets every December staffing rule and all three flexible ones. Nine of its fifteen shift times are worked today, today’s 13:45 finish among them on every weekday. Nobody works more than five days in a row on the fixed rota, where today it is seven; a cover week placed badly, with its Sunday worked as overtime, can make it seven, never more. Every working week is all earlies or all lates, and 18 of the 21 keep one shift time Monday to Friday; today seven weeks in 16 do both. Its seven full weekends off in 26 weeks are never more than five weeks apart, which is as close as the five cover weeks allow; today it is four in 20, up to seven weeks apart. Its working weeks run from 25h 30m to 41h 05m Monday to Saturday (today 25h 10m to 43h 50m), the most even of the three, and the shortest rest is 14h 35m. Even Step is these same weeks with no shift over 8h 30m Monday to Saturday; against it In Step’s weekday lates are shorter (8h 12m on average, closers aside, against 8h 27m), its working day moves less from one week to the next (1h 13m on average, against 1h 31m) and its weekday fit to the trains is closer (29.8 against 32.6), and the price is its two new weekday earlies, 8h 55m and 8h 45m, which come round about 20 times a year each, 40 in all, where neither Even Step nor today has an early over 8h 30m Monday to Saturday. Against Short Run it has the same run, weekends, weeks on one shift time, late finishes and leave; it adds today’s 13:45, an 8h 10m Saturday closer (Short Run’s is 8h 40m) and more even weeks (Short Run’s run from 24h 30m to 42h 30m), and its fit to the trains is the closer with the three days’ scores added together, though counted day by day across a week Short Run’s is a shade closer (26.7 against 26.8), as it is on weekdays alone; Short Run has 20 weekday earlies a year over 8h 30m, at 9h 00m. The other honest costs: its Saturday closer is a new time on a Saturday, where Short Run has none; finishes at 23:00 or later go from about 39 to 42 a year each, the smallest rise possible — the December staffing needs three to the close every day, and only those three finish after 23:00 — and finishes at 22:00 or later from about 78 to 94; and six shift times are new. Every closing shift is 30 to 60 minutes shorter than today’s.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set on 1 October 2026. Late finishes average about three more a year each, all of them from the December staffing — three to the close every day, where today has two Monday to Saturday — so no link meeting the same rules on 26 weeks could have fewer. Full weekends off are seven in 26 and never more than five weeks apart; nobody works more than five days in a row on the fixed rota; no week mixes earlies and lates, and 18 of the 21 working weeks keep one shift time. Weekly hours, Monday to Saturday, run from 25h 30m to 41h 05m (today 25h 10m to 43h 50m); only the average is the contract. Two new weekday earlies, 06:20–15:15 and 07:00–15:45, are 8h 55m and 8h 45m, each about 20 a year — 40 in all — where today no early is over 8h 30m.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In Step</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IS-26-T4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2578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a:t>
            </a:r>
            <a:br/>
            <a:r>
              <a:rPr lang="en-US" sz="1500" b="1" dirty="0">
                <a:solidFill>
                  <a:srgbClr val="1B2533"/>
                </a:solidFill>
                <a:latin typeface="Inter" pitchFamily="34" charset="0"/>
                <a:ea typeface="Inter" pitchFamily="34" charset="-122"/>
                <a:cs typeface="Inter" pitchFamily="34" charset="-120"/>
              </a:rPr>
              <a:t>rules met</a:t>
            </a:r>
            <a:endParaRPr lang="en-US" sz="1500" dirty="0"/>
          </a:p>
        </p:txBody>
      </p:sp>
      <p:sp>
        <p:nvSpPr>
          <p:cNvPr id="7" name="Text 5"/>
          <p:cNvSpPr txBox="1"/>
          <p:nvPr/>
        </p:nvSpPr>
        <p:spPr>
          <a:xfrm>
            <a:off x="52578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2890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contracted hours</a:t>
            </a:r>
            <a:br/>
            <a:r>
              <a:rPr lang="en-US" sz="1500" b="1" dirty="0">
                <a:solidFill>
                  <a:srgbClr val="1B2533"/>
                </a:solidFill>
                <a:latin typeface="Inter" pitchFamily="34" charset="0"/>
                <a:ea typeface="Inter" pitchFamily="34" charset="-122"/>
                <a:cs typeface="Inter" pitchFamily="34" charset="-120"/>
              </a:rPr>
              <a:t>a week</a:t>
            </a:r>
            <a:endParaRPr lang="en-US" sz="1500" dirty="0"/>
          </a:p>
        </p:txBody>
      </p:sp>
      <p:sp>
        <p:nvSpPr>
          <p:cNvPr id="11" name="Text 9"/>
          <p:cNvSpPr txBox="1"/>
          <p:nvPr/>
        </p:nvSpPr>
        <p:spPr>
          <a:xfrm>
            <a:off x="262890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Mon–Sat average</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73202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a:t>
            </a:r>
            <a:br/>
            <a:r>
              <a:rPr lang="en-US" sz="1500" b="1" dirty="0">
                <a:solidFill>
                  <a:srgbClr val="1B2533"/>
                </a:solidFill>
                <a:latin typeface="Inter" pitchFamily="34" charset="0"/>
                <a:ea typeface="Inter" pitchFamily="34" charset="-122"/>
                <a:cs typeface="Inter" pitchFamily="34" charset="-120"/>
              </a:rPr>
              <a:t>fatigue warnings</a:t>
            </a:r>
            <a:endParaRPr lang="en-US" sz="1500" dirty="0"/>
          </a:p>
        </p:txBody>
      </p:sp>
      <p:sp>
        <p:nvSpPr>
          <p:cNvPr id="15" name="Text 13"/>
          <p:cNvSpPr txBox="1"/>
          <p:nvPr/>
        </p:nvSpPr>
        <p:spPr>
          <a:xfrm>
            <a:off x="473202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83514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a:t>
            </a:r>
            <a:br/>
            <a:r>
              <a:rPr lang="en-US" sz="1500" b="1" dirty="0">
                <a:solidFill>
                  <a:srgbClr val="1B2533"/>
                </a:solidFill>
                <a:latin typeface="Inter" pitchFamily="34" charset="0"/>
                <a:ea typeface="Inter" pitchFamily="34" charset="-122"/>
                <a:cs typeface="Inter" pitchFamily="34" charset="-120"/>
              </a:rPr>
              <a:t>on the link</a:t>
            </a:r>
            <a:endParaRPr lang="en-US" sz="1500" dirty="0"/>
          </a:p>
        </p:txBody>
      </p:sp>
      <p:sp>
        <p:nvSpPr>
          <p:cNvPr id="19" name="Text 17"/>
          <p:cNvSpPr txBox="1"/>
          <p:nvPr/>
        </p:nvSpPr>
        <p:spPr>
          <a:xfrm>
            <a:off x="683514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each 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every day. The score: hour by hour, how far staffing sits from the trains; 0 would track them exactly.</a:t>
            </a:r>
            <a:endParaRPr lang="en-US" sz="140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 (1 in 5)</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in 26 (1 in 5.2)</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Sunday overtime 83h 30m a week across the link (today 68h 15m).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 (up to 1)</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7)</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In Step?</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all three shortlisted links give, what this one adds, and what it costs</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all 9 December rules; no avoidable fatigue warning, fixed rota</a:t>
            </a:r>
            <a:endParaRPr lang="en-US" sz="1500" dirty="0"/>
          </a:p>
        </p:txBody>
      </p:sp>
      <p:sp>
        <p:nvSpPr>
          <p:cNvPr id="7" name="Shape 5"/>
          <p:cNvSpPr/>
          <p:nvPr/>
        </p:nvSpPr>
        <p:spPr>
          <a:xfrm>
            <a:off x="457200" y="1783080"/>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830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647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14 full weekends off a year (today 10), at most 5 weeks apart</a:t>
            </a:r>
            <a:endParaRPr lang="en-US" sz="1500" dirty="0"/>
          </a:p>
        </p:txBody>
      </p:sp>
      <p:sp>
        <p:nvSpPr>
          <p:cNvPr id="10" name="Shape 8"/>
          <p:cNvSpPr/>
          <p:nvPr/>
        </p:nvSpPr>
        <p:spPr>
          <a:xfrm>
            <a:off x="457200" y="2240280"/>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2402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2219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no shift over 9 hours, and every closing shift shorter</a:t>
            </a:r>
            <a:endParaRPr lang="en-US" sz="1500" dirty="0"/>
          </a:p>
        </p:txBody>
      </p:sp>
      <p:sp>
        <p:nvSpPr>
          <p:cNvPr id="13" name="Shape 11"/>
          <p:cNvSpPr/>
          <p:nvPr/>
        </p:nvSpPr>
        <p:spPr>
          <a:xfrm>
            <a:off x="457200" y="2697480"/>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6974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6791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adds: no Mon–Sat week over 41h 05m, and the closest Saturday fit</a:t>
            </a:r>
            <a:endParaRPr lang="en-US" sz="1500" dirty="0"/>
          </a:p>
        </p:txBody>
      </p:sp>
      <p:sp>
        <p:nvSpPr>
          <p:cNvPr id="16" name="Shape 14"/>
          <p:cNvSpPr/>
          <p:nvPr/>
        </p:nvSpPr>
        <p:spPr>
          <a:xfrm>
            <a:off x="457200" y="3154680"/>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31546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31363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9 of 15 shift times worked today; 6 new, 3 of them shorter versions of today’s lates</a:t>
            </a:r>
            <a:endParaRPr lang="en-US" sz="1500" dirty="0"/>
          </a:p>
        </p:txBody>
      </p:sp>
      <p:sp>
        <p:nvSpPr>
          <p:cNvPr id="19" name="Shape 17"/>
          <p:cNvSpPr/>
          <p:nvPr/>
        </p:nvSpPr>
        <p:spPr>
          <a:xfrm>
            <a:off x="457200" y="3611880"/>
            <a:ext cx="292608" cy="292608"/>
          </a:xfrm>
          <a:prstGeom prst="ellipse">
            <a:avLst/>
          </a:prstGeom>
          <a:solidFill>
            <a:srgbClr val="A15C00"/>
          </a:solidFill>
          <a:ln w="12700">
            <a:solidFill>
              <a:srgbClr val="A15C00"/>
            </a:solidFill>
            <a:prstDash val="solid"/>
          </a:ln>
        </p:spPr>
      </p:sp>
      <p:sp>
        <p:nvSpPr>
          <p:cNvPr id="20" name="Text 18"/>
          <p:cNvSpPr txBox="1"/>
          <p:nvPr/>
        </p:nvSpPr>
        <p:spPr>
          <a:xfrm>
            <a:off x="457200" y="3611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593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costs: 40 weekday earlies a year over 8h 30m, the most of the three</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All three: two more Saturdays a year, four weeks off for 15 days’ leave, and late finishes — 42 a year at 23:00 or later (today 39), 94 at 22:00 or later (today 78).</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14 full weekends off a year (today 10)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At most 5 days in a row, fixed rota (today 7)</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One turn in 18 of 21 weeks (today 7 of 16)</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Every closing shift 30–60 minutes shorter</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9 of the 15 shift times already worked</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Late finishes: 42 a year at 23:00 or later (today 39), 94 at 22:00 or later (today 78)</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6 new shift times to learn</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Longer weekday earlies, up to 8h 55m</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14 days’ leave: at best 28 days off, not 30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Four weeks off in a row: 15 days’ leave,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settled, two decisions left, two points still open</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87452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8745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8379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1214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42316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4231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3865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6700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297180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29718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29352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2186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52044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52044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4838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37673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Open: the 13-day limit’s written source; the FF19 reading.</a:t>
            </a:r>
            <a:endParaRPr lang="en-US" sz="1300" dirty="0"/>
          </a:p>
        </p:txBody>
      </p:sp>
      <p:sp>
        <p:nvSpPr>
          <p:cNvPr id="25"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6"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Colleagues’ views come first; the link is chosen after them, then who starts where.</a:t>
            </a:r>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In Step · IS-26-T4</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 Step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