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Even Keel</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29.4</c:v>
                </c:pt>
                <c:pt idx="1">
                  <c:v>14.5</c:v>
                </c:pt>
                <c:pt idx="2">
                  <c:v>29</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five cover weeks as evenly spaced as 26 weeks allow, and weekday closers starting at 15:45. Even Keel meets all three. It also stays under the ceiling of 219 contracted days a year agreed on 1 October 2026, at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Even Keel meets all 9, and the three flexible ones as well (14 on a Saturday, evenly spaced cover weeks, 15:45 weekday closers). Someone finishing at exactly 22:00 is not counted as still on after 22:00. The floor figure leaves out the ticket office, except its second person at the quiet ends of the day. Three to the close is the minimum; Even Keel rosters exactly that on weekdays and Sundays, and four on a Saturday, which is where its two extra late finishes a year come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 the rules on the previous slide are the requirement. Against today’s link, Even Keel’s score is a little over half on weekdays, about a fifth on a Saturday and about two-fifths on a Sunday; lower is closer. The score is a measure of the day’s shape only — not a staffing requirement or a passenger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44,100 minutes across the 21 working weeks — so no overtime is needed to balance the Monday-to-Saturday week. Individual weeks range from 24h 30m to 41h 30m; only the average is the contract, as today. Five cover weeks keep about the same share of the link as today’s four in 20 (one week in 5.2, against one in 5). Sunday is not contracted, so the ten Sunday duties are worked as rest-day overtime, exactly as today’s eight are. The two extra Sunday overtime duties a week come from the Sunday staffing of ten, confirmed verbally — any link that meets the rules needs them. The 26-week link, its five cover weeks and the ceiling of 219 contracted days a year were agreed on 1 October 2026; Even Keel gives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 Early starts and a weekly rotation come with every link, so they are not counted. The written source of the 13-day limit is still to be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staffing rule. 18 of its 21 working weeks keep one shift time Monday to Friday, where today it is seven weeks in 16, and only one week mixes earlies and lates. No working week is over 41h 30m Monday to Saturday, the shortest rest is 14h 35m, and nobody works more than five days in a row in the fixed duties. Its seven full weekends off in 26 weeks are never more than five weeks apart, as close as the five cover weeks allow. The honest costs: finishes at 23:00 or later go from about 39 to 44 a year each — three of those from the December staffing and two from a Saturday with four to the close — and seven shift times are new, eight already worked. Every closing shift is 30 to 45 minutes shorter.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stay at 219 a year (218.6 exactly; Monday to Saturday; Sunday is overtime), under the ceiling agreed on 1 October 2026. Late finishes average about five more a year each: three from the December staffing — three to the close every day, where today’s weekdays have two — and two from a Saturday with four to the close. Full weekends off are seven in 26 and never more than five weeks apart; 18 of the 21 working weeks keep one shift time. The average shift is about two minutes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Even Keel</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26 weeks · code EK-26-H1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2578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a:t>
            </a:r>
            <a:br/>
            <a:r>
              <a:rPr lang="en-US" sz="1500" b="1" dirty="0">
                <a:solidFill>
                  <a:srgbClr val="1B2533"/>
                </a:solidFill>
                <a:latin typeface="Inter" pitchFamily="34" charset="0"/>
                <a:ea typeface="Inter" pitchFamily="34" charset="-122"/>
                <a:cs typeface="Inter" pitchFamily="34" charset="-120"/>
              </a:rPr>
              <a:t>rules met</a:t>
            </a:r>
            <a:endParaRPr lang="en-US" sz="1500" dirty="0"/>
          </a:p>
        </p:txBody>
      </p:sp>
      <p:sp>
        <p:nvSpPr>
          <p:cNvPr id="7" name="Text 5"/>
          <p:cNvSpPr txBox="1"/>
          <p:nvPr/>
        </p:nvSpPr>
        <p:spPr>
          <a:xfrm>
            <a:off x="52578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2890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contracted hours</a:t>
            </a:r>
            <a:br/>
            <a:r>
              <a:rPr lang="en-US" sz="1500" b="1" dirty="0">
                <a:solidFill>
                  <a:srgbClr val="1B2533"/>
                </a:solidFill>
                <a:latin typeface="Inter" pitchFamily="34" charset="0"/>
                <a:ea typeface="Inter" pitchFamily="34" charset="-122"/>
                <a:cs typeface="Inter" pitchFamily="34" charset="-120"/>
              </a:rPr>
              <a:t>a week</a:t>
            </a:r>
            <a:endParaRPr lang="en-US" sz="1500" dirty="0"/>
          </a:p>
        </p:txBody>
      </p:sp>
      <p:sp>
        <p:nvSpPr>
          <p:cNvPr id="11" name="Text 9"/>
          <p:cNvSpPr txBox="1"/>
          <p:nvPr/>
        </p:nvSpPr>
        <p:spPr>
          <a:xfrm>
            <a:off x="262890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Mon–Sat average</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73202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a:t>
            </a:r>
            <a:br/>
            <a:r>
              <a:rPr lang="en-US" sz="1500" b="1" dirty="0">
                <a:solidFill>
                  <a:srgbClr val="1B2533"/>
                </a:solidFill>
                <a:latin typeface="Inter" pitchFamily="34" charset="0"/>
                <a:ea typeface="Inter" pitchFamily="34" charset="-122"/>
                <a:cs typeface="Inter" pitchFamily="34" charset="-120"/>
              </a:rPr>
              <a:t>fatigue warnings</a:t>
            </a:r>
            <a:endParaRPr lang="en-US" sz="1500" dirty="0"/>
          </a:p>
        </p:txBody>
      </p:sp>
      <p:sp>
        <p:nvSpPr>
          <p:cNvPr id="15" name="Text 13"/>
          <p:cNvSpPr txBox="1"/>
          <p:nvPr/>
        </p:nvSpPr>
        <p:spPr>
          <a:xfrm>
            <a:off x="473202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26</a:t>
            </a:r>
            <a:endParaRPr lang="en-US" sz="3400" dirty="0"/>
          </a:p>
        </p:txBody>
      </p:sp>
      <p:sp>
        <p:nvSpPr>
          <p:cNvPr id="18" name="Text 16"/>
          <p:cNvSpPr txBox="1"/>
          <p:nvPr/>
        </p:nvSpPr>
        <p:spPr>
          <a:xfrm>
            <a:off x="6835140" y="2560320"/>
            <a:ext cx="173736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a:t>
            </a:r>
            <a:br/>
            <a:r>
              <a:rPr lang="en-US" sz="1500" b="1" dirty="0">
                <a:solidFill>
                  <a:srgbClr val="1B2533"/>
                </a:solidFill>
                <a:latin typeface="Inter" pitchFamily="34" charset="0"/>
                <a:ea typeface="Inter" pitchFamily="34" charset="-122"/>
                <a:cs typeface="Inter" pitchFamily="34" charset="-120"/>
              </a:rPr>
              <a:t>on the link</a:t>
            </a:r>
            <a:endParaRPr lang="en-US" sz="1500" dirty="0"/>
          </a:p>
        </p:txBody>
      </p:sp>
      <p:sp>
        <p:nvSpPr>
          <p:cNvPr id="19" name="Text 17"/>
          <p:cNvSpPr txBox="1"/>
          <p:nvPr/>
        </p:nvSpPr>
        <p:spPr>
          <a:xfrm>
            <a:off x="6835140" y="3200400"/>
            <a:ext cx="173736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 14 · 10</a:t>
            </a:r>
            <a:endParaRPr lang="en-US" sz="1800" dirty="0"/>
          </a:p>
        </p:txBody>
      </p:sp>
      <p:sp>
        <p:nvSpPr>
          <p:cNvPr id="10" name="Shape 8"/>
          <p:cNvSpPr/>
          <p:nvPr/>
        </p:nvSpPr>
        <p:spPr>
          <a:xfrm>
            <a:off x="457200" y="2240280"/>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679192"/>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 5 · 5</a:t>
            </a:r>
            <a:endParaRPr lang="en-US" sz="1800" dirty="0"/>
          </a:p>
        </p:txBody>
      </p:sp>
      <p:sp>
        <p:nvSpPr>
          <p:cNvPr id="18" name="Shape 16"/>
          <p:cNvSpPr/>
          <p:nvPr/>
        </p:nvSpPr>
        <p:spPr>
          <a:xfrm>
            <a:off x="457200" y="3118104"/>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4 · 3</a:t>
            </a:r>
            <a:endParaRPr lang="en-US" sz="1800" dirty="0"/>
          </a:p>
        </p:txBody>
      </p:sp>
      <p:sp>
        <p:nvSpPr>
          <p:cNvPr id="22" name="Shape 20"/>
          <p:cNvSpPr/>
          <p:nvPr/>
        </p:nvSpPr>
        <p:spPr>
          <a:xfrm>
            <a:off x="457200" y="3557016"/>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557016"/>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663440" y="3557016"/>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675120" y="3557016"/>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every day. The score: hour by hour, how far staffing sits from the trains; 0 would track them exactly.</a:t>
            </a:r>
            <a:endParaRPr lang="en-US" sz="140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26</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 (1 in 5)</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 in 26 (1 in 5.2)</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more people, 35 hours a week on average; Sunday overtime 83h 30m a week across the link (today 68h 15m).</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663440" y="1417320"/>
            <a:ext cx="201168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675120" y="1417320"/>
            <a:ext cx="201168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663440" y="1801368"/>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675120" y="1801368"/>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240280"/>
            <a:ext cx="8229600" cy="365760"/>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240280"/>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663440" y="2240280"/>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675120" y="2240280"/>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679192"/>
            <a:ext cx="8229600" cy="365760"/>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679192"/>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663440" y="2679192"/>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675120" y="2679192"/>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18" name="Shape 16"/>
          <p:cNvSpPr/>
          <p:nvPr/>
        </p:nvSpPr>
        <p:spPr>
          <a:xfrm>
            <a:off x="457200" y="3118104"/>
            <a:ext cx="8229600" cy="365760"/>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118104"/>
            <a:ext cx="402336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663440" y="3118104"/>
            <a:ext cx="201168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675120" y="3118104"/>
            <a:ext cx="201168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Even Keel?</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all three shortlisted links give, what this one adds, and what it costs</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all 9 December rules, all 3 flexible ones, no fatigue warning</a:t>
            </a:r>
            <a:endParaRPr lang="en-US" sz="1500" dirty="0"/>
          </a:p>
        </p:txBody>
      </p:sp>
      <p:sp>
        <p:nvSpPr>
          <p:cNvPr id="7" name="Shape 5"/>
          <p:cNvSpPr/>
          <p:nvPr/>
        </p:nvSpPr>
        <p:spPr>
          <a:xfrm>
            <a:off x="457200" y="1783080"/>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830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647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about 14 full weekends off a year (today 10), at most 5 apart</a:t>
            </a:r>
            <a:endParaRPr lang="en-US" sz="1500" dirty="0"/>
          </a:p>
        </p:txBody>
      </p:sp>
      <p:sp>
        <p:nvSpPr>
          <p:cNvPr id="10" name="Shape 8"/>
          <p:cNvSpPr/>
          <p:nvPr/>
        </p:nvSpPr>
        <p:spPr>
          <a:xfrm>
            <a:off x="457200" y="2240280"/>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2402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2219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no shift over 9 hours, and every closing shift shorter</a:t>
            </a:r>
            <a:endParaRPr lang="en-US" sz="1500" dirty="0"/>
          </a:p>
        </p:txBody>
      </p:sp>
      <p:sp>
        <p:nvSpPr>
          <p:cNvPr id="13" name="Shape 11"/>
          <p:cNvSpPr/>
          <p:nvPr/>
        </p:nvSpPr>
        <p:spPr>
          <a:xfrm>
            <a:off x="457200" y="2697480"/>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6974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6791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This one adds: no week over 41h 30m, and at least 14h 35m between shifts</a:t>
            </a:r>
            <a:endParaRPr lang="en-US" sz="1500" dirty="0"/>
          </a:p>
        </p:txBody>
      </p:sp>
      <p:sp>
        <p:nvSpPr>
          <p:cNvPr id="16" name="Shape 14"/>
          <p:cNvSpPr/>
          <p:nvPr/>
        </p:nvSpPr>
        <p:spPr>
          <a:xfrm>
            <a:off x="457200" y="3154680"/>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31546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31363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8 of 15 shift times worked today; 7 new, several shorter versions of today’s lates</a:t>
            </a:r>
            <a:endParaRPr lang="en-US" sz="1500" dirty="0"/>
          </a:p>
        </p:txBody>
      </p:sp>
      <p:sp>
        <p:nvSpPr>
          <p:cNvPr id="19" name="Shape 17"/>
          <p:cNvSpPr/>
          <p:nvPr/>
        </p:nvSpPr>
        <p:spPr>
          <a:xfrm>
            <a:off x="457200" y="361188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611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593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Costs: 44 late finishes (today 39), a mixed week, four weeks off 15 days, not 14</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Late finishes: 44 a year each (today 39) — two above the rules’ minimum, buying a fourth person to the Saturday close. The colleague deck shows every cost openly.</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14 full weekends off a year (today 10)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One turn in 18 of 21 weeks (today 7 of 16)</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At most 5 days in a row, fixed rota (today 7)</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No week over 41h 30m Monday to Saturday</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Shortest rest 14h 35m (today 12h 30m)</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57600" cy="2011680"/>
          </a:xfrm>
          <a:prstGeom prst="rect">
            <a:avLst/>
          </a:prstGeom>
          <a:noFill/>
          <a:ln/>
        </p:spPr>
        <p:txBody>
          <a:bodyPr wrap="square" lIns="0" tIns="0" rIns="0" bIns="0" rtlCol="0" anchor="t"/>
          <a:lstStyle/>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Late finishes: 44 a year (today 39)</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7 new shift times to learn, 2 on a Saturday</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Average shift about 2 minutes longer</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152400" indent="-152400">
              <a:spcAft>
                <a:spcPts val="1000"/>
              </a:spcAft>
              <a:buSzPct val="100000"/>
              <a:buFont typeface="Inter" pitchFamily="34" charset="0"/>
              <a:buChar char="•"/>
            </a:pPr>
            <a:r>
              <a:rPr lang="en-US" sz="1300" dirty="0">
                <a:solidFill>
                  <a:srgbClr val="1B2533"/>
                </a:solidFill>
                <a:latin typeface="Inter" pitchFamily="34" charset="0"/>
                <a:ea typeface="Inter" pitchFamily="34" charset="-122"/>
                <a:cs typeface="Inter" pitchFamily="34" charset="-120"/>
              </a:rPr>
              <a:t>Four weeks off needs 15 days’ leave,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verbally, two decisions left, two points still open</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87452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8745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8379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26 people on the link — confirmed</a:t>
            </a:r>
            <a:endParaRPr lang="en-US" sz="1600" dirty="0"/>
          </a:p>
        </p:txBody>
      </p:sp>
      <p:sp>
        <p:nvSpPr>
          <p:cNvPr id="11" name="Text 9"/>
          <p:cNvSpPr txBox="1"/>
          <p:nvPr/>
        </p:nvSpPr>
        <p:spPr>
          <a:xfrm>
            <a:off x="1097280" y="21214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Six more than today, with five cover weeks.</a:t>
            </a:r>
            <a:endParaRPr lang="en-US" sz="1300" dirty="0"/>
          </a:p>
        </p:txBody>
      </p:sp>
      <p:sp>
        <p:nvSpPr>
          <p:cNvPr id="12" name="Shape 10"/>
          <p:cNvSpPr/>
          <p:nvPr/>
        </p:nvSpPr>
        <p:spPr>
          <a:xfrm>
            <a:off x="457200" y="242316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4231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3865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6700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297180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29718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29352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2186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52044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52044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4838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37673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Open: the 13-day limit’s written source; the FF19 reading.</a:t>
            </a:r>
            <a:endParaRPr lang="en-US" sz="1300" dirty="0"/>
          </a:p>
        </p:txBody>
      </p:sp>
      <p:sp>
        <p:nvSpPr>
          <p:cNvPr id="25" name="Banner"/>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6" name="Banner text"/>
          <p:cNvSpPr txBox="1"/>
          <p:nvPr/>
        </p:nvSpPr>
        <p:spPr>
          <a:xfrm>
            <a:off x="640080" y="4160520"/>
            <a:ext cx="7863840" cy="548640"/>
          </a:xfrm>
          <a:prstGeom prst="rect">
            <a:avLst/>
          </a:prstGeom>
          <a:noFill/>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Colleagues’ views come first; the link is chosen after them, then who starts where.</a:t>
            </a:r>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link proposal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Font typeface="Inter" pitchFamily="34" charset="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Even Keel · EK-26-H1</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Even Keel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