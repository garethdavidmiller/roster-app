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Even Keel</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29.4</c:v>
                </c:pt>
                <c:pt idx="1">
                  <c:v>14.5</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Even Keel meets all three.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Even Keel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 Three to the close is the minimum; Even Keel rosters exactly that on weekdays and Sundays, and four on a Saturday, which is where its two extra late finishes a year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Even Keel’s score is a little over half on weekdays, about a fifth on a Saturday and about two-fifths on a Sunday; lower is closer. The score is a measure of the day’s shape only — not a staffing requirement or a passenger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24h 30m to 41h 30m;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agreed on 1 October 2026; Even Keel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 Early starts and a weekly rotation come with every link, so they are not counted. The written source of the 13-day limit is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18 of its 21 working weeks keep one shift time Monday to Friday, where today it is seven weeks in 16, and only one week mixes earlies and lates. No working week is over 41h 30m Monday to Saturday, the shortest rest is 14h 35m, and nobody works more than five days in a row in the fixed duties. Its seven full weekends off in 26 weeks are never more than five weeks apart, as close as the five cover weeks allow. The honest costs: finishes at 23:00 or later go from about 39 to 44 a year each — three of those from the December staffing and two from a Saturday with four to the close — and seven shift times are new, eight already worked. Every closing shift is 30 to 45 minutes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Late finishes average about five more a year each: three from the December staffing — three to the close every day, where today’s weekdays have two — and two from a Saturday with four to the close. Full weekends off are seven in 26 and never more than five weeks apart; 18 of the 21 working weeks keep one shift time.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Even Keel</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EK-26-H1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2578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a:t>
            </a:r>
            <a:br/>
            <a:r>
              <a:rPr lang="en-US" sz="1500" b="1" dirty="0">
                <a:solidFill>
                  <a:srgbClr val="1B2533"/>
                </a:solidFill>
                <a:latin typeface="Inter" pitchFamily="34" charset="0"/>
                <a:ea typeface="Inter" pitchFamily="34" charset="-122"/>
                <a:cs typeface="Inter" pitchFamily="34" charset="-120"/>
              </a:rPr>
              <a:t>rules met</a:t>
            </a:r>
            <a:endParaRPr lang="en-US" sz="1500" dirty="0"/>
          </a:p>
        </p:txBody>
      </p:sp>
      <p:sp>
        <p:nvSpPr>
          <p:cNvPr id="7" name="Text 5"/>
          <p:cNvSpPr txBox="1"/>
          <p:nvPr/>
        </p:nvSpPr>
        <p:spPr>
          <a:xfrm>
            <a:off x="52578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2890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contracted hours</a:t>
            </a:r>
            <a:br/>
            <a:r>
              <a:rPr lang="en-US" sz="1500" b="1" dirty="0">
                <a:solidFill>
                  <a:srgbClr val="1B2533"/>
                </a:solidFill>
                <a:latin typeface="Inter" pitchFamily="34" charset="0"/>
                <a:ea typeface="Inter" pitchFamily="34" charset="-122"/>
                <a:cs typeface="Inter" pitchFamily="34" charset="-120"/>
              </a:rPr>
              <a:t>a week</a:t>
            </a:r>
            <a:endParaRPr lang="en-US" sz="1500" dirty="0"/>
          </a:p>
        </p:txBody>
      </p:sp>
      <p:sp>
        <p:nvSpPr>
          <p:cNvPr id="11" name="Text 9"/>
          <p:cNvSpPr txBox="1"/>
          <p:nvPr/>
        </p:nvSpPr>
        <p:spPr>
          <a:xfrm>
            <a:off x="262890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Mon–Sat average</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73202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a:t>
            </a:r>
            <a:br/>
            <a:r>
              <a:rPr lang="en-US" sz="1500" b="1" dirty="0">
                <a:solidFill>
                  <a:srgbClr val="1B2533"/>
                </a:solidFill>
                <a:latin typeface="Inter" pitchFamily="34" charset="0"/>
                <a:ea typeface="Inter" pitchFamily="34" charset="-122"/>
                <a:cs typeface="Inter" pitchFamily="34" charset="-120"/>
              </a:rPr>
              <a:t>fatigue warnings</a:t>
            </a:r>
            <a:endParaRPr lang="en-US" sz="1500" dirty="0"/>
          </a:p>
        </p:txBody>
      </p:sp>
      <p:sp>
        <p:nvSpPr>
          <p:cNvPr id="15" name="Text 13"/>
          <p:cNvSpPr txBox="1"/>
          <p:nvPr/>
        </p:nvSpPr>
        <p:spPr>
          <a:xfrm>
            <a:off x="473202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83514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a:t>
            </a:r>
            <a:br/>
            <a:r>
              <a:rPr lang="en-US" sz="1500" b="1" dirty="0">
                <a:solidFill>
                  <a:srgbClr val="1B2533"/>
                </a:solidFill>
                <a:latin typeface="Inter" pitchFamily="34" charset="0"/>
                <a:ea typeface="Inter" pitchFamily="34" charset="-122"/>
                <a:cs typeface="Inter" pitchFamily="34" charset="-120"/>
              </a:rPr>
              <a:t>on the link</a:t>
            </a:r>
            <a:endParaRPr lang="en-US" sz="1500" dirty="0"/>
          </a:p>
        </p:txBody>
      </p:sp>
      <p:sp>
        <p:nvSpPr>
          <p:cNvPr id="19" name="Text 17"/>
          <p:cNvSpPr txBox="1"/>
          <p:nvPr/>
        </p:nvSpPr>
        <p:spPr>
          <a:xfrm>
            <a:off x="683514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4 · 3</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every day. The score: hour by hour, how far staffing sits from the trains; 0 would track them exactly.</a:t>
            </a:r>
            <a:endParaRPr lang="en-US" sz="14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 (1 in 5)</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in 26 (1 in 5.2)</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Sunday overtime 83h 30m a week across the link (today 68h 15m).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Even Keel?</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all four shortlisted links give, what this one adds, and what it costs</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all 9 December rules and no avoidable fatigue warning</a:t>
            </a:r>
            <a:endParaRPr lang="en-US" sz="1500" dirty="0"/>
          </a:p>
        </p:txBody>
      </p:sp>
      <p:sp>
        <p:nvSpPr>
          <p:cNvPr id="7" name="Shape 5"/>
          <p:cNvSpPr/>
          <p:nvPr/>
        </p:nvSpPr>
        <p:spPr>
          <a:xfrm>
            <a:off x="457200" y="1783080"/>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830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647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about 14 full weekends off a year (today 10), at most 5 apart</a:t>
            </a:r>
            <a:endParaRPr lang="en-US" sz="1500" dirty="0"/>
          </a:p>
        </p:txBody>
      </p:sp>
      <p:sp>
        <p:nvSpPr>
          <p:cNvPr id="10" name="Shape 8"/>
          <p:cNvSpPr/>
          <p:nvPr/>
        </p:nvSpPr>
        <p:spPr>
          <a:xfrm>
            <a:off x="457200" y="2240280"/>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240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2219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no shift over 9 hours, and every closing shift shorter</a:t>
            </a:r>
            <a:endParaRPr lang="en-US" sz="1500" dirty="0"/>
          </a:p>
        </p:txBody>
      </p:sp>
      <p:sp>
        <p:nvSpPr>
          <p:cNvPr id="13" name="Shape 11"/>
          <p:cNvSpPr/>
          <p:nvPr/>
        </p:nvSpPr>
        <p:spPr>
          <a:xfrm>
            <a:off x="457200" y="2697480"/>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6791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adds: a fourth person to the Saturday close (the others 3, today 2)</a:t>
            </a:r>
            <a:endParaRPr lang="en-US" sz="1500" dirty="0"/>
          </a:p>
        </p:txBody>
      </p:sp>
      <p:sp>
        <p:nvSpPr>
          <p:cNvPr id="16" name="Shape 14"/>
          <p:cNvSpPr/>
          <p:nvPr/>
        </p:nvSpPr>
        <p:spPr>
          <a:xfrm>
            <a:off x="457200" y="3154680"/>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31363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8 of 15 shift times worked today; 7 new, several shorter versions of today’s lates</a:t>
            </a:r>
            <a:endParaRPr lang="en-US" sz="1500" dirty="0"/>
          </a:p>
        </p:txBody>
      </p:sp>
      <p:sp>
        <p:nvSpPr>
          <p:cNvPr id="19" name="Shape 17"/>
          <p:cNvSpPr/>
          <p:nvPr/>
        </p:nvSpPr>
        <p:spPr>
          <a:xfrm>
            <a:off x="457200" y="361188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593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Costs: 44 late finishes (today 39), a mixed week, four weeks off 15 days, not 14</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Late finishes: 44 a year each (today 39) — two above the rules’ minimum, buying a fourth person to the Saturday close. The colleague deck shows every cost openly.</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full weekends off a year (today 10)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One turn in 18 of 21 weeks (today 7 of 16)</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At most 5 days in a row, fixed rota (today 7)</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No week over 41h 30m Monday to Saturday</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Shortest rest 14h 35m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Late finishes: 44 a year (today 39)</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7 new shift times to learn, 2 on a Saturday</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Average shift about 2 minutes longer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Four weeks off needs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two decisions left, two points still open</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87452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8379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1214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42316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3865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6700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297180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2186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52044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4838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37673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Open: the 13-day limit’s written source; the FF19 reading.</a:t>
            </a:r>
            <a:endParaRPr lang="en-US" sz="1300" dirty="0"/>
          </a:p>
        </p:txBody>
      </p:sp>
      <p:sp>
        <p:nvSpPr>
          <p:cNvPr id="25"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6"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Colleagues’ views come first; the link is chosen after them, then who starts where.</a:t>
            </a:r>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Even Keel · EK-26-H1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 Keel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