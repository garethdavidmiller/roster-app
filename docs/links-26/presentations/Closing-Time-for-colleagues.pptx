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Every closing shift is shorter: the weekday and Saturday closers start at 16:00, 45 minutes later than today’s weekday 15:15 and 1h 15m later than Saturday’s 14:45, and the Sunday closer starts 45 minutes later, at 15:15. Never more than five days in a row on the fixed rota — six at most when a cover week falls badly, where today it is seven and can reach nine. Seven full weekends off in every 26 weeks, against four in 20 today, and never more than five weeks apart — though each person works about two more Saturdays a year. Every week is all earlies or all lates, and 17 of the 21 working weeks keep one shift time Monday to Friday. Eight of the thirteen shift times are ones people already work, today’s 13:45 finish among them. Say the leave cost here too, before anyone asks: four full weeks off, Sunday to Saturday, takes 15 days’ leave rather than 14, and the best 14-day stretch is 28 days off rather than 30; the average is the same and the worst a day better. A cover week is one of the five weeks in 26 with no fixed shifts: its four duties are placed later to cover leave and sickness; the fixed rota is the other 21 weeks, whose shifts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and the 26-person link, its five cover weeks and a ceiling of 219 contracted days a year on 1 October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Closing Time. Exactly, Closing Time works out at 218.6 days a year: just under today’s 219, which is also the most the 26-week link is allowed (agreed 1 October 2026). The average shift is about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These are averages across the whole link — your own depends on which line you start on — and they are not a payslip; the Pay Calculator in the app does that. The yearly figures are averages from the fixed rota;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16:00 to 23:55 instead of 15:15 (7h 55m, not 8h 40m); Saturday 16:00 instead of 14:45 (7h 55m, not 9h 10m); Sunday 15:15 to 23:25 instead of 14:30 (8h 10m, not 8h 55m). Today’s 13:30 weekday late now runs to 22:30 with the ticket office: nine hours, where today it is eight and a half — the half hour is how the week keeps a 13:45 finish every weekday as well as the 16:00 closer. Be upfront about the two minutes on the average: the 26-week link may have no more than 219 contracted days a year, so the same 35 hours go into slightly fewer, slightly longer shifts.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today’s weekdays have two. In Closing Time the only people who finish after 23:00 are those three closers, so no link that meets the rules on 26 weeks can have fewer. Finishes at 22:00 or later go up more, from 78 to 104 a year: the rules want five still on duty after 22:00, and on a weekday three 13:30 lates run to 22:30 with the ticket office — today’s 13:30–22:00, half an hour longer, which is how the week keeps a 13:45 finish every weekday as well as the 16:00 closer. Early 06:20 starts go down a little, from 62 to 58 a year. And because the shortest gap between two shifts is 14h 35m, nobody finishes late and starts early the next morning. The yearly figures are averages from the fixed rota; a cover week’s duties are not known yet and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Time was built from today’s shift times: eight of its thirteen are worked today, and it uses fewer different times overall than today’s eighteen. Today’s 06:20–13:45 stays on every weekday and is on a Saturday too; today’s 06:20–13:35 goes. Three of the new times are shorter versions of today’s lates: the weekday and Saturday closers start at 16:00, the Sunday closer at 15:15, and the Sunday office late finishes at 22:30, not 23:25. The weekday’s 13:30–22:30 is today’s 13:30–22:00 half an hour longer, ending with the ticket office. The Sunday opener stays today’s 07:15–15:45; the Sunday 09:00–18:00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Closing Time gives 7 in 26, and they are never more than five weeks apart, against seven today. Five is as close as they can be: a full weekend cannot start in a cover week or the week before one, so only 16 of the 26 weeks can begin one. Nobody works more than five days in a row on the fixed rota — today it is seven — and six is the most a badly placed cover week can make it. Every working week is all earlies or all lates — today seven weeks in 16 mix the two — and 17 of the 21 keep the same shift time Monday to Friday. Rest days mostly come in pairs: 22 of the 26 rest-day breaks are two days or more, against 13 of 17 today, and single rest days stay at four, as today.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strip left to right; week 27 is week 1 again. A cover week has no fixed shifts of its own — its four duties are placed later to cover leave and sickness, which is why it is drawn empty. Earlies here means a start before 11:00. A weekday has 7 earlies and 8 lates; a Saturday 7 and 7; a Sunday 5 and 5. Sundays stay overtime, 20 a year each (today 21), and still finish at 23:25. Who starts on which week is decided after the link is chosen. A block is weeks in a row all on earlies or all on lates. On the fixed rota the longest is 5 weeks (today 2); because a cover week’s duties are placed later, a block can run to 7 if the cover weeks beside it are given the same kind (today 3). Fewer switches between earlies and lates, but someone who prefers one kind waits longer for it to come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Closing Time spreads rest days more evenly, so its best is 28. On average it is the same, 23.4 days, and at its worst it is a day better than today. Four full weeks off (Sunday to Saturday) takes at least 15 days of leave, instead of 14 at best today. Say the four-weeks figure plainly: Closing Time is worse than today here, as all three shortlisted links are (Long Break, the leave-first design in the pack, keeps the 14), and people plan a year around it. The averages depend on where you count a booking as starting, so quote those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Closing Time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Strip" Type="http://schemas.openxmlformats.org/officeDocument/2006/relationships/image" Target="../media/rota-strip.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Closing Time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CT-26-T2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12064"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contracted</a:t>
            </a:r>
            <a:br/>
            <a:r>
              <a:rPr lang="en-US" sz="1400" b="1" dirty="0">
                <a:solidFill>
                  <a:srgbClr val="1B2533"/>
                </a:solidFill>
                <a:latin typeface="Inter" pitchFamily="34" charset="0"/>
                <a:ea typeface="Inter" pitchFamily="34" charset="-122"/>
                <a:cs typeface="Inter" pitchFamily="34" charset="-120"/>
              </a:rPr>
              <a:t>week, as now</a:t>
            </a:r>
            <a:endParaRPr lang="en-US" sz="1400" dirty="0"/>
          </a:p>
        </p:txBody>
      </p:sp>
      <p:sp>
        <p:nvSpPr>
          <p:cNvPr id="7" name="Text 5"/>
          <p:cNvSpPr txBox="1"/>
          <p:nvPr/>
        </p:nvSpPr>
        <p:spPr>
          <a:xfrm>
            <a:off x="512064"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5</a:t>
            </a:r>
            <a:endParaRPr lang="en-US" sz="3000" dirty="0"/>
          </a:p>
        </p:txBody>
      </p:sp>
      <p:sp>
        <p:nvSpPr>
          <p:cNvPr id="10" name="Text 8"/>
          <p:cNvSpPr txBox="1"/>
          <p:nvPr/>
        </p:nvSpPr>
        <p:spPr>
          <a:xfrm>
            <a:off x="2185416"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a:t>
            </a:r>
            <a:br/>
            <a:r>
              <a:rPr lang="en-US" sz="1400" b="1" dirty="0">
                <a:solidFill>
                  <a:srgbClr val="1B2533"/>
                </a:solidFill>
                <a:latin typeface="Inter" pitchFamily="34" charset="0"/>
                <a:ea typeface="Inter" pitchFamily="34" charset="-122"/>
                <a:cs typeface="Inter" pitchFamily="34" charset="-120"/>
              </a:rPr>
              <a:t>in a row</a:t>
            </a:r>
            <a:endParaRPr lang="en-US" sz="1400" dirty="0"/>
          </a:p>
        </p:txBody>
      </p:sp>
      <p:sp>
        <p:nvSpPr>
          <p:cNvPr id="11" name="Text 9"/>
          <p:cNvSpPr txBox="1"/>
          <p:nvPr/>
        </p:nvSpPr>
        <p:spPr>
          <a:xfrm>
            <a:off x="2185416"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up to 6 · today 7</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14</a:t>
            </a:r>
            <a:endParaRPr lang="en-US" sz="3000" dirty="0"/>
          </a:p>
        </p:txBody>
      </p:sp>
      <p:sp>
        <p:nvSpPr>
          <p:cNvPr id="14" name="Text 12"/>
          <p:cNvSpPr txBox="1"/>
          <p:nvPr/>
        </p:nvSpPr>
        <p:spPr>
          <a:xfrm>
            <a:off x="3858768"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a:t>
            </a:r>
            <a:br/>
            <a:r>
              <a:rPr lang="en-US" sz="1400" b="1" dirty="0">
                <a:solidFill>
                  <a:srgbClr val="1B2533"/>
                </a:solidFill>
                <a:latin typeface="Inter" pitchFamily="34" charset="0"/>
                <a:ea typeface="Inter" pitchFamily="34" charset="-122"/>
                <a:cs typeface="Inter" pitchFamily="34" charset="-120"/>
              </a:rPr>
              <a:t>off a year</a:t>
            </a:r>
            <a:endParaRPr lang="en-US" sz="1400" dirty="0"/>
          </a:p>
        </p:txBody>
      </p:sp>
      <p:sp>
        <p:nvSpPr>
          <p:cNvPr id="15" name="Text 13"/>
          <p:cNvSpPr txBox="1"/>
          <p:nvPr/>
        </p:nvSpPr>
        <p:spPr>
          <a:xfrm>
            <a:off x="3858768"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10 · 7 in 26</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8 of 13</a:t>
            </a:r>
            <a:endParaRPr lang="en-US" sz="3000" dirty="0"/>
          </a:p>
        </p:txBody>
      </p:sp>
      <p:sp>
        <p:nvSpPr>
          <p:cNvPr id="18" name="Text 16"/>
          <p:cNvSpPr txBox="1"/>
          <p:nvPr/>
        </p:nvSpPr>
        <p:spPr>
          <a:xfrm>
            <a:off x="5532120"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a:t>
            </a:r>
            <a:br/>
            <a:r>
              <a:rPr lang="en-US" sz="1400" b="1" dirty="0">
                <a:solidFill>
                  <a:srgbClr val="1B2533"/>
                </a:solidFill>
                <a:latin typeface="Inter" pitchFamily="34" charset="0"/>
                <a:ea typeface="Inter" pitchFamily="34" charset="-122"/>
                <a:cs typeface="Inter" pitchFamily="34" charset="-120"/>
              </a:rPr>
              <a:t>already work</a:t>
            </a:r>
            <a:endParaRPr lang="en-US" sz="1400" dirty="0"/>
          </a:p>
        </p:txBody>
      </p:sp>
      <p:sp>
        <p:nvSpPr>
          <p:cNvPr id="19" name="Text 17"/>
          <p:cNvSpPr txBox="1"/>
          <p:nvPr/>
        </p:nvSpPr>
        <p:spPr>
          <a:xfrm>
            <a:off x="5532120"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5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45 min</a:t>
            </a:r>
            <a:endParaRPr lang="en-US" sz="3000" dirty="0"/>
          </a:p>
        </p:txBody>
      </p:sp>
      <p:sp>
        <p:nvSpPr>
          <p:cNvPr id="22" name="Text 20"/>
          <p:cNvSpPr txBox="1"/>
          <p:nvPr/>
        </p:nvSpPr>
        <p:spPr>
          <a:xfrm>
            <a:off x="7205472" y="2560320"/>
            <a:ext cx="1426464"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off every</a:t>
            </a:r>
            <a:br/>
            <a:r>
              <a:rPr lang="en-US" sz="1400" b="1" dirty="0">
                <a:solidFill>
                  <a:srgbClr val="1B2533"/>
                </a:solidFill>
                <a:latin typeface="Inter" pitchFamily="34" charset="0"/>
                <a:ea typeface="Inter" pitchFamily="34" charset="-122"/>
                <a:cs typeface="Inter" pitchFamily="34" charset="-120"/>
              </a:rPr>
              <a:t>closing shift</a:t>
            </a:r>
            <a:endParaRPr lang="en-US" sz="1400" dirty="0"/>
          </a:p>
        </p:txBody>
      </p:sp>
      <p:sp>
        <p:nvSpPr>
          <p:cNvPr id="23" name="Text 21"/>
          <p:cNvSpPr txBox="1"/>
          <p:nvPr/>
        </p:nvSpPr>
        <p:spPr>
          <a:xfrm>
            <a:off x="7205472" y="3200400"/>
            <a:ext cx="1426464"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Saturdays: 1h 15m</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 16:00 closer every day but Sunday, weekends off never more than five weeks apart, and at most five days in a row on the fixed rota.</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84832"/>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85416"/>
            <a:ext cx="256032" cy="256032"/>
          </a:xfrm>
          <a:prstGeom prst="rect">
            <a:avLst/>
          </a:prstGeom>
        </p:spPr>
      </p:pic>
      <p:sp>
        <p:nvSpPr>
          <p:cNvPr id="10" name="Text 6"/>
          <p:cNvSpPr txBox="1"/>
          <p:nvPr/>
        </p:nvSpPr>
        <p:spPr>
          <a:xfrm>
            <a:off x="1097280" y="2048256"/>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331720"/>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2798064"/>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898648"/>
            <a:ext cx="256032" cy="256032"/>
          </a:xfrm>
          <a:prstGeom prst="rect">
            <a:avLst/>
          </a:prstGeom>
        </p:spPr>
      </p:pic>
      <p:sp>
        <p:nvSpPr>
          <p:cNvPr id="14" name="Text 9"/>
          <p:cNvSpPr txBox="1"/>
          <p:nvPr/>
        </p:nvSpPr>
        <p:spPr>
          <a:xfrm>
            <a:off x="1097280" y="276148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04495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511296"/>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611880"/>
            <a:ext cx="256032" cy="256032"/>
          </a:xfrm>
          <a:prstGeom prst="rect">
            <a:avLst/>
          </a:prstGeom>
        </p:spPr>
      </p:pic>
      <p:sp>
        <p:nvSpPr>
          <p:cNvPr id="18" name="Text 12"/>
          <p:cNvSpPr txBox="1"/>
          <p:nvPr/>
        </p:nvSpPr>
        <p:spPr>
          <a:xfrm>
            <a:off x="1097280" y="347472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75818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1"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2"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change is coming whatever we do — the question is which version we want.</a:t>
            </a:r>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4.20</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219.0</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218.6</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on average and no more days; weeks run from 27h 00m to 41h 30m (today 25h 10m to 43h 50m), and two more of the days fall on a Saturday.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about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16:00,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7h 55m</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16:00, not 14:45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7h 55m</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closer is 45 minutes to 1h 15m shorter; the longest early turn goes from 8h 30m to 9h 00m,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3 more a year after 23:00 (42, today 39); 26 more at 22:00 or later (104, today 78)</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104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58</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December staffing and three weekday lates to 22:30 keep more on after 22:00; finishes after 23:00 rise by three, the fewest the rules allow.</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13 shift times in all — 8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(8)</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06:20–13:45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06:20–14:00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06:20–14:20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06:20–14:50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07:15–15:45</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08:00–16:30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14:00–22:30</a:t>
            </a:r>
            <a:endParaRPr lang="en-US" sz="1050" dirty="0"/>
          </a:p>
          <a:p>
            <a:pPr marL="152400" indent="-152400">
              <a:spcAft>
                <a:spcPts val="2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14:30–22:00</a:t>
            </a:r>
            <a:endParaRPr lang="en-US" sz="105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(5)</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13:30–22:30 — today’s 13:30 late, to 22:30 with the ticket office</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16:00–23:55 — the closer, 45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16:00–23:55 — the closer, 1h 15m later than 14:45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Font typeface="Inter" pitchFamily="34" charset="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(13, not 18) — and on a Saturday only the closer is new.</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 about a year</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6)</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26</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35m</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no early–late switch</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17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and never more than five days in a row on the fixed rota.</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Your 26 weeks 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green bars are the full weekends off; where you start is decided later</a:t>
            </a:r>
            <a:endParaRPr lang="en-US" sz="1500" dirty="0"/>
          </a:p>
        </p:txBody>
      </p:sp>
      <p:pic>
        <p:nvPicPr>
          <p:cNvPr id="990" name="Rota strip" descr="The 26 weeks of the link"/>
          <p:cNvPicPr>
            <a:picLocks noChangeAspect="1"/>
          </p:cNvPicPr>
          <p:nvPr/>
        </p:nvPicPr>
        <p:blipFill>
          <a:blip r:embed="rIdStrip"/>
          <a:stretch>
            <a:fillRect/>
          </a:stretch>
        </p:blipFill>
        <p:spPr>
          <a:xfrm>
            <a:off x="457200" y="1371600"/>
            <a:ext cx="8229600" cy="2575381"/>
          </a:xfrm>
          <a:prstGeom prst="rect">
            <a:avLst/>
          </a:prstGeom>
        </p:spPr>
      </p:pic>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14 full weekends off a year, at most five weeks apart; blocks of earlies or lates up to 5 weeks, 7 if the cover weeks go the same way.</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Best stretch 28 days, not 30; four full weeks off, Sunday to Saturday, costs 15 days’ leave, not 14. Average the same, worst a day better.</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Closing Time</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22960"/>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Five new shift times to learn</a:t>
            </a:r>
            <a:endParaRPr lang="en-US" sz="1400" dirty="0"/>
          </a:p>
        </p:txBody>
      </p:sp>
      <p:sp>
        <p:nvSpPr>
          <p:cNvPr id="6" name="Text 4"/>
          <p:cNvSpPr txBox="1"/>
          <p:nvPr/>
        </p:nvSpPr>
        <p:spPr>
          <a:xfrm>
            <a:off x="64008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Three are shorter versions of today’s lates; today’s 13:30 late runs half an hour longer.</a:t>
            </a:r>
            <a:endParaRPr lang="en-US" sz="1250" dirty="0"/>
          </a:p>
        </p:txBody>
      </p:sp>
      <p:sp>
        <p:nvSpPr>
          <p:cNvPr id="7" name="Shape 5"/>
          <p:cNvSpPr/>
          <p:nvPr/>
        </p:nvSpPr>
        <p:spPr>
          <a:xfrm>
            <a:off x="4663440" y="1371600"/>
            <a:ext cx="4023360" cy="822960"/>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about 2 minutes longer on average</a:t>
            </a:r>
            <a:endParaRPr lang="en-US" sz="1400" dirty="0"/>
          </a:p>
        </p:txBody>
      </p:sp>
      <p:sp>
        <p:nvSpPr>
          <p:cNvPr id="9" name="Text 7"/>
          <p:cNvSpPr txBox="1"/>
          <p:nvPr/>
        </p:nvSpPr>
        <p:spPr>
          <a:xfrm>
            <a:off x="4846320" y="1719072"/>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That is what keeps days at work to 219 a year or fewer on the same 35 hours.</a:t>
            </a:r>
            <a:endParaRPr lang="en-US" sz="1250" dirty="0"/>
          </a:p>
        </p:txBody>
      </p:sp>
      <p:sp>
        <p:nvSpPr>
          <p:cNvPr id="10" name="Shape 8"/>
          <p:cNvSpPr/>
          <p:nvPr/>
        </p:nvSpPr>
        <p:spPr>
          <a:xfrm>
            <a:off x="457200" y="2267712"/>
            <a:ext cx="4023360" cy="822960"/>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Four weeks off: 15 days’ leave, not 14</a:t>
            </a:r>
            <a:endParaRPr lang="en-US" sz="1400" dirty="0"/>
          </a:p>
        </p:txBody>
      </p:sp>
      <p:sp>
        <p:nvSpPr>
          <p:cNvPr id="12" name="Text 10"/>
          <p:cNvSpPr txBox="1"/>
          <p:nvPr/>
        </p:nvSpPr>
        <p:spPr>
          <a:xfrm>
            <a:off x="64008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Best 14-day stretch 28 days, not 30; average as today, worst a day better.</a:t>
            </a:r>
            <a:endParaRPr lang="en-US" sz="1250" dirty="0"/>
          </a:p>
        </p:txBody>
      </p:sp>
      <p:sp>
        <p:nvSpPr>
          <p:cNvPr id="13" name="Shape 11"/>
          <p:cNvSpPr/>
          <p:nvPr/>
        </p:nvSpPr>
        <p:spPr>
          <a:xfrm>
            <a:off x="4663440" y="2267712"/>
            <a:ext cx="4023360" cy="822960"/>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40864"/>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Two more Saturdays a year</a:t>
            </a:r>
            <a:endParaRPr lang="en-US" sz="1400" dirty="0"/>
          </a:p>
        </p:txBody>
      </p:sp>
      <p:sp>
        <p:nvSpPr>
          <p:cNvPr id="15" name="Text 13"/>
          <p:cNvSpPr txBox="1"/>
          <p:nvPr/>
        </p:nvSpPr>
        <p:spPr>
          <a:xfrm>
            <a:off x="4846320" y="2615184"/>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28 a year each, today 26 — fourteen on a Saturday, shared across 26 lines.</a:t>
            </a:r>
            <a:endParaRPr lang="en-US" sz="1250" dirty="0"/>
          </a:p>
        </p:txBody>
      </p:sp>
      <p:sp>
        <p:nvSpPr>
          <p:cNvPr id="16" name="Shape 14"/>
          <p:cNvSpPr/>
          <p:nvPr/>
        </p:nvSpPr>
        <p:spPr>
          <a:xfrm>
            <a:off x="457200" y="3163824"/>
            <a:ext cx="4023360" cy="822960"/>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More late finishes</a:t>
            </a:r>
            <a:endParaRPr lang="en-US" sz="1400" dirty="0"/>
          </a:p>
        </p:txBody>
      </p:sp>
      <p:sp>
        <p:nvSpPr>
          <p:cNvPr id="18" name="Text 16"/>
          <p:cNvSpPr txBox="1"/>
          <p:nvPr/>
        </p:nvSpPr>
        <p:spPr>
          <a:xfrm>
            <a:off x="64008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Eight on after 22:00 on a weekday, today four; 42 a year each after 23:00, the minimum.</a:t>
            </a:r>
            <a:endParaRPr lang="en-US" sz="1250" dirty="0"/>
          </a:p>
        </p:txBody>
      </p:sp>
      <p:sp>
        <p:nvSpPr>
          <p:cNvPr id="19" name="Shape 17"/>
          <p:cNvSpPr/>
          <p:nvPr/>
        </p:nvSpPr>
        <p:spPr>
          <a:xfrm>
            <a:off x="4663440" y="3163824"/>
            <a:ext cx="4023360" cy="822960"/>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36976"/>
            <a:ext cx="3703320" cy="274320"/>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11296"/>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3"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4"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None of these is hidden: each one is on the full proposal sheet too.</a:t>
            </a:r>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Closing Time,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Closing Time</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218.6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7h 55m · 7h 55m · 8h 10m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about a year</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5 (up to 6)</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35m</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13 (8 you know)</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18288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a:noFill/>
                    </a:lnL>
                    <a:lnR>
                      <a:noFill/>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Closing Time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Closing Time · CT-26-T2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Closing Time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