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on the fixed rota — six at most when a cover week falls badly, where today it is seven and can reach nine. Seven full weekends off in every 26 weeks, against four in 20 today, and never more than five weeks apart — though each person works about two more Saturdays a year. Every week is all earlies or all lates, and 18 of the 21 working weeks keep one shift time Monday to Friday. Nine of the fifteen shift times are ones people already work. And every closing shift is shorter: the weekday and Saturday closers by 30 minutes, the Sunday closer by 45. Say the leave cost here too, before anyone asks: four full weeks off, Sunday to Saturday, takes 15 days’ leave rather than 14, and the best 14-day stretch is 28 days off rather than 30; the average is the same and the worst a day better. A cover week is one of the five weeks in 26 with no fixed shifts: its four duties are placed later to cover leave and sickness; the fixed rota is the other 21 weeks, whose shifts are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Short Run. Exactly, Short Run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today’s weekdays have two. In Short Run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finishes late and starts early the next morning. The yearly figures are averages from the fixed rota; a cover week’s duties are not known yet and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Run was built keeping the times people already work wherever that cost little. Nine of its fifteen are worked today, and it uses fewer different times overall than today’s eighteen. Several of the new times are shorter versions of today’s lates: the weekday and Sunday closers start later, and the Sunday office late finishes earlier. The full list is on the slide.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Short Run gives 7 in 26, and they are never more than five weeks apart, against seven today. Five is as close as they can be: a full weekend cannot start in a cover week or the week before one, so only 16 of the 26 weeks can begin one. Nobody works more than five days in a row on the fixed rota — today it is seven — and six is the most a badly placed cover week can make it.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strip left to right; week 27 is week 1 again. A cover week has no fixed shifts of its own — its four duties are placed later to cover leave and sickness, which is why it is drawn empty. Earlies here means a start before 11:00. A weekday has 7 earlies and 8 lates; a Saturday 7 and 7; a Sunday 5 and 5. Sundays stay overtime, 20 a year each (today 21), and still finish at 23:25. Who starts on which week is decided after the link is chosen. A block is weeks in a row all on earlies or all on lates. On the fixed rota the longest is 5 weeks (today 2); because a cover week’s duties are placed later, a block can run to 7 if the cover weeks beside it are given the same kind (today 3). Fewer switches between earlies and lates, but someone who prefers one kind waits longer for it to come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Short Run spreads rest days more evenly, so its best is 28. On average it is the same, 23.4 days, and at its worst it is a day better than today. Four full weeks off (Sunday to Saturday) takes at least 15 days of leave, instead of 14 at best today. Say the four-weeks figure plainly: all four shortlisted links are worse than today here (Long Break, the leave-first design in the pack, keeps the 14), and people plan a year around it. The averages depend on where you count a booking as starting, so quote those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Short Run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Strip" Type="http://schemas.openxmlformats.org/officeDocument/2006/relationships/image" Target="../media/rota-strip.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SR-26-F1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12064"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contracted</a:t>
            </a:r>
            <a:br/>
            <a:r>
              <a:rPr lang="en-US" sz="1400" b="1" dirty="0">
                <a:solidFill>
                  <a:srgbClr val="1B2533"/>
                </a:solidFill>
                <a:latin typeface="Inter" pitchFamily="34" charset="0"/>
                <a:ea typeface="Inter" pitchFamily="34" charset="-122"/>
                <a:cs typeface="Inter" pitchFamily="34" charset="-120"/>
              </a:rPr>
              <a:t>week, as now</a:t>
            </a:r>
            <a:endParaRPr lang="en-US" sz="1400" dirty="0"/>
          </a:p>
        </p:txBody>
      </p:sp>
      <p:sp>
        <p:nvSpPr>
          <p:cNvPr id="7" name="Text 5"/>
          <p:cNvSpPr txBox="1"/>
          <p:nvPr/>
        </p:nvSpPr>
        <p:spPr>
          <a:xfrm>
            <a:off x="512064"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185416"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a:t>
            </a:r>
            <a:br/>
            <a:r>
              <a:rPr lang="en-US" sz="1400" b="1" dirty="0">
                <a:solidFill>
                  <a:srgbClr val="1B2533"/>
                </a:solidFill>
                <a:latin typeface="Inter" pitchFamily="34" charset="0"/>
                <a:ea typeface="Inter" pitchFamily="34" charset="-122"/>
                <a:cs typeface="Inter" pitchFamily="34" charset="-120"/>
              </a:rPr>
              <a:t>in a row</a:t>
            </a:r>
            <a:endParaRPr lang="en-US" sz="1400" dirty="0"/>
          </a:p>
        </p:txBody>
      </p:sp>
      <p:sp>
        <p:nvSpPr>
          <p:cNvPr id="11" name="Text 9"/>
          <p:cNvSpPr txBox="1"/>
          <p:nvPr/>
        </p:nvSpPr>
        <p:spPr>
          <a:xfrm>
            <a:off x="2185416"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up to 6 · today 7</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14</a:t>
            </a:r>
            <a:endParaRPr lang="en-US" sz="3000" dirty="0"/>
          </a:p>
        </p:txBody>
      </p:sp>
      <p:sp>
        <p:nvSpPr>
          <p:cNvPr id="14" name="Text 12"/>
          <p:cNvSpPr txBox="1"/>
          <p:nvPr/>
        </p:nvSpPr>
        <p:spPr>
          <a:xfrm>
            <a:off x="3858768"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a:t>
            </a:r>
            <a:br/>
            <a:r>
              <a:rPr lang="en-US" sz="1400" b="1" dirty="0">
                <a:solidFill>
                  <a:srgbClr val="1B2533"/>
                </a:solidFill>
                <a:latin typeface="Inter" pitchFamily="34" charset="0"/>
                <a:ea typeface="Inter" pitchFamily="34" charset="-122"/>
                <a:cs typeface="Inter" pitchFamily="34" charset="-120"/>
              </a:rPr>
              <a:t>off a year</a:t>
            </a:r>
            <a:endParaRPr lang="en-US" sz="1400" dirty="0"/>
          </a:p>
        </p:txBody>
      </p:sp>
      <p:sp>
        <p:nvSpPr>
          <p:cNvPr id="15" name="Text 13"/>
          <p:cNvSpPr txBox="1"/>
          <p:nvPr/>
        </p:nvSpPr>
        <p:spPr>
          <a:xfrm>
            <a:off x="3858768"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10 · 7 in 26</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32120"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a:t>
            </a:r>
            <a:br/>
            <a:r>
              <a:rPr lang="en-US" sz="1400" b="1" dirty="0">
                <a:solidFill>
                  <a:srgbClr val="1B2533"/>
                </a:solidFill>
                <a:latin typeface="Inter" pitchFamily="34" charset="0"/>
                <a:ea typeface="Inter" pitchFamily="34" charset="-122"/>
                <a:cs typeface="Inter" pitchFamily="34" charset="-120"/>
              </a:rPr>
              <a:t>already work</a:t>
            </a:r>
            <a:endParaRPr lang="en-US" sz="1400" dirty="0"/>
          </a:p>
        </p:txBody>
      </p:sp>
      <p:sp>
        <p:nvSpPr>
          <p:cNvPr id="19" name="Text 17"/>
          <p:cNvSpPr txBox="1"/>
          <p:nvPr/>
        </p:nvSpPr>
        <p:spPr>
          <a:xfrm>
            <a:off x="5532120"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05472" y="2560320"/>
            <a:ext cx="1426464"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off every</a:t>
            </a:r>
            <a:br/>
            <a:r>
              <a:rPr lang="en-US" sz="1400" b="1" dirty="0">
                <a:solidFill>
                  <a:srgbClr val="1B2533"/>
                </a:solidFill>
                <a:latin typeface="Inter" pitchFamily="34" charset="0"/>
                <a:ea typeface="Inter" pitchFamily="34" charset="-122"/>
                <a:cs typeface="Inter" pitchFamily="34" charset="-120"/>
              </a:rPr>
              <a:t>closing shift</a:t>
            </a:r>
            <a:endParaRPr lang="en-US" sz="1400" dirty="0"/>
          </a:p>
        </p:txBody>
      </p:sp>
      <p:sp>
        <p:nvSpPr>
          <p:cNvPr id="23" name="Text 21"/>
          <p:cNvSpPr txBox="1"/>
          <p:nvPr/>
        </p:nvSpPr>
        <p:spPr>
          <a:xfrm>
            <a:off x="7205472" y="3200400"/>
            <a:ext cx="1426464"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Sundays: 45 min</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never more than five days in a row on the fixed rota.</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084832"/>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185416"/>
            <a:ext cx="256032" cy="256032"/>
          </a:xfrm>
          <a:prstGeom prst="rect">
            <a:avLst/>
          </a:prstGeom>
        </p:spPr>
      </p:pic>
      <p:sp>
        <p:nvSpPr>
          <p:cNvPr id="10" name="Text 6"/>
          <p:cNvSpPr txBox="1"/>
          <p:nvPr/>
        </p:nvSpPr>
        <p:spPr>
          <a:xfrm>
            <a:off x="1097280" y="2048256"/>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331720"/>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2798064"/>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2898648"/>
            <a:ext cx="256032" cy="256032"/>
          </a:xfrm>
          <a:prstGeom prst="rect">
            <a:avLst/>
          </a:prstGeom>
        </p:spPr>
      </p:pic>
      <p:sp>
        <p:nvSpPr>
          <p:cNvPr id="14" name="Text 9"/>
          <p:cNvSpPr txBox="1"/>
          <p:nvPr/>
        </p:nvSpPr>
        <p:spPr>
          <a:xfrm>
            <a:off x="1097280" y="276148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04495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511296"/>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3611880"/>
            <a:ext cx="256032" cy="256032"/>
          </a:xfrm>
          <a:prstGeom prst="rect">
            <a:avLst/>
          </a:prstGeom>
        </p:spPr>
      </p:pic>
      <p:sp>
        <p:nvSpPr>
          <p:cNvPr id="18" name="Text 12"/>
          <p:cNvSpPr txBox="1"/>
          <p:nvPr/>
        </p:nvSpPr>
        <p:spPr>
          <a:xfrm>
            <a:off x="1097280" y="347472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375818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1"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2"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change is coming whatever we do — the question is which version we want.</a:t>
            </a:r>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4.20</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219.0</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218.6</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on average and no more days; weeks run from 24h 30m to 42h 30m (today 25h 10m to 43h 50m), and two more of the days fall on a Saturday.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the longest early turn goes from 8h 30m to 9h 00m,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3 more a year after 23:00 (42, today 39); 16 more at 22:00 or later (94, today 78)</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More people stay on after 22:00 under the December staffing; the three more after 23:00 are the fewest the rules allow.</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06:20–14:20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06:20–14:50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07:15–15:45</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08:00–16:30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12:00–20:00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14:00–22:30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14:30–22:00</a:t>
            </a:r>
            <a:endParaRPr lang="en-US" sz="1050" dirty="0"/>
          </a:p>
          <a:p>
            <a:pPr marL="152400" indent="-152400">
              <a:spcAft>
                <a:spcPts val="2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15:15–23:55</a:t>
            </a:r>
            <a:endParaRPr lang="en-US" sz="105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nothing new — every Saturday time is worked today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Font typeface="Inter" pitchFamily="34" charset="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 about a year</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no early–late switch</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and never more than five days in a row on the fixed rota.</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Your 26 weeks 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green bars are the full weekends off; where you start is decided later</a:t>
            </a:r>
            <a:endParaRPr lang="en-US" sz="1500" dirty="0"/>
          </a:p>
        </p:txBody>
      </p:sp>
      <p:pic>
        <p:nvPicPr>
          <p:cNvPr id="990" name="Rota strip" descr="The 26 weeks of the link"/>
          <p:cNvPicPr>
            <a:picLocks noChangeAspect="1"/>
          </p:cNvPicPr>
          <p:nvPr/>
        </p:nvPicPr>
        <p:blipFill>
          <a:blip r:embed="rIdStrip"/>
          <a:stretch>
            <a:fillRect/>
          </a:stretch>
        </p:blipFill>
        <p:spPr>
          <a:xfrm>
            <a:off x="457200" y="1371600"/>
            <a:ext cx="8229600" cy="2575381"/>
          </a:xfrm>
          <a:prstGeom prst="rect">
            <a:avLst/>
          </a:prstGeom>
        </p:spPr>
      </p:pic>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14 full weekends off a year, at most five weeks apart; blocks of earlies or lates up to 5 weeks, 7 if the cover weeks go the same way.</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Best stretch 28 days, not 30; four full weeks off, Sunday to Saturday, costs 15 days’ leave, not 14. Average the same, worst a day better.</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822960"/>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Several of them are shorter versions of the lates you already work today.</a:t>
            </a:r>
            <a:endParaRPr lang="en-US" sz="1250" dirty="0"/>
          </a:p>
        </p:txBody>
      </p:sp>
      <p:sp>
        <p:nvSpPr>
          <p:cNvPr id="7" name="Shape 5"/>
          <p:cNvSpPr/>
          <p:nvPr/>
        </p:nvSpPr>
        <p:spPr>
          <a:xfrm>
            <a:off x="4663440" y="1371600"/>
            <a:ext cx="4023360" cy="822960"/>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444752"/>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719072"/>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That is what keeps days at work to 219 a year or fewer on the same 35 hours.</a:t>
            </a:r>
            <a:endParaRPr lang="en-US" sz="1250" dirty="0"/>
          </a:p>
        </p:txBody>
      </p:sp>
      <p:sp>
        <p:nvSpPr>
          <p:cNvPr id="10" name="Shape 8"/>
          <p:cNvSpPr/>
          <p:nvPr/>
        </p:nvSpPr>
        <p:spPr>
          <a:xfrm>
            <a:off x="457200" y="2267712"/>
            <a:ext cx="4023360" cy="822960"/>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Four weeks off: 15 days’ leave, not 14</a:t>
            </a:r>
            <a:endParaRPr lang="en-US" sz="1400" dirty="0"/>
          </a:p>
        </p:txBody>
      </p:sp>
      <p:sp>
        <p:nvSpPr>
          <p:cNvPr id="12" name="Text 10"/>
          <p:cNvSpPr txBox="1"/>
          <p:nvPr/>
        </p:nvSpPr>
        <p:spPr>
          <a:xfrm>
            <a:off x="64008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Best 14-day stretch 28 days, not 30; average as today, worst a day better.</a:t>
            </a:r>
            <a:endParaRPr lang="en-US" sz="1250" dirty="0"/>
          </a:p>
        </p:txBody>
      </p:sp>
      <p:sp>
        <p:nvSpPr>
          <p:cNvPr id="13" name="Shape 11"/>
          <p:cNvSpPr/>
          <p:nvPr/>
        </p:nvSpPr>
        <p:spPr>
          <a:xfrm>
            <a:off x="4663440" y="2267712"/>
            <a:ext cx="4023360" cy="822960"/>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340864"/>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Two more Saturdays a year</a:t>
            </a:r>
            <a:endParaRPr lang="en-US" sz="1400" dirty="0"/>
          </a:p>
        </p:txBody>
      </p:sp>
      <p:sp>
        <p:nvSpPr>
          <p:cNvPr id="15" name="Text 13"/>
          <p:cNvSpPr txBox="1"/>
          <p:nvPr/>
        </p:nvSpPr>
        <p:spPr>
          <a:xfrm>
            <a:off x="4846320" y="2615184"/>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28 a year each, today 26 — fourteen on a Saturday, shared across 26 lines.</a:t>
            </a:r>
            <a:endParaRPr lang="en-US" sz="1250" dirty="0"/>
          </a:p>
        </p:txBody>
      </p:sp>
      <p:sp>
        <p:nvSpPr>
          <p:cNvPr id="16" name="Shape 14"/>
          <p:cNvSpPr/>
          <p:nvPr/>
        </p:nvSpPr>
        <p:spPr>
          <a:xfrm>
            <a:off x="457200" y="3163824"/>
            <a:ext cx="4023360" cy="822960"/>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163824"/>
            <a:ext cx="4023360" cy="822960"/>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236976"/>
            <a:ext cx="3703320" cy="274320"/>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3511296"/>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3"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4"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None of these is hidden: each one is on the full proposal sheet too.</a:t>
            </a:r>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Short Run,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Short Run</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218.6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 about a year</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6)</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18288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a:noFill/>
                    </a:lnL>
                    <a:lnR>
                      <a:noFill/>
                    </a:lnR>
                    <a:lnT w="6350" cap="flat" cmpd="sng" algn="ctr">
                      <a:solidFill>
                        <a:srgbClr val="DDE3EA"/>
                      </a:solidFill>
                      <a:prstDash val="solid"/>
                      <a:round/>
                      <a:headEnd type="none" w="med" len="med"/>
                      <a:tailEnd type="none" w="med" len="med"/>
                    </a:lnT>
                    <a:lnB w="6350"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Short Run · SR-26-F1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