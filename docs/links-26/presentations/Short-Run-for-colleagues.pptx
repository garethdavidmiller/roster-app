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five days in a row on the fixed rota — six at most when a cover week falls badly, where today it is seven and can reach nine. Seven full weekends off in every 26 weeks, against four in 20 today, and never more than five weeks apart — though each person works about two more Saturdays a year. Every working week is all earlies or all lates, and 18 of the 21 working weeks keep one shift time Monday to Friday. Nine of the fifteen shift times are ones people already work. And every closing shift is shorter: the weekday and Saturday closers by 30 minutes, the Sunday closer by 45. Say the leave cost here too, before anyone asks: four full weeks off, Sunday to Saturday, takes 15 days’ leave rather than 14, and the best 14-day stretch is 28 days off rather than 30; the average is the same and the worst a day better. A cover week is one of the five weeks in 26 with no fixed shifts: its four duties are placed later to cover leave and sickness; the fixed rota is the other 21 weeks, whose shifts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and the Sunday cover were confirmed verbally on 29 September 2026; with the ticket office’s pairs and the cap on shift times they are the nine December rules every proposal is scored on. The 26-week link, its five cover weeks and the ceiling of 219 contracted days a year were set on 1 October 2026.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Short Run. Exactly, Short Run works out at 218.6 days a year: just under today’s 219, which is also the most the 26-week link is allowed (set on 1 October 2026; a year here is 365 days, as the ceiling’s is). The average shift is about two minutes longer, which is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28 a year instead of 26. Sundays stay overtime: 10 a week shared among 26 people instead of 8 among 20, so about the same each (20 a year, against 21). On this link they are everyone’s figures, whichever line you start on: a year is exactly two turns of the 26 weeks, so everyone works each week twice — today’s, on 20 weeks, are averages. They are not a payslip; the Pay Calculator in the app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15:15 instead of 14:45 (8h 40m, not 9h 10m); Sunday 15:15 to 23:25 instead of 14:30 (8h 10m, not 8h 55m). Be upfront about the two minutes on the average: the 26-week link may have no more than 219 contracted days a year, so the same 35 hours go into slightly fewer, slightly longer shifts. One early goes the other way: the new weekday 07:00–16:00 is 9 hours, about 20 a year each, where no early today is over 8h 30m. Nothing runs over 9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About three more a year each finish at 23:00 or later, and all of that comes from the December rules: three on duty to the close every day, where today has two Monday to Saturday. In Short Run the only people who finish after 23:00 are those three closers, so no link that meets the rules on 26 weeks can have fewer. Finishes at 22:00 or later go up more, from 78 to 94 a year: the rules also want five still on duty after 22:00, and two weekday lates finish at 22:30 with the ticket office. Early 06:20 starts hardly change. And because the shortest gap between two shifts is 14h 20m, nobody finishes late and starts early the next morning. The yearly figures are the fixed rota’s, which everyone works through twice a year; a cover week’s duties are not known yet and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Run was built keeping the times people already work wherever that cost little. Nine of its fifteen are worked today, and it uses fewer different times overall than today’s eighteen. Four of the new times are shorter versions of today’s lates: the weekday and Sunday closers start later, the weekday 15:00–22:30 starts an hour after today’s 14:00–22:30, and the Sunday office late finishes at 22:30, not 23:25. One goes the other way: the weekday 07:00–16:00 is 9 hours, longer than any early worked today. The full list is on the slide. The Sunday opener stays today’s 07:15–15:45.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Short Run gives 7 in 26, and they are never more than five weeks apart, against seven today. Five is as close as they can be: a full weekend cannot start in a cover week or the week before one, so only 16 of the 26 weeks can begin one. Nobody works more than five days in a row on the fixed rota — today it is seven — and six is the most a badly placed cover week can make it. Every working week is all earlies or all lates — today seven weeks in 16 mix the two — and 18 of the 21 keep the same shift time Monday to Friday. Rest days mostly come in pairs: 22 of the 26 rest-day breaks are two days or more, against 13 of 17 today, and single rest days stay at four, as today.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strip left to right; week 27 is week 1 again. A cover week has no fixed shifts of its own — its four duties are placed later to cover leave and sickness, which is why it is drawn empty. Earlies here means a start before 11:00. A weekday has 7 earlies and 8 lates; a Saturday 7 and 7; a Sunday 5 and 5. Sundays stay overtime, 20 a year each (today 21), and still finish at 23:25. Who starts on which week is decided after the link is chosen. A block is weeks in a row all on earlies or all on lates. On the fixed rota the longest is 5 weeks (today 2); because a cover week’s duties are placed later, a block can run to 7 if the cover weeks beside it are given the same kind (today 3). Fewer switches between earlies and lates, but someone who prefers one kind waits longer for it to come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Short Run spreads rest days more evenly, so its best is 28. On average it is the same, 23.4 days, and at its worst it is a day better than today. Four full weeks off (Sunday to Saturday) takes at least 15 days of leave, instead of 14 at best today. Say the four-weeks figure plainly: both shortlisted links are worse than today here (Long Break, the leave-first design in the pack, keeps the 14), and people plan a year around it. The averages depend on where you count a booking as starting, so quote those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and the rail industry publish lists of rota patterns that tend to tire people. Today’s link shows four of them in the fixed rota (up to five where a cover week falls badly); Short Run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 Id="rIdStrip" Type="http://schemas.openxmlformats.org/officeDocument/2006/relationships/image" Target="../media/rota-strip.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Short Run</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26 weeks · code SR-26-F1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12064"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contracted</a:t>
            </a:r>
            <a:br/>
            <a:r>
              <a:rPr lang="en-US" sz="1400" b="1" dirty="0">
                <a:solidFill>
                  <a:srgbClr val="1B2533"/>
                </a:solidFill>
                <a:latin typeface="Inter" pitchFamily="34" charset="0"/>
                <a:ea typeface="Inter" pitchFamily="34" charset="-122"/>
                <a:cs typeface="Inter" pitchFamily="34" charset="-120"/>
              </a:rPr>
              <a:t>week, as now</a:t>
            </a:r>
            <a:endParaRPr lang="en-US" sz="1400" dirty="0"/>
          </a:p>
        </p:txBody>
      </p:sp>
      <p:sp>
        <p:nvSpPr>
          <p:cNvPr id="7" name="Text 5"/>
          <p:cNvSpPr txBox="1"/>
          <p:nvPr/>
        </p:nvSpPr>
        <p:spPr>
          <a:xfrm>
            <a:off x="512064"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5</a:t>
            </a:r>
            <a:endParaRPr lang="en-US" sz="3000" dirty="0"/>
          </a:p>
        </p:txBody>
      </p:sp>
      <p:sp>
        <p:nvSpPr>
          <p:cNvPr id="10" name="Text 8"/>
          <p:cNvSpPr txBox="1"/>
          <p:nvPr/>
        </p:nvSpPr>
        <p:spPr>
          <a:xfrm>
            <a:off x="2185416"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a:t>
            </a:r>
            <a:br/>
            <a:r>
              <a:rPr lang="en-US" sz="1400" b="1" dirty="0">
                <a:solidFill>
                  <a:srgbClr val="1B2533"/>
                </a:solidFill>
                <a:latin typeface="Inter" pitchFamily="34" charset="0"/>
                <a:ea typeface="Inter" pitchFamily="34" charset="-122"/>
                <a:cs typeface="Inter" pitchFamily="34" charset="-120"/>
              </a:rPr>
              <a:t>in a row</a:t>
            </a:r>
            <a:endParaRPr lang="en-US" sz="1400" dirty="0"/>
          </a:p>
        </p:txBody>
      </p:sp>
      <p:sp>
        <p:nvSpPr>
          <p:cNvPr id="11" name="Text 9"/>
          <p:cNvSpPr txBox="1"/>
          <p:nvPr/>
        </p:nvSpPr>
        <p:spPr>
          <a:xfrm>
            <a:off x="2185416"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up to 6 · today 7</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14</a:t>
            </a:r>
            <a:endParaRPr lang="en-US" sz="3000" dirty="0"/>
          </a:p>
        </p:txBody>
      </p:sp>
      <p:sp>
        <p:nvSpPr>
          <p:cNvPr id="14" name="Text 12"/>
          <p:cNvSpPr txBox="1"/>
          <p:nvPr/>
        </p:nvSpPr>
        <p:spPr>
          <a:xfrm>
            <a:off x="3858768"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a:t>
            </a:r>
            <a:br/>
            <a:r>
              <a:rPr lang="en-US" sz="1400" b="1" dirty="0">
                <a:solidFill>
                  <a:srgbClr val="1B2533"/>
                </a:solidFill>
                <a:latin typeface="Inter" pitchFamily="34" charset="0"/>
                <a:ea typeface="Inter" pitchFamily="34" charset="-122"/>
                <a:cs typeface="Inter" pitchFamily="34" charset="-120"/>
              </a:rPr>
              <a:t>off a year</a:t>
            </a:r>
            <a:endParaRPr lang="en-US" sz="1400" dirty="0"/>
          </a:p>
        </p:txBody>
      </p:sp>
      <p:sp>
        <p:nvSpPr>
          <p:cNvPr id="15" name="Text 13"/>
          <p:cNvSpPr txBox="1"/>
          <p:nvPr/>
        </p:nvSpPr>
        <p:spPr>
          <a:xfrm>
            <a:off x="3858768"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10 · 7 in 26</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9 of 15</a:t>
            </a:r>
            <a:endParaRPr lang="en-US" sz="3000" dirty="0"/>
          </a:p>
        </p:txBody>
      </p:sp>
      <p:sp>
        <p:nvSpPr>
          <p:cNvPr id="18" name="Text 16"/>
          <p:cNvSpPr txBox="1"/>
          <p:nvPr/>
        </p:nvSpPr>
        <p:spPr>
          <a:xfrm>
            <a:off x="5532120"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a:t>
            </a:r>
            <a:br/>
            <a:r>
              <a:rPr lang="en-US" sz="1400" b="1" dirty="0">
                <a:solidFill>
                  <a:srgbClr val="1B2533"/>
                </a:solidFill>
                <a:latin typeface="Inter" pitchFamily="34" charset="0"/>
                <a:ea typeface="Inter" pitchFamily="34" charset="-122"/>
                <a:cs typeface="Inter" pitchFamily="34" charset="-120"/>
              </a:rPr>
              <a:t>already work</a:t>
            </a:r>
            <a:endParaRPr lang="en-US" sz="1400" dirty="0"/>
          </a:p>
        </p:txBody>
      </p:sp>
      <p:sp>
        <p:nvSpPr>
          <p:cNvPr id="19" name="Text 17"/>
          <p:cNvSpPr txBox="1"/>
          <p:nvPr/>
        </p:nvSpPr>
        <p:spPr>
          <a:xfrm>
            <a:off x="5532120"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6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 min</a:t>
            </a:r>
            <a:endParaRPr lang="en-US" sz="3000" dirty="0"/>
          </a:p>
        </p:txBody>
      </p:sp>
      <p:sp>
        <p:nvSpPr>
          <p:cNvPr id="22" name="Text 20"/>
          <p:cNvSpPr txBox="1"/>
          <p:nvPr/>
        </p:nvSpPr>
        <p:spPr>
          <a:xfrm>
            <a:off x="7205472"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off every</a:t>
            </a:r>
            <a:br/>
            <a:r>
              <a:rPr lang="en-US" sz="1400" b="1" dirty="0">
                <a:solidFill>
                  <a:srgbClr val="1B2533"/>
                </a:solidFill>
                <a:latin typeface="Inter" pitchFamily="34" charset="0"/>
                <a:ea typeface="Inter" pitchFamily="34" charset="-122"/>
                <a:cs typeface="Inter" pitchFamily="34" charset="-120"/>
              </a:rPr>
              <a:t>closing shift</a:t>
            </a:r>
            <a:endParaRPr lang="en-US" sz="1400" dirty="0"/>
          </a:p>
        </p:txBody>
      </p:sp>
      <p:sp>
        <p:nvSpPr>
          <p:cNvPr id="23" name="Text 21"/>
          <p:cNvSpPr txBox="1"/>
          <p:nvPr/>
        </p:nvSpPr>
        <p:spPr>
          <a:xfrm>
            <a:off x="7205472"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Sundays: 45 min</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closers, weekends off never more than five weeks apart, and never more than five days in a row on the fixed rota.</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084832"/>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185416"/>
            <a:ext cx="256032" cy="256032"/>
          </a:xfrm>
          <a:prstGeom prst="rect">
            <a:avLst/>
          </a:prstGeom>
        </p:spPr>
      </p:pic>
      <p:sp>
        <p:nvSpPr>
          <p:cNvPr id="10" name="Text 6"/>
          <p:cNvSpPr txBox="1"/>
          <p:nvPr/>
        </p:nvSpPr>
        <p:spPr>
          <a:xfrm>
            <a:off x="1097280" y="2048256"/>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331720"/>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26, so six more colleagues join it.</a:t>
            </a:r>
            <a:endParaRPr lang="en-US" sz="1300" dirty="0"/>
          </a:p>
        </p:txBody>
      </p:sp>
      <p:sp>
        <p:nvSpPr>
          <p:cNvPr id="12" name="Shape 8"/>
          <p:cNvSpPr/>
          <p:nvPr/>
        </p:nvSpPr>
        <p:spPr>
          <a:xfrm>
            <a:off x="457200" y="2798064"/>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2898648"/>
            <a:ext cx="256032" cy="256032"/>
          </a:xfrm>
          <a:prstGeom prst="rect">
            <a:avLst/>
          </a:prstGeom>
        </p:spPr>
      </p:pic>
      <p:sp>
        <p:nvSpPr>
          <p:cNvPr id="14" name="Text 9"/>
          <p:cNvSpPr txBox="1"/>
          <p:nvPr/>
        </p:nvSpPr>
        <p:spPr>
          <a:xfrm>
            <a:off x="1097280" y="276148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04495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close and at 22:00. We also aim for 14 on a Saturday.</a:t>
            </a:r>
            <a:endParaRPr lang="en-US" sz="1300" dirty="0"/>
          </a:p>
        </p:txBody>
      </p:sp>
      <p:sp>
        <p:nvSpPr>
          <p:cNvPr id="16" name="Shape 11"/>
          <p:cNvSpPr/>
          <p:nvPr/>
        </p:nvSpPr>
        <p:spPr>
          <a:xfrm>
            <a:off x="457200" y="3511296"/>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3611880"/>
            <a:ext cx="256032" cy="256032"/>
          </a:xfrm>
          <a:prstGeom prst="rect">
            <a:avLst/>
          </a:prstGeom>
        </p:spPr>
      </p:pic>
      <p:sp>
        <p:nvSpPr>
          <p:cNvPr id="18" name="Text 12"/>
          <p:cNvSpPr txBox="1"/>
          <p:nvPr/>
        </p:nvSpPr>
        <p:spPr>
          <a:xfrm>
            <a:off x="1097280" y="347472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375818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1"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2"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change is coming whatever we do — the question is which version we want.</a:t>
            </a:r>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Short Run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4.20</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4.19</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219.0</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218.6</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on average and no more days; weeks run from 24h 30m to 42h 30m (today 25h 10m to 43h 50m), and two more of the days fall on a Saturday.</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Short Run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28</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two more Saturdays at time and a quarter.</a:t>
            </a:r>
            <a:endParaRPr lang="en-US" sz="140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about two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Short Run</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15:15, not 14:45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40m</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16m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closing shift is 30 to 45 minutes shorter; the longest early turn goes from 8h 30m to 9h 00m, and nothing runs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3 more a year after 23:00 (42, today 39); 16 more at 22:00 or later (94, today 78)</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Short Run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42</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94</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60</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More people stay on after 22:00 under the December staffing; the three more after 23:00 are the fewest the rules allow.</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15 shift times in all — 9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(9)</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06:20–14:20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06:20–14:50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07:15–15:45</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08:00–16:30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12:00–20:00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14:00–22:30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15:15–23:55</a:t>
            </a:r>
            <a:endParaRPr lang="en-US" sz="105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(6)</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050" b="1" dirty="0">
                <a:solidFill>
                  <a:srgbClr val="001E3C"/>
                </a:solidFill>
                <a:latin typeface="Inter" pitchFamily="34" charset="0"/>
                <a:ea typeface="Inter" pitchFamily="34" charset="-122"/>
                <a:cs typeface="Inter" pitchFamily="34" charset="-120"/>
              </a:rPr>
              <a:t>Weekdays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07:00–16:00 — a new early, 9 hours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15:00–22:30 — a new late, ending with the ticket office</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15:45–23:55 — the closer, 30 minutes later than 15:15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Saturday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nothing new — all six worked today, three on a Saturday</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Sunday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15:15–23:25 — the closer, 45 minutes later than 14:30</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09:00–18:00 — a new early, 9 hours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14:30–22:30 — the ticket-office late</a:t>
            </a:r>
            <a:endParaRPr lang="en-US" sz="105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shift times than today (15, not 18) — and nothing new on a Saturday.</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Short Run</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 about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(up to 6)</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26</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no early–late switch</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18 of 21</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and never more than five days in a row on the fixed rota.</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Your 26 weeks 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green bars are the full weekends off; where you start is decided later</a:t>
            </a:r>
            <a:endParaRPr lang="en-US" sz="1500" dirty="0"/>
          </a:p>
        </p:txBody>
      </p:sp>
      <p:pic>
        <p:nvPicPr>
          <p:cNvPr id="990" name="Rota strip" descr="The 26 weeks of the link"/>
          <p:cNvPicPr>
            <a:picLocks noChangeAspect="1"/>
          </p:cNvPicPr>
          <p:nvPr/>
        </p:nvPicPr>
        <p:blipFill>
          <a:blip r:embed="rIdStrip"/>
          <a:stretch>
            <a:fillRect/>
          </a:stretch>
        </p:blipFill>
        <p:spPr>
          <a:xfrm>
            <a:off x="457200" y="1371600"/>
            <a:ext cx="8229600" cy="2575381"/>
          </a:xfrm>
          <a:prstGeom prst="rect">
            <a:avLst/>
          </a:prstGeom>
        </p:spPr>
      </p:pic>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blocks of earlies or lates up to 5 weeks, 7 if the cover weeks go the same way.</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Short Run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23.4</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Best stretch 28 days, not 30; four full weeks off, Sunday to Saturday, costs 15 days’ leave, not 14. Average the same, worst a day better.</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and more at the open and the close on most days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Short Run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822960"/>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Six new shift times to learn</a:t>
            </a:r>
            <a:endParaRPr lang="en-US" sz="1400" dirty="0"/>
          </a:p>
        </p:txBody>
      </p:sp>
      <p:sp>
        <p:nvSpPr>
          <p:cNvPr id="6" name="Text 4"/>
          <p:cNvSpPr txBox="1"/>
          <p:nvPr/>
        </p:nvSpPr>
        <p:spPr>
          <a:xfrm>
            <a:off x="64008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Four are shorter versions of today’s lates; one is a longer weekday early.</a:t>
            </a:r>
            <a:endParaRPr lang="en-US" sz="1250" dirty="0"/>
          </a:p>
        </p:txBody>
      </p:sp>
      <p:sp>
        <p:nvSpPr>
          <p:cNvPr id="7" name="Shape 5"/>
          <p:cNvSpPr/>
          <p:nvPr/>
        </p:nvSpPr>
        <p:spPr>
          <a:xfrm>
            <a:off x="4663440" y="1371600"/>
            <a:ext cx="4023360" cy="822960"/>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about 2 minutes longer on average</a:t>
            </a:r>
            <a:endParaRPr lang="en-US" sz="1400" dirty="0"/>
          </a:p>
        </p:txBody>
      </p:sp>
      <p:sp>
        <p:nvSpPr>
          <p:cNvPr id="9" name="Text 7"/>
          <p:cNvSpPr txBox="1"/>
          <p:nvPr/>
        </p:nvSpPr>
        <p:spPr>
          <a:xfrm>
            <a:off x="484632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That is what keeps days at work to 219 a year or fewer on the same 35 hours.</a:t>
            </a:r>
            <a:endParaRPr lang="en-US" sz="1250" dirty="0"/>
          </a:p>
        </p:txBody>
      </p:sp>
      <p:sp>
        <p:nvSpPr>
          <p:cNvPr id="10" name="Shape 8"/>
          <p:cNvSpPr/>
          <p:nvPr/>
        </p:nvSpPr>
        <p:spPr>
          <a:xfrm>
            <a:off x="457200" y="2267712"/>
            <a:ext cx="4023360" cy="822960"/>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Four weeks off: 15 days’ leave, not 14</a:t>
            </a:r>
            <a:endParaRPr lang="en-US" sz="1400" dirty="0"/>
          </a:p>
        </p:txBody>
      </p:sp>
      <p:sp>
        <p:nvSpPr>
          <p:cNvPr id="12" name="Text 10"/>
          <p:cNvSpPr txBox="1"/>
          <p:nvPr/>
        </p:nvSpPr>
        <p:spPr>
          <a:xfrm>
            <a:off x="64008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The least leave for four complete weeks off, Sunday to Saturday.</a:t>
            </a:r>
            <a:endParaRPr lang="en-US" sz="1250" dirty="0"/>
          </a:p>
        </p:txBody>
      </p:sp>
      <p:sp>
        <p:nvSpPr>
          <p:cNvPr id="13" name="Shape 11"/>
          <p:cNvSpPr/>
          <p:nvPr/>
        </p:nvSpPr>
        <p:spPr>
          <a:xfrm>
            <a:off x="4663440" y="2267712"/>
            <a:ext cx="4023360" cy="822960"/>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Two more Saturdays a year</a:t>
            </a:r>
            <a:endParaRPr lang="en-US" sz="1400" dirty="0"/>
          </a:p>
        </p:txBody>
      </p:sp>
      <p:sp>
        <p:nvSpPr>
          <p:cNvPr id="15" name="Text 13"/>
          <p:cNvSpPr txBox="1"/>
          <p:nvPr/>
        </p:nvSpPr>
        <p:spPr>
          <a:xfrm>
            <a:off x="484632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28 a year each, today 26 — fourteen on a Saturday, shared across 26 lines.</a:t>
            </a:r>
            <a:endParaRPr lang="en-US" sz="1250" dirty="0"/>
          </a:p>
        </p:txBody>
      </p:sp>
      <p:sp>
        <p:nvSpPr>
          <p:cNvPr id="16" name="Shape 14"/>
          <p:cNvSpPr/>
          <p:nvPr/>
        </p:nvSpPr>
        <p:spPr>
          <a:xfrm>
            <a:off x="457200" y="3163824"/>
            <a:ext cx="4023360" cy="822960"/>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A few more late finishes</a:t>
            </a:r>
            <a:endParaRPr lang="en-US" sz="1400" dirty="0"/>
          </a:p>
        </p:txBody>
      </p:sp>
      <p:sp>
        <p:nvSpPr>
          <p:cNvPr id="18" name="Text 16"/>
          <p:cNvSpPr txBox="1"/>
          <p:nvPr/>
        </p:nvSpPr>
        <p:spPr>
          <a:xfrm>
            <a:off x="64008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42 a year each at 23:00 or later (today 39) — the rules’ minimum.</a:t>
            </a:r>
            <a:endParaRPr lang="en-US" sz="1250" dirty="0"/>
          </a:p>
        </p:txBody>
      </p:sp>
      <p:sp>
        <p:nvSpPr>
          <p:cNvPr id="19" name="Shape 17"/>
          <p:cNvSpPr/>
          <p:nvPr/>
        </p:nvSpPr>
        <p:spPr>
          <a:xfrm>
            <a:off x="4663440" y="3163824"/>
            <a:ext cx="4023360" cy="822960"/>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3"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4"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None of these is hidden: each one is on the full proposal sheet too.</a:t>
            </a:r>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Short Run,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Short Run</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218.6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16m · 9h 00m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40m · 8h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 about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5 (up to 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20m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(9 you know)</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 14 · 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and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Short Run · SR-26-F1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Run — the December 2026 link</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