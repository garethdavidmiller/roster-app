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One full weekend off in every four weeks, against one in five today. Never fewer than three on the station floor. And every closing shift is shorter: the weekday closer by 30 minutes, the Sunday closer by 45 and the Saturday closer by an hour. Right Away was built so the people on the floor follow the trains through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the 24 people and the Sunday cover are confirmed: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Right Away. If asked: counting Sunday overtime too, it is about one fewer day a year rather than two. Fewer days is possible because the average shift is a few minutes longer,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30 a year instead of 26. Sundays stay overtime: 10 a week shared among 24 people instead of 8 among 20, so about the same each.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15:45 to 23:55 instead of 14:45 (8h 10m, not 9h 10m); Sunday 15:15 to 23:25 instead of 14:30 (8h 10m, not 8h 55m). Be upfront about the other side: the minutes taken off the closers are worked earlier in the day instead, so some earlies are longer — the longest is a Saturday 07:15–16:45 (9h 30m), against 9h 10m today, and there are weekday earlies of 9h 15m and 9h 25m. The six minutes on the average is what pays for working two fewer days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 it is the change people will notice most. December needs three on duty to the close and five still on at 22:00, where today’s weekdays have two and four, so more late finishes have to go somewhere. Spread over 24 people that is about 20 more a year each finishing at 23:00 or later. Early 06:20 starts hardly change. And because the shortest gap between two shifts is 14h 05m,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Away was built to follow the trains rather than to keep today’s times, and this is where that shows: five of today’s eighteen times stay, and twelve are new. Several are small nudges — 06:20–14:30 is ten minutes on from 06:20–14:20, and the Sunday opener is fifteen minutes shorter — but some are genuinely new, including longer earlies of 9h 15m to 9h 30m. 15:45–23:55 is one time, the closer on weekdays and on Saturdays. The full list, day by day, is on page 4 of the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 one in five; Right Away gives 6 in 24 — one in four. Most weeks now keep the same shift time Monday to Friday, and all earlies or all lates, so you are not bouncing between earlies and lates inside a week. Rest days nearly always come in pairs now — 22 of the 24 rest-day breaks are two days or more, against 13 of 17 today — and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Sundays: today 8 Sunday duties across 16 working weeks, Right Away 10 across 20 — the same one-in-two share of working weeks. Because cover weeks come round a little less often, that is about one more Sunday a year each (22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Right Away spreads rest days more evenly, so its best is 28. On average it is about the same, and at its worst it is never worse than today. Four full weeks off (Sunday to Saturday) takes 15 days of leave instead of 14.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Away puts the people on the floor where the trains are: through the day, the number on the station floor rises and falls with the December timetable far more closely than today’s link does — on weekdays about half as far off, on a Saturday about a fifth. The Office of Rail and Road and the rail industry publish lists of rota patterns that tend to tire people. Today’s link shows five of them; Right Away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Right Away</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24 weeks · code FR-24-F34s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it can be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 in 24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one in four, not one in five</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never fewer on the station floor</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it can drop to 2</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30–60</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minutes off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an hour on a Saturday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closing shifts, more weekends — and staff where the trains are.</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29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30552"/>
            <a:ext cx="256032" cy="256032"/>
          </a:xfrm>
          <a:prstGeom prst="rect">
            <a:avLst/>
          </a:prstGeom>
        </p:spPr>
      </p:pic>
      <p:sp>
        <p:nvSpPr>
          <p:cNvPr id="10" name="Text 6"/>
          <p:cNvSpPr txBox="1"/>
          <p:nvPr/>
        </p:nvSpPr>
        <p:spPr>
          <a:xfrm>
            <a:off x="1097280" y="1993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276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24, so four more colleagues join it.</a:t>
            </a:r>
            <a:endParaRPr lang="en-US" sz="1300" dirty="0"/>
          </a:p>
        </p:txBody>
      </p:sp>
      <p:sp>
        <p:nvSpPr>
          <p:cNvPr id="12" name="Shape 8"/>
          <p:cNvSpPr/>
          <p:nvPr/>
        </p:nvSpPr>
        <p:spPr>
          <a:xfrm>
            <a:off x="457200" y="2688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788920"/>
            <a:ext cx="256032" cy="256032"/>
          </a:xfrm>
          <a:prstGeom prst="rect">
            <a:avLst/>
          </a:prstGeom>
        </p:spPr>
      </p:pic>
      <p:sp>
        <p:nvSpPr>
          <p:cNvPr id="14" name="Text 9"/>
          <p:cNvSpPr txBox="1"/>
          <p:nvPr/>
        </p:nvSpPr>
        <p:spPr>
          <a:xfrm>
            <a:off x="1097280" y="2651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2935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346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447288"/>
            <a:ext cx="256032" cy="256032"/>
          </a:xfrm>
          <a:prstGeom prst="rect">
            <a:avLst/>
          </a:prstGeom>
        </p:spPr>
      </p:pic>
      <p:sp>
        <p:nvSpPr>
          <p:cNvPr id="18" name="Text 12"/>
          <p:cNvSpPr txBox="1"/>
          <p:nvPr/>
        </p:nvSpPr>
        <p:spPr>
          <a:xfrm>
            <a:off x="1097280" y="3310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593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4.17</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217</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about 2 fewer days at work a year.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22</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four more Saturdays at time and a quarter.</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six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15:45,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9h 30m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20m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60 minutes shorter — but some earlies run longer.</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Yes — about one extra late finish every two or three weeks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59</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91</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05m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December needs more people at the close — but every closing shift is shorter.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17 shift times in all — 5 of them you already work</a:t>
            </a:r>
            <a:endParaRPr lang="en-US" sz="1500" dirty="0"/>
          </a:p>
        </p:txBody>
      </p:sp>
      <p:sp>
        <p:nvSpPr>
          <p:cNvPr id="4" name="Shape 2"/>
          <p:cNvSpPr/>
          <p:nvPr/>
        </p:nvSpPr>
        <p:spPr>
          <a:xfrm>
            <a:off x="457200" y="1325880"/>
            <a:ext cx="8229600" cy="566928"/>
          </a:xfrm>
          <a:prstGeom prst="roundRect">
            <a:avLst>
              <a:gd name="adj" fmla="val 16129"/>
            </a:avLst>
          </a:prstGeom>
          <a:solidFill>
            <a:srgbClr val="EEF2F7"/>
          </a:solidFill>
          <a:ln w="12700">
            <a:solidFill>
              <a:srgbClr val="EEF2F7"/>
            </a:solidFill>
            <a:prstDash val="solid"/>
          </a:ln>
        </p:spPr>
      </p:sp>
      <p:sp>
        <p:nvSpPr>
          <p:cNvPr id="5" name="Shape 3"/>
          <p:cNvSpPr/>
          <p:nvPr/>
        </p:nvSpPr>
        <p:spPr>
          <a:xfrm>
            <a:off x="594360" y="1399032"/>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684886" y="1489558"/>
            <a:ext cx="230429" cy="230429"/>
          </a:xfrm>
          <a:prstGeom prst="rect">
            <a:avLst/>
          </a:prstGeom>
        </p:spPr>
      </p:pic>
      <p:sp>
        <p:nvSpPr>
          <p:cNvPr id="7" name="Text 4"/>
          <p:cNvSpPr txBox="1"/>
          <p:nvPr/>
        </p:nvSpPr>
        <p:spPr>
          <a:xfrm>
            <a:off x="1143000" y="1325880"/>
            <a:ext cx="7406640" cy="566928"/>
          </a:xfrm>
          <a:prstGeom prst="rect">
            <a:avLst/>
          </a:prstGeom>
          <a:noFill/>
          <a:ln/>
        </p:spPr>
        <p:txBody>
          <a:bodyPr wrap="square" lIns="0" tIns="0" rIns="0" bIns="0" rtlCol="0" anchor="ctr"/>
          <a:lstStyle/>
          <a:p>
            <a:pPr indent="0" marL="0">
              <a:buNone/>
            </a:pPr>
            <a:r>
              <a:rPr lang="en-US" sz="1250" b="1" dirty="0">
                <a:solidFill>
                  <a:srgbClr val="1E7B4B"/>
                </a:solidFill>
                <a:latin typeface="Inter" pitchFamily="34" charset="0"/>
                <a:ea typeface="Inter" pitchFamily="34" charset="-122"/>
                <a:cs typeface="Inter" pitchFamily="34" charset="-120"/>
              </a:rPr>
              <a:t>You work these today (5)   </a:t>
            </a:r>
            <a:pPr indent="0" marL="0">
              <a:buNone/>
            </a:pPr>
            <a:r>
              <a:rPr lang="en-US" sz="1250" dirty="0">
                <a:solidFill>
                  <a:srgbClr val="1B2533"/>
                </a:solidFill>
                <a:latin typeface="Inter" pitchFamily="34" charset="0"/>
                <a:ea typeface="Inter" pitchFamily="34" charset="-122"/>
                <a:cs typeface="Inter" pitchFamily="34" charset="-120"/>
              </a:rPr>
              <a:t>06:20–13:45 · 06:20–14:20 · 06:20–14:50 · 14:00–22:30 · 14:30–22:00</a:t>
            </a:r>
            <a:endParaRPr lang="en-US" sz="1250" dirty="0"/>
          </a:p>
        </p:txBody>
      </p:sp>
      <p:sp>
        <p:nvSpPr>
          <p:cNvPr id="8" name="Shape 5"/>
          <p:cNvSpPr/>
          <p:nvPr/>
        </p:nvSpPr>
        <p:spPr>
          <a:xfrm>
            <a:off x="457200" y="1984248"/>
            <a:ext cx="8229600" cy="2057400"/>
          </a:xfrm>
          <a:prstGeom prst="roundRect">
            <a:avLst>
              <a:gd name="adj" fmla="val 4444"/>
            </a:avLst>
          </a:prstGeom>
          <a:solidFill>
            <a:srgbClr val="EEF2F7"/>
          </a:solidFill>
          <a:ln w="12700">
            <a:solidFill>
              <a:srgbClr val="EEF2F7"/>
            </a:solidFill>
            <a:prstDash val="solid"/>
          </a:ln>
        </p:spPr>
      </p:sp>
      <p:sp>
        <p:nvSpPr>
          <p:cNvPr id="9" name="Shape 6"/>
          <p:cNvSpPr/>
          <p:nvPr/>
        </p:nvSpPr>
        <p:spPr>
          <a:xfrm>
            <a:off x="594360" y="2075688"/>
            <a:ext cx="384048" cy="384048"/>
          </a:xfrm>
          <a:prstGeom prst="ellipse">
            <a:avLst/>
          </a:prstGeom>
          <a:solidFill>
            <a:srgbClr val="F5C800"/>
          </a:solidFill>
          <a:ln w="12700">
            <a:solidFill>
              <a:srgbClr val="F5C800"/>
            </a:solidFill>
            <a:prstDash val="solid"/>
          </a:ln>
        </p:spPr>
      </p:sp>
      <p:pic>
        <p:nvPicPr>
          <p:cNvPr id="10" name="Image 1" descr="preencoded.png">    </p:cNvPr>
          <p:cNvPicPr>
            <a:picLocks noChangeAspect="1"/>
          </p:cNvPicPr>
          <p:nvPr/>
        </p:nvPicPr>
        <p:blipFill>
          <a:blip r:embed="rId2"/>
          <a:stretch>
            <a:fillRect/>
          </a:stretch>
        </p:blipFill>
        <p:spPr>
          <a:xfrm>
            <a:off x="678851" y="2160179"/>
            <a:ext cx="215067" cy="215067"/>
          </a:xfrm>
          <a:prstGeom prst="rect">
            <a:avLst/>
          </a:prstGeom>
        </p:spPr>
      </p:pic>
      <p:sp>
        <p:nvSpPr>
          <p:cNvPr id="11" name="Text 7"/>
          <p:cNvSpPr txBox="1"/>
          <p:nvPr/>
        </p:nvSpPr>
        <p:spPr>
          <a:xfrm>
            <a:off x="1097280" y="2075688"/>
            <a:ext cx="3657600" cy="384048"/>
          </a:xfrm>
          <a:prstGeom prst="rect">
            <a:avLst/>
          </a:prstGeom>
          <a:noFill/>
          <a:ln/>
        </p:spPr>
        <p:txBody>
          <a:bodyPr wrap="square" lIns="0" tIns="0" rIns="0" bIns="0" rtlCol="0" anchor="ctr"/>
          <a:lstStyle/>
          <a:p>
            <a:pPr indent="0" marL="0">
              <a:buNone/>
            </a:pPr>
            <a:r>
              <a:rPr lang="en-US" sz="1400" b="1" dirty="0">
                <a:solidFill>
                  <a:srgbClr val="001E3C"/>
                </a:solidFill>
                <a:latin typeface="Inter" pitchFamily="34" charset="0"/>
                <a:ea typeface="Inter" pitchFamily="34" charset="-122"/>
                <a:cs typeface="Inter" pitchFamily="34" charset="-120"/>
              </a:rPr>
              <a:t>New times (12)</a:t>
            </a:r>
            <a:endParaRPr lang="en-US" sz="1400" dirty="0"/>
          </a:p>
        </p:txBody>
      </p:sp>
      <p:sp>
        <p:nvSpPr>
          <p:cNvPr id="12" name="Text 8"/>
          <p:cNvSpPr txBox="1"/>
          <p:nvPr/>
        </p:nvSpPr>
        <p:spPr>
          <a:xfrm>
            <a:off x="640080" y="2542032"/>
            <a:ext cx="2606040" cy="1463040"/>
          </a:xfrm>
          <a:prstGeom prst="rect">
            <a:avLst/>
          </a:prstGeom>
          <a:noFill/>
          <a:ln/>
        </p:spPr>
        <p:txBody>
          <a:bodyPr wrap="square" lIns="0" tIns="0" rIns="0" bIns="0" rtlCol="0" anchor="t"/>
          <a:lstStyle/>
          <a:p>
            <a:pPr indent="0" marL="0">
              <a:spcAft>
                <a:spcPts val="3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27000" indent="-127000">
              <a:spcAft>
                <a:spcPts val="300"/>
              </a:spcAft>
              <a:buSzPct val="100000"/>
              <a:buChar char="•"/>
            </a:pPr>
            <a:r>
              <a:rPr lang="en-US" sz="1050" dirty="0">
                <a:solidFill>
                  <a:srgbClr val="1B2533"/>
                </a:solidFill>
                <a:latin typeface="Inter" pitchFamily="34" charset="0"/>
                <a:ea typeface="Inter" pitchFamily="34" charset="-122"/>
                <a:cs typeface="Inter" pitchFamily="34" charset="-120"/>
              </a:rPr>
              <a:t>06:20–14:30 — off at 14:30, not 14:20</a:t>
            </a:r>
            <a:endParaRPr lang="en-US" sz="1050" dirty="0"/>
          </a:p>
          <a:p>
            <a:pPr marL="127000" indent="-127000">
              <a:spcAft>
                <a:spcPts val="300"/>
              </a:spcAft>
              <a:buSzPct val="100000"/>
              <a:buChar char="•"/>
            </a:pPr>
            <a:r>
              <a:rPr lang="en-US" sz="1050" dirty="0">
                <a:solidFill>
                  <a:srgbClr val="1B2533"/>
                </a:solidFill>
                <a:latin typeface="Inter" pitchFamily="34" charset="0"/>
                <a:ea typeface="Inter" pitchFamily="34" charset="-122"/>
                <a:cs typeface="Inter" pitchFamily="34" charset="-120"/>
              </a:rPr>
              <a:t>06:20–15:45 — a long early, 9h 25m</a:t>
            </a:r>
            <a:endParaRPr lang="en-US" sz="1050" dirty="0"/>
          </a:p>
          <a:p>
            <a:pPr marL="127000" indent="-127000">
              <a:spcAft>
                <a:spcPts val="300"/>
              </a:spcAft>
              <a:buSzPct val="100000"/>
              <a:buChar char="•"/>
            </a:pPr>
            <a:r>
              <a:rPr lang="en-US" sz="1050" dirty="0">
                <a:solidFill>
                  <a:srgbClr val="1B2533"/>
                </a:solidFill>
                <a:latin typeface="Inter" pitchFamily="34" charset="0"/>
                <a:ea typeface="Inter" pitchFamily="34" charset="-122"/>
                <a:cs typeface="Inter" pitchFamily="34" charset="-120"/>
              </a:rPr>
              <a:t>07:00–16:15 — a new early, 9h 15m</a:t>
            </a:r>
            <a:endParaRPr lang="en-US" sz="1050" dirty="0"/>
          </a:p>
          <a:p>
            <a:pPr marL="127000" indent="-127000">
              <a:spcAft>
                <a:spcPts val="300"/>
              </a:spcAft>
              <a:buSzPct val="100000"/>
              <a:buChar char="•"/>
            </a:pPr>
            <a:r>
              <a:rPr lang="en-US" sz="1050" dirty="0">
                <a:solidFill>
                  <a:srgbClr val="1B2533"/>
                </a:solidFill>
                <a:latin typeface="Inter" pitchFamily="34" charset="0"/>
                <a:ea typeface="Inter" pitchFamily="34" charset="-122"/>
                <a:cs typeface="Inter" pitchFamily="34" charset="-120"/>
              </a:rPr>
              <a:t>14:00–21:00 — a short late, 7h</a:t>
            </a:r>
            <a:endParaRPr lang="en-US" sz="1050" dirty="0"/>
          </a:p>
          <a:p>
            <a:pPr marL="127000" indent="-127000">
              <a:spcAft>
                <a:spcPts val="3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 later</a:t>
            </a:r>
            <a:endParaRPr lang="en-US" sz="1050" dirty="0"/>
          </a:p>
        </p:txBody>
      </p:sp>
      <p:sp>
        <p:nvSpPr>
          <p:cNvPr id="13" name="Text 9"/>
          <p:cNvSpPr txBox="1"/>
          <p:nvPr/>
        </p:nvSpPr>
        <p:spPr>
          <a:xfrm>
            <a:off x="3337560" y="2542032"/>
            <a:ext cx="2606040" cy="1463040"/>
          </a:xfrm>
          <a:prstGeom prst="rect">
            <a:avLst/>
          </a:prstGeom>
          <a:noFill/>
          <a:ln/>
        </p:spPr>
        <p:txBody>
          <a:bodyPr wrap="square" lIns="0" tIns="0" rIns="0" bIns="0" rtlCol="0" anchor="t"/>
          <a:lstStyle/>
          <a:p>
            <a:pPr indent="0" marL="0">
              <a:spcAft>
                <a:spcPts val="3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27000" indent="-127000">
              <a:spcAft>
                <a:spcPts val="300"/>
              </a:spcAft>
              <a:buSzPct val="100000"/>
              <a:buChar char="•"/>
            </a:pPr>
            <a:r>
              <a:rPr lang="en-US" sz="1050" dirty="0">
                <a:solidFill>
                  <a:srgbClr val="1B2533"/>
                </a:solidFill>
                <a:latin typeface="Inter" pitchFamily="34" charset="0"/>
                <a:ea typeface="Inter" pitchFamily="34" charset="-122"/>
                <a:cs typeface="Inter" pitchFamily="34" charset="-120"/>
              </a:rPr>
              <a:t>06:20–15:30 — off at 15:30, not 14:50</a:t>
            </a:r>
            <a:endParaRPr lang="en-US" sz="1050" dirty="0"/>
          </a:p>
          <a:p>
            <a:pPr marL="127000" indent="-127000">
              <a:spcAft>
                <a:spcPts val="300"/>
              </a:spcAft>
              <a:buSzPct val="100000"/>
              <a:buChar char="•"/>
            </a:pPr>
            <a:r>
              <a:rPr lang="en-US" sz="1050" dirty="0">
                <a:solidFill>
                  <a:srgbClr val="1B2533"/>
                </a:solidFill>
                <a:latin typeface="Inter" pitchFamily="34" charset="0"/>
                <a:ea typeface="Inter" pitchFamily="34" charset="-122"/>
                <a:cs typeface="Inter" pitchFamily="34" charset="-120"/>
              </a:rPr>
              <a:t>07:15–16:45 — a new early, 9h 30m</a:t>
            </a:r>
            <a:endParaRPr lang="en-US" sz="1050" dirty="0"/>
          </a:p>
          <a:p>
            <a:pPr marL="127000" indent="-127000">
              <a:spcAft>
                <a:spcPts val="300"/>
              </a:spcAft>
              <a:buSzPct val="100000"/>
              <a:buChar char="•"/>
            </a:pPr>
            <a:r>
              <a:rPr lang="en-US" sz="1050" dirty="0">
                <a:solidFill>
                  <a:srgbClr val="1B2533"/>
                </a:solidFill>
                <a:latin typeface="Inter" pitchFamily="34" charset="0"/>
                <a:ea typeface="Inter" pitchFamily="34" charset="-122"/>
                <a:cs typeface="Inter" pitchFamily="34" charset="-120"/>
              </a:rPr>
              <a:t>14:45–22:45 — a new late, off by 22:45</a:t>
            </a:r>
            <a:endParaRPr lang="en-US" sz="1050" dirty="0"/>
          </a:p>
          <a:p>
            <a:pPr marL="127000" indent="-127000">
              <a:spcAft>
                <a:spcPts val="300"/>
              </a:spcAft>
              <a:buSzPct val="100000"/>
              <a:buChar char="•"/>
            </a:pPr>
            <a:r>
              <a:rPr lang="en-US" sz="1050" dirty="0">
                <a:solidFill>
                  <a:srgbClr val="1B2533"/>
                </a:solidFill>
                <a:latin typeface="Inter" pitchFamily="34" charset="0"/>
                <a:ea typeface="Inter" pitchFamily="34" charset="-122"/>
                <a:cs typeface="Inter" pitchFamily="34" charset="-120"/>
              </a:rPr>
              <a:t>15:45–23:55 — the closer, an hour later</a:t>
            </a:r>
            <a:endParaRPr lang="en-US" sz="1050" dirty="0"/>
          </a:p>
        </p:txBody>
      </p:sp>
      <p:sp>
        <p:nvSpPr>
          <p:cNvPr id="14" name="Text 10"/>
          <p:cNvSpPr txBox="1"/>
          <p:nvPr/>
        </p:nvSpPr>
        <p:spPr>
          <a:xfrm>
            <a:off x="6035040" y="2542032"/>
            <a:ext cx="2606040" cy="1463040"/>
          </a:xfrm>
          <a:prstGeom prst="rect">
            <a:avLst/>
          </a:prstGeom>
          <a:noFill/>
          <a:ln/>
        </p:spPr>
        <p:txBody>
          <a:bodyPr wrap="square" lIns="0" tIns="0" rIns="0" bIns="0" rtlCol="0" anchor="t"/>
          <a:lstStyle/>
          <a:p>
            <a:pPr indent="0" marL="0">
              <a:spcAft>
                <a:spcPts val="3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27000" indent="-127000">
              <a:spcAft>
                <a:spcPts val="300"/>
              </a:spcAft>
              <a:buSzPct val="100000"/>
              <a:buChar char="•"/>
            </a:pPr>
            <a:r>
              <a:rPr lang="en-US" sz="1050" dirty="0">
                <a:solidFill>
                  <a:srgbClr val="1B2533"/>
                </a:solidFill>
                <a:latin typeface="Inter" pitchFamily="34" charset="0"/>
                <a:ea typeface="Inter" pitchFamily="34" charset="-122"/>
                <a:cs typeface="Inter" pitchFamily="34" charset="-120"/>
              </a:rPr>
              <a:t>07:15–15:30 — opener, 15 min shorter</a:t>
            </a:r>
            <a:endParaRPr lang="en-US" sz="1050" dirty="0"/>
          </a:p>
          <a:p>
            <a:pPr marL="127000" indent="-127000">
              <a:spcAft>
                <a:spcPts val="3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27000" indent="-127000">
              <a:spcAft>
                <a:spcPts val="3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a:p>
            <a:pPr marL="127000" indent="-127000">
              <a:spcAft>
                <a:spcPts val="3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 later</a:t>
            </a:r>
            <a:endParaRPr lang="en-US" sz="1050" dirty="0"/>
          </a:p>
        </p:txBody>
      </p:sp>
      <p:sp>
        <p:nvSpPr>
          <p:cNvPr id="15" name="Shape 11"/>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6" name="Text 12"/>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One fewer shift time than today (17, not 18) — but 12 are new, so there is more to learn.</a:t>
            </a:r>
            <a:endParaRPr lang="en-US" sz="1400" dirty="0"/>
          </a:p>
        </p:txBody>
      </p:sp>
      <p:sp>
        <p:nvSpPr>
          <p:cNvPr id="17" name="Text 1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in 24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24</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05m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of 20</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 weekend off one week in four, never more than six days on, and more rest.</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same split as today: every early Monday to Saturday is matched by a late.</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and will remain so.</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shift in the balance of earlies and lates. Sundays stay overtime and still finish at 23:25.</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needed for four full weeks off</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4 days of leave, exactly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on duty with you, all 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station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Never fewer than three on the floor, and no avoidable fatigue warnings.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046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Twelve new shift times to learn</a:t>
            </a:r>
            <a:endParaRPr lang="en-US" sz="1400" dirty="0"/>
          </a:p>
        </p:txBody>
      </p:sp>
      <p:sp>
        <p:nvSpPr>
          <p:cNvPr id="6" name="Text 4"/>
          <p:cNvSpPr txBox="1"/>
          <p:nvPr/>
        </p:nvSpPr>
        <p:spPr>
          <a:xfrm>
            <a:off x="64008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Five of today’s times stay — slide 8 lists the rest.</a:t>
            </a:r>
            <a:endParaRPr lang="en-US" sz="1250" dirty="0"/>
          </a:p>
        </p:txBody>
      </p:sp>
      <p:sp>
        <p:nvSpPr>
          <p:cNvPr id="7" name="Shape 5"/>
          <p:cNvSpPr/>
          <p:nvPr/>
        </p:nvSpPr>
        <p:spPr>
          <a:xfrm>
            <a:off x="4663440" y="1371600"/>
            <a:ext cx="4023360" cy="8046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Some longer earlies</a:t>
            </a:r>
            <a:endParaRPr lang="en-US" sz="1400" dirty="0"/>
          </a:p>
        </p:txBody>
      </p:sp>
      <p:sp>
        <p:nvSpPr>
          <p:cNvPr id="9" name="Text 7"/>
          <p:cNvSpPr txBox="1"/>
          <p:nvPr/>
        </p:nvSpPr>
        <p:spPr>
          <a:xfrm>
            <a:off x="4846320" y="17556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The longest shift is 9h 30m, a Saturday early (today 9h 10m).</a:t>
            </a:r>
            <a:endParaRPr lang="en-US" sz="1250" dirty="0"/>
          </a:p>
        </p:txBody>
      </p:sp>
      <p:sp>
        <p:nvSpPr>
          <p:cNvPr id="10" name="Shape 8"/>
          <p:cNvSpPr/>
          <p:nvPr/>
        </p:nvSpPr>
        <p:spPr>
          <a:xfrm>
            <a:off x="457200" y="2286000"/>
            <a:ext cx="4023360" cy="8046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Average and worst: about the same as today.</a:t>
            </a:r>
            <a:endParaRPr lang="en-US" sz="1250" dirty="0"/>
          </a:p>
        </p:txBody>
      </p:sp>
      <p:sp>
        <p:nvSpPr>
          <p:cNvPr id="13" name="Shape 11"/>
          <p:cNvSpPr/>
          <p:nvPr/>
        </p:nvSpPr>
        <p:spPr>
          <a:xfrm>
            <a:off x="4663440" y="2286000"/>
            <a:ext cx="4023360" cy="8046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591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6 minutes longer on average</a:t>
            </a:r>
            <a:endParaRPr lang="en-US" sz="1400" dirty="0"/>
          </a:p>
        </p:txBody>
      </p:sp>
      <p:sp>
        <p:nvSpPr>
          <p:cNvPr id="15" name="Text 13"/>
          <p:cNvSpPr txBox="1"/>
          <p:nvPr/>
        </p:nvSpPr>
        <p:spPr>
          <a:xfrm>
            <a:off x="4846320" y="26700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That is what buys the two fewer days a year.</a:t>
            </a:r>
            <a:endParaRPr lang="en-US" sz="1250" dirty="0"/>
          </a:p>
        </p:txBody>
      </p:sp>
      <p:sp>
        <p:nvSpPr>
          <p:cNvPr id="16" name="Shape 14"/>
          <p:cNvSpPr/>
          <p:nvPr/>
        </p:nvSpPr>
        <p:spPr>
          <a:xfrm>
            <a:off x="457200" y="3200400"/>
            <a:ext cx="4023360" cy="8046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More late finishes</a:t>
            </a:r>
            <a:endParaRPr lang="en-US" sz="1400" dirty="0"/>
          </a:p>
        </p:txBody>
      </p:sp>
      <p:sp>
        <p:nvSpPr>
          <p:cNvPr id="18" name="Text 16"/>
          <p:cNvSpPr txBox="1"/>
          <p:nvPr/>
        </p:nvSpPr>
        <p:spPr>
          <a:xfrm>
            <a:off x="64008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About 59 a year each at 23:00 or later, against 39 today.</a:t>
            </a:r>
            <a:endParaRPr lang="en-US" sz="1250" dirty="0"/>
          </a:p>
        </p:txBody>
      </p:sp>
      <p:sp>
        <p:nvSpPr>
          <p:cNvPr id="19" name="Shape 17"/>
          <p:cNvSpPr/>
          <p:nvPr/>
        </p:nvSpPr>
        <p:spPr>
          <a:xfrm>
            <a:off x="4663440" y="3200400"/>
            <a:ext cx="4023360" cy="8046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735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84448"/>
            <a:ext cx="3657600" cy="347472"/>
          </a:xfrm>
          <a:prstGeom prst="rect">
            <a:avLst/>
          </a:prstGeom>
          <a:noFill/>
          <a:ln/>
        </p:spPr>
        <p:txBody>
          <a:bodyPr wrap="square" lIns="0" tIns="0" rIns="0" bIns="0" rtlCol="0" anchor="ctr"/>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Right Away,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Right Away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217</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20m · 9h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10m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 (one in five)</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 in 24 (one in four)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05m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17 (5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fewer days, shorter closers, more weekends — and more colleagues on shift.</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Right Away · FR-24-F34s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Right Away — the December 2026 link</dc:title>
  <dc:subject>PptxGenJS Presentation</dc:subject>
  <dc:creator>PptxGenJS</dc:creator>
  <cp:lastModifiedBy>PptxGenJS</cp:lastModifiedBy>
  <cp:revision>1</cp:revision>
  <dcterms:created xsi:type="dcterms:W3CDTF">2026-09-30T09:02:35Z</dcterms:created>
  <dcterms:modified xsi:type="dcterms:W3CDTF">2026-09-30T09:02:35Z</dcterms:modified>
</cp:coreProperties>
</file>