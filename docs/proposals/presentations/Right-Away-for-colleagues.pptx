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Never fewer than three on the station floor. And every closing shift is shorter: the weekday closer by 30 minutes, the Sunday closer by 45 and the Saturday closer by an hour. Right Away was built so the people on the floor follow the trains through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Right Away.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 23:55 instead of 14:45 (8h 10m, not 9h 10m); Sunday 15:15 to 23:25 instead of 14:30 (8h 10m, not 8h 55m). Be upfront about the other side: the minutes taken off the closers are worked earlier in the day instead, so some earlies are longer — the longest is a Saturday 07:15–16:45 (9h 30m), against 9h 10m today, and there are weekday earlies of 9h 15m and 9h 25m. The six minutes on the average is what pays for working two fewer 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05m,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was built to follow the trains rather than to keep today’s times, and this is where that shows: five of today’s eighteen times stay, and twelve are new. Several are small nudges — 06:20–14:30 is ten minutes on from 06:20–14:20, and the Sunday opener is fifteen minutes shorter — but some are genuinely new, including longer earlies of 9h 15m to 9h 30m. 15:45–23:55 is one time, the closer on weekdays and on Saturdays. The full list, day by day, is on page 4 of the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Right Away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Right Away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Right Away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puts the people on the floor where the trains are: through the day, the number on the station floor rises and falls with the December timetable far more closely than today’s link does — on weekdays about half as far off, on a Saturday about a fifth. The Office of Rail and Road and the rail industry publish lists of rota patterns that tend to tire people. Today’s link shows five of them; Right Away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FR-24-F34s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never fewer on the station floor</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drop to 2</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30–60</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minutes off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an hour on a Saturday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staff where the trains are.</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 but some earlies run longer.</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17 shift times in all — 5 of them you already work</a:t>
            </a:r>
            <a:endParaRPr lang="en-US" sz="1500" dirty="0"/>
          </a:p>
        </p:txBody>
      </p:sp>
      <p:sp>
        <p:nvSpPr>
          <p:cNvPr id="4" name="Shape 2"/>
          <p:cNvSpPr/>
          <p:nvPr/>
        </p:nvSpPr>
        <p:spPr>
          <a:xfrm>
            <a:off x="457200" y="1325880"/>
            <a:ext cx="8229600" cy="566928"/>
          </a:xfrm>
          <a:prstGeom prst="roundRect">
            <a:avLst>
              <a:gd name="adj" fmla="val 16129"/>
            </a:avLst>
          </a:prstGeom>
          <a:solidFill>
            <a:srgbClr val="EEF2F7"/>
          </a:solidFill>
          <a:ln w="12700">
            <a:solidFill>
              <a:srgbClr val="EEF2F7"/>
            </a:solidFill>
            <a:prstDash val="solid"/>
          </a:ln>
        </p:spPr>
      </p:sp>
      <p:sp>
        <p:nvSpPr>
          <p:cNvPr id="5" name="Shape 3"/>
          <p:cNvSpPr/>
          <p:nvPr/>
        </p:nvSpPr>
        <p:spPr>
          <a:xfrm>
            <a:off x="594360" y="1399032"/>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684886" y="1489558"/>
            <a:ext cx="230429" cy="230429"/>
          </a:xfrm>
          <a:prstGeom prst="rect">
            <a:avLst/>
          </a:prstGeom>
        </p:spPr>
      </p:pic>
      <p:sp>
        <p:nvSpPr>
          <p:cNvPr id="7" name="Text 4"/>
          <p:cNvSpPr txBox="1"/>
          <p:nvPr/>
        </p:nvSpPr>
        <p:spPr>
          <a:xfrm>
            <a:off x="1143000" y="1325880"/>
            <a:ext cx="7406640" cy="566928"/>
          </a:xfrm>
          <a:prstGeom prst="rect">
            <a:avLst/>
          </a:prstGeom>
          <a:noFill/>
          <a:ln/>
        </p:spPr>
        <p:txBody>
          <a:bodyPr wrap="square" lIns="0" tIns="0" rIns="0" bIns="0" rtlCol="0" anchor="ctr"/>
          <a:lstStyle/>
          <a:p>
            <a:pPr indent="0" marL="0">
              <a:buNone/>
            </a:pPr>
            <a:r>
              <a:rPr lang="en-US" sz="1250" b="1" dirty="0">
                <a:solidFill>
                  <a:srgbClr val="1E7B4B"/>
                </a:solidFill>
                <a:latin typeface="Inter" pitchFamily="34" charset="0"/>
                <a:ea typeface="Inter" pitchFamily="34" charset="-122"/>
                <a:cs typeface="Inter" pitchFamily="34" charset="-120"/>
              </a:rPr>
              <a:t>You work these today (5)   </a:t>
            </a:r>
            <a:pPr indent="0" marL="0">
              <a:buNone/>
            </a:pPr>
            <a:r>
              <a:rPr lang="en-US" sz="1250" dirty="0">
                <a:solidFill>
                  <a:srgbClr val="1B2533"/>
                </a:solidFill>
                <a:latin typeface="Inter" pitchFamily="34" charset="0"/>
                <a:ea typeface="Inter" pitchFamily="34" charset="-122"/>
                <a:cs typeface="Inter" pitchFamily="34" charset="-120"/>
              </a:rPr>
              <a:t>06:20–13:45 · 06:20–14:20 · 06:20–14:50 · 14:00–22:30 · 14:30–22:00</a:t>
            </a:r>
            <a:endParaRPr lang="en-US" sz="1250" dirty="0"/>
          </a:p>
        </p:txBody>
      </p:sp>
      <p:sp>
        <p:nvSpPr>
          <p:cNvPr id="8" name="Shape 5"/>
          <p:cNvSpPr/>
          <p:nvPr/>
        </p:nvSpPr>
        <p:spPr>
          <a:xfrm>
            <a:off x="457200" y="1984248"/>
            <a:ext cx="8229600" cy="2057400"/>
          </a:xfrm>
          <a:prstGeom prst="roundRect">
            <a:avLst>
              <a:gd name="adj" fmla="val 4444"/>
            </a:avLst>
          </a:prstGeom>
          <a:solidFill>
            <a:srgbClr val="EEF2F7"/>
          </a:solidFill>
          <a:ln w="12700">
            <a:solidFill>
              <a:srgbClr val="EEF2F7"/>
            </a:solidFill>
            <a:prstDash val="solid"/>
          </a:ln>
        </p:spPr>
      </p:sp>
      <p:sp>
        <p:nvSpPr>
          <p:cNvPr id="9" name="Shape 6"/>
          <p:cNvSpPr/>
          <p:nvPr/>
        </p:nvSpPr>
        <p:spPr>
          <a:xfrm>
            <a:off x="594360" y="2075688"/>
            <a:ext cx="384048" cy="384048"/>
          </a:xfrm>
          <a:prstGeom prst="ellipse">
            <a:avLst/>
          </a:prstGeom>
          <a:solidFill>
            <a:srgbClr val="F5C800"/>
          </a:solidFill>
          <a:ln w="12700">
            <a:solidFill>
              <a:srgbClr val="F5C800"/>
            </a:solidFill>
            <a:prstDash val="solid"/>
          </a:ln>
        </p:spPr>
      </p:sp>
      <p:pic>
        <p:nvPicPr>
          <p:cNvPr id="10" name="Image 1" descr="preencoded.png">    </p:cNvPr>
          <p:cNvPicPr>
            <a:picLocks noChangeAspect="1"/>
          </p:cNvPicPr>
          <p:nvPr/>
        </p:nvPicPr>
        <p:blipFill>
          <a:blip r:embed="rId2"/>
          <a:stretch>
            <a:fillRect/>
          </a:stretch>
        </p:blipFill>
        <p:spPr>
          <a:xfrm>
            <a:off x="678851" y="2160179"/>
            <a:ext cx="215067" cy="215067"/>
          </a:xfrm>
          <a:prstGeom prst="rect">
            <a:avLst/>
          </a:prstGeom>
        </p:spPr>
      </p:pic>
      <p:sp>
        <p:nvSpPr>
          <p:cNvPr id="11" name="Text 7"/>
          <p:cNvSpPr txBox="1"/>
          <p:nvPr/>
        </p:nvSpPr>
        <p:spPr>
          <a:xfrm>
            <a:off x="1097280" y="2075688"/>
            <a:ext cx="3657600" cy="384048"/>
          </a:xfrm>
          <a:prstGeom prst="rect">
            <a:avLst/>
          </a:prstGeom>
          <a:noFill/>
          <a:ln/>
        </p:spPr>
        <p:txBody>
          <a:bodyPr wrap="square" lIns="0" tIns="0" rIns="0" bIns="0" rtlCol="0" anchor="ctr"/>
          <a:lstStyle/>
          <a:p>
            <a:pPr indent="0" marL="0">
              <a:buNone/>
            </a:pPr>
            <a:r>
              <a:rPr lang="en-US" sz="1400" b="1" dirty="0">
                <a:solidFill>
                  <a:srgbClr val="001E3C"/>
                </a:solidFill>
                <a:latin typeface="Inter" pitchFamily="34" charset="0"/>
                <a:ea typeface="Inter" pitchFamily="34" charset="-122"/>
                <a:cs typeface="Inter" pitchFamily="34" charset="-120"/>
              </a:rPr>
              <a:t>New times (12)</a:t>
            </a:r>
            <a:endParaRPr lang="en-US" sz="1400" dirty="0"/>
          </a:p>
        </p:txBody>
      </p:sp>
      <p:sp>
        <p:nvSpPr>
          <p:cNvPr id="12" name="Text 8"/>
          <p:cNvSpPr txBox="1"/>
          <p:nvPr/>
        </p:nvSpPr>
        <p:spPr>
          <a:xfrm>
            <a:off x="640080" y="2542032"/>
            <a:ext cx="2606040" cy="1463040"/>
          </a:xfrm>
          <a:prstGeom prst="rect">
            <a:avLst/>
          </a:prstGeom>
          <a:noFill/>
          <a:ln/>
        </p:spPr>
        <p:txBody>
          <a:bodyPr wrap="square" lIns="0" tIns="0" rIns="0" bIns="0" rtlCol="0" anchor="t"/>
          <a:lstStyle/>
          <a:p>
            <a:pPr indent="0" marL="0">
              <a:spcAft>
                <a:spcPts val="3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06:20–14:30 — off at 14:30, not 14:20</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06:20–15:45 — a long early, 9h 25m</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07:00–16:15 — a new early, 9h 15m</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14:00–21:00 — a short late, 7h</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 later</a:t>
            </a:r>
            <a:endParaRPr lang="en-US" sz="1050" dirty="0"/>
          </a:p>
        </p:txBody>
      </p:sp>
      <p:sp>
        <p:nvSpPr>
          <p:cNvPr id="13" name="Text 9"/>
          <p:cNvSpPr txBox="1"/>
          <p:nvPr/>
        </p:nvSpPr>
        <p:spPr>
          <a:xfrm>
            <a:off x="3337560" y="2542032"/>
            <a:ext cx="2606040" cy="1463040"/>
          </a:xfrm>
          <a:prstGeom prst="rect">
            <a:avLst/>
          </a:prstGeom>
          <a:noFill/>
          <a:ln/>
        </p:spPr>
        <p:txBody>
          <a:bodyPr wrap="square" lIns="0" tIns="0" rIns="0" bIns="0" rtlCol="0" anchor="t"/>
          <a:lstStyle/>
          <a:p>
            <a:pPr indent="0" marL="0">
              <a:spcAft>
                <a:spcPts val="3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06:20–15:30 — off at 15:30, not 14:50</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07:15–16:45 — a new early, 9h 30m</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14:45–22:45 — a new late, off by 22:45</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15:45–23:55 — the closer, an hour later</a:t>
            </a:r>
            <a:endParaRPr lang="en-US" sz="1050" dirty="0"/>
          </a:p>
        </p:txBody>
      </p:sp>
      <p:sp>
        <p:nvSpPr>
          <p:cNvPr id="14" name="Text 10"/>
          <p:cNvSpPr txBox="1"/>
          <p:nvPr/>
        </p:nvSpPr>
        <p:spPr>
          <a:xfrm>
            <a:off x="6035040" y="2542032"/>
            <a:ext cx="2606040" cy="1463040"/>
          </a:xfrm>
          <a:prstGeom prst="rect">
            <a:avLst/>
          </a:prstGeom>
          <a:noFill/>
          <a:ln/>
        </p:spPr>
        <p:txBody>
          <a:bodyPr wrap="square" lIns="0" tIns="0" rIns="0" bIns="0" rtlCol="0" anchor="t"/>
          <a:lstStyle/>
          <a:p>
            <a:pPr indent="0" marL="0">
              <a:spcAft>
                <a:spcPts val="3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07:15–15:30 — opener, 15 min shorter</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 later</a:t>
            </a:r>
            <a:endParaRPr lang="en-US" sz="1050" dirty="0"/>
          </a:p>
        </p:txBody>
      </p:sp>
      <p:sp>
        <p:nvSpPr>
          <p:cNvPr id="15" name="Shape 11"/>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6" name="Text 12"/>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One fewer shift time than today (17, not 18) — but 12 are new, so there is more to learn.</a:t>
            </a:r>
            <a:endParaRPr lang="en-US" sz="1400" dirty="0"/>
          </a:p>
        </p:txBody>
      </p:sp>
      <p:sp>
        <p:nvSpPr>
          <p:cNvPr id="17"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Twelve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Five of today’s times stay; slide 8 lists the new ones.</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Some longer earlies</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longest shift is 9h 30m, a Saturday early (today 9h 10m).</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Right Away,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Right Away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05m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17 (5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Right Away · FR-24-F34s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link</dc:title>
  <dc:subject>PptxGenJS Presentation</dc:subject>
  <dc:creator>PptxGenJS</dc:creator>
  <cp:lastModifiedBy>PptxGenJS</cp:lastModifiedBy>
  <cp:revision>1</cp:revision>
  <dcterms:created xsi:type="dcterms:W3CDTF">2026-09-30T08:58:02Z</dcterms:created>
  <dcterms:modified xsi:type="dcterms:W3CDTF">2026-09-30T08:58:02Z</dcterms:modified>
</cp:coreProperties>
</file>