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was worked out from the rota itself, not typed in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Never more than six days in a row. One full weekend off in every four weeks, against one in five today. Nine of the fifteen shift times are ones people already work. And every closing shift is shorter: the weekday and Saturday closers by 30 minutes, the Sunday closer by 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new staffing levels, the 24 people and the Sunday cover are all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 today or in Familiar Nine. If asked: counting Sunday overtime too, it is about one fewer day a year rather than two. Fewer days is possible because the average shift is a few minutes longer, which is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is what this slide answers; overtime and premium duties vary person to person. The Saturday and Sunday counts are the link’s fixed duties and leave out anything later given in a cover week. Basic pay follows the 35-hour week, which does not change. Saturdays in the contract are paid at time and a quarter, and on average a person is rostered about 30 a year instead of 26. Sundays stay overtime: 10 a week shared among 24 people instead of 8 among 20, so about the same each. These are averages across the whole link — your own depends on which line you start on — and they are not a payslip; the Pay Calculator in the app does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(8h10, not 8h40); Saturday 15:15 instead of 14:45 (8h40, not 9h10); Sunday 15:15 to 23:25 instead of 14:30 (8h10, not 8h55). Be upfront about the six minutes on the average: that is what pays for working two fewer days a year. If asked: there is also a weekday 14:30–23:25, five a week — the same times as today’s Sunday closer, so it is not new, and it finishes half an hour before the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 it is the change people will notice most. December needs three on duty to the close and five still on at 22:00, where today has two and four, so more late finishes have to go somewhere. Spread over 24 people that is about 20 more a year each finishing at 23:00 or later. Early 06:20 starts hardly change. And because the shortest gap between two shifts is 14h20, nobody finishes late and starts early the next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Familiar Nine was built specifically to keep the times people already work wherever that cost little. Nine of its fifteen are worked today, and it uses fewer different times overall than today’s eighteen.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 one in five; Familiar Nine gives 6 in 24 — one in four. Most weeks now keep the same shift time Monday to Friday, and all earlies or all lates, so you are not bouncing between earlies and lates inside a week. Rest days nearly always come in pairs now — 22 of the 24 rest-day breaks are two days or more, against 13 of 17 today — and there are no six-day weeks (today there 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Earlies here means a start before 11:00. Sundays: today 8 Sunday duties across 16 working weeks, Familiar Nine 10 across 20 — the same one-in-two share of working weeks. Because cover weeks come round a little less often, that is about one more Sunday a year each (22 against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Familiar Nine spreads rest days more evenly, so its best is 28. On average it is about the same, and at its worst it is never worse than today. Four full weeks off (Sunday to Saturday) takes 15 days of leave instead of 14. The exact averages depend on where you count a booking as starting, so quote them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of Rail and Road publishes a list of rota patterns that tend to tire people. Today’s link shows five of them; Familiar Nine shows none. Two more — early starts and a weekly rotation — come with every weekly link at a 06:20 station, so they are listed on the sheet for information but not counted against any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None of these is hidden on the full proposal sheet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Familiar Nine</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24 weeks · code F9-24-K31</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48640"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same contracted week</a:t>
            </a:r>
            <a:endParaRPr lang="en-US" sz="1400" dirty="0"/>
          </a:p>
        </p:txBody>
      </p:sp>
      <p:sp>
        <p:nvSpPr>
          <p:cNvPr id="7" name="Text 5"/>
          <p:cNvSpPr txBox="1"/>
          <p:nvPr/>
        </p:nvSpPr>
        <p:spPr>
          <a:xfrm>
            <a:off x="548640"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6</a:t>
            </a:r>
            <a:endParaRPr lang="en-US" sz="3000" dirty="0"/>
          </a:p>
        </p:txBody>
      </p:sp>
      <p:sp>
        <p:nvSpPr>
          <p:cNvPr id="10" name="Text 8"/>
          <p:cNvSpPr txBox="1"/>
          <p:nvPr/>
        </p:nvSpPr>
        <p:spPr>
          <a:xfrm>
            <a:off x="2221992"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 in a row</a:t>
            </a:r>
            <a:endParaRPr lang="en-US" sz="1400" dirty="0"/>
          </a:p>
        </p:txBody>
      </p:sp>
      <p:sp>
        <p:nvSpPr>
          <p:cNvPr id="11" name="Text 9"/>
          <p:cNvSpPr txBox="1"/>
          <p:nvPr/>
        </p:nvSpPr>
        <p:spPr>
          <a:xfrm>
            <a:off x="2221992"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it can be 9</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6 in 24</a:t>
            </a:r>
            <a:endParaRPr lang="en-US" sz="3000" dirty="0"/>
          </a:p>
        </p:txBody>
      </p:sp>
      <p:sp>
        <p:nvSpPr>
          <p:cNvPr id="14" name="Text 12"/>
          <p:cNvSpPr txBox="1"/>
          <p:nvPr/>
        </p:nvSpPr>
        <p:spPr>
          <a:xfrm>
            <a:off x="3895344"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 off</a:t>
            </a:r>
            <a:endParaRPr lang="en-US" sz="1400" dirty="0"/>
          </a:p>
        </p:txBody>
      </p:sp>
      <p:sp>
        <p:nvSpPr>
          <p:cNvPr id="15" name="Text 13"/>
          <p:cNvSpPr txBox="1"/>
          <p:nvPr/>
        </p:nvSpPr>
        <p:spPr>
          <a:xfrm>
            <a:off x="3895344"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one in four, not one in five</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9 of 15</a:t>
            </a:r>
            <a:endParaRPr lang="en-US" sz="3000" dirty="0"/>
          </a:p>
        </p:txBody>
      </p:sp>
      <p:sp>
        <p:nvSpPr>
          <p:cNvPr id="18" name="Text 16"/>
          <p:cNvSpPr txBox="1"/>
          <p:nvPr/>
        </p:nvSpPr>
        <p:spPr>
          <a:xfrm>
            <a:off x="5568696"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shift times you already work</a:t>
            </a:r>
            <a:endParaRPr lang="en-US" sz="1400" dirty="0"/>
          </a:p>
        </p:txBody>
      </p:sp>
      <p:sp>
        <p:nvSpPr>
          <p:cNvPr id="19" name="Text 17"/>
          <p:cNvSpPr txBox="1"/>
          <p:nvPr/>
        </p:nvSpPr>
        <p:spPr>
          <a:xfrm>
            <a:off x="5568696"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only 6 new ones</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 min</a:t>
            </a:r>
            <a:endParaRPr lang="en-US" sz="3000" dirty="0"/>
          </a:p>
        </p:txBody>
      </p:sp>
      <p:sp>
        <p:nvSpPr>
          <p:cNvPr id="22" name="Text 20"/>
          <p:cNvSpPr txBox="1"/>
          <p:nvPr/>
        </p:nvSpPr>
        <p:spPr>
          <a:xfrm>
            <a:off x="7242048"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shorter on every closing shift</a:t>
            </a:r>
            <a:endParaRPr lang="en-US" sz="1400" dirty="0"/>
          </a:p>
        </p:txBody>
      </p:sp>
      <p:sp>
        <p:nvSpPr>
          <p:cNvPr id="23" name="Text 21"/>
          <p:cNvSpPr txBox="1"/>
          <p:nvPr/>
        </p:nvSpPr>
        <p:spPr>
          <a:xfrm>
            <a:off x="7242048"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45 min on a Sunday</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closing shifts, more weekends — and mostly times you already know.</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029968"/>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130552"/>
            <a:ext cx="256032" cy="256032"/>
          </a:xfrm>
          <a:prstGeom prst="rect">
            <a:avLst/>
          </a:prstGeom>
        </p:spPr>
      </p:pic>
      <p:sp>
        <p:nvSpPr>
          <p:cNvPr id="10" name="Text 6"/>
          <p:cNvSpPr txBox="1"/>
          <p:nvPr/>
        </p:nvSpPr>
        <p:spPr>
          <a:xfrm>
            <a:off x="1097280" y="1993392"/>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276856"/>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24, so four more colleagues join it.</a:t>
            </a:r>
            <a:endParaRPr lang="en-US" sz="1300" dirty="0"/>
          </a:p>
        </p:txBody>
      </p:sp>
      <p:sp>
        <p:nvSpPr>
          <p:cNvPr id="12" name="Shape 8"/>
          <p:cNvSpPr/>
          <p:nvPr/>
        </p:nvSpPr>
        <p:spPr>
          <a:xfrm>
            <a:off x="457200" y="2688336"/>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2788920"/>
            <a:ext cx="256032" cy="256032"/>
          </a:xfrm>
          <a:prstGeom prst="rect">
            <a:avLst/>
          </a:prstGeom>
        </p:spPr>
      </p:pic>
      <p:sp>
        <p:nvSpPr>
          <p:cNvPr id="14" name="Text 9"/>
          <p:cNvSpPr txBox="1"/>
          <p:nvPr/>
        </p:nvSpPr>
        <p:spPr>
          <a:xfrm>
            <a:off x="1097280" y="265176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293522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14 on a Saturday and 10 on a Sunday, and more at the open and the close.</a:t>
            </a:r>
            <a:endParaRPr lang="en-US" sz="1300" dirty="0"/>
          </a:p>
        </p:txBody>
      </p:sp>
      <p:sp>
        <p:nvSpPr>
          <p:cNvPr id="16" name="Shape 11"/>
          <p:cNvSpPr/>
          <p:nvPr/>
        </p:nvSpPr>
        <p:spPr>
          <a:xfrm>
            <a:off x="457200" y="3346704"/>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3447288"/>
            <a:ext cx="256032" cy="256032"/>
          </a:xfrm>
          <a:prstGeom prst="rect">
            <a:avLst/>
          </a:prstGeom>
        </p:spPr>
      </p:pic>
      <p:sp>
        <p:nvSpPr>
          <p:cNvPr id="18" name="Text 12"/>
          <p:cNvSpPr txBox="1"/>
          <p:nvPr/>
        </p:nvSpPr>
        <p:spPr>
          <a:xfrm>
            <a:off x="1097280" y="331012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359359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4.2</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4.17</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year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217</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Exactly the same 35-hour week — and about 2 fewer days at work a year.</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Saturdays a year, at time and a quarter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26</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30</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overtime to share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22</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four more Saturdays at time and a quarter.</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six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8h40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8h10</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15:15, not 14:45</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9h10</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8h40</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8h55</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8h10</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9h10</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9h00</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8h14</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8h20</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45 minutes shorter, and nothing runs over 9 hours.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Yes — about one extra late finish every two or three weeks</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59</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91</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65</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846320" y="3502152"/>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12h30</a:t>
            </a:r>
            <a:endParaRPr lang="en-US" sz="1600" dirty="0"/>
          </a:p>
        </p:txBody>
      </p:sp>
      <p:sp>
        <p:nvSpPr>
          <p:cNvPr id="21" name="Text 19"/>
          <p:cNvSpPr txBox="1"/>
          <p:nvPr/>
        </p:nvSpPr>
        <p:spPr>
          <a:xfrm>
            <a:off x="6766560" y="3502152"/>
            <a:ext cx="192024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14h20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December needs more people at the close — but every closing shift is shorter.</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15 shift times in all — 9 of them you already work</a:t>
            </a:r>
            <a:endParaRPr lang="en-US" sz="1500" dirty="0"/>
          </a:p>
        </p:txBody>
      </p:sp>
      <p:sp>
        <p:nvSpPr>
          <p:cNvPr id="4" name="Shape 2"/>
          <p:cNvSpPr/>
          <p:nvPr/>
        </p:nvSpPr>
        <p:spPr>
          <a:xfrm>
            <a:off x="457200" y="1371600"/>
            <a:ext cx="3291840" cy="2651760"/>
          </a:xfrm>
          <a:prstGeom prst="roundRect">
            <a:avLst>
              <a:gd name="adj" fmla="val 3448"/>
            </a:avLst>
          </a:prstGeom>
          <a:solidFill>
            <a:srgbClr val="EEF2F7"/>
          </a:solidFill>
          <a:ln w="12700">
            <a:solidFill>
              <a:srgbClr val="EEF2F7"/>
            </a:solidFill>
            <a:prstDash val="solid"/>
          </a:ln>
        </p:spPr>
      </p:sp>
      <p:sp>
        <p:nvSpPr>
          <p:cNvPr id="5" name="Shape 3"/>
          <p:cNvSpPr/>
          <p:nvPr/>
        </p:nvSpPr>
        <p:spPr>
          <a:xfrm>
            <a:off x="640080" y="1508760"/>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30606" y="1599286"/>
            <a:ext cx="230429" cy="230429"/>
          </a:xfrm>
          <a:prstGeom prst="rect">
            <a:avLst/>
          </a:prstGeom>
        </p:spPr>
      </p:pic>
      <p:sp>
        <p:nvSpPr>
          <p:cNvPr id="7" name="Text 4"/>
          <p:cNvSpPr txBox="1"/>
          <p:nvPr/>
        </p:nvSpPr>
        <p:spPr>
          <a:xfrm>
            <a:off x="1188720" y="1508760"/>
            <a:ext cx="2377440" cy="411480"/>
          </a:xfrm>
          <a:prstGeom prst="rect">
            <a:avLst/>
          </a:prstGeom>
          <a:noFill/>
          <a:ln/>
        </p:spPr>
        <p:txBody>
          <a:bodyPr wrap="square" lIns="0" tIns="0" rIns="0" bIns="0" rtlCol="0" anchor="ctr"/>
          <a:lstStyle/>
          <a:p>
            <a:pPr indent="0" marL="0">
              <a:buNone/>
            </a:pPr>
            <a:r>
              <a:rPr lang="en-US" sz="1500" b="1" dirty="0">
                <a:solidFill>
                  <a:srgbClr val="1E7B4B"/>
                </a:solidFill>
                <a:latin typeface="Inter" pitchFamily="34" charset="0"/>
                <a:ea typeface="Inter" pitchFamily="34" charset="-122"/>
                <a:cs typeface="Inter" pitchFamily="34" charset="-120"/>
              </a:rPr>
              <a:t>You work these today (9)</a:t>
            </a:r>
            <a:endParaRPr lang="en-US" sz="1500" dirty="0"/>
          </a:p>
        </p:txBody>
      </p:sp>
      <p:sp>
        <p:nvSpPr>
          <p:cNvPr id="8" name="Text 5"/>
          <p:cNvSpPr txBox="1"/>
          <p:nvPr/>
        </p:nvSpPr>
        <p:spPr>
          <a:xfrm>
            <a:off x="685800" y="2011680"/>
            <a:ext cx="2926080" cy="1965960"/>
          </a:xfrm>
          <a:prstGeom prst="rect">
            <a:avLst/>
          </a:prstGeom>
          <a:noFill/>
          <a:ln/>
        </p:spPr>
        <p:txBody>
          <a:bodyPr wrap="square" lIns="0" tIns="0" rIns="0" bIns="0" rtlCol="0" anchor="t"/>
          <a:lstStyle/>
          <a:p>
            <a:pPr marL="342900" indent="-3429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06:20–13:35 · 06:20–14:20</a:t>
            </a:r>
            <a:endParaRPr lang="en-US" sz="1200" dirty="0"/>
          </a:p>
          <a:p>
            <a:pPr marL="342900" indent="-3429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06:20–14:50 · 08:30–16:30</a:t>
            </a:r>
            <a:endParaRPr lang="en-US" sz="1200" dirty="0"/>
          </a:p>
          <a:p>
            <a:pPr marL="342900" indent="-3429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13:30–21:00 · 14:00–22:30</a:t>
            </a:r>
            <a:endParaRPr lang="en-US" sz="1200" dirty="0"/>
          </a:p>
          <a:p>
            <a:pPr marL="342900" indent="-3429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14:30–22:00 · 14:30–23:25</a:t>
            </a:r>
            <a:endParaRPr lang="en-US" sz="1200" dirty="0"/>
          </a:p>
          <a:p>
            <a:pPr marL="342900" indent="-3429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15:15–23:55</a:t>
            </a:r>
            <a:endParaRPr lang="en-US" sz="1200" dirty="0"/>
          </a:p>
        </p:txBody>
      </p:sp>
      <p:sp>
        <p:nvSpPr>
          <p:cNvPr id="9" name="Shape 6"/>
          <p:cNvSpPr/>
          <p:nvPr/>
        </p:nvSpPr>
        <p:spPr>
          <a:xfrm>
            <a:off x="3931920" y="1371600"/>
            <a:ext cx="4754880" cy="2651760"/>
          </a:xfrm>
          <a:prstGeom prst="roundRect">
            <a:avLst>
              <a:gd name="adj" fmla="val 3448"/>
            </a:avLst>
          </a:prstGeom>
          <a:solidFill>
            <a:srgbClr val="EEF2F7"/>
          </a:solidFill>
          <a:ln w="12700">
            <a:solidFill>
              <a:srgbClr val="EEF2F7"/>
            </a:solidFill>
            <a:prstDash val="solid"/>
          </a:ln>
        </p:spPr>
      </p:sp>
      <p:sp>
        <p:nvSpPr>
          <p:cNvPr id="10" name="Shape 7"/>
          <p:cNvSpPr/>
          <p:nvPr/>
        </p:nvSpPr>
        <p:spPr>
          <a:xfrm>
            <a:off x="4114800" y="1508760"/>
            <a:ext cx="411480" cy="41148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4205326" y="1599286"/>
            <a:ext cx="230429" cy="230429"/>
          </a:xfrm>
          <a:prstGeom prst="rect">
            <a:avLst/>
          </a:prstGeom>
        </p:spPr>
      </p:pic>
      <p:sp>
        <p:nvSpPr>
          <p:cNvPr id="12" name="Text 8"/>
          <p:cNvSpPr txBox="1"/>
          <p:nvPr/>
        </p:nvSpPr>
        <p:spPr>
          <a:xfrm>
            <a:off x="4663440" y="1508760"/>
            <a:ext cx="3840480" cy="411480"/>
          </a:xfrm>
          <a:prstGeom prst="rect">
            <a:avLst/>
          </a:prstGeom>
          <a:noFill/>
          <a:ln/>
        </p:spPr>
        <p:txBody>
          <a:bodyPr wrap="square" lIns="0" tIns="0" rIns="0" bIns="0" rtlCol="0" anchor="ctr"/>
          <a:lstStyle/>
          <a:p>
            <a:pPr indent="0" marL="0">
              <a:buNone/>
            </a:pPr>
            <a:r>
              <a:rPr lang="en-US" sz="1500" b="1" dirty="0">
                <a:solidFill>
                  <a:srgbClr val="001E3C"/>
                </a:solidFill>
                <a:latin typeface="Inter" pitchFamily="34" charset="0"/>
                <a:ea typeface="Inter" pitchFamily="34" charset="-122"/>
                <a:cs typeface="Inter" pitchFamily="34" charset="-120"/>
              </a:rPr>
              <a:t>New times (6)</a:t>
            </a:r>
            <a:endParaRPr lang="en-US" sz="1500" dirty="0"/>
          </a:p>
        </p:txBody>
      </p:sp>
      <p:sp>
        <p:nvSpPr>
          <p:cNvPr id="13" name="Text 9"/>
          <p:cNvSpPr txBox="1"/>
          <p:nvPr/>
        </p:nvSpPr>
        <p:spPr>
          <a:xfrm>
            <a:off x="4160520" y="2011680"/>
            <a:ext cx="4389120" cy="1965960"/>
          </a:xfrm>
          <a:prstGeom prst="rect">
            <a:avLst/>
          </a:prstGeom>
          <a:noFill/>
          <a:ln/>
        </p:spPr>
        <p:txBody>
          <a:bodyPr wrap="square" lIns="0" tIns="0" rIns="0" bIns="0" rtlCol="0" anchor="t"/>
          <a:lstStyle/>
          <a:p>
            <a:pPr indent="0" marL="0">
              <a:spcAft>
                <a:spcPts val="100"/>
              </a:spcAft>
              <a:buNone/>
            </a:pPr>
            <a:r>
              <a:rPr lang="en-US" sz="1200" b="1" dirty="0">
                <a:solidFill>
                  <a:srgbClr val="001E3C"/>
                </a:solidFill>
                <a:latin typeface="Inter" pitchFamily="34" charset="0"/>
                <a:ea typeface="Inter" pitchFamily="34" charset="-122"/>
                <a:cs typeface="Inter" pitchFamily="34" charset="-120"/>
              </a:rPr>
              <a:t>Weekdays</a:t>
            </a:r>
            <a:endParaRPr lang="en-US" sz="1200" dirty="0"/>
          </a:p>
          <a:p>
            <a:pPr marL="342900" indent="-3429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07:00–16:00 — a new early</a:t>
            </a:r>
            <a:endParaRPr lang="en-US" sz="1200" dirty="0"/>
          </a:p>
          <a:p>
            <a:pPr marL="342900" indent="-3429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15:45–23:55 — the closer, 30 minutes later than 15:15</a:t>
            </a:r>
            <a:endParaRPr lang="en-US" sz="1200" dirty="0"/>
          </a:p>
          <a:p>
            <a:pPr indent="0" marL="0">
              <a:spcBef>
                <a:spcPts val="400"/>
              </a:spcBef>
              <a:spcAft>
                <a:spcPts val="100"/>
              </a:spcAft>
              <a:buNone/>
            </a:pPr>
            <a:r>
              <a:rPr lang="en-US" sz="1200" b="1" dirty="0">
                <a:solidFill>
                  <a:srgbClr val="001E3C"/>
                </a:solidFill>
                <a:latin typeface="Inter" pitchFamily="34" charset="0"/>
                <a:ea typeface="Inter" pitchFamily="34" charset="-122"/>
                <a:cs typeface="Inter" pitchFamily="34" charset="-120"/>
              </a:rPr>
              <a:t>Saturday</a:t>
            </a:r>
            <a:endParaRPr lang="en-US" sz="1200" dirty="0"/>
          </a:p>
          <a:p>
            <a:pPr marL="342900" indent="-3429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06:20–15:00 — ten minutes on from 06:20–14:50</a:t>
            </a:r>
            <a:endParaRPr lang="en-US" sz="1200" dirty="0"/>
          </a:p>
          <a:p>
            <a:pPr marL="342900" indent="-3429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07:30–16:30 — a new early</a:t>
            </a:r>
            <a:endParaRPr lang="en-US" sz="1200" dirty="0"/>
          </a:p>
          <a:p>
            <a:pPr indent="0" marL="0">
              <a:spcBef>
                <a:spcPts val="400"/>
              </a:spcBef>
              <a:spcAft>
                <a:spcPts val="100"/>
              </a:spcAft>
              <a:buNone/>
            </a:pPr>
            <a:r>
              <a:rPr lang="en-US" sz="1200" b="1" dirty="0">
                <a:solidFill>
                  <a:srgbClr val="001E3C"/>
                </a:solidFill>
                <a:latin typeface="Inter" pitchFamily="34" charset="0"/>
                <a:ea typeface="Inter" pitchFamily="34" charset="-122"/>
                <a:cs typeface="Inter" pitchFamily="34" charset="-120"/>
              </a:rPr>
              <a:t>Sunday</a:t>
            </a:r>
            <a:endParaRPr lang="en-US" sz="1200" dirty="0"/>
          </a:p>
          <a:p>
            <a:pPr marL="342900" indent="-3429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07:15–15:30 — the opener, 15 minutes shorter</a:t>
            </a:r>
            <a:endParaRPr lang="en-US" sz="1200" dirty="0"/>
          </a:p>
          <a:p>
            <a:pPr marL="342900" indent="-3429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15:15–23:25 — the closer, 45 minutes later than 14:30</a:t>
            </a:r>
            <a:endParaRPr lang="en-US" sz="1200" dirty="0"/>
          </a:p>
        </p:txBody>
      </p:sp>
      <p:sp>
        <p:nvSpPr>
          <p:cNvPr id="14"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5"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Fewer shift times than today (15, not 18) — and most new ones are a small nudge.</a:t>
            </a:r>
            <a:endParaRPr lang="en-US" sz="1400" dirty="0"/>
          </a:p>
        </p:txBody>
      </p:sp>
      <p:sp>
        <p:nvSpPr>
          <p:cNvPr id="16"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in 20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 in 24</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24</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12h30</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14h20</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the same shift time Monday to Friday</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of 20</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 weekend off one week in four, never more than six days on, and more rest.</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Earlies, lates and Sundays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balance you have now stays the same</a:t>
            </a:r>
            <a:endParaRPr lang="en-US" sz="1500" dirty="0"/>
          </a:p>
        </p:txBody>
      </p:sp>
      <p:sp>
        <p:nvSpPr>
          <p:cNvPr id="4" name="Shape 2"/>
          <p:cNvSpPr/>
          <p:nvPr/>
        </p:nvSpPr>
        <p:spPr>
          <a:xfrm>
            <a:off x="457200" y="1417320"/>
            <a:ext cx="2606040" cy="2514600"/>
          </a:xfrm>
          <a:prstGeom prst="roundRect">
            <a:avLst>
              <a:gd name="adj" fmla="val 3636"/>
            </a:avLst>
          </a:prstGeom>
          <a:solidFill>
            <a:srgbClr val="EEF2F7"/>
          </a:solidFill>
          <a:ln w="12700">
            <a:solidFill>
              <a:srgbClr val="EEF2F7"/>
            </a:solidFill>
            <a:prstDash val="solid"/>
          </a:ln>
        </p:spPr>
      </p:sp>
      <p:sp>
        <p:nvSpPr>
          <p:cNvPr id="5" name="Shape 3"/>
          <p:cNvSpPr/>
          <p:nvPr/>
        </p:nvSpPr>
        <p:spPr>
          <a:xfrm>
            <a:off x="640080" y="1600200"/>
            <a:ext cx="502920" cy="50292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50722" y="1710842"/>
            <a:ext cx="281635" cy="281635"/>
          </a:xfrm>
          <a:prstGeom prst="rect">
            <a:avLst/>
          </a:prstGeom>
        </p:spPr>
      </p:pic>
      <p:sp>
        <p:nvSpPr>
          <p:cNvPr id="7" name="Text 4"/>
          <p:cNvSpPr txBox="1"/>
          <p:nvPr/>
        </p:nvSpPr>
        <p:spPr>
          <a:xfrm>
            <a:off x="64008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Half earlies, half lates</a:t>
            </a:r>
            <a:endParaRPr lang="en-US" sz="1600" dirty="0"/>
          </a:p>
        </p:txBody>
      </p:sp>
      <p:sp>
        <p:nvSpPr>
          <p:cNvPr id="8" name="Text 5"/>
          <p:cNvSpPr txBox="1"/>
          <p:nvPr/>
        </p:nvSpPr>
        <p:spPr>
          <a:xfrm>
            <a:off x="64008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The same split as today: every early Monday to Saturday is matched by a late.</a:t>
            </a:r>
            <a:endParaRPr lang="en-US" sz="1300" dirty="0"/>
          </a:p>
        </p:txBody>
      </p:sp>
      <p:sp>
        <p:nvSpPr>
          <p:cNvPr id="9" name="Shape 6"/>
          <p:cNvSpPr/>
          <p:nvPr/>
        </p:nvSpPr>
        <p:spPr>
          <a:xfrm>
            <a:off x="3246120" y="1417320"/>
            <a:ext cx="2606040" cy="2514600"/>
          </a:xfrm>
          <a:prstGeom prst="roundRect">
            <a:avLst>
              <a:gd name="adj" fmla="val 3636"/>
            </a:avLst>
          </a:prstGeom>
          <a:solidFill>
            <a:srgbClr val="EEF2F7"/>
          </a:solidFill>
          <a:ln w="12700">
            <a:solidFill>
              <a:srgbClr val="EEF2F7"/>
            </a:solidFill>
            <a:prstDash val="solid"/>
          </a:ln>
        </p:spPr>
      </p:sp>
      <p:sp>
        <p:nvSpPr>
          <p:cNvPr id="10" name="Shape 7"/>
          <p:cNvSpPr/>
          <p:nvPr/>
        </p:nvSpPr>
        <p:spPr>
          <a:xfrm>
            <a:off x="3429000" y="1600200"/>
            <a:ext cx="502920" cy="50292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3539642" y="1710842"/>
            <a:ext cx="281635" cy="281635"/>
          </a:xfrm>
          <a:prstGeom prst="rect">
            <a:avLst/>
          </a:prstGeom>
        </p:spPr>
      </p:pic>
      <p:sp>
        <p:nvSpPr>
          <p:cNvPr id="12" name="Text 8"/>
          <p:cNvSpPr txBox="1"/>
          <p:nvPr/>
        </p:nvSpPr>
        <p:spPr>
          <a:xfrm>
            <a:off x="342900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Sundays are still overtime</a:t>
            </a:r>
            <a:endParaRPr lang="en-US" sz="1600" dirty="0"/>
          </a:p>
        </p:txBody>
      </p:sp>
      <p:sp>
        <p:nvSpPr>
          <p:cNvPr id="13" name="Text 9"/>
          <p:cNvSpPr txBox="1"/>
          <p:nvPr/>
        </p:nvSpPr>
        <p:spPr>
          <a:xfrm>
            <a:off x="342900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Not part of the contract, same as now — and about the same number of Sundays as today.</a:t>
            </a:r>
            <a:endParaRPr lang="en-US" sz="1300" dirty="0"/>
          </a:p>
        </p:txBody>
      </p:sp>
      <p:sp>
        <p:nvSpPr>
          <p:cNvPr id="14" name="Shape 10"/>
          <p:cNvSpPr/>
          <p:nvPr/>
        </p:nvSpPr>
        <p:spPr>
          <a:xfrm>
            <a:off x="6035040" y="1417320"/>
            <a:ext cx="2606040" cy="2514600"/>
          </a:xfrm>
          <a:prstGeom prst="roundRect">
            <a:avLst>
              <a:gd name="adj" fmla="val 3636"/>
            </a:avLst>
          </a:prstGeom>
          <a:solidFill>
            <a:srgbClr val="EEF2F7"/>
          </a:solidFill>
          <a:ln w="12700">
            <a:solidFill>
              <a:srgbClr val="EEF2F7"/>
            </a:solidFill>
            <a:prstDash val="solid"/>
          </a:ln>
        </p:spPr>
      </p:sp>
      <p:sp>
        <p:nvSpPr>
          <p:cNvPr id="15" name="Shape 11"/>
          <p:cNvSpPr/>
          <p:nvPr/>
        </p:nvSpPr>
        <p:spPr>
          <a:xfrm>
            <a:off x="6217920" y="1600200"/>
            <a:ext cx="502920" cy="502920"/>
          </a:xfrm>
          <a:prstGeom prst="ellipse">
            <a:avLst/>
          </a:prstGeom>
          <a:solidFill>
            <a:srgbClr val="F5C800"/>
          </a:solidFill>
          <a:ln w="12700">
            <a:solidFill>
              <a:srgbClr val="F5C800"/>
            </a:solidFill>
            <a:prstDash val="solid"/>
          </a:ln>
        </p:spPr>
      </p:sp>
      <p:pic>
        <p:nvPicPr>
          <p:cNvPr id="16" name="Image 2" descr="preencoded.png">    </p:cNvPr>
          <p:cNvPicPr>
            <a:picLocks noChangeAspect="1"/>
          </p:cNvPicPr>
          <p:nvPr/>
        </p:nvPicPr>
        <p:blipFill>
          <a:blip r:embed="rId3"/>
          <a:stretch>
            <a:fillRect/>
          </a:stretch>
        </p:blipFill>
        <p:spPr>
          <a:xfrm>
            <a:off x="6328562" y="1710842"/>
            <a:ext cx="281635" cy="281635"/>
          </a:xfrm>
          <a:prstGeom prst="rect">
            <a:avLst/>
          </a:prstGeom>
        </p:spPr>
      </p:pic>
      <p:sp>
        <p:nvSpPr>
          <p:cNvPr id="17" name="Text 12"/>
          <p:cNvSpPr txBox="1"/>
          <p:nvPr/>
        </p:nvSpPr>
        <p:spPr>
          <a:xfrm>
            <a:off x="621792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Nobody past 23:25 on a Sunday</a:t>
            </a:r>
            <a:endParaRPr lang="en-US" sz="1600" dirty="0"/>
          </a:p>
        </p:txBody>
      </p:sp>
      <p:sp>
        <p:nvSpPr>
          <p:cNvPr id="18" name="Text 13"/>
          <p:cNvSpPr txBox="1"/>
          <p:nvPr/>
        </p:nvSpPr>
        <p:spPr>
          <a:xfrm>
            <a:off x="621792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The Sunday finish stays where it is. That is agreed practice and will remain so.</a:t>
            </a:r>
            <a:endParaRPr lang="en-US" sz="1300" dirty="0"/>
          </a:p>
        </p:txBody>
      </p:sp>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shift in the balance of earlies and lates, and no change to how Sundays work.</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23.6</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needed for four full weeks off</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About the same. A cover week still counts as 4 days of leave, exactly as now.</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on duty with you, all day</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ever on the station floor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tiring patterns in the rota</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5</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Never fewer than three on the floor, and none of the avoidable tiring patterns.</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804672"/>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4447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Six new shift times to learn</a:t>
            </a:r>
            <a:endParaRPr lang="en-US" sz="1400" dirty="0"/>
          </a:p>
        </p:txBody>
      </p:sp>
      <p:sp>
        <p:nvSpPr>
          <p:cNvPr id="6" name="Text 4"/>
          <p:cNvSpPr txBox="1"/>
          <p:nvPr/>
        </p:nvSpPr>
        <p:spPr>
          <a:xfrm>
            <a:off x="640080" y="17556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Most are within 10–30 minutes of a time we already work.</a:t>
            </a:r>
            <a:endParaRPr lang="en-US" sz="1250" dirty="0"/>
          </a:p>
        </p:txBody>
      </p:sp>
      <p:sp>
        <p:nvSpPr>
          <p:cNvPr id="7" name="Shape 5"/>
          <p:cNvSpPr/>
          <p:nvPr/>
        </p:nvSpPr>
        <p:spPr>
          <a:xfrm>
            <a:off x="4663440" y="1371600"/>
            <a:ext cx="4023360" cy="804672"/>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4447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Shifts 6 minutes longer on average</a:t>
            </a:r>
            <a:endParaRPr lang="en-US" sz="1400" dirty="0"/>
          </a:p>
        </p:txBody>
      </p:sp>
      <p:sp>
        <p:nvSpPr>
          <p:cNvPr id="9" name="Text 7"/>
          <p:cNvSpPr txBox="1"/>
          <p:nvPr/>
        </p:nvSpPr>
        <p:spPr>
          <a:xfrm>
            <a:off x="4846320" y="17556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That is what buys the two fewer days a year.</a:t>
            </a:r>
            <a:endParaRPr lang="en-US" sz="1250" dirty="0"/>
          </a:p>
        </p:txBody>
      </p:sp>
      <p:sp>
        <p:nvSpPr>
          <p:cNvPr id="10" name="Shape 8"/>
          <p:cNvSpPr/>
          <p:nvPr/>
        </p:nvSpPr>
        <p:spPr>
          <a:xfrm>
            <a:off x="457200" y="2286000"/>
            <a:ext cx="4023360" cy="804672"/>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3591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Best leave stretch: 28 days, not 30</a:t>
            </a:r>
            <a:endParaRPr lang="en-US" sz="1400" dirty="0"/>
          </a:p>
        </p:txBody>
      </p:sp>
      <p:sp>
        <p:nvSpPr>
          <p:cNvPr id="12" name="Text 10"/>
          <p:cNvSpPr txBox="1"/>
          <p:nvPr/>
        </p:nvSpPr>
        <p:spPr>
          <a:xfrm>
            <a:off x="640080" y="26700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On average and at worst, about the same as today.</a:t>
            </a:r>
            <a:endParaRPr lang="en-US" sz="1250" dirty="0"/>
          </a:p>
        </p:txBody>
      </p:sp>
      <p:sp>
        <p:nvSpPr>
          <p:cNvPr id="13" name="Shape 11"/>
          <p:cNvSpPr/>
          <p:nvPr/>
        </p:nvSpPr>
        <p:spPr>
          <a:xfrm>
            <a:off x="4663440" y="2286000"/>
            <a:ext cx="4023360" cy="804672"/>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3591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Four cover weeks remain</a:t>
            </a:r>
            <a:endParaRPr lang="en-US" sz="1400" dirty="0"/>
          </a:p>
        </p:txBody>
      </p:sp>
      <p:sp>
        <p:nvSpPr>
          <p:cNvPr id="15" name="Text 13"/>
          <p:cNvSpPr txBox="1"/>
          <p:nvPr/>
        </p:nvSpPr>
        <p:spPr>
          <a:xfrm>
            <a:off x="4846320" y="26700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Now evenly spaced — every sixth week (1, 7, 13, 19).</a:t>
            </a:r>
            <a:endParaRPr lang="en-US" sz="1250" dirty="0"/>
          </a:p>
        </p:txBody>
      </p:sp>
      <p:sp>
        <p:nvSpPr>
          <p:cNvPr id="16" name="Shape 14"/>
          <p:cNvSpPr/>
          <p:nvPr/>
        </p:nvSpPr>
        <p:spPr>
          <a:xfrm>
            <a:off x="457200" y="3200400"/>
            <a:ext cx="4023360" cy="804672"/>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2735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More late finishes</a:t>
            </a:r>
            <a:endParaRPr lang="en-US" sz="1400" dirty="0"/>
          </a:p>
        </p:txBody>
      </p:sp>
      <p:sp>
        <p:nvSpPr>
          <p:cNvPr id="18" name="Text 16"/>
          <p:cNvSpPr txBox="1"/>
          <p:nvPr/>
        </p:nvSpPr>
        <p:spPr>
          <a:xfrm>
            <a:off x="640080" y="35844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About 59 a year each at 23:00 or later, against 39 today.</a:t>
            </a:r>
            <a:endParaRPr lang="en-US" sz="1250" dirty="0"/>
          </a:p>
        </p:txBody>
      </p:sp>
      <p:sp>
        <p:nvSpPr>
          <p:cNvPr id="19" name="Shape 17"/>
          <p:cNvSpPr/>
          <p:nvPr/>
        </p:nvSpPr>
        <p:spPr>
          <a:xfrm>
            <a:off x="4663440" y="3200400"/>
            <a:ext cx="4023360" cy="804672"/>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2735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Still a proposal</a:t>
            </a:r>
            <a:endParaRPr lang="en-US" sz="1400" dirty="0"/>
          </a:p>
        </p:txBody>
      </p:sp>
      <p:sp>
        <p:nvSpPr>
          <p:cNvPr id="21" name="Text 19"/>
          <p:cNvSpPr txBox="1"/>
          <p:nvPr/>
        </p:nvSpPr>
        <p:spPr>
          <a:xfrm>
            <a:off x="4846320" y="35844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Your views count before a link is chosen, and who goes on which line is not decided.</a:t>
            </a:r>
            <a:endParaRPr lang="en-US" sz="125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Familiar Nine,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Familiar Nine</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217</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8h14 · 9h10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8h20 · 9h00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8h40 · 9h10 · 8h55</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8h10 · 8h40 · 8h10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in 20 (one in five)</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6 in 24 (one in four)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6</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12h30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14h20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(9 you know)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 · 14 · 10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tiring patterns in the rota</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5</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fewer days, shorter closers, more weekends — and more colleagues on shift.</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Familiar Nine · F9-24-K31 · every figure worked out from the rota by the Marylebone Roster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Familiar Nine — the December 2026 link</dc:title>
  <dc:subject>PptxGenJS Presentation</dc:subject>
  <dc:creator>PptxGenJS</dc:creator>
  <cp:lastModifiedBy>PptxGenJS</cp:lastModifiedBy>
  <cp:revision>1</cp:revision>
  <dcterms:created xsi:type="dcterms:W3CDTF">2026-09-29T16:00:12Z</dcterms:created>
  <dcterms:modified xsi:type="dcterms:W3CDTF">2026-09-29T16:00:12Z</dcterms:modified>
</cp:coreProperties>
</file>