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c:v>
                </c:pt>
              </c:strCache>
            </c:strRef>
          </c:tx>
          <c:spPr>
            <a:solidFill>
              <a:srgbClr val="A9B3C1"/>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Sheet1!$B$2:$B$4</c:f>
              <c:numCache>
                <c:formatCode>General</c:formatCode>
                <c:ptCount val="3"/>
                <c:pt idx="0">
                  <c:v>52</c:v>
                </c:pt>
                <c:pt idx="1">
                  <c:v>65.9</c:v>
                </c:pt>
                <c:pt idx="2">
                  <c:v>71.7</c:v>
                </c:pt>
              </c:numCache>
            </c:numRef>
          </c:val>
        </c:ser>
        <c:ser>
          <c:idx val="1"/>
          <c:order val="1"/>
          <c:tx>
            <c:strRef>
              <c:f>Sheet1!$C$1</c:f>
              <c:strCache>
                <c:ptCount val="1"/>
                <c:pt idx="0">
                  <c:v>Familiar Nine</c:v>
                </c:pt>
              </c:strCache>
            </c:strRef>
          </c:tx>
          <c:spPr>
            <a:solidFill>
              <a:srgbClr val="001E3C"/>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Sheet1!$C$2:$C$4</c:f>
              <c:numCache>
                <c:formatCode>General</c:formatCode>
                <c:ptCount val="3"/>
                <c:pt idx="0">
                  <c:v>27.7</c:v>
                </c:pt>
                <c:pt idx="1">
                  <c:v>15</c:v>
                </c:pt>
                <c:pt idx="2">
                  <c:v>31.3</c:v>
                </c:pt>
              </c:numCache>
            </c:numRef>
          </c:val>
        </c:ser>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533"/>
                </a:solidFill>
                <a:latin typeface="Inter"/>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Inter"/>
              <a:cs typeface="Inter"/>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figures only. Everything week-by-week, hour-by-hour and rule-by-rule is on the ten-page proposal sheet, and every number here was worked out from the rota by the Marylebone Roster app, not typed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eleven rules are the December 2026 staffing levels, as confirmed: at least four at the open, three to the close, five after 22:00, 14 on a Saturday and 10 on a Sunday, four evenly spaced cover weeks, the ticket office in fixed pairs, 15:45 weekday closers, two on the floor at all times, handovers, 8–9 hour Sundays and no more shift times than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link meets 4 of the 11 December rules; Familiar Nine meets all 11. Someone finishing at exactly 22:00 is not counted as still on after 22:00. The floor figure leaves out the ticket office, except its second person at the quiet ends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compares, hour by hour, the share of the day’s floor staff on duty with the share of the day’s train movements. 0 would be a perfect match. It is a guide to shape, not a staffing requirement — the rules on the previous slide are the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working week pays exactly 35 hours Monday to Saturday — 42,000 minutes across the link — so no overtime is built into the rota. Sunday is not contracted, so the ten Sunday duties are worked as rest-day overtime, exactly as today’s eight are. Cover weeks stay at four, which is a slightly smaller share of a longer link: worth deciding deliberately. The two extra Sunday overtime duties a week come from the confirmed Sunday staffing of ten, not from Familiar Nine — any link that meets the rules needs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ORR factors are good practice, not pass/fail limits, and this is not a fatigue risk assessment. Two factors — early starts at a 06:20 station and a weekly rotation — come with every weekly link, so they are recorded on the proposal sheet for information and not counted. One definition, successive start times varying by more than two hours, is counted on our reading and should be confirmed by whoever assesses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pass the December rules and have no fatigue finding the design could have avoided, so the choice between them is a judgement about people, not a score. Right Away follows the trains very slightly more closely but asks people to learn twelve new shift times and has a 9h30 duty. All Clear keeps more of an existing supplied design but gives two full weekends off in 24 instead of six, runs to nine days in a row, and follows the trains worse than today’s link on a Sunday. The fourth, Just Enough, also meets every rule but has three fatigue findings. All 28 are on the one-page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at work fall from 219 to 217 a year (Monday to Saturday; Sunday is overtime). The late finishes come from the December staffing — three to the close and five after 22:00, where today has two and four — so any link that meets the rules will have more of them; they average about 20 more a year each, one extra every two or three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Sunday finish stays at 23:25 — that is agreed practice. The 13-day limit used in the checks is Chiltern practice; its written source is still to be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sheet with them. Questions about a particular week or hour are answered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Familiar Nine</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The December 2026 CEA link — the proposal in ten minutes</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For managers · 24 weeks · code F9-24-K31 · the full proposal sheet has the detail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Four numbers</a:t>
            </a:r>
            <a:endParaRPr lang="en-US" sz="1500" dirty="0"/>
          </a:p>
        </p:txBody>
      </p:sp>
      <p:sp>
        <p:nvSpPr>
          <p:cNvPr id="4" name="Shape 2"/>
          <p:cNvSpPr/>
          <p:nvPr/>
        </p:nvSpPr>
        <p:spPr>
          <a:xfrm>
            <a:off x="457200" y="1463040"/>
            <a:ext cx="1874520" cy="2377440"/>
          </a:xfrm>
          <a:prstGeom prst="roundRect">
            <a:avLst>
              <a:gd name="adj" fmla="val 5854"/>
            </a:avLst>
          </a:prstGeom>
          <a:solidFill>
            <a:srgbClr val="EEF2F7"/>
          </a:solidFill>
          <a:ln w="12700">
            <a:solidFill>
              <a:srgbClr val="EEF2F7"/>
            </a:solidFill>
            <a:prstDash val="solid"/>
          </a:ln>
        </p:spPr>
      </p:sp>
      <p:sp>
        <p:nvSpPr>
          <p:cNvPr id="5" name="Text 3"/>
          <p:cNvSpPr txBox="1"/>
          <p:nvPr/>
        </p:nvSpPr>
        <p:spPr>
          <a:xfrm>
            <a:off x="45720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11 of 11</a:t>
            </a:r>
            <a:endParaRPr lang="en-US" sz="3400" dirty="0"/>
          </a:p>
        </p:txBody>
      </p:sp>
      <p:sp>
        <p:nvSpPr>
          <p:cNvPr id="6" name="Text 4"/>
          <p:cNvSpPr txBox="1"/>
          <p:nvPr/>
        </p:nvSpPr>
        <p:spPr>
          <a:xfrm>
            <a:off x="59436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December staffing rules met</a:t>
            </a:r>
            <a:endParaRPr lang="en-US" sz="1500" dirty="0"/>
          </a:p>
        </p:txBody>
      </p:sp>
      <p:sp>
        <p:nvSpPr>
          <p:cNvPr id="7" name="Text 5"/>
          <p:cNvSpPr txBox="1"/>
          <p:nvPr/>
        </p:nvSpPr>
        <p:spPr>
          <a:xfrm>
            <a:off x="59436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today’s link: 4</a:t>
            </a:r>
            <a:endParaRPr lang="en-US" sz="1300" dirty="0"/>
          </a:p>
        </p:txBody>
      </p:sp>
      <p:sp>
        <p:nvSpPr>
          <p:cNvPr id="8" name="Shape 6"/>
          <p:cNvSpPr/>
          <p:nvPr/>
        </p:nvSpPr>
        <p:spPr>
          <a:xfrm>
            <a:off x="2560320" y="1463040"/>
            <a:ext cx="1874520" cy="2377440"/>
          </a:xfrm>
          <a:prstGeom prst="roundRect">
            <a:avLst>
              <a:gd name="adj" fmla="val 5854"/>
            </a:avLst>
          </a:prstGeom>
          <a:solidFill>
            <a:srgbClr val="EEF2F7"/>
          </a:solidFill>
          <a:ln w="12700">
            <a:solidFill>
              <a:srgbClr val="EEF2F7"/>
            </a:solidFill>
            <a:prstDash val="solid"/>
          </a:ln>
        </p:spPr>
      </p:sp>
      <p:sp>
        <p:nvSpPr>
          <p:cNvPr id="9" name="Text 7"/>
          <p:cNvSpPr txBox="1"/>
          <p:nvPr/>
        </p:nvSpPr>
        <p:spPr>
          <a:xfrm>
            <a:off x="256032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35h</a:t>
            </a:r>
            <a:endParaRPr lang="en-US" sz="3400" dirty="0"/>
          </a:p>
        </p:txBody>
      </p:sp>
      <p:sp>
        <p:nvSpPr>
          <p:cNvPr id="10" name="Text 8"/>
          <p:cNvSpPr txBox="1"/>
          <p:nvPr/>
        </p:nvSpPr>
        <p:spPr>
          <a:xfrm>
            <a:off x="269748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contract paid exactly</a:t>
            </a:r>
            <a:endParaRPr lang="en-US" sz="1500" dirty="0"/>
          </a:p>
        </p:txBody>
      </p:sp>
      <p:sp>
        <p:nvSpPr>
          <p:cNvPr id="11" name="Text 9"/>
          <p:cNvSpPr txBox="1"/>
          <p:nvPr/>
        </p:nvSpPr>
        <p:spPr>
          <a:xfrm>
            <a:off x="269748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no overtime built in</a:t>
            </a:r>
            <a:endParaRPr lang="en-US" sz="1300" dirty="0"/>
          </a:p>
        </p:txBody>
      </p:sp>
      <p:sp>
        <p:nvSpPr>
          <p:cNvPr id="12" name="Shape 10"/>
          <p:cNvSpPr/>
          <p:nvPr/>
        </p:nvSpPr>
        <p:spPr>
          <a:xfrm>
            <a:off x="4663440" y="1463040"/>
            <a:ext cx="1874520" cy="2377440"/>
          </a:xfrm>
          <a:prstGeom prst="roundRect">
            <a:avLst>
              <a:gd name="adj" fmla="val 5854"/>
            </a:avLst>
          </a:prstGeom>
          <a:solidFill>
            <a:srgbClr val="EEF2F7"/>
          </a:solidFill>
          <a:ln w="12700">
            <a:solidFill>
              <a:srgbClr val="EEF2F7"/>
            </a:solidFill>
            <a:prstDash val="solid"/>
          </a:ln>
        </p:spPr>
      </p:sp>
      <p:sp>
        <p:nvSpPr>
          <p:cNvPr id="13" name="Text 11"/>
          <p:cNvSpPr txBox="1"/>
          <p:nvPr/>
        </p:nvSpPr>
        <p:spPr>
          <a:xfrm>
            <a:off x="466344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0</a:t>
            </a:r>
            <a:endParaRPr lang="en-US" sz="3400" dirty="0"/>
          </a:p>
        </p:txBody>
      </p:sp>
      <p:sp>
        <p:nvSpPr>
          <p:cNvPr id="14" name="Text 12"/>
          <p:cNvSpPr txBox="1"/>
          <p:nvPr/>
        </p:nvSpPr>
        <p:spPr>
          <a:xfrm>
            <a:off x="480060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design-specific fatigue findings</a:t>
            </a:r>
            <a:endParaRPr lang="en-US" sz="1500" dirty="0"/>
          </a:p>
        </p:txBody>
      </p:sp>
      <p:sp>
        <p:nvSpPr>
          <p:cNvPr id="15" name="Text 13"/>
          <p:cNvSpPr txBox="1"/>
          <p:nvPr/>
        </p:nvSpPr>
        <p:spPr>
          <a:xfrm>
            <a:off x="480060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today’s link: 5</a:t>
            </a:r>
            <a:endParaRPr lang="en-US" sz="1300" dirty="0"/>
          </a:p>
        </p:txBody>
      </p:sp>
      <p:sp>
        <p:nvSpPr>
          <p:cNvPr id="16" name="Shape 14"/>
          <p:cNvSpPr/>
          <p:nvPr/>
        </p:nvSpPr>
        <p:spPr>
          <a:xfrm>
            <a:off x="6766560" y="1463040"/>
            <a:ext cx="1874520" cy="2377440"/>
          </a:xfrm>
          <a:prstGeom prst="roundRect">
            <a:avLst>
              <a:gd name="adj" fmla="val 5854"/>
            </a:avLst>
          </a:prstGeom>
          <a:solidFill>
            <a:srgbClr val="EEF2F7"/>
          </a:solidFill>
          <a:ln w="12700">
            <a:solidFill>
              <a:srgbClr val="EEF2F7"/>
            </a:solidFill>
            <a:prstDash val="solid"/>
          </a:ln>
        </p:spPr>
      </p:sp>
      <p:sp>
        <p:nvSpPr>
          <p:cNvPr id="17" name="Text 15"/>
          <p:cNvSpPr txBox="1"/>
          <p:nvPr/>
        </p:nvSpPr>
        <p:spPr>
          <a:xfrm>
            <a:off x="676656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24</a:t>
            </a:r>
            <a:endParaRPr lang="en-US" sz="3400" dirty="0"/>
          </a:p>
        </p:txBody>
      </p:sp>
      <p:sp>
        <p:nvSpPr>
          <p:cNvPr id="18" name="Text 16"/>
          <p:cNvSpPr txBox="1"/>
          <p:nvPr/>
        </p:nvSpPr>
        <p:spPr>
          <a:xfrm>
            <a:off x="690372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people on the link</a:t>
            </a:r>
            <a:endParaRPr lang="en-US" sz="1500" dirty="0"/>
          </a:p>
        </p:txBody>
      </p:sp>
      <p:sp>
        <p:nvSpPr>
          <p:cNvPr id="19" name="Text 17"/>
          <p:cNvSpPr txBox="1"/>
          <p:nvPr/>
        </p:nvSpPr>
        <p:spPr>
          <a:xfrm>
            <a:off x="690372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 20</a:t>
            </a:r>
            <a:endParaRPr lang="en-US" sz="1300" dirty="0"/>
          </a:p>
        </p:txBody>
      </p:sp>
      <p:sp>
        <p:nvSpPr>
          <p:cNvPr id="20" name="Shape 18"/>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9"/>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staffing level met, within the contract, with no design fatigue findings.</a:t>
            </a:r>
            <a:endParaRPr lang="en-US" sz="140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staffing you asked for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Weekday · Saturday · Sunday</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during the day</a:t>
            </a:r>
            <a:endParaRPr lang="en-US" sz="1400" dirty="0"/>
          </a:p>
        </p:txBody>
      </p:sp>
      <p:sp>
        <p:nvSpPr>
          <p:cNvPr id="8" name="Text 6"/>
          <p:cNvSpPr txBox="1"/>
          <p:nvPr/>
        </p:nvSpPr>
        <p:spPr>
          <a:xfrm>
            <a:off x="4297680" y="18013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 · 10 · 8</a:t>
            </a:r>
            <a:endParaRPr lang="en-US" sz="1600" dirty="0"/>
          </a:p>
        </p:txBody>
      </p:sp>
      <p:sp>
        <p:nvSpPr>
          <p:cNvPr id="9" name="Text 7"/>
          <p:cNvSpPr txBox="1"/>
          <p:nvPr/>
        </p:nvSpPr>
        <p:spPr>
          <a:xfrm>
            <a:off x="6492240" y="18013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14 · 10</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At the open (06:20, Sunday 07:15)</a:t>
            </a:r>
            <a:endParaRPr lang="en-US" sz="1400" dirty="0"/>
          </a:p>
        </p:txBody>
      </p:sp>
      <p:sp>
        <p:nvSpPr>
          <p:cNvPr id="12" name="Text 10"/>
          <p:cNvSpPr txBox="1"/>
          <p:nvPr/>
        </p:nvSpPr>
        <p:spPr>
          <a:xfrm>
            <a:off x="4297680" y="22585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4 · 3</a:t>
            </a:r>
            <a:endParaRPr lang="en-US" sz="1600" dirty="0"/>
          </a:p>
        </p:txBody>
      </p:sp>
      <p:sp>
        <p:nvSpPr>
          <p:cNvPr id="13" name="Text 11"/>
          <p:cNvSpPr txBox="1"/>
          <p:nvPr/>
        </p:nvSpPr>
        <p:spPr>
          <a:xfrm>
            <a:off x="6492240" y="22585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 5 · 4</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Still on after 22:00</a:t>
            </a:r>
            <a:endParaRPr lang="en-US" sz="1400" dirty="0"/>
          </a:p>
        </p:txBody>
      </p:sp>
      <p:sp>
        <p:nvSpPr>
          <p:cNvPr id="16" name="Text 14"/>
          <p:cNvSpPr txBox="1"/>
          <p:nvPr/>
        </p:nvSpPr>
        <p:spPr>
          <a:xfrm>
            <a:off x="4297680" y="27157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2 · 3</a:t>
            </a:r>
            <a:endParaRPr lang="en-US" sz="1600" dirty="0"/>
          </a:p>
        </p:txBody>
      </p:sp>
      <p:sp>
        <p:nvSpPr>
          <p:cNvPr id="17" name="Text 15"/>
          <p:cNvSpPr txBox="1"/>
          <p:nvPr/>
        </p:nvSpPr>
        <p:spPr>
          <a:xfrm>
            <a:off x="6492240" y="27157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 · 5 · 5</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Through to the close</a:t>
            </a:r>
            <a:endParaRPr lang="en-US" sz="1400" dirty="0"/>
          </a:p>
        </p:txBody>
      </p:sp>
      <p:sp>
        <p:nvSpPr>
          <p:cNvPr id="20" name="Text 18"/>
          <p:cNvSpPr txBox="1"/>
          <p:nvPr/>
        </p:nvSpPr>
        <p:spPr>
          <a:xfrm>
            <a:off x="4297680" y="31729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3</a:t>
            </a:r>
            <a:endParaRPr lang="en-US" sz="1600" dirty="0"/>
          </a:p>
        </p:txBody>
      </p:sp>
      <p:sp>
        <p:nvSpPr>
          <p:cNvPr id="21" name="Text 19"/>
          <p:cNvSpPr txBox="1"/>
          <p:nvPr/>
        </p:nvSpPr>
        <p:spPr>
          <a:xfrm>
            <a:off x="6492240" y="31729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4 · 3</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ever on the floor</a:t>
            </a:r>
            <a:endParaRPr lang="en-US" sz="1400" dirty="0"/>
          </a:p>
        </p:txBody>
      </p:sp>
      <p:sp>
        <p:nvSpPr>
          <p:cNvPr id="24" name="Text 22"/>
          <p:cNvSpPr txBox="1"/>
          <p:nvPr/>
        </p:nvSpPr>
        <p:spPr>
          <a:xfrm>
            <a:off x="4297680" y="36301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2</a:t>
            </a:r>
            <a:endParaRPr lang="en-US" sz="1600" dirty="0"/>
          </a:p>
        </p:txBody>
      </p:sp>
      <p:sp>
        <p:nvSpPr>
          <p:cNvPr id="25" name="Text 23"/>
          <p:cNvSpPr txBox="1"/>
          <p:nvPr/>
        </p:nvSpPr>
        <p:spPr>
          <a:xfrm>
            <a:off x="6492240" y="36301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level met on every day — and the ticket office staffed in pairs, including Sundays.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where the trains are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How far the floor staffing is from the shape of the December timetable — lower is better</a:t>
            </a:r>
            <a:endParaRPr lang="en-US" sz="1500" dirty="0"/>
          </a:p>
        </p:txBody>
      </p:sp>
      <p:graphicFrame>
        <p:nvGraphicFramePr>
          <p:cNvPr id="4" name="Chart 0" descr=""/>
          <p:cNvGraphicFramePr/>
          <p:nvPr/>
        </p:nvGraphicFramePr>
        <p:xfrm>
          <a:off x="457200" y="1325880"/>
          <a:ext cx="8229600" cy="2697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Staff are where the trains are — much closer to the December pattern, every day.</a:t>
            </a:r>
            <a:endParaRPr lang="en-US" sz="1400" dirty="0"/>
          </a:p>
        </p:txBody>
      </p:sp>
      <p:sp>
        <p:nvSpPr>
          <p:cNvPr id="7" name="Text 4"/>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A measure of the day’s shape only — not a staffing requirement or a passenger forecast.</a:t>
            </a:r>
            <a:endParaRPr lang="en-US" sz="85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and hours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it takes to run</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on the link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20</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24</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35h</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Cover weeks (for leave and sickness)</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1 week in 5</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4 — 1 week in 6</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needed each Sunday (overtime)</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10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Four more people, the contract paid exactly — Sundays still rely on overtime.</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Fatigue checks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Against the Office of Rail and Road’s good-practice list</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Familiar Nine</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Design-specific fatigue findings (ORR list)</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5</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in a row (limit 13, source to confirm)</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rest between two shifts (at least 12h)</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12h30</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14h20</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9h10</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9h00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limit met with room to spare, and no design-specific fatigue findings.</a:t>
            </a:r>
            <a:endParaRPr lang="en-US" sz="1400" dirty="0"/>
          </a:p>
        </p:txBody>
      </p:sp>
      <p:sp>
        <p:nvSpPr>
          <p:cNvPr id="24" name="Text 22"/>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Not counted: early starts and weekly rotation, which every link has. Not a risk assessment.</a:t>
            </a:r>
            <a:endParaRPr lang="en-US" sz="85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Familiar Nine?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Four of the 28 proposals meet every rule — three with no design fatigue findings</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566160"/>
                <a:gridCol w="1554480"/>
                <a:gridCol w="1554480"/>
                <a:gridCol w="1554480"/>
              </a:tblGrid>
              <a:tr h="329184">
                <a:tc>
                  <a:txBody>
                    <a:bodyPr/>
                    <a:lstStyle/>
                    <a:p>
                      <a:pPr algn="ctr" indent="0" marL="0">
                        <a:buNone/>
                      </a:pP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FFFFFF"/>
                          </a:solidFill>
                          <a:latin typeface="Inter" pitchFamily="34" charset="0"/>
                          <a:ea typeface="Inter" pitchFamily="34" charset="-122"/>
                          <a:cs typeface="Inter" pitchFamily="34" charset="-120"/>
                        </a:rPr>
                        <a:t>Familiar Nine</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01E3C"/>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Right Away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All Clear</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r>
              <a:tr h="329184">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December rules met</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11 of 11</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 of 11</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 of 11</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Design-specific fatigue findings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Shift times already worked today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9 of 15</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5 of 17</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7 of 16</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Longest shift · shortest rest</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9h00 · 14h20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9h30 · 14h05</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9h10 · 14h05</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Full weekends off · most days in a row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6 in 24 · 6</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6 in 24 · 6</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 in 24 · 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Fit to the trains: weekday · Sat · Sun (lower is closer)</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28 · 15 · 31</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27 · 15 · 29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42 · 38 · 78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Finishing at 23:00 or later — each, a year</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59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59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50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bl>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Not the only good option — it trades a little train fit for familiar, shorter shifts.</a:t>
            </a:r>
            <a:endParaRPr lang="en-US" sz="1400" dirty="0"/>
          </a:p>
        </p:txBody>
      </p:sp>
      <p:sp>
        <p:nvSpPr>
          <p:cNvPr id="7" name="Text 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What colleagues will notice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good and the not so good — the colleague presentation shows both</a:t>
            </a:r>
            <a:endParaRPr lang="en-US" sz="1500" dirty="0"/>
          </a:p>
        </p:txBody>
      </p:sp>
      <p:sp>
        <p:nvSpPr>
          <p:cNvPr id="4" name="Shape 2"/>
          <p:cNvSpPr/>
          <p:nvPr/>
        </p:nvSpPr>
        <p:spPr>
          <a:xfrm>
            <a:off x="457200" y="1325880"/>
            <a:ext cx="4023360" cy="2697480"/>
          </a:xfrm>
          <a:prstGeom prst="roundRect">
            <a:avLst>
              <a:gd name="adj" fmla="val 3390"/>
            </a:avLst>
          </a:prstGeom>
          <a:solidFill>
            <a:srgbClr val="EEF2F7"/>
          </a:solidFill>
          <a:ln w="12700">
            <a:solidFill>
              <a:srgbClr val="EEF2F7"/>
            </a:solidFill>
            <a:prstDash val="solid"/>
          </a:ln>
        </p:spPr>
      </p:sp>
      <p:sp>
        <p:nvSpPr>
          <p:cNvPr id="5" name="Shape 3"/>
          <p:cNvSpPr/>
          <p:nvPr/>
        </p:nvSpPr>
        <p:spPr>
          <a:xfrm>
            <a:off x="457200" y="1325880"/>
            <a:ext cx="73152" cy="2697480"/>
          </a:xfrm>
          <a:prstGeom prst="rect">
            <a:avLst/>
          </a:prstGeom>
          <a:solidFill>
            <a:srgbClr val="1E7B4B"/>
          </a:solidFill>
          <a:ln w="12700">
            <a:solidFill>
              <a:srgbClr val="1E7B4B"/>
            </a:solidFill>
            <a:prstDash val="solid"/>
          </a:ln>
        </p:spPr>
      </p:sp>
      <p:sp>
        <p:nvSpPr>
          <p:cNvPr id="6" name="Text 4"/>
          <p:cNvSpPr txBox="1"/>
          <p:nvPr/>
        </p:nvSpPr>
        <p:spPr>
          <a:xfrm>
            <a:off x="731520" y="1463040"/>
            <a:ext cx="3566160" cy="365760"/>
          </a:xfrm>
          <a:prstGeom prst="rect">
            <a:avLst/>
          </a:prstGeom>
          <a:noFill/>
          <a:ln/>
        </p:spPr>
        <p:txBody>
          <a:bodyPr wrap="square" lIns="0" tIns="0" rIns="0" bIns="0" rtlCol="0" anchor="ctr"/>
          <a:lstStyle/>
          <a:p>
            <a:pPr indent="0" marL="0">
              <a:buNone/>
            </a:pPr>
            <a:r>
              <a:rPr lang="en-US" sz="1600" b="1" dirty="0">
                <a:solidFill>
                  <a:srgbClr val="1E7B4B"/>
                </a:solidFill>
                <a:latin typeface="Inter" pitchFamily="34" charset="0"/>
                <a:ea typeface="Inter" pitchFamily="34" charset="-122"/>
                <a:cs typeface="Inter" pitchFamily="34" charset="-120"/>
              </a:rPr>
              <a:t>Likely to welcome</a:t>
            </a:r>
            <a:endParaRPr lang="en-US" sz="1600" dirty="0"/>
          </a:p>
        </p:txBody>
      </p:sp>
      <p:sp>
        <p:nvSpPr>
          <p:cNvPr id="7" name="Text 5"/>
          <p:cNvSpPr txBox="1"/>
          <p:nvPr/>
        </p:nvSpPr>
        <p:spPr>
          <a:xfrm>
            <a:off x="731520" y="1901952"/>
            <a:ext cx="361188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6 full weekends off in 24 (today 4 in 20)</a:t>
            </a:r>
            <a:endParaRPr lang="en-US" sz="1300" dirty="0"/>
          </a:p>
          <a:p>
            <a:pPr marL="342900" indent="-3429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At most 6 days in a row (today 9)</a:t>
            </a:r>
            <a:endParaRPr lang="en-US" sz="1300" dirty="0"/>
          </a:p>
          <a:p>
            <a:pPr marL="342900" indent="-3429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Every closing shift 30–45 minutes shorter</a:t>
            </a:r>
            <a:endParaRPr lang="en-US" sz="1300" dirty="0"/>
          </a:p>
          <a:p>
            <a:pPr marL="342900" indent="-3429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9 of the 15 shift times already worked</a:t>
            </a:r>
            <a:endParaRPr lang="en-US" sz="1300" dirty="0"/>
          </a:p>
          <a:p>
            <a:pPr marL="342900" indent="-3429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Shortest rest 14h20 (today 12h30)</a:t>
            </a:r>
            <a:endParaRPr lang="en-US" sz="1300" dirty="0"/>
          </a:p>
        </p:txBody>
      </p:sp>
      <p:sp>
        <p:nvSpPr>
          <p:cNvPr id="8" name="Shape 6"/>
          <p:cNvSpPr/>
          <p:nvPr/>
        </p:nvSpPr>
        <p:spPr>
          <a:xfrm>
            <a:off x="4663440" y="1325880"/>
            <a:ext cx="4023360" cy="2697480"/>
          </a:xfrm>
          <a:prstGeom prst="roundRect">
            <a:avLst>
              <a:gd name="adj" fmla="val 3390"/>
            </a:avLst>
          </a:prstGeom>
          <a:solidFill>
            <a:srgbClr val="EEF2F7"/>
          </a:solidFill>
          <a:ln w="12700">
            <a:solidFill>
              <a:srgbClr val="EEF2F7"/>
            </a:solidFill>
            <a:prstDash val="solid"/>
          </a:ln>
        </p:spPr>
      </p:sp>
      <p:sp>
        <p:nvSpPr>
          <p:cNvPr id="9" name="Shape 7"/>
          <p:cNvSpPr/>
          <p:nvPr/>
        </p:nvSpPr>
        <p:spPr>
          <a:xfrm>
            <a:off x="4663440" y="1325880"/>
            <a:ext cx="73152" cy="2697480"/>
          </a:xfrm>
          <a:prstGeom prst="rect">
            <a:avLst/>
          </a:prstGeom>
          <a:solidFill>
            <a:srgbClr val="A15C00"/>
          </a:solidFill>
          <a:ln w="12700">
            <a:solidFill>
              <a:srgbClr val="A15C00"/>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600" b="1" dirty="0">
                <a:solidFill>
                  <a:srgbClr val="A15C00"/>
                </a:solidFill>
                <a:latin typeface="Inter" pitchFamily="34" charset="0"/>
                <a:ea typeface="Inter" pitchFamily="34" charset="-122"/>
                <a:cs typeface="Inter" pitchFamily="34" charset="-120"/>
              </a:rPr>
              <a:t>Likely to worry about</a:t>
            </a:r>
            <a:endParaRPr lang="en-US" sz="1600" dirty="0"/>
          </a:p>
        </p:txBody>
      </p:sp>
      <p:sp>
        <p:nvSpPr>
          <p:cNvPr id="11" name="Text 9"/>
          <p:cNvSpPr txBox="1"/>
          <p:nvPr/>
        </p:nvSpPr>
        <p:spPr>
          <a:xfrm>
            <a:off x="4937760" y="1901952"/>
            <a:ext cx="361188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59 finishes at 23:00 or later a year each (today 39)</a:t>
            </a:r>
            <a:endParaRPr lang="en-US" sz="1300" dirty="0"/>
          </a:p>
          <a:p>
            <a:pPr marL="342900" indent="-3429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6 new shift times to learn</a:t>
            </a:r>
            <a:endParaRPr lang="en-US" sz="1300" dirty="0"/>
          </a:p>
          <a:p>
            <a:pPr marL="342900" indent="-3429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Average shift 6 minutes longer</a:t>
            </a:r>
            <a:endParaRPr lang="en-US" sz="1300" dirty="0"/>
          </a:p>
          <a:p>
            <a:pPr marL="342900" indent="-3429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Best 14-day leave stretch 28 days, not 30</a:t>
            </a:r>
            <a:endParaRPr lang="en-US" sz="1300" dirty="0"/>
          </a:p>
          <a:p>
            <a:pPr marL="342900" indent="-3429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Four weeks off takes 15 days’ leave, not 14</a:t>
            </a:r>
            <a:endParaRPr lang="en-US" sz="1300" dirty="0"/>
          </a:p>
        </p:txBody>
      </p:sp>
      <p:sp>
        <p:nvSpPr>
          <p:cNvPr id="12"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3"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Expect late finishes to be the first question — the colleague deck answers it openly.</a:t>
            </a:r>
            <a:endParaRPr lang="en-US" sz="1400" dirty="0"/>
          </a:p>
        </p:txBody>
      </p:sp>
      <p:sp>
        <p:nvSpPr>
          <p:cNvPr id="14"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Where it stands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Three things confirmed, two decisions left</a:t>
            </a:r>
            <a:endParaRPr lang="en-US" sz="1500" dirty="0"/>
          </a:p>
        </p:txBody>
      </p:sp>
      <p:sp>
        <p:nvSpPr>
          <p:cNvPr id="4" name="Shape 2"/>
          <p:cNvSpPr/>
          <p:nvPr/>
        </p:nvSpPr>
        <p:spPr>
          <a:xfrm>
            <a:off x="457200" y="1325880"/>
            <a:ext cx="457200" cy="457200"/>
          </a:xfrm>
          <a:prstGeom prst="ellipse">
            <a:avLst/>
          </a:prstGeom>
          <a:solidFill>
            <a:srgbClr val="1E7B4B"/>
          </a:solidFill>
          <a:ln w="12700">
            <a:solidFill>
              <a:srgbClr val="1E7B4B"/>
            </a:solidFill>
            <a:prstDash val="solid"/>
          </a:ln>
        </p:spPr>
      </p:sp>
      <p:sp>
        <p:nvSpPr>
          <p:cNvPr id="5" name="Text 3"/>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6" name="Text 4"/>
          <p:cNvSpPr txBox="1"/>
          <p:nvPr/>
        </p:nvSpPr>
        <p:spPr>
          <a:xfrm>
            <a:off x="1097280" y="128930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Staffing levels — confirmed</a:t>
            </a:r>
            <a:endParaRPr lang="en-US" sz="1600" dirty="0"/>
          </a:p>
        </p:txBody>
      </p:sp>
      <p:sp>
        <p:nvSpPr>
          <p:cNvPr id="7" name="Text 5"/>
          <p:cNvSpPr txBox="1"/>
          <p:nvPr/>
        </p:nvSpPr>
        <p:spPr>
          <a:xfrm>
            <a:off x="1097280" y="157276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The eleven December rules. Everything here is built on them.</a:t>
            </a:r>
            <a:endParaRPr lang="en-US" sz="1300" dirty="0"/>
          </a:p>
        </p:txBody>
      </p:sp>
      <p:sp>
        <p:nvSpPr>
          <p:cNvPr id="8" name="Shape 6"/>
          <p:cNvSpPr/>
          <p:nvPr/>
        </p:nvSpPr>
        <p:spPr>
          <a:xfrm>
            <a:off x="457200" y="1965960"/>
            <a:ext cx="457200" cy="457200"/>
          </a:xfrm>
          <a:prstGeom prst="ellipse">
            <a:avLst/>
          </a:prstGeom>
          <a:solidFill>
            <a:srgbClr val="1E7B4B"/>
          </a:solidFill>
          <a:ln w="12700">
            <a:solidFill>
              <a:srgbClr val="1E7B4B"/>
            </a:solidFill>
            <a:prstDash val="solid"/>
          </a:ln>
        </p:spPr>
      </p:sp>
      <p:sp>
        <p:nvSpPr>
          <p:cNvPr id="9" name="Text 7"/>
          <p:cNvSpPr txBox="1"/>
          <p:nvPr/>
        </p:nvSpPr>
        <p:spPr>
          <a:xfrm>
            <a:off x="457200"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0" name="Text 8"/>
          <p:cNvSpPr txBox="1"/>
          <p:nvPr/>
        </p:nvSpPr>
        <p:spPr>
          <a:xfrm>
            <a:off x="1097280" y="192938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24 people on the link — confirmed</a:t>
            </a:r>
            <a:endParaRPr lang="en-US" sz="1600" dirty="0"/>
          </a:p>
        </p:txBody>
      </p:sp>
      <p:sp>
        <p:nvSpPr>
          <p:cNvPr id="11" name="Text 9"/>
          <p:cNvSpPr txBox="1"/>
          <p:nvPr/>
        </p:nvSpPr>
        <p:spPr>
          <a:xfrm>
            <a:off x="1097280" y="221284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Four more than today.</a:t>
            </a:r>
            <a:endParaRPr lang="en-US" sz="1300" dirty="0"/>
          </a:p>
        </p:txBody>
      </p:sp>
      <p:sp>
        <p:nvSpPr>
          <p:cNvPr id="12" name="Shape 10"/>
          <p:cNvSpPr/>
          <p:nvPr/>
        </p:nvSpPr>
        <p:spPr>
          <a:xfrm>
            <a:off x="457200" y="2606040"/>
            <a:ext cx="457200" cy="457200"/>
          </a:xfrm>
          <a:prstGeom prst="ellipse">
            <a:avLst/>
          </a:prstGeom>
          <a:solidFill>
            <a:srgbClr val="1E7B4B"/>
          </a:solidFill>
          <a:ln w="12700">
            <a:solidFill>
              <a:srgbClr val="1E7B4B"/>
            </a:solidFill>
            <a:prstDash val="solid"/>
          </a:ln>
        </p:spPr>
      </p:sp>
      <p:sp>
        <p:nvSpPr>
          <p:cNvPr id="13" name="Text 11"/>
          <p:cNvSpPr txBox="1"/>
          <p:nvPr/>
        </p:nvSpPr>
        <p:spPr>
          <a:xfrm>
            <a:off x="457200" y="2606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4" name="Text 12"/>
          <p:cNvSpPr txBox="1"/>
          <p:nvPr/>
        </p:nvSpPr>
        <p:spPr>
          <a:xfrm>
            <a:off x="1097280" y="256946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 cover — confirmed</a:t>
            </a:r>
            <a:endParaRPr lang="en-US" sz="1600" dirty="0"/>
          </a:p>
        </p:txBody>
      </p:sp>
      <p:sp>
        <p:nvSpPr>
          <p:cNvPr id="15" name="Text 13"/>
          <p:cNvSpPr txBox="1"/>
          <p:nvPr/>
        </p:nvSpPr>
        <p:spPr>
          <a:xfrm>
            <a:off x="1097280" y="285292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Ten on a Sunday, worked as overtime, as today.</a:t>
            </a:r>
            <a:endParaRPr lang="en-US" sz="1300" dirty="0"/>
          </a:p>
        </p:txBody>
      </p:sp>
      <p:sp>
        <p:nvSpPr>
          <p:cNvPr id="16" name="Shape 14"/>
          <p:cNvSpPr/>
          <p:nvPr/>
        </p:nvSpPr>
        <p:spPr>
          <a:xfrm>
            <a:off x="457200" y="3246120"/>
            <a:ext cx="457200" cy="457200"/>
          </a:xfrm>
          <a:prstGeom prst="ellipse">
            <a:avLst/>
          </a:prstGeom>
          <a:solidFill>
            <a:srgbClr val="F5C800"/>
          </a:solidFill>
          <a:ln w="12700">
            <a:solidFill>
              <a:srgbClr val="F5C800"/>
            </a:solidFill>
            <a:prstDash val="solid"/>
          </a:ln>
        </p:spPr>
      </p:sp>
      <p:sp>
        <p:nvSpPr>
          <p:cNvPr id="17" name="Text 15"/>
          <p:cNvSpPr txBox="1"/>
          <p:nvPr/>
        </p:nvSpPr>
        <p:spPr>
          <a:xfrm>
            <a:off x="457200" y="324612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18" name="Text 16"/>
          <p:cNvSpPr txBox="1"/>
          <p:nvPr/>
        </p:nvSpPr>
        <p:spPr>
          <a:xfrm>
            <a:off x="1097280" y="320954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To decide: which link is adopted</a:t>
            </a:r>
            <a:endParaRPr lang="en-US" sz="1600" dirty="0"/>
          </a:p>
        </p:txBody>
      </p:sp>
      <p:sp>
        <p:nvSpPr>
          <p:cNvPr id="19" name="Text 17"/>
          <p:cNvSpPr txBox="1"/>
          <p:nvPr/>
        </p:nvSpPr>
        <p:spPr>
          <a:xfrm>
            <a:off x="1097280" y="349300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Familiar Nine is one of four that meet every rule. Colleagues’ views come first.</a:t>
            </a:r>
            <a:endParaRPr lang="en-US" sz="1300" dirty="0"/>
          </a:p>
        </p:txBody>
      </p:sp>
      <p:sp>
        <p:nvSpPr>
          <p:cNvPr id="20" name="Shape 18"/>
          <p:cNvSpPr/>
          <p:nvPr/>
        </p:nvSpPr>
        <p:spPr>
          <a:xfrm>
            <a:off x="457200" y="3886200"/>
            <a:ext cx="457200" cy="457200"/>
          </a:xfrm>
          <a:prstGeom prst="ellipse">
            <a:avLst/>
          </a:prstGeom>
          <a:solidFill>
            <a:srgbClr val="F5C800"/>
          </a:solidFill>
          <a:ln w="12700">
            <a:solidFill>
              <a:srgbClr val="F5C800"/>
            </a:solidFill>
            <a:prstDash val="solid"/>
          </a:ln>
        </p:spPr>
      </p:sp>
      <p:sp>
        <p:nvSpPr>
          <p:cNvPr id="21" name="Text 19"/>
          <p:cNvSpPr txBox="1"/>
          <p:nvPr/>
        </p:nvSpPr>
        <p:spPr>
          <a:xfrm>
            <a:off x="457200" y="388620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22" name="Text 20"/>
          <p:cNvSpPr txBox="1"/>
          <p:nvPr/>
        </p:nvSpPr>
        <p:spPr>
          <a:xfrm>
            <a:off x="1097280" y="38496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Then: who goes on which line</a:t>
            </a:r>
            <a:endParaRPr lang="en-US" sz="1600" dirty="0"/>
          </a:p>
        </p:txBody>
      </p:sp>
      <p:sp>
        <p:nvSpPr>
          <p:cNvPr id="23" name="Text 21"/>
          <p:cNvSpPr txBox="1"/>
          <p:nvPr/>
        </p:nvSpPr>
        <p:spPr>
          <a:xfrm>
            <a:off x="1097280" y="41330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Who starts on which week of the link.</a:t>
            </a:r>
            <a:endParaRPr lang="en-US" sz="13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Familiar Nine · December 2026 CEA link · for managers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detail</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342900" indent="-3429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Every week of the link, day by day</a:t>
            </a:r>
            <a:endParaRPr lang="en-US" sz="1800" dirty="0"/>
          </a:p>
          <a:p>
            <a:pPr marL="342900" indent="-3429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Staff on duty hour by hour, against the trains</a:t>
            </a:r>
            <a:endParaRPr lang="en-US" sz="1800" dirty="0"/>
          </a:p>
          <a:p>
            <a:pPr marL="342900" indent="-3429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Each staffing rule and each ORR factor, checked</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300" dirty="0">
                <a:solidFill>
                  <a:srgbClr val="F5C800"/>
                </a:solidFill>
                <a:latin typeface="Inter" pitchFamily="34" charset="0"/>
                <a:ea typeface="Inter" pitchFamily="34" charset="-122"/>
                <a:cs typeface="Inter" pitchFamily="34" charset="-120"/>
              </a:rPr>
              <a:t>All in the ten-page proposal sheet · Familiar Nine · F9-24-K31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Familiar Nine — the December 2026 CEA link, for managers</dc:title>
  <dc:subject>PptxGenJS Presentation</dc:subject>
  <dc:creator>PptxGenJS</dc:creator>
  <cp:lastModifiedBy>PptxGenJS</cp:lastModifiedBy>
  <cp:revision>1</cp:revision>
  <dcterms:created xsi:type="dcterms:W3CDTF">2026-09-29T12:04:57Z</dcterms:created>
  <dcterms:modified xsi:type="dcterms:W3CDTF">2026-09-29T12:04:57Z</dcterms:modified>
</cp:coreProperties>
</file>