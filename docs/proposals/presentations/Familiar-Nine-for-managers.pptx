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Today</c:v>
                </c:pt>
              </c:strCache>
            </c:strRef>
          </c:tx>
          <c:spPr>
            <a:solidFill>
              <a:srgbClr val="A9B3C1"/>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Sheet1!$B$2:$B$4</c:f>
              <c:numCache>
                <c:formatCode>General</c:formatCode>
                <c:ptCount val="3"/>
                <c:pt idx="0">
                  <c:v>52</c:v>
                </c:pt>
                <c:pt idx="1">
                  <c:v>65.9</c:v>
                </c:pt>
                <c:pt idx="2">
                  <c:v>71.7</c:v>
                </c:pt>
              </c:numCache>
            </c:numRef>
          </c:val>
        </c:ser>
        <c:ser>
          <c:idx val="1"/>
          <c:order val="1"/>
          <c:tx>
            <c:strRef>
              <c:f>Sheet1!$C$1</c:f>
              <c:strCache>
                <c:ptCount val="1"/>
                <c:pt idx="0">
                  <c:v>Familiar Nine</c:v>
                </c:pt>
              </c:strCache>
            </c:strRef>
          </c:tx>
          <c:spPr>
            <a:solidFill>
              <a:srgbClr val="001E3C"/>
            </a:solidFill>
            <a:effectLst/>
          </c:spPr>
          <c:invertIfNegative val="0"/>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cat>
            <c:multiLvlStrRef>
              <c:f>Sheet1!$A$2:$A$4</c:f>
              <c:multiLvlStrCache>
                <c:ptCount val="3"/>
                <c:lvl>
                  <c:pt idx="0">
                    <c:v>Weekday</c:v>
                  </c:pt>
                  <c:pt idx="1">
                    <c:v>Saturday</c:v>
                  </c:pt>
                  <c:pt idx="2">
                    <c:v>Sunday</c:v>
                  </c:pt>
                </c:lvl>
              </c:multiLvlStrCache>
            </c:multiLvlStrRef>
          </c:cat>
          <c:val>
            <c:numRef>
              <c:f>Sheet1!$C$2:$C$4</c:f>
              <c:numCache>
                <c:formatCode>General</c:formatCode>
                <c:ptCount val="3"/>
                <c:pt idx="0">
                  <c:v>27.7</c:v>
                </c:pt>
                <c:pt idx="1">
                  <c:v>15</c:v>
                </c:pt>
                <c:pt idx="2">
                  <c:v>26.4</c:v>
                </c:pt>
              </c:numCache>
            </c:numRef>
          </c:val>
        </c:ser>
        <c:dLbls>
          <c:numFmt formatCode="0.0" sourceLinked="0"/>
          <c:txPr>
            <a:bodyPr/>
            <a:lstStyle/>
            <a:p>
              <a:pPr>
                <a:defRPr b="0" i="0" strike="noStrike" sz="1200" u="none">
                  <a:solidFill>
                    <a:srgbClr val="1B2533"/>
                  </a:solidFill>
                  <a:latin typeface="Inte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1B2533"/>
                </a:solidFill>
                <a:latin typeface="Inter"/>
              </a:defRPr>
            </a:pPr>
            <a:endParaRPr lang="en-US"/>
          </a:p>
        </c:txPr>
        <c:crossAx val="2094734552"/>
        <c:crosses val="autoZero"/>
        <c:auto val="1"/>
        <c:lblAlgn val="ctr"/>
        <c:noMultiLvlLbl val="1"/>
      </c:catAx>
      <c:valAx>
        <c:axId val="2094734552"/>
        <c:scaling>
          <c:orientation val="minMax"/>
          <c:max val="8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200">
              <a:latin typeface="Inter"/>
              <a:cs typeface="Inter"/>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headline figures only. Everything week-by-week, hour-by-hour and rule-by-rule is on the eight-page proposal sheet, and every number here comes from the Marylebone Roster app’s rota calculations and has been independently checked; the slides present those results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nine rules are the December 2026 rules, as confirmed: at least four at the open, three to the close, five after 22:00, 10 on a Sunday, the ticket office in fixed pairs, two on the floor at all times, handovers, 8–9 hour Sundays and no more shift times than today. Behind them sit three flexible rules that are aimed for when designing but not scored on: 14 on a Saturday, cover weeks evenly spaced, and weekday closers starting at 15:45. Familiar Nine meets all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link meets 4 of the 9 December rules; Familiar Nine meets all 9, and the three flexible ones as well (14 on a Saturday, evenly spaced cover weeks, 15:45 weekday closers). Someone finishing at exactly 22:00 is not counted as still on after 22:00. The floor figure leaves out the ticket office, except its second person at the quiet ends of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figure compares, hour by hour, the share of the day’s floor staff on duty with the share of the day’s train service, each train weighted by its length. 0 would be a perfect match. It is a guide to shape, not a staffing requirement — the rules on the previous slide are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weeks average exactly 35 hours Monday to Saturday — 42,000 minutes across the 20 working weeks — so no overtime is needed to balance the Monday-to-Saturday week. Individual weeks range from 24h 30m to 41h 45m; only the average is the contract, as today. Ask the room: are four cover weeks enough for leave and sickness in a 24-person link? Sunday is not contracted, so the ten Sunday duties are worked as rest-day overtime, exactly as today’s eight are. Cover weeks stay at four, which is a slightly smaller share of a longer link: worth deciding deliberately. The two extra Sunday overtime duties a week come from the confirmed Sunday staffing of ten, not from Familiar Nine — any link that meets the rules needs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ORR factors are good practice, not pass/fail limits, and this is not a fatigue risk assessment. Two factors — early starts at a 06:20 station and a weekly rotation — come with every weekly link, so they are recorded on the proposal sheet for information and not counted. One definition, successive start times varying by more than two hours, is counted on our reading and should be confirmed by whoever assesses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case in one slide. It meets every December staffing rule, and it was built to keep the shift times people already work wherever that cost little — eight of its sixteen are worked today. The honest cost is late finishes: the December staffing needs three to the close and five after 22:00, so finishes at 23:00 or later go from about 39 to 59 a year each. Every closing shift is 30 to 45 minutes shorter, which softens it. Eight shift times are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Days at work fall from 219 to 217 a year (Monday to Saturday; Sunday is overtime). The late finishes come from the December staffing — three to the close and five after 22:00, where today’s weekdays have two and four — so any link that meets the rules will have more of them; they average about 20 more a year each, one extra every two or three weeks.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Sunday finish stays at 23:25 — that is agreed practice. The 13-day limit used in the checks is Chiltern practice; its written source is still to be cited.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the sheet with them. Questions about a particular week or hour are answered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914400"/>
          </a:xfrm>
          <a:prstGeom prst="rect">
            <a:avLst/>
          </a:prstGeom>
          <a:noFill/>
          <a:ln/>
        </p:spPr>
        <p:txBody>
          <a:bodyPr wrap="square" lIns="0" tIns="0" rIns="0" bIns="0" rtlCol="0" anchor="ctr"/>
          <a:lstStyle/>
          <a:p>
            <a:pPr indent="0" marL="0">
              <a:buNone/>
            </a:pPr>
            <a:r>
              <a:rPr lang="en-US" sz="4800" b="1" dirty="0">
                <a:solidFill>
                  <a:srgbClr val="FFFFFF"/>
                </a:solidFill>
                <a:latin typeface="Inter" pitchFamily="34" charset="0"/>
                <a:ea typeface="Inter" pitchFamily="34" charset="-122"/>
                <a:cs typeface="Inter" pitchFamily="34" charset="-120"/>
              </a:rPr>
              <a:t>Familiar Nine</a:t>
            </a:r>
            <a:endParaRPr lang="en-US" sz="4800" dirty="0"/>
          </a:p>
        </p:txBody>
      </p:sp>
      <p:sp>
        <p:nvSpPr>
          <p:cNvPr id="5" name="Text 2"/>
          <p:cNvSpPr txBox="1"/>
          <p:nvPr/>
        </p:nvSpPr>
        <p:spPr>
          <a:xfrm>
            <a:off x="548640" y="2514600"/>
            <a:ext cx="8046720" cy="548640"/>
          </a:xfrm>
          <a:prstGeom prst="rect">
            <a:avLst/>
          </a:prstGeom>
          <a:noFill/>
          <a:ln/>
        </p:spPr>
        <p:txBody>
          <a:bodyPr wrap="square" lIns="0" tIns="0" rIns="0" bIns="0" rtlCol="0" anchor="ctr"/>
          <a:lstStyle/>
          <a:p>
            <a:pPr indent="0" marL="0">
              <a:buNone/>
            </a:pPr>
            <a:r>
              <a:rPr lang="en-US" sz="2000" dirty="0">
                <a:solidFill>
                  <a:srgbClr val="F5C800"/>
                </a:solidFill>
                <a:latin typeface="Inter" pitchFamily="34" charset="0"/>
                <a:ea typeface="Inter" pitchFamily="34" charset="-122"/>
                <a:cs typeface="Inter" pitchFamily="34" charset="-120"/>
              </a:rPr>
              <a:t>The December 2026 CEA link — the proposal in ten minutes</a:t>
            </a:r>
            <a:endParaRPr lang="en-US" sz="2000" dirty="0"/>
          </a:p>
        </p:txBody>
      </p:sp>
      <p:sp>
        <p:nvSpPr>
          <p:cNvPr id="6" name="Text 3"/>
          <p:cNvSpPr txBox="1"/>
          <p:nvPr/>
        </p:nvSpPr>
        <p:spPr>
          <a:xfrm>
            <a:off x="548640" y="4206240"/>
            <a:ext cx="8046720" cy="365760"/>
          </a:xfrm>
          <a:prstGeom prst="rect">
            <a:avLst/>
          </a:prstGeom>
          <a:noFill/>
          <a:ln/>
        </p:spPr>
        <p:txBody>
          <a:bodyPr wrap="square" lIns="0" tIns="0" rIns="0" bIns="0" rtlCol="0" anchor="ctr"/>
          <a:lstStyle/>
          <a:p>
            <a:pPr indent="0" marL="0">
              <a:buNone/>
            </a:pPr>
            <a:r>
              <a:rPr lang="en-US" sz="1300" dirty="0">
                <a:solidFill>
                  <a:srgbClr val="C9D3E0"/>
                </a:solidFill>
                <a:latin typeface="Inter" pitchFamily="34" charset="0"/>
                <a:ea typeface="Inter" pitchFamily="34" charset="-122"/>
                <a:cs typeface="Inter" pitchFamily="34" charset="-120"/>
              </a:rPr>
              <a:t>For managers · 24 weeks · code F9-24-K31s · the full proposal sheet has the detail</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short version</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Four numbers</a:t>
            </a:r>
            <a:endParaRPr lang="en-US" sz="1500" dirty="0"/>
          </a:p>
        </p:txBody>
      </p:sp>
      <p:sp>
        <p:nvSpPr>
          <p:cNvPr id="4" name="Shape 2"/>
          <p:cNvSpPr/>
          <p:nvPr/>
        </p:nvSpPr>
        <p:spPr>
          <a:xfrm>
            <a:off x="457200" y="1463040"/>
            <a:ext cx="1874520" cy="2377440"/>
          </a:xfrm>
          <a:prstGeom prst="roundRect">
            <a:avLst>
              <a:gd name="adj" fmla="val 5854"/>
            </a:avLst>
          </a:prstGeom>
          <a:solidFill>
            <a:srgbClr val="EEF2F7"/>
          </a:solidFill>
          <a:ln w="12700">
            <a:solidFill>
              <a:srgbClr val="EEF2F7"/>
            </a:solidFill>
            <a:prstDash val="solid"/>
          </a:ln>
        </p:spPr>
      </p:sp>
      <p:sp>
        <p:nvSpPr>
          <p:cNvPr id="5" name="Text 3"/>
          <p:cNvSpPr txBox="1"/>
          <p:nvPr/>
        </p:nvSpPr>
        <p:spPr>
          <a:xfrm>
            <a:off x="45720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9 of 9</a:t>
            </a:r>
            <a:endParaRPr lang="en-US" sz="3400" dirty="0"/>
          </a:p>
        </p:txBody>
      </p:sp>
      <p:sp>
        <p:nvSpPr>
          <p:cNvPr id="6" name="Text 4"/>
          <p:cNvSpPr txBox="1"/>
          <p:nvPr/>
        </p:nvSpPr>
        <p:spPr>
          <a:xfrm>
            <a:off x="59436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December rules met</a:t>
            </a:r>
            <a:endParaRPr lang="en-US" sz="1500" dirty="0"/>
          </a:p>
        </p:txBody>
      </p:sp>
      <p:sp>
        <p:nvSpPr>
          <p:cNvPr id="7" name="Text 5"/>
          <p:cNvSpPr txBox="1"/>
          <p:nvPr/>
        </p:nvSpPr>
        <p:spPr>
          <a:xfrm>
            <a:off x="59436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today’s link: 4</a:t>
            </a:r>
            <a:endParaRPr lang="en-US" sz="1300" dirty="0"/>
          </a:p>
        </p:txBody>
      </p:sp>
      <p:sp>
        <p:nvSpPr>
          <p:cNvPr id="8" name="Shape 6"/>
          <p:cNvSpPr/>
          <p:nvPr/>
        </p:nvSpPr>
        <p:spPr>
          <a:xfrm>
            <a:off x="2560320" y="1463040"/>
            <a:ext cx="1874520" cy="2377440"/>
          </a:xfrm>
          <a:prstGeom prst="roundRect">
            <a:avLst>
              <a:gd name="adj" fmla="val 5854"/>
            </a:avLst>
          </a:prstGeom>
          <a:solidFill>
            <a:srgbClr val="EEF2F7"/>
          </a:solidFill>
          <a:ln w="12700">
            <a:solidFill>
              <a:srgbClr val="EEF2F7"/>
            </a:solidFill>
            <a:prstDash val="solid"/>
          </a:ln>
        </p:spPr>
      </p:sp>
      <p:sp>
        <p:nvSpPr>
          <p:cNvPr id="9" name="Text 7"/>
          <p:cNvSpPr txBox="1"/>
          <p:nvPr/>
        </p:nvSpPr>
        <p:spPr>
          <a:xfrm>
            <a:off x="256032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35h</a:t>
            </a:r>
            <a:endParaRPr lang="en-US" sz="3400" dirty="0"/>
          </a:p>
        </p:txBody>
      </p:sp>
      <p:sp>
        <p:nvSpPr>
          <p:cNvPr id="10" name="Text 8"/>
          <p:cNvSpPr txBox="1"/>
          <p:nvPr/>
        </p:nvSpPr>
        <p:spPr>
          <a:xfrm>
            <a:off x="269748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contract paid exactly</a:t>
            </a:r>
            <a:endParaRPr lang="en-US" sz="1500" dirty="0"/>
          </a:p>
        </p:txBody>
      </p:sp>
      <p:sp>
        <p:nvSpPr>
          <p:cNvPr id="11" name="Text 9"/>
          <p:cNvSpPr txBox="1"/>
          <p:nvPr/>
        </p:nvSpPr>
        <p:spPr>
          <a:xfrm>
            <a:off x="269748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Monday to Saturday</a:t>
            </a:r>
            <a:endParaRPr lang="en-US" sz="1300" dirty="0"/>
          </a:p>
        </p:txBody>
      </p:sp>
      <p:sp>
        <p:nvSpPr>
          <p:cNvPr id="12" name="Shape 10"/>
          <p:cNvSpPr/>
          <p:nvPr/>
        </p:nvSpPr>
        <p:spPr>
          <a:xfrm>
            <a:off x="4663440" y="1463040"/>
            <a:ext cx="1874520" cy="2377440"/>
          </a:xfrm>
          <a:prstGeom prst="roundRect">
            <a:avLst>
              <a:gd name="adj" fmla="val 5854"/>
            </a:avLst>
          </a:prstGeom>
          <a:solidFill>
            <a:srgbClr val="EEF2F7"/>
          </a:solidFill>
          <a:ln w="12700">
            <a:solidFill>
              <a:srgbClr val="EEF2F7"/>
            </a:solidFill>
            <a:prstDash val="solid"/>
          </a:ln>
        </p:spPr>
      </p:sp>
      <p:sp>
        <p:nvSpPr>
          <p:cNvPr id="13" name="Text 11"/>
          <p:cNvSpPr txBox="1"/>
          <p:nvPr/>
        </p:nvSpPr>
        <p:spPr>
          <a:xfrm>
            <a:off x="466344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0</a:t>
            </a:r>
            <a:endParaRPr lang="en-US" sz="3400" dirty="0"/>
          </a:p>
        </p:txBody>
      </p:sp>
      <p:sp>
        <p:nvSpPr>
          <p:cNvPr id="14" name="Text 12"/>
          <p:cNvSpPr txBox="1"/>
          <p:nvPr/>
        </p:nvSpPr>
        <p:spPr>
          <a:xfrm>
            <a:off x="480060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avoidable fatigue warnings</a:t>
            </a:r>
            <a:endParaRPr lang="en-US" sz="1500" dirty="0"/>
          </a:p>
        </p:txBody>
      </p:sp>
      <p:sp>
        <p:nvSpPr>
          <p:cNvPr id="15" name="Text 13"/>
          <p:cNvSpPr txBox="1"/>
          <p:nvPr/>
        </p:nvSpPr>
        <p:spPr>
          <a:xfrm>
            <a:off x="480060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in the fixed rota · today 4</a:t>
            </a:r>
            <a:endParaRPr lang="en-US" sz="1300" dirty="0"/>
          </a:p>
        </p:txBody>
      </p:sp>
      <p:sp>
        <p:nvSpPr>
          <p:cNvPr id="16" name="Shape 14"/>
          <p:cNvSpPr/>
          <p:nvPr/>
        </p:nvSpPr>
        <p:spPr>
          <a:xfrm>
            <a:off x="6766560" y="1463040"/>
            <a:ext cx="1874520" cy="2377440"/>
          </a:xfrm>
          <a:prstGeom prst="roundRect">
            <a:avLst>
              <a:gd name="adj" fmla="val 5854"/>
            </a:avLst>
          </a:prstGeom>
          <a:solidFill>
            <a:srgbClr val="EEF2F7"/>
          </a:solidFill>
          <a:ln w="12700">
            <a:solidFill>
              <a:srgbClr val="EEF2F7"/>
            </a:solidFill>
            <a:prstDash val="solid"/>
          </a:ln>
        </p:spPr>
      </p:sp>
      <p:sp>
        <p:nvSpPr>
          <p:cNvPr id="17" name="Text 15"/>
          <p:cNvSpPr txBox="1"/>
          <p:nvPr/>
        </p:nvSpPr>
        <p:spPr>
          <a:xfrm>
            <a:off x="6766560" y="1645920"/>
            <a:ext cx="1874520" cy="868680"/>
          </a:xfrm>
          <a:prstGeom prst="rect">
            <a:avLst/>
          </a:prstGeom>
          <a:noFill/>
          <a:ln/>
        </p:spPr>
        <p:txBody>
          <a:bodyPr wrap="square" lIns="0" tIns="0" rIns="0" bIns="0" rtlCol="0" anchor="ctr">
            <a:normAutofit/>
          </a:bodyPr>
          <a:lstStyle/>
          <a:p>
            <a:pPr algn="ctr" indent="0" marL="0">
              <a:buNone/>
            </a:pPr>
            <a:r>
              <a:rPr lang="en-US" sz="3400" b="1" dirty="0">
                <a:solidFill>
                  <a:srgbClr val="001E3C"/>
                </a:solidFill>
                <a:latin typeface="Inter" pitchFamily="34" charset="0"/>
                <a:ea typeface="Inter" pitchFamily="34" charset="-122"/>
                <a:cs typeface="Inter" pitchFamily="34" charset="-120"/>
              </a:rPr>
              <a:t>24</a:t>
            </a:r>
            <a:endParaRPr lang="en-US" sz="3400" dirty="0"/>
          </a:p>
        </p:txBody>
      </p:sp>
      <p:sp>
        <p:nvSpPr>
          <p:cNvPr id="18" name="Text 16"/>
          <p:cNvSpPr txBox="1"/>
          <p:nvPr/>
        </p:nvSpPr>
        <p:spPr>
          <a:xfrm>
            <a:off x="6903720" y="2560320"/>
            <a:ext cx="1600200" cy="640080"/>
          </a:xfrm>
          <a:prstGeom prst="rect">
            <a:avLst/>
          </a:prstGeom>
          <a:noFill/>
          <a:ln/>
        </p:spPr>
        <p:txBody>
          <a:bodyPr wrap="square" lIns="0" tIns="0" rIns="0" bIns="0" rtlCol="0" anchor="ctr"/>
          <a:lstStyle/>
          <a:p>
            <a:pPr algn="ctr" indent="0" marL="0">
              <a:buNone/>
            </a:pPr>
            <a:r>
              <a:rPr lang="en-US" sz="1500" b="1" dirty="0">
                <a:solidFill>
                  <a:srgbClr val="1B2533"/>
                </a:solidFill>
                <a:latin typeface="Inter" pitchFamily="34" charset="0"/>
                <a:ea typeface="Inter" pitchFamily="34" charset="-122"/>
                <a:cs typeface="Inter" pitchFamily="34" charset="-120"/>
              </a:rPr>
              <a:t>people on the link</a:t>
            </a:r>
            <a:endParaRPr lang="en-US" sz="1500" dirty="0"/>
          </a:p>
        </p:txBody>
      </p:sp>
      <p:sp>
        <p:nvSpPr>
          <p:cNvPr id="19" name="Text 17"/>
          <p:cNvSpPr txBox="1"/>
          <p:nvPr/>
        </p:nvSpPr>
        <p:spPr>
          <a:xfrm>
            <a:off x="6903720" y="3200400"/>
            <a:ext cx="1600200" cy="457200"/>
          </a:xfrm>
          <a:prstGeom prst="rect">
            <a:avLst/>
          </a:prstGeom>
          <a:noFill/>
          <a:ln/>
        </p:spPr>
        <p:txBody>
          <a:bodyPr wrap="square" lIns="0" tIns="0" rIns="0" bIns="0" rtlCol="0" anchor="ctr"/>
          <a:lstStyle/>
          <a:p>
            <a:pPr algn="ctr" indent="0" marL="0">
              <a:buNone/>
            </a:pPr>
            <a:r>
              <a:rPr lang="en-US" sz="1300" dirty="0">
                <a:solidFill>
                  <a:srgbClr val="5B6778"/>
                </a:solidFill>
                <a:latin typeface="Inter" pitchFamily="34" charset="0"/>
                <a:ea typeface="Inter" pitchFamily="34" charset="-122"/>
                <a:cs typeface="Inter" pitchFamily="34" charset="-120"/>
              </a:rPr>
              <a:t>today: 20</a:t>
            </a:r>
            <a:endParaRPr lang="en-US" sz="1300" dirty="0"/>
          </a:p>
        </p:txBody>
      </p:sp>
      <p:sp>
        <p:nvSpPr>
          <p:cNvPr id="20" name="Shape 18"/>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1" name="Text 19"/>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December rule met — and no avoidable fatigue warnings in the fixed rota.</a:t>
            </a:r>
            <a:endParaRPr lang="en-US" sz="1400" dirty="0"/>
          </a:p>
        </p:txBody>
      </p:sp>
      <p:sp>
        <p:nvSpPr>
          <p:cNvPr id="22" name="Text 20"/>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The staffing you asked for</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Weekday · Saturday · Sunday</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365760"/>
          </a:xfrm>
          <a:prstGeom prst="roundRect">
            <a:avLst>
              <a:gd name="adj" fmla="val 15000"/>
            </a:avLst>
          </a:prstGeom>
          <a:solidFill>
            <a:srgbClr val="EEF2F7"/>
          </a:solidFill>
          <a:ln w="12700">
            <a:solidFill>
              <a:srgbClr val="EEF2F7"/>
            </a:solidFill>
            <a:prstDash val="solid"/>
          </a:ln>
        </p:spPr>
      </p:sp>
      <p:sp>
        <p:nvSpPr>
          <p:cNvPr id="7" name="Text 5"/>
          <p:cNvSpPr txBox="1"/>
          <p:nvPr/>
        </p:nvSpPr>
        <p:spPr>
          <a:xfrm>
            <a:off x="640080" y="18013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On duty during the day</a:t>
            </a:r>
            <a:endParaRPr lang="en-US" sz="1400" dirty="0"/>
          </a:p>
        </p:txBody>
      </p:sp>
      <p:sp>
        <p:nvSpPr>
          <p:cNvPr id="8" name="Text 6"/>
          <p:cNvSpPr txBox="1"/>
          <p:nvPr/>
        </p:nvSpPr>
        <p:spPr>
          <a:xfrm>
            <a:off x="4297680" y="18013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11–12 · 10 · 8</a:t>
            </a:r>
            <a:endParaRPr lang="en-US" sz="1600" dirty="0"/>
          </a:p>
        </p:txBody>
      </p:sp>
      <p:sp>
        <p:nvSpPr>
          <p:cNvPr id="9" name="Text 7"/>
          <p:cNvSpPr txBox="1"/>
          <p:nvPr/>
        </p:nvSpPr>
        <p:spPr>
          <a:xfrm>
            <a:off x="6492240" y="18013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 · 14 · 10</a:t>
            </a:r>
            <a:endParaRPr lang="en-US" sz="1800" dirty="0"/>
          </a:p>
        </p:txBody>
      </p:sp>
      <p:sp>
        <p:nvSpPr>
          <p:cNvPr id="10" name="Shape 8"/>
          <p:cNvSpPr/>
          <p:nvPr/>
        </p:nvSpPr>
        <p:spPr>
          <a:xfrm>
            <a:off x="457200" y="2258568"/>
            <a:ext cx="8229600" cy="365760"/>
          </a:xfrm>
          <a:prstGeom prst="roundRect">
            <a:avLst>
              <a:gd name="adj" fmla="val 15000"/>
            </a:avLst>
          </a:prstGeom>
          <a:solidFill>
            <a:srgbClr val="FFFFFF"/>
          </a:solidFill>
          <a:ln w="12700">
            <a:solidFill>
              <a:srgbClr val="DDE3EA"/>
            </a:solidFill>
            <a:prstDash val="solid"/>
          </a:ln>
        </p:spPr>
      </p:sp>
      <p:sp>
        <p:nvSpPr>
          <p:cNvPr id="11" name="Text 9"/>
          <p:cNvSpPr txBox="1"/>
          <p:nvPr/>
        </p:nvSpPr>
        <p:spPr>
          <a:xfrm>
            <a:off x="640080" y="22585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At the open (06:20, Sunday 07:15)</a:t>
            </a:r>
            <a:endParaRPr lang="en-US" sz="1400" dirty="0"/>
          </a:p>
        </p:txBody>
      </p:sp>
      <p:sp>
        <p:nvSpPr>
          <p:cNvPr id="12" name="Text 10"/>
          <p:cNvSpPr txBox="1"/>
          <p:nvPr/>
        </p:nvSpPr>
        <p:spPr>
          <a:xfrm>
            <a:off x="4297680" y="22585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4 · 3</a:t>
            </a:r>
            <a:endParaRPr lang="en-US" sz="1600" dirty="0"/>
          </a:p>
        </p:txBody>
      </p:sp>
      <p:sp>
        <p:nvSpPr>
          <p:cNvPr id="13" name="Text 11"/>
          <p:cNvSpPr txBox="1"/>
          <p:nvPr/>
        </p:nvSpPr>
        <p:spPr>
          <a:xfrm>
            <a:off x="6492240" y="22585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5 · 5 · 4</a:t>
            </a:r>
            <a:endParaRPr lang="en-US" sz="1800" dirty="0"/>
          </a:p>
        </p:txBody>
      </p:sp>
      <p:sp>
        <p:nvSpPr>
          <p:cNvPr id="14" name="Shape 12"/>
          <p:cNvSpPr/>
          <p:nvPr/>
        </p:nvSpPr>
        <p:spPr>
          <a:xfrm>
            <a:off x="457200" y="2715768"/>
            <a:ext cx="8229600" cy="365760"/>
          </a:xfrm>
          <a:prstGeom prst="roundRect">
            <a:avLst>
              <a:gd name="adj" fmla="val 15000"/>
            </a:avLst>
          </a:prstGeom>
          <a:solidFill>
            <a:srgbClr val="EEF2F7"/>
          </a:solidFill>
          <a:ln w="12700">
            <a:solidFill>
              <a:srgbClr val="EEF2F7"/>
            </a:solidFill>
            <a:prstDash val="solid"/>
          </a:ln>
        </p:spPr>
      </p:sp>
      <p:sp>
        <p:nvSpPr>
          <p:cNvPr id="15" name="Text 13"/>
          <p:cNvSpPr txBox="1"/>
          <p:nvPr/>
        </p:nvSpPr>
        <p:spPr>
          <a:xfrm>
            <a:off x="640080" y="27157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Still on after 22:00</a:t>
            </a:r>
            <a:endParaRPr lang="en-US" sz="1400" dirty="0"/>
          </a:p>
        </p:txBody>
      </p:sp>
      <p:sp>
        <p:nvSpPr>
          <p:cNvPr id="16" name="Text 14"/>
          <p:cNvSpPr txBox="1"/>
          <p:nvPr/>
        </p:nvSpPr>
        <p:spPr>
          <a:xfrm>
            <a:off x="4297680" y="27157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2 · 3</a:t>
            </a:r>
            <a:endParaRPr lang="en-US" sz="1600" dirty="0"/>
          </a:p>
        </p:txBody>
      </p:sp>
      <p:sp>
        <p:nvSpPr>
          <p:cNvPr id="17" name="Text 15"/>
          <p:cNvSpPr txBox="1"/>
          <p:nvPr/>
        </p:nvSpPr>
        <p:spPr>
          <a:xfrm>
            <a:off x="6492240" y="27157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 · 5 · 5</a:t>
            </a:r>
            <a:endParaRPr lang="en-US" sz="1800" dirty="0"/>
          </a:p>
        </p:txBody>
      </p:sp>
      <p:sp>
        <p:nvSpPr>
          <p:cNvPr id="18" name="Shape 16"/>
          <p:cNvSpPr/>
          <p:nvPr/>
        </p:nvSpPr>
        <p:spPr>
          <a:xfrm>
            <a:off x="457200" y="3172968"/>
            <a:ext cx="8229600" cy="365760"/>
          </a:xfrm>
          <a:prstGeom prst="roundRect">
            <a:avLst>
              <a:gd name="adj" fmla="val 15000"/>
            </a:avLst>
          </a:prstGeom>
          <a:solidFill>
            <a:srgbClr val="FFFFFF"/>
          </a:solidFill>
          <a:ln w="12700">
            <a:solidFill>
              <a:srgbClr val="DDE3EA"/>
            </a:solidFill>
            <a:prstDash val="solid"/>
          </a:ln>
        </p:spPr>
      </p:sp>
      <p:sp>
        <p:nvSpPr>
          <p:cNvPr id="19" name="Text 17"/>
          <p:cNvSpPr txBox="1"/>
          <p:nvPr/>
        </p:nvSpPr>
        <p:spPr>
          <a:xfrm>
            <a:off x="640080" y="31729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Through to the close</a:t>
            </a:r>
            <a:endParaRPr lang="en-US" sz="1400" dirty="0"/>
          </a:p>
        </p:txBody>
      </p:sp>
      <p:sp>
        <p:nvSpPr>
          <p:cNvPr id="20" name="Text 18"/>
          <p:cNvSpPr txBox="1"/>
          <p:nvPr/>
        </p:nvSpPr>
        <p:spPr>
          <a:xfrm>
            <a:off x="4297680" y="31729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3</a:t>
            </a:r>
            <a:endParaRPr lang="en-US" sz="1600" dirty="0"/>
          </a:p>
        </p:txBody>
      </p:sp>
      <p:sp>
        <p:nvSpPr>
          <p:cNvPr id="21" name="Text 19"/>
          <p:cNvSpPr txBox="1"/>
          <p:nvPr/>
        </p:nvSpPr>
        <p:spPr>
          <a:xfrm>
            <a:off x="6492240" y="31729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4 · 3</a:t>
            </a:r>
            <a:endParaRPr lang="en-US" sz="1800" dirty="0"/>
          </a:p>
        </p:txBody>
      </p:sp>
      <p:sp>
        <p:nvSpPr>
          <p:cNvPr id="22" name="Shape 20"/>
          <p:cNvSpPr/>
          <p:nvPr/>
        </p:nvSpPr>
        <p:spPr>
          <a:xfrm>
            <a:off x="457200" y="3630168"/>
            <a:ext cx="8229600" cy="365760"/>
          </a:xfrm>
          <a:prstGeom prst="roundRect">
            <a:avLst>
              <a:gd name="adj" fmla="val 15000"/>
            </a:avLst>
          </a:prstGeom>
          <a:solidFill>
            <a:srgbClr val="EEF2F7"/>
          </a:solidFill>
          <a:ln w="12700">
            <a:solidFill>
              <a:srgbClr val="EEF2F7"/>
            </a:solidFill>
            <a:prstDash val="solid"/>
          </a:ln>
        </p:spPr>
      </p:sp>
      <p:sp>
        <p:nvSpPr>
          <p:cNvPr id="23" name="Text 21"/>
          <p:cNvSpPr txBox="1"/>
          <p:nvPr/>
        </p:nvSpPr>
        <p:spPr>
          <a:xfrm>
            <a:off x="640080" y="3630168"/>
            <a:ext cx="3657600" cy="365760"/>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Fewest rostered on the floor</a:t>
            </a:r>
            <a:endParaRPr lang="en-US" sz="1400" dirty="0"/>
          </a:p>
        </p:txBody>
      </p:sp>
      <p:sp>
        <p:nvSpPr>
          <p:cNvPr id="24" name="Text 22"/>
          <p:cNvSpPr txBox="1"/>
          <p:nvPr/>
        </p:nvSpPr>
        <p:spPr>
          <a:xfrm>
            <a:off x="4297680" y="3630168"/>
            <a:ext cx="2194560" cy="365760"/>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 · 2 · 2</a:t>
            </a:r>
            <a:endParaRPr lang="en-US" sz="1600" dirty="0"/>
          </a:p>
        </p:txBody>
      </p:sp>
      <p:sp>
        <p:nvSpPr>
          <p:cNvPr id="25" name="Text 23"/>
          <p:cNvSpPr txBox="1"/>
          <p:nvPr/>
        </p:nvSpPr>
        <p:spPr>
          <a:xfrm>
            <a:off x="6492240" y="3630168"/>
            <a:ext cx="2194560" cy="365760"/>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3 · 3 · 3</a:t>
            </a:r>
            <a:endParaRPr lang="en-US" sz="1800" dirty="0"/>
          </a:p>
        </p:txBody>
      </p:sp>
      <p:sp>
        <p:nvSpPr>
          <p:cNvPr id="26" name="Shape 24"/>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7" name="Text 25"/>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Every level met on every day — and the ticket office staffed in pairs, including Sundays.</a:t>
            </a:r>
            <a:endParaRPr lang="en-US" sz="1400" dirty="0"/>
          </a:p>
        </p:txBody>
      </p:sp>
      <p:sp>
        <p:nvSpPr>
          <p:cNvPr id="28" name="Text 26"/>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where the trains are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How far the floor staffing is from the shape of the December timetable — lower is better</a:t>
            </a:r>
            <a:endParaRPr lang="en-US" sz="1500" dirty="0"/>
          </a:p>
        </p:txBody>
      </p:sp>
      <p:graphicFrame>
        <p:nvGraphicFramePr>
          <p:cNvPr id="4" name="Chart 0" descr=""/>
          <p:cNvGraphicFramePr/>
          <p:nvPr/>
        </p:nvGraphicFramePr>
        <p:xfrm>
          <a:off x="457200" y="1325880"/>
          <a:ext cx="8229600" cy="269748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6" name="Text 3"/>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Much closer to the December pattern on weekdays, Saturday and Sunday.</a:t>
            </a:r>
            <a:endParaRPr lang="en-US" sz="1400" dirty="0"/>
          </a:p>
        </p:txBody>
      </p:sp>
      <p:sp>
        <p:nvSpPr>
          <p:cNvPr id="7" name="Text 4"/>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A measure of the day’s shape only — not a staffing requirement or a passenger forecast.</a:t>
            </a:r>
            <a:endParaRPr lang="en-US" sz="850" dirty="0"/>
          </a:p>
        </p:txBody>
      </p:sp>
      <p:sp>
        <p:nvSpPr>
          <p:cNvPr id="8" name="Text 5"/>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People and hours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What it takes to run</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on the link</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20</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24</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Contracted hours a week</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35h</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35h</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Cover weeks (for leave and sickness)</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 1 week in 5</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A15C00"/>
                </a:solidFill>
                <a:latin typeface="Inter" pitchFamily="34" charset="0"/>
                <a:ea typeface="Inter" pitchFamily="34" charset="-122"/>
                <a:cs typeface="Inter" pitchFamily="34" charset="-120"/>
              </a:rPr>
              <a:t>4 — 1 week in 6</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People needed each Sunday (overtime)</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8</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10</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Four more people, the contract paid exactly — Sundays still rely on overtime.</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Fatigue checks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Against the Office of Rail and Road’s good-practice list and the rail industry’s own checks</a:t>
            </a:r>
            <a:endParaRPr lang="en-US" sz="1500" dirty="0"/>
          </a:p>
        </p:txBody>
      </p:sp>
      <p:sp>
        <p:nvSpPr>
          <p:cNvPr id="4" name="Text 2"/>
          <p:cNvSpPr txBox="1"/>
          <p:nvPr/>
        </p:nvSpPr>
        <p:spPr>
          <a:xfrm>
            <a:off x="4297680" y="1417320"/>
            <a:ext cx="2194560" cy="320040"/>
          </a:xfrm>
          <a:prstGeom prst="rect">
            <a:avLst/>
          </a:prstGeom>
          <a:noFill/>
          <a:ln/>
        </p:spPr>
        <p:txBody>
          <a:bodyPr wrap="square" lIns="0" tIns="0" rIns="0" bIns="0" rtlCol="0" anchor="ctr"/>
          <a:lstStyle/>
          <a:p>
            <a:pPr algn="ctr" indent="0" marL="0">
              <a:buNone/>
            </a:pPr>
            <a:r>
              <a:rPr lang="en-US" sz="1300" b="1" dirty="0">
                <a:solidFill>
                  <a:srgbClr val="5B6778"/>
                </a:solidFill>
                <a:latin typeface="Inter" pitchFamily="34" charset="0"/>
                <a:ea typeface="Inter" pitchFamily="34" charset="-122"/>
                <a:cs typeface="Inter" pitchFamily="34" charset="-120"/>
              </a:rPr>
              <a:t>Today</a:t>
            </a:r>
            <a:endParaRPr lang="en-US" sz="1300" dirty="0"/>
          </a:p>
        </p:txBody>
      </p:sp>
      <p:sp>
        <p:nvSpPr>
          <p:cNvPr id="5" name="Text 3"/>
          <p:cNvSpPr txBox="1"/>
          <p:nvPr/>
        </p:nvSpPr>
        <p:spPr>
          <a:xfrm>
            <a:off x="6492240" y="1417320"/>
            <a:ext cx="2194560" cy="320040"/>
          </a:xfrm>
          <a:prstGeom prst="rect">
            <a:avLst/>
          </a:prstGeom>
          <a:noFill/>
          <a:ln/>
        </p:spPr>
        <p:txBody>
          <a:bodyPr wrap="square" lIns="0" tIns="0" rIns="0" bIns="0" rtlCol="0" anchor="ctr"/>
          <a:lstStyle/>
          <a:p>
            <a:pPr algn="ctr" indent="0" marL="0">
              <a:buNone/>
            </a:pPr>
            <a:r>
              <a:rPr lang="en-US" sz="1300" b="1" dirty="0">
                <a:solidFill>
                  <a:srgbClr val="001E3C"/>
                </a:solidFill>
                <a:latin typeface="Inter" pitchFamily="34" charset="0"/>
                <a:ea typeface="Inter" pitchFamily="34" charset="-122"/>
                <a:cs typeface="Inter" pitchFamily="34" charset="-120"/>
              </a:rPr>
              <a:t>Familiar Nine</a:t>
            </a:r>
            <a:endParaRPr lang="en-US" sz="1300" dirty="0"/>
          </a:p>
        </p:txBody>
      </p:sp>
      <p:sp>
        <p:nvSpPr>
          <p:cNvPr id="6" name="Shape 4"/>
          <p:cNvSpPr/>
          <p:nvPr/>
        </p:nvSpPr>
        <p:spPr>
          <a:xfrm>
            <a:off x="457200" y="1801368"/>
            <a:ext cx="8229600" cy="475488"/>
          </a:xfrm>
          <a:prstGeom prst="roundRect">
            <a:avLst>
              <a:gd name="adj" fmla="val 11538"/>
            </a:avLst>
          </a:prstGeom>
          <a:solidFill>
            <a:srgbClr val="EEF2F7"/>
          </a:solidFill>
          <a:ln w="12700">
            <a:solidFill>
              <a:srgbClr val="EEF2F7"/>
            </a:solidFill>
            <a:prstDash val="solid"/>
          </a:ln>
        </p:spPr>
      </p:sp>
      <p:sp>
        <p:nvSpPr>
          <p:cNvPr id="7" name="Text 5"/>
          <p:cNvSpPr txBox="1"/>
          <p:nvPr/>
        </p:nvSpPr>
        <p:spPr>
          <a:xfrm>
            <a:off x="640080" y="1801368"/>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Avoidable fatigue warnings, fixed rota</a:t>
            </a:r>
            <a:endParaRPr lang="en-US" sz="1400" dirty="0"/>
          </a:p>
        </p:txBody>
      </p:sp>
      <p:sp>
        <p:nvSpPr>
          <p:cNvPr id="8" name="Text 6"/>
          <p:cNvSpPr txBox="1"/>
          <p:nvPr/>
        </p:nvSpPr>
        <p:spPr>
          <a:xfrm>
            <a:off x="4297680" y="1801368"/>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4 (up to 5)</a:t>
            </a:r>
            <a:endParaRPr lang="en-US" sz="1600" dirty="0"/>
          </a:p>
        </p:txBody>
      </p:sp>
      <p:sp>
        <p:nvSpPr>
          <p:cNvPr id="9" name="Text 7"/>
          <p:cNvSpPr txBox="1"/>
          <p:nvPr/>
        </p:nvSpPr>
        <p:spPr>
          <a:xfrm>
            <a:off x="6492240" y="1801368"/>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0</a:t>
            </a:r>
            <a:endParaRPr lang="en-US" sz="1800" dirty="0"/>
          </a:p>
        </p:txBody>
      </p:sp>
      <p:sp>
        <p:nvSpPr>
          <p:cNvPr id="10" name="Shape 8"/>
          <p:cNvSpPr/>
          <p:nvPr/>
        </p:nvSpPr>
        <p:spPr>
          <a:xfrm>
            <a:off x="457200" y="2368296"/>
            <a:ext cx="8229600" cy="475488"/>
          </a:xfrm>
          <a:prstGeom prst="roundRect">
            <a:avLst>
              <a:gd name="adj" fmla="val 11538"/>
            </a:avLst>
          </a:prstGeom>
          <a:solidFill>
            <a:srgbClr val="FFFFFF"/>
          </a:solidFill>
          <a:ln w="12700">
            <a:solidFill>
              <a:srgbClr val="DDE3EA"/>
            </a:solidFill>
            <a:prstDash val="solid"/>
          </a:ln>
        </p:spPr>
      </p:sp>
      <p:sp>
        <p:nvSpPr>
          <p:cNvPr id="11" name="Text 9"/>
          <p:cNvSpPr txBox="1"/>
          <p:nvPr/>
        </p:nvSpPr>
        <p:spPr>
          <a:xfrm>
            <a:off x="640080" y="2368296"/>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Most days in a row (limit 13)</a:t>
            </a:r>
            <a:endParaRPr lang="en-US" sz="1400" dirty="0"/>
          </a:p>
        </p:txBody>
      </p:sp>
      <p:sp>
        <p:nvSpPr>
          <p:cNvPr id="12" name="Text 10"/>
          <p:cNvSpPr txBox="1"/>
          <p:nvPr/>
        </p:nvSpPr>
        <p:spPr>
          <a:xfrm>
            <a:off x="4297680" y="2368296"/>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7 (up to 9)</a:t>
            </a:r>
            <a:endParaRPr lang="en-US" sz="1600" dirty="0"/>
          </a:p>
        </p:txBody>
      </p:sp>
      <p:sp>
        <p:nvSpPr>
          <p:cNvPr id="13" name="Text 11"/>
          <p:cNvSpPr txBox="1"/>
          <p:nvPr/>
        </p:nvSpPr>
        <p:spPr>
          <a:xfrm>
            <a:off x="6492240" y="2368296"/>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6</a:t>
            </a:r>
            <a:endParaRPr lang="en-US" sz="1800" dirty="0"/>
          </a:p>
        </p:txBody>
      </p:sp>
      <p:sp>
        <p:nvSpPr>
          <p:cNvPr id="14" name="Shape 12"/>
          <p:cNvSpPr/>
          <p:nvPr/>
        </p:nvSpPr>
        <p:spPr>
          <a:xfrm>
            <a:off x="457200" y="2935224"/>
            <a:ext cx="8229600" cy="475488"/>
          </a:xfrm>
          <a:prstGeom prst="roundRect">
            <a:avLst>
              <a:gd name="adj" fmla="val 11538"/>
            </a:avLst>
          </a:prstGeom>
          <a:solidFill>
            <a:srgbClr val="EEF2F7"/>
          </a:solidFill>
          <a:ln w="12700">
            <a:solidFill>
              <a:srgbClr val="EEF2F7"/>
            </a:solidFill>
            <a:prstDash val="solid"/>
          </a:ln>
        </p:spPr>
      </p:sp>
      <p:sp>
        <p:nvSpPr>
          <p:cNvPr id="15" name="Text 13"/>
          <p:cNvSpPr txBox="1"/>
          <p:nvPr/>
        </p:nvSpPr>
        <p:spPr>
          <a:xfrm>
            <a:off x="640080" y="2935224"/>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Shortest rest between shifts (limit 12h)</a:t>
            </a:r>
            <a:endParaRPr lang="en-US" sz="1400" dirty="0"/>
          </a:p>
        </p:txBody>
      </p:sp>
      <p:sp>
        <p:nvSpPr>
          <p:cNvPr id="16" name="Text 14"/>
          <p:cNvSpPr txBox="1"/>
          <p:nvPr/>
        </p:nvSpPr>
        <p:spPr>
          <a:xfrm>
            <a:off x="4297680" y="2935224"/>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12h 30m</a:t>
            </a:r>
            <a:endParaRPr lang="en-US" sz="1600" dirty="0"/>
          </a:p>
        </p:txBody>
      </p:sp>
      <p:sp>
        <p:nvSpPr>
          <p:cNvPr id="17" name="Text 15"/>
          <p:cNvSpPr txBox="1"/>
          <p:nvPr/>
        </p:nvSpPr>
        <p:spPr>
          <a:xfrm>
            <a:off x="6492240" y="2935224"/>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14h 20m</a:t>
            </a:r>
            <a:endParaRPr lang="en-US" sz="1800" dirty="0"/>
          </a:p>
        </p:txBody>
      </p:sp>
      <p:sp>
        <p:nvSpPr>
          <p:cNvPr id="18" name="Shape 16"/>
          <p:cNvSpPr/>
          <p:nvPr/>
        </p:nvSpPr>
        <p:spPr>
          <a:xfrm>
            <a:off x="457200" y="3502152"/>
            <a:ext cx="8229600" cy="475488"/>
          </a:xfrm>
          <a:prstGeom prst="roundRect">
            <a:avLst>
              <a:gd name="adj" fmla="val 11538"/>
            </a:avLst>
          </a:prstGeom>
          <a:solidFill>
            <a:srgbClr val="FFFFFF"/>
          </a:solidFill>
          <a:ln w="12700">
            <a:solidFill>
              <a:srgbClr val="DDE3EA"/>
            </a:solidFill>
            <a:prstDash val="solid"/>
          </a:ln>
        </p:spPr>
      </p:sp>
      <p:sp>
        <p:nvSpPr>
          <p:cNvPr id="19" name="Text 17"/>
          <p:cNvSpPr txBox="1"/>
          <p:nvPr/>
        </p:nvSpPr>
        <p:spPr>
          <a:xfrm>
            <a:off x="640080" y="3502152"/>
            <a:ext cx="3657600" cy="475488"/>
          </a:xfrm>
          <a:prstGeom prst="rect">
            <a:avLst/>
          </a:prstGeom>
          <a:noFill/>
          <a:ln/>
        </p:spPr>
        <p:txBody>
          <a:bodyPr wrap="square" lIns="0" tIns="0" rIns="0" bIns="0" rtlCol="0" anchor="ctr"/>
          <a:lstStyle/>
          <a:p>
            <a:pPr indent="0" marL="0">
              <a:buNone/>
            </a:pPr>
            <a:r>
              <a:rPr lang="en-US" sz="1400" dirty="0">
                <a:solidFill>
                  <a:srgbClr val="1B2533"/>
                </a:solidFill>
                <a:latin typeface="Inter" pitchFamily="34" charset="0"/>
                <a:ea typeface="Inter" pitchFamily="34" charset="-122"/>
                <a:cs typeface="Inter" pitchFamily="34" charset="-120"/>
              </a:rPr>
              <a:t>Longest shift</a:t>
            </a:r>
            <a:endParaRPr lang="en-US" sz="1400" dirty="0"/>
          </a:p>
        </p:txBody>
      </p:sp>
      <p:sp>
        <p:nvSpPr>
          <p:cNvPr id="20" name="Text 18"/>
          <p:cNvSpPr txBox="1"/>
          <p:nvPr/>
        </p:nvSpPr>
        <p:spPr>
          <a:xfrm>
            <a:off x="4297680" y="3502152"/>
            <a:ext cx="2194560" cy="475488"/>
          </a:xfrm>
          <a:prstGeom prst="rect">
            <a:avLst/>
          </a:prstGeom>
          <a:noFill/>
          <a:ln/>
        </p:spPr>
        <p:txBody>
          <a:bodyPr wrap="square" lIns="0" tIns="0" rIns="0" bIns="0" rtlCol="0" anchor="ctr"/>
          <a:lstStyle/>
          <a:p>
            <a:pPr algn="ctr" indent="0" marL="0">
              <a:buNone/>
            </a:pPr>
            <a:r>
              <a:rPr lang="en-US" sz="1600" dirty="0">
                <a:solidFill>
                  <a:srgbClr val="5B6778"/>
                </a:solidFill>
                <a:latin typeface="Inter" pitchFamily="34" charset="0"/>
                <a:ea typeface="Inter" pitchFamily="34" charset="-122"/>
                <a:cs typeface="Inter" pitchFamily="34" charset="-120"/>
              </a:rPr>
              <a:t>9h 10m</a:t>
            </a:r>
            <a:endParaRPr lang="en-US" sz="1600" dirty="0"/>
          </a:p>
        </p:txBody>
      </p:sp>
      <p:sp>
        <p:nvSpPr>
          <p:cNvPr id="21" name="Text 19"/>
          <p:cNvSpPr txBox="1"/>
          <p:nvPr/>
        </p:nvSpPr>
        <p:spPr>
          <a:xfrm>
            <a:off x="6492240" y="3502152"/>
            <a:ext cx="2194560" cy="475488"/>
          </a:xfrm>
          <a:prstGeom prst="rect">
            <a:avLst/>
          </a:prstGeom>
          <a:noFill/>
          <a:ln/>
        </p:spPr>
        <p:txBody>
          <a:bodyPr wrap="square" lIns="0" tIns="0" rIns="0" bIns="0" rtlCol="0" anchor="ctr"/>
          <a:lstStyle/>
          <a:p>
            <a:pPr algn="ctr" indent="0" marL="0">
              <a:buNone/>
            </a:pPr>
            <a:r>
              <a:rPr lang="en-US" sz="1800" b="1" dirty="0">
                <a:solidFill>
                  <a:srgbClr val="1E7B4B"/>
                </a:solidFill>
                <a:latin typeface="Inter" pitchFamily="34" charset="0"/>
                <a:ea typeface="Inter" pitchFamily="34" charset="-122"/>
                <a:cs typeface="Inter" pitchFamily="34" charset="-120"/>
              </a:rPr>
              <a:t>9h 00m</a:t>
            </a:r>
            <a:endParaRPr lang="en-US" sz="18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Rest and run limits met with room to spare; no avoidable fatigue warnings in the fixed rota.</a:t>
            </a:r>
            <a:endParaRPr lang="en-US" sz="1400" dirty="0"/>
          </a:p>
        </p:txBody>
      </p:sp>
      <p:sp>
        <p:nvSpPr>
          <p:cNvPr id="24" name="Text 22"/>
          <p:cNvSpPr txBox="1"/>
          <p:nvPr/>
        </p:nvSpPr>
        <p:spPr>
          <a:xfrm>
            <a:off x="4023360" y="4754880"/>
            <a:ext cx="4663440" cy="310896"/>
          </a:xfrm>
          <a:prstGeom prst="rect">
            <a:avLst/>
          </a:prstGeom>
          <a:noFill/>
          <a:ln/>
        </p:spPr>
        <p:txBody>
          <a:bodyPr wrap="square" lIns="0" tIns="0" rIns="0" bIns="0" rtlCol="0" anchor="t"/>
          <a:lstStyle/>
          <a:p>
            <a:pPr algn="r" indent="0" marL="0">
              <a:buNone/>
            </a:pPr>
            <a:r>
              <a:rPr lang="en-US" sz="850" i="1" dirty="0">
                <a:solidFill>
                  <a:srgbClr val="5B6778"/>
                </a:solidFill>
                <a:latin typeface="Inter" pitchFamily="34" charset="0"/>
                <a:ea typeface="Inter" pitchFamily="34" charset="-122"/>
                <a:cs typeface="Inter" pitchFamily="34" charset="-120"/>
              </a:rPr>
              <a:t>Early starts and a weekly rotation come with every link, so are not counted. The written source of the 13-day limit is still to be confirmed.</a:t>
            </a:r>
            <a:endParaRPr lang="en-US" sz="850" dirty="0"/>
          </a:p>
        </p:txBody>
      </p:sp>
      <p:sp>
        <p:nvSpPr>
          <p:cNvPr id="25" name="Text 23"/>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Why Familiar Nine?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It meets the brief while keeping 8 of its 16 shift times familiar</a:t>
            </a:r>
            <a:endParaRPr lang="en-US" sz="1500" dirty="0"/>
          </a:p>
        </p:txBody>
      </p:sp>
      <p:sp>
        <p:nvSpPr>
          <p:cNvPr id="4" name="Shape 2"/>
          <p:cNvSpPr/>
          <p:nvPr/>
        </p:nvSpPr>
        <p:spPr>
          <a:xfrm>
            <a:off x="457200" y="1325880"/>
            <a:ext cx="292608" cy="292608"/>
          </a:xfrm>
          <a:prstGeom prst="ellipse">
            <a:avLst/>
          </a:prstGeom>
          <a:solidFill>
            <a:srgbClr val="1E7B4B"/>
          </a:solidFill>
          <a:ln w="12700">
            <a:solidFill>
              <a:srgbClr val="1E7B4B"/>
            </a:solidFill>
            <a:prstDash val="solid"/>
          </a:ln>
        </p:spPr>
      </p:sp>
      <p:sp>
        <p:nvSpPr>
          <p:cNvPr id="5" name="Text 3"/>
          <p:cNvSpPr txBox="1"/>
          <p:nvPr/>
        </p:nvSpPr>
        <p:spPr>
          <a:xfrm>
            <a:off x="457200" y="132588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6" name="Text 4"/>
          <p:cNvSpPr txBox="1"/>
          <p:nvPr/>
        </p:nvSpPr>
        <p:spPr>
          <a:xfrm>
            <a:off x="914400" y="130759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Meets all 9 December rules, and all 3 flexible ones</a:t>
            </a:r>
            <a:endParaRPr lang="en-US" sz="1500" dirty="0"/>
          </a:p>
        </p:txBody>
      </p:sp>
      <p:sp>
        <p:nvSpPr>
          <p:cNvPr id="7" name="Shape 5"/>
          <p:cNvSpPr/>
          <p:nvPr/>
        </p:nvSpPr>
        <p:spPr>
          <a:xfrm>
            <a:off x="457200" y="1728216"/>
            <a:ext cx="292608" cy="292608"/>
          </a:xfrm>
          <a:prstGeom prst="ellipse">
            <a:avLst/>
          </a:prstGeom>
          <a:solidFill>
            <a:srgbClr val="1E7B4B"/>
          </a:solidFill>
          <a:ln w="12700">
            <a:solidFill>
              <a:srgbClr val="1E7B4B"/>
            </a:solidFill>
            <a:prstDash val="solid"/>
          </a:ln>
        </p:spPr>
      </p:sp>
      <p:sp>
        <p:nvSpPr>
          <p:cNvPr id="8" name="Text 6"/>
          <p:cNvSpPr txBox="1"/>
          <p:nvPr/>
        </p:nvSpPr>
        <p:spPr>
          <a:xfrm>
            <a:off x="457200" y="1728216"/>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9" name="Text 7"/>
          <p:cNvSpPr txBox="1"/>
          <p:nvPr/>
        </p:nvSpPr>
        <p:spPr>
          <a:xfrm>
            <a:off x="914400" y="1709928"/>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A full weekend off one week in four — today one in five</a:t>
            </a:r>
            <a:endParaRPr lang="en-US" sz="1500" dirty="0"/>
          </a:p>
        </p:txBody>
      </p:sp>
      <p:sp>
        <p:nvSpPr>
          <p:cNvPr id="10" name="Shape 8"/>
          <p:cNvSpPr/>
          <p:nvPr/>
        </p:nvSpPr>
        <p:spPr>
          <a:xfrm>
            <a:off x="457200" y="2130552"/>
            <a:ext cx="292608" cy="292608"/>
          </a:xfrm>
          <a:prstGeom prst="ellipse">
            <a:avLst/>
          </a:prstGeom>
          <a:solidFill>
            <a:srgbClr val="1E7B4B"/>
          </a:solidFill>
          <a:ln w="12700">
            <a:solidFill>
              <a:srgbClr val="1E7B4B"/>
            </a:solidFill>
            <a:prstDash val="solid"/>
          </a:ln>
        </p:spPr>
      </p:sp>
      <p:sp>
        <p:nvSpPr>
          <p:cNvPr id="11" name="Text 9"/>
          <p:cNvSpPr txBox="1"/>
          <p:nvPr/>
        </p:nvSpPr>
        <p:spPr>
          <a:xfrm>
            <a:off x="457200" y="2130552"/>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2" name="Text 10"/>
          <p:cNvSpPr txBox="1"/>
          <p:nvPr/>
        </p:nvSpPr>
        <p:spPr>
          <a:xfrm>
            <a:off x="914400" y="2112264"/>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Never more than 6 days in a row — today 7</a:t>
            </a:r>
            <a:endParaRPr lang="en-US" sz="1500" dirty="0"/>
          </a:p>
        </p:txBody>
      </p:sp>
      <p:sp>
        <p:nvSpPr>
          <p:cNvPr id="13" name="Shape 11"/>
          <p:cNvSpPr/>
          <p:nvPr/>
        </p:nvSpPr>
        <p:spPr>
          <a:xfrm>
            <a:off x="457200" y="2532888"/>
            <a:ext cx="292608" cy="292608"/>
          </a:xfrm>
          <a:prstGeom prst="ellipse">
            <a:avLst/>
          </a:prstGeom>
          <a:solidFill>
            <a:srgbClr val="1E7B4B"/>
          </a:solidFill>
          <a:ln w="12700">
            <a:solidFill>
              <a:srgbClr val="1E7B4B"/>
            </a:solidFill>
            <a:prstDash val="solid"/>
          </a:ln>
        </p:spPr>
      </p:sp>
      <p:sp>
        <p:nvSpPr>
          <p:cNvPr id="14" name="Text 12"/>
          <p:cNvSpPr txBox="1"/>
          <p:nvPr/>
        </p:nvSpPr>
        <p:spPr>
          <a:xfrm>
            <a:off x="457200" y="2532888"/>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5" name="Text 13"/>
          <p:cNvSpPr txBox="1"/>
          <p:nvPr/>
        </p:nvSpPr>
        <p:spPr>
          <a:xfrm>
            <a:off x="914400" y="2514600"/>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8 of its 16 shift times are worked today</a:t>
            </a:r>
            <a:endParaRPr lang="en-US" sz="1500" dirty="0"/>
          </a:p>
        </p:txBody>
      </p:sp>
      <p:sp>
        <p:nvSpPr>
          <p:cNvPr id="16" name="Shape 14"/>
          <p:cNvSpPr/>
          <p:nvPr/>
        </p:nvSpPr>
        <p:spPr>
          <a:xfrm>
            <a:off x="457200" y="2935224"/>
            <a:ext cx="292608" cy="292608"/>
          </a:xfrm>
          <a:prstGeom prst="ellipse">
            <a:avLst/>
          </a:prstGeom>
          <a:solidFill>
            <a:srgbClr val="1E7B4B"/>
          </a:solidFill>
          <a:ln w="12700">
            <a:solidFill>
              <a:srgbClr val="1E7B4B"/>
            </a:solidFill>
            <a:prstDash val="solid"/>
          </a:ln>
        </p:spPr>
      </p:sp>
      <p:sp>
        <p:nvSpPr>
          <p:cNvPr id="17" name="Text 15"/>
          <p:cNvSpPr txBox="1"/>
          <p:nvPr/>
        </p:nvSpPr>
        <p:spPr>
          <a:xfrm>
            <a:off x="457200" y="2935224"/>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18" name="Text 16"/>
          <p:cNvSpPr txBox="1"/>
          <p:nvPr/>
        </p:nvSpPr>
        <p:spPr>
          <a:xfrm>
            <a:off x="914400" y="2916936"/>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shift over 9 hours, and every closing shift is shorter</a:t>
            </a:r>
            <a:endParaRPr lang="en-US" sz="1500" dirty="0"/>
          </a:p>
        </p:txBody>
      </p:sp>
      <p:sp>
        <p:nvSpPr>
          <p:cNvPr id="19" name="Shape 17"/>
          <p:cNvSpPr/>
          <p:nvPr/>
        </p:nvSpPr>
        <p:spPr>
          <a:xfrm>
            <a:off x="457200" y="3337560"/>
            <a:ext cx="292608" cy="292608"/>
          </a:xfrm>
          <a:prstGeom prst="ellipse">
            <a:avLst/>
          </a:prstGeom>
          <a:solidFill>
            <a:srgbClr val="1E7B4B"/>
          </a:solidFill>
          <a:ln w="12700">
            <a:solidFill>
              <a:srgbClr val="1E7B4B"/>
            </a:solidFill>
            <a:prstDash val="solid"/>
          </a:ln>
        </p:spPr>
      </p:sp>
      <p:sp>
        <p:nvSpPr>
          <p:cNvPr id="20" name="Text 18"/>
          <p:cNvSpPr txBox="1"/>
          <p:nvPr/>
        </p:nvSpPr>
        <p:spPr>
          <a:xfrm>
            <a:off x="457200" y="33375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a:t>
            </a:r>
            <a:endParaRPr lang="en-US" sz="1200" dirty="0"/>
          </a:p>
        </p:txBody>
      </p:sp>
      <p:sp>
        <p:nvSpPr>
          <p:cNvPr id="21" name="Text 19"/>
          <p:cNvSpPr txBox="1"/>
          <p:nvPr/>
        </p:nvSpPr>
        <p:spPr>
          <a:xfrm>
            <a:off x="914400" y="3319272"/>
            <a:ext cx="7772400" cy="329184"/>
          </a:xfrm>
          <a:prstGeom prst="rect">
            <a:avLst/>
          </a:prstGeom>
          <a:noFill/>
          <a:ln/>
        </p:spPr>
        <p:txBody>
          <a:bodyPr wrap="square" lIns="0" tIns="0" rIns="0" bIns="0" rtlCol="0" anchor="ctr"/>
          <a:lstStyle/>
          <a:p>
            <a:pPr indent="0" marL="0">
              <a:buNone/>
            </a:pPr>
            <a:r>
              <a:rPr lang="en-US" sz="1500" dirty="0">
                <a:solidFill>
                  <a:srgbClr val="1B2533"/>
                </a:solidFill>
                <a:latin typeface="Inter" pitchFamily="34" charset="0"/>
                <a:ea typeface="Inter" pitchFamily="34" charset="-122"/>
                <a:cs typeface="Inter" pitchFamily="34" charset="-120"/>
              </a:rPr>
              <a:t>No avoidable fatigue warnings in the fixed rota</a:t>
            </a:r>
            <a:endParaRPr lang="en-US" sz="1500" dirty="0"/>
          </a:p>
        </p:txBody>
      </p:sp>
      <p:sp>
        <p:nvSpPr>
          <p:cNvPr id="22" name="Shape 2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23" name="Text 2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The trade-off: more late finishes — about one extra each every two or three weeks.</a:t>
            </a:r>
            <a:endParaRPr lang="en-US" sz="14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What colleagues will notice</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The good and the not so good — the colleague presentation shows both</a:t>
            </a:r>
            <a:endParaRPr lang="en-US" sz="1500" dirty="0"/>
          </a:p>
        </p:txBody>
      </p:sp>
      <p:sp>
        <p:nvSpPr>
          <p:cNvPr id="4" name="Shape 2"/>
          <p:cNvSpPr/>
          <p:nvPr/>
        </p:nvSpPr>
        <p:spPr>
          <a:xfrm>
            <a:off x="457200" y="1325880"/>
            <a:ext cx="4023360" cy="2697480"/>
          </a:xfrm>
          <a:prstGeom prst="roundRect">
            <a:avLst>
              <a:gd name="adj" fmla="val 3390"/>
            </a:avLst>
          </a:prstGeom>
          <a:solidFill>
            <a:srgbClr val="EEF2F7"/>
          </a:solidFill>
          <a:ln w="12700">
            <a:solidFill>
              <a:srgbClr val="EEF2F7"/>
            </a:solidFill>
            <a:prstDash val="solid"/>
          </a:ln>
        </p:spPr>
      </p:sp>
      <p:sp>
        <p:nvSpPr>
          <p:cNvPr id="5" name="Shape 3"/>
          <p:cNvSpPr/>
          <p:nvPr/>
        </p:nvSpPr>
        <p:spPr>
          <a:xfrm>
            <a:off x="457200" y="1325880"/>
            <a:ext cx="73152" cy="2697480"/>
          </a:xfrm>
          <a:prstGeom prst="rect">
            <a:avLst/>
          </a:prstGeom>
          <a:solidFill>
            <a:srgbClr val="1E7B4B"/>
          </a:solidFill>
          <a:ln w="12700">
            <a:solidFill>
              <a:srgbClr val="1E7B4B"/>
            </a:solidFill>
            <a:prstDash val="solid"/>
          </a:ln>
        </p:spPr>
      </p:sp>
      <p:sp>
        <p:nvSpPr>
          <p:cNvPr id="6" name="Text 4"/>
          <p:cNvSpPr txBox="1"/>
          <p:nvPr/>
        </p:nvSpPr>
        <p:spPr>
          <a:xfrm>
            <a:off x="731520" y="1463040"/>
            <a:ext cx="3566160" cy="365760"/>
          </a:xfrm>
          <a:prstGeom prst="rect">
            <a:avLst/>
          </a:prstGeom>
          <a:noFill/>
          <a:ln/>
        </p:spPr>
        <p:txBody>
          <a:bodyPr wrap="square" lIns="0" tIns="0" rIns="0" bIns="0" rtlCol="0" anchor="ctr"/>
          <a:lstStyle/>
          <a:p>
            <a:pPr indent="0" marL="0">
              <a:buNone/>
            </a:pPr>
            <a:r>
              <a:rPr lang="en-US" sz="1600" b="1" dirty="0">
                <a:solidFill>
                  <a:srgbClr val="1E7B4B"/>
                </a:solidFill>
                <a:latin typeface="Inter" pitchFamily="34" charset="0"/>
                <a:ea typeface="Inter" pitchFamily="34" charset="-122"/>
                <a:cs typeface="Inter" pitchFamily="34" charset="-120"/>
              </a:rPr>
              <a:t>Likely to welcome</a:t>
            </a:r>
            <a:endParaRPr lang="en-US" sz="1600" dirty="0"/>
          </a:p>
        </p:txBody>
      </p:sp>
      <p:sp>
        <p:nvSpPr>
          <p:cNvPr id="7" name="Text 5"/>
          <p:cNvSpPr txBox="1"/>
          <p:nvPr/>
        </p:nvSpPr>
        <p:spPr>
          <a:xfrm>
            <a:off x="73152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 weekend off one week in four (today one in five)</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At most 6 days in a row (today 7)</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Every closing shift 30–45 minutes shorter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of the 16 shift times already worked</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Shortest rest 14h 20m (today 12h 30m)</a:t>
            </a:r>
            <a:endParaRPr lang="en-US" sz="1300" dirty="0"/>
          </a:p>
        </p:txBody>
      </p:sp>
      <p:sp>
        <p:nvSpPr>
          <p:cNvPr id="8" name="Shape 6"/>
          <p:cNvSpPr/>
          <p:nvPr/>
        </p:nvSpPr>
        <p:spPr>
          <a:xfrm>
            <a:off x="4663440" y="1325880"/>
            <a:ext cx="4023360" cy="2697480"/>
          </a:xfrm>
          <a:prstGeom prst="roundRect">
            <a:avLst>
              <a:gd name="adj" fmla="val 3390"/>
            </a:avLst>
          </a:prstGeom>
          <a:solidFill>
            <a:srgbClr val="EEF2F7"/>
          </a:solidFill>
          <a:ln w="12700">
            <a:solidFill>
              <a:srgbClr val="EEF2F7"/>
            </a:solidFill>
            <a:prstDash val="solid"/>
          </a:ln>
        </p:spPr>
      </p:sp>
      <p:sp>
        <p:nvSpPr>
          <p:cNvPr id="9" name="Shape 7"/>
          <p:cNvSpPr/>
          <p:nvPr/>
        </p:nvSpPr>
        <p:spPr>
          <a:xfrm>
            <a:off x="4663440" y="1325880"/>
            <a:ext cx="73152" cy="2697480"/>
          </a:xfrm>
          <a:prstGeom prst="rect">
            <a:avLst/>
          </a:prstGeom>
          <a:solidFill>
            <a:srgbClr val="A15C00"/>
          </a:solidFill>
          <a:ln w="12700">
            <a:solidFill>
              <a:srgbClr val="A15C00"/>
            </a:solidFill>
            <a:prstDash val="solid"/>
          </a:ln>
        </p:spPr>
      </p:sp>
      <p:sp>
        <p:nvSpPr>
          <p:cNvPr id="10" name="Text 8"/>
          <p:cNvSpPr txBox="1"/>
          <p:nvPr/>
        </p:nvSpPr>
        <p:spPr>
          <a:xfrm>
            <a:off x="4937760" y="1463040"/>
            <a:ext cx="3566160" cy="365760"/>
          </a:xfrm>
          <a:prstGeom prst="rect">
            <a:avLst/>
          </a:prstGeom>
          <a:noFill/>
          <a:ln/>
        </p:spPr>
        <p:txBody>
          <a:bodyPr wrap="square" lIns="0" tIns="0" rIns="0" bIns="0" rtlCol="0" anchor="ctr"/>
          <a:lstStyle/>
          <a:p>
            <a:pPr indent="0" marL="0">
              <a:buNone/>
            </a:pPr>
            <a:r>
              <a:rPr lang="en-US" sz="1600" b="1" dirty="0">
                <a:solidFill>
                  <a:srgbClr val="A15C00"/>
                </a:solidFill>
                <a:latin typeface="Inter" pitchFamily="34" charset="0"/>
                <a:ea typeface="Inter" pitchFamily="34" charset="-122"/>
                <a:cs typeface="Inter" pitchFamily="34" charset="-120"/>
              </a:rPr>
              <a:t>Likely to worry about</a:t>
            </a:r>
            <a:endParaRPr lang="en-US" sz="1600" dirty="0"/>
          </a:p>
        </p:txBody>
      </p:sp>
      <p:sp>
        <p:nvSpPr>
          <p:cNvPr id="11" name="Text 9"/>
          <p:cNvSpPr txBox="1"/>
          <p:nvPr/>
        </p:nvSpPr>
        <p:spPr>
          <a:xfrm>
            <a:off x="4937760" y="1901952"/>
            <a:ext cx="3611880" cy="2011680"/>
          </a:xfrm>
          <a:prstGeom prst="rect">
            <a:avLst/>
          </a:prstGeom>
          <a:noFill/>
          <a:ln/>
        </p:spPr>
        <p:txBody>
          <a:bodyPr wrap="square" lIns="0" tIns="0" rIns="0" bIns="0" rtlCol="0" anchor="t"/>
          <a:lstStyle/>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About one extra late finish every 2–3 weeks</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8 new shift times to learn</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Average shift 6 minutes longer</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Best 14-day leave stretch 28 days, not 30</a:t>
            </a:r>
            <a:endParaRPr lang="en-US" sz="1300" dirty="0"/>
          </a:p>
          <a:p>
            <a:pPr marL="152400" indent="-152400">
              <a:spcAft>
                <a:spcPts val="600"/>
              </a:spcAft>
              <a:buSzPct val="100000"/>
              <a:buChar char="•"/>
            </a:pPr>
            <a:r>
              <a:rPr lang="en-US" sz="1300" dirty="0">
                <a:solidFill>
                  <a:srgbClr val="1B2533"/>
                </a:solidFill>
                <a:latin typeface="Inter" pitchFamily="34" charset="0"/>
                <a:ea typeface="Inter" pitchFamily="34" charset="-122"/>
                <a:cs typeface="Inter" pitchFamily="34" charset="-120"/>
              </a:rPr>
              <a:t>Four weeks off takes 15 days’ leave, not 14</a:t>
            </a:r>
            <a:endParaRPr lang="en-US" sz="1300" dirty="0"/>
          </a:p>
        </p:txBody>
      </p:sp>
      <p:sp>
        <p:nvSpPr>
          <p:cNvPr id="12" name="Shape 10"/>
          <p:cNvSpPr/>
          <p:nvPr/>
        </p:nvSpPr>
        <p:spPr>
          <a:xfrm>
            <a:off x="457200" y="4160520"/>
            <a:ext cx="8229600" cy="548640"/>
          </a:xfrm>
          <a:prstGeom prst="roundRect">
            <a:avLst>
              <a:gd name="adj" fmla="val 16667"/>
            </a:avLst>
          </a:prstGeom>
          <a:solidFill>
            <a:srgbClr val="001E3C"/>
          </a:solidFill>
          <a:ln w="12700">
            <a:solidFill>
              <a:srgbClr val="001E3C"/>
            </a:solidFill>
            <a:prstDash val="solid"/>
          </a:ln>
        </p:spPr>
      </p:sp>
      <p:sp>
        <p:nvSpPr>
          <p:cNvPr id="13" name="Text 11"/>
          <p:cNvSpPr txBox="1"/>
          <p:nvPr/>
        </p:nvSpPr>
        <p:spPr>
          <a:xfrm>
            <a:off x="640080" y="4160520"/>
            <a:ext cx="7863840" cy="548640"/>
          </a:xfrm>
          <a:prstGeom prst="rect">
            <a:avLst/>
          </a:prstGeom>
          <a:noFill/>
          <a:ln/>
        </p:spPr>
        <p:txBody>
          <a:bodyPr wrap="square" lIns="0" tIns="0" rIns="0" bIns="0" rtlCol="0" anchor="ctr"/>
          <a:lstStyle/>
          <a:p>
            <a:pPr indent="0" marL="0">
              <a:buNone/>
            </a:pPr>
            <a:r>
              <a:rPr lang="en-US" sz="1400" b="1" dirty="0">
                <a:solidFill>
                  <a:srgbClr val="FFFFFF"/>
                </a:solidFill>
                <a:latin typeface="Inter" pitchFamily="34" charset="0"/>
                <a:ea typeface="Inter" pitchFamily="34" charset="-122"/>
                <a:cs typeface="Inter" pitchFamily="34" charset="-120"/>
              </a:rPr>
              <a:t>Expect late finishes to be the first question — the colleague deck answers it openly.</a:t>
            </a:r>
            <a:endParaRPr lang="en-US" sz="1400" dirty="0"/>
          </a:p>
        </p:txBody>
      </p:sp>
      <p:sp>
        <p:nvSpPr>
          <p:cNvPr id="14" name="Text 1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74320"/>
            <a:ext cx="8229600" cy="594360"/>
          </a:xfrm>
          <a:prstGeom prst="rect">
            <a:avLst/>
          </a:prstGeom>
          <a:noFill/>
          <a:ln/>
        </p:spPr>
        <p:txBody>
          <a:bodyPr wrap="square" lIns="0" tIns="0" rIns="0" bIns="0" rtlCol="0" anchor="ctr"/>
          <a:lstStyle/>
          <a:p>
            <a:pPr indent="0" marL="0">
              <a:buNone/>
            </a:pPr>
            <a:r>
              <a:rPr lang="en-US" sz="3000" b="1" dirty="0">
                <a:solidFill>
                  <a:srgbClr val="001E3C"/>
                </a:solidFill>
                <a:latin typeface="Inter" pitchFamily="34" charset="0"/>
                <a:ea typeface="Inter" pitchFamily="34" charset="-122"/>
                <a:cs typeface="Inter" pitchFamily="34" charset="-120"/>
              </a:rPr>
              <a:t>Where it stands</a:t>
            </a:r>
            <a:endParaRPr lang="en-US" sz="3000" dirty="0"/>
          </a:p>
        </p:txBody>
      </p:sp>
      <p:sp>
        <p:nvSpPr>
          <p:cNvPr id="3" name="Text 1"/>
          <p:cNvSpPr txBox="1"/>
          <p:nvPr/>
        </p:nvSpPr>
        <p:spPr>
          <a:xfrm>
            <a:off x="457200" y="868680"/>
            <a:ext cx="8229600" cy="365760"/>
          </a:xfrm>
          <a:prstGeom prst="rect">
            <a:avLst/>
          </a:prstGeom>
          <a:noFill/>
          <a:ln/>
        </p:spPr>
        <p:txBody>
          <a:bodyPr wrap="square" lIns="0" tIns="0" rIns="0" bIns="0" rtlCol="0" anchor="ctr"/>
          <a:lstStyle/>
          <a:p>
            <a:pPr indent="0" marL="0">
              <a:buNone/>
            </a:pPr>
            <a:r>
              <a:rPr lang="en-US" sz="1500" dirty="0">
                <a:solidFill>
                  <a:srgbClr val="5B6778"/>
                </a:solidFill>
                <a:latin typeface="Inter" pitchFamily="34" charset="0"/>
                <a:ea typeface="Inter" pitchFamily="34" charset="-122"/>
                <a:cs typeface="Inter" pitchFamily="34" charset="-120"/>
              </a:rPr>
              <a:t>Three things confirmed, two decisions left</a:t>
            </a:r>
            <a:endParaRPr lang="en-US" sz="1500" dirty="0"/>
          </a:p>
        </p:txBody>
      </p:sp>
      <p:sp>
        <p:nvSpPr>
          <p:cNvPr id="4" name="Shape 2"/>
          <p:cNvSpPr/>
          <p:nvPr/>
        </p:nvSpPr>
        <p:spPr>
          <a:xfrm>
            <a:off x="457200" y="1325880"/>
            <a:ext cx="457200" cy="457200"/>
          </a:xfrm>
          <a:prstGeom prst="ellipse">
            <a:avLst/>
          </a:prstGeom>
          <a:solidFill>
            <a:srgbClr val="1E7B4B"/>
          </a:solidFill>
          <a:ln w="12700">
            <a:solidFill>
              <a:srgbClr val="1E7B4B"/>
            </a:solidFill>
            <a:prstDash val="solid"/>
          </a:ln>
        </p:spPr>
      </p:sp>
      <p:sp>
        <p:nvSpPr>
          <p:cNvPr id="5" name="Text 3"/>
          <p:cNvSpPr txBox="1"/>
          <p:nvPr/>
        </p:nvSpPr>
        <p:spPr>
          <a:xfrm>
            <a:off x="457200" y="132588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6" name="Text 4"/>
          <p:cNvSpPr txBox="1"/>
          <p:nvPr/>
        </p:nvSpPr>
        <p:spPr>
          <a:xfrm>
            <a:off x="1097280" y="128930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December rules — confirmed</a:t>
            </a:r>
            <a:endParaRPr lang="en-US" sz="1600" dirty="0"/>
          </a:p>
        </p:txBody>
      </p:sp>
      <p:sp>
        <p:nvSpPr>
          <p:cNvPr id="7" name="Text 5"/>
          <p:cNvSpPr txBox="1"/>
          <p:nvPr/>
        </p:nvSpPr>
        <p:spPr>
          <a:xfrm>
            <a:off x="1097280" y="157276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The nine December rules. Everything here is built on them.</a:t>
            </a:r>
            <a:endParaRPr lang="en-US" sz="1300" dirty="0"/>
          </a:p>
        </p:txBody>
      </p:sp>
      <p:sp>
        <p:nvSpPr>
          <p:cNvPr id="8" name="Shape 6"/>
          <p:cNvSpPr/>
          <p:nvPr/>
        </p:nvSpPr>
        <p:spPr>
          <a:xfrm>
            <a:off x="457200" y="1965960"/>
            <a:ext cx="457200" cy="457200"/>
          </a:xfrm>
          <a:prstGeom prst="ellipse">
            <a:avLst/>
          </a:prstGeom>
          <a:solidFill>
            <a:srgbClr val="1E7B4B"/>
          </a:solidFill>
          <a:ln w="12700">
            <a:solidFill>
              <a:srgbClr val="1E7B4B"/>
            </a:solidFill>
            <a:prstDash val="solid"/>
          </a:ln>
        </p:spPr>
      </p:sp>
      <p:sp>
        <p:nvSpPr>
          <p:cNvPr id="9" name="Text 7"/>
          <p:cNvSpPr txBox="1"/>
          <p:nvPr/>
        </p:nvSpPr>
        <p:spPr>
          <a:xfrm>
            <a:off x="45720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0" name="Text 8"/>
          <p:cNvSpPr txBox="1"/>
          <p:nvPr/>
        </p:nvSpPr>
        <p:spPr>
          <a:xfrm>
            <a:off x="1097280" y="192938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24 people on the link — confirmed</a:t>
            </a:r>
            <a:endParaRPr lang="en-US" sz="1600" dirty="0"/>
          </a:p>
        </p:txBody>
      </p:sp>
      <p:sp>
        <p:nvSpPr>
          <p:cNvPr id="11" name="Text 9"/>
          <p:cNvSpPr txBox="1"/>
          <p:nvPr/>
        </p:nvSpPr>
        <p:spPr>
          <a:xfrm>
            <a:off x="1097280" y="221284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Four more than today.</a:t>
            </a:r>
            <a:endParaRPr lang="en-US" sz="1300" dirty="0"/>
          </a:p>
        </p:txBody>
      </p:sp>
      <p:sp>
        <p:nvSpPr>
          <p:cNvPr id="12" name="Shape 10"/>
          <p:cNvSpPr/>
          <p:nvPr/>
        </p:nvSpPr>
        <p:spPr>
          <a:xfrm>
            <a:off x="457200" y="2606040"/>
            <a:ext cx="457200" cy="457200"/>
          </a:xfrm>
          <a:prstGeom prst="ellipse">
            <a:avLst/>
          </a:prstGeom>
          <a:solidFill>
            <a:srgbClr val="1E7B4B"/>
          </a:solidFill>
          <a:ln w="12700">
            <a:solidFill>
              <a:srgbClr val="1E7B4B"/>
            </a:solidFill>
            <a:prstDash val="solid"/>
          </a:ln>
        </p:spPr>
      </p:sp>
      <p:sp>
        <p:nvSpPr>
          <p:cNvPr id="13" name="Text 11"/>
          <p:cNvSpPr txBox="1"/>
          <p:nvPr/>
        </p:nvSpPr>
        <p:spPr>
          <a:xfrm>
            <a:off x="457200" y="260604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Inter" pitchFamily="34" charset="0"/>
                <a:ea typeface="Inter" pitchFamily="34" charset="-122"/>
                <a:cs typeface="Inter" pitchFamily="34" charset="-120"/>
              </a:rPr>
              <a:t>✓</a:t>
            </a:r>
            <a:endParaRPr lang="en-US" sz="1800" dirty="0"/>
          </a:p>
        </p:txBody>
      </p:sp>
      <p:sp>
        <p:nvSpPr>
          <p:cNvPr id="14" name="Text 12"/>
          <p:cNvSpPr txBox="1"/>
          <p:nvPr/>
        </p:nvSpPr>
        <p:spPr>
          <a:xfrm>
            <a:off x="1097280" y="256946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Sunday cover — confirmed</a:t>
            </a:r>
            <a:endParaRPr lang="en-US" sz="1600" dirty="0"/>
          </a:p>
        </p:txBody>
      </p:sp>
      <p:sp>
        <p:nvSpPr>
          <p:cNvPr id="15" name="Text 13"/>
          <p:cNvSpPr txBox="1"/>
          <p:nvPr/>
        </p:nvSpPr>
        <p:spPr>
          <a:xfrm>
            <a:off x="1097280" y="285292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Ten on a Sunday — Sunday work stays overtime.</a:t>
            </a:r>
            <a:endParaRPr lang="en-US" sz="1300" dirty="0"/>
          </a:p>
        </p:txBody>
      </p:sp>
      <p:sp>
        <p:nvSpPr>
          <p:cNvPr id="16" name="Shape 14"/>
          <p:cNvSpPr/>
          <p:nvPr/>
        </p:nvSpPr>
        <p:spPr>
          <a:xfrm>
            <a:off x="457200" y="3246120"/>
            <a:ext cx="457200" cy="457200"/>
          </a:xfrm>
          <a:prstGeom prst="ellipse">
            <a:avLst/>
          </a:prstGeom>
          <a:solidFill>
            <a:srgbClr val="F5C800"/>
          </a:solidFill>
          <a:ln w="12700">
            <a:solidFill>
              <a:srgbClr val="F5C800"/>
            </a:solidFill>
            <a:prstDash val="solid"/>
          </a:ln>
        </p:spPr>
      </p:sp>
      <p:sp>
        <p:nvSpPr>
          <p:cNvPr id="17" name="Text 15"/>
          <p:cNvSpPr txBox="1"/>
          <p:nvPr/>
        </p:nvSpPr>
        <p:spPr>
          <a:xfrm>
            <a:off x="457200" y="324612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18" name="Text 16"/>
          <p:cNvSpPr txBox="1"/>
          <p:nvPr/>
        </p:nvSpPr>
        <p:spPr>
          <a:xfrm>
            <a:off x="1097280" y="320954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To decide: which link we use</a:t>
            </a:r>
            <a:endParaRPr lang="en-US" sz="1600" dirty="0"/>
          </a:p>
        </p:txBody>
      </p:sp>
      <p:sp>
        <p:nvSpPr>
          <p:cNvPr id="19" name="Text 17"/>
          <p:cNvSpPr txBox="1"/>
          <p:nvPr/>
        </p:nvSpPr>
        <p:spPr>
          <a:xfrm>
            <a:off x="1097280" y="349300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Colleagues’ views come first.</a:t>
            </a:r>
            <a:endParaRPr lang="en-US" sz="1300" dirty="0"/>
          </a:p>
        </p:txBody>
      </p:sp>
      <p:sp>
        <p:nvSpPr>
          <p:cNvPr id="20" name="Shape 18"/>
          <p:cNvSpPr/>
          <p:nvPr/>
        </p:nvSpPr>
        <p:spPr>
          <a:xfrm>
            <a:off x="457200" y="3886200"/>
            <a:ext cx="457200" cy="457200"/>
          </a:xfrm>
          <a:prstGeom prst="ellipse">
            <a:avLst/>
          </a:prstGeom>
          <a:solidFill>
            <a:srgbClr val="F5C800"/>
          </a:solidFill>
          <a:ln w="12700">
            <a:solidFill>
              <a:srgbClr val="F5C800"/>
            </a:solidFill>
            <a:prstDash val="solid"/>
          </a:ln>
        </p:spPr>
      </p:sp>
      <p:sp>
        <p:nvSpPr>
          <p:cNvPr id="21" name="Text 19"/>
          <p:cNvSpPr txBox="1"/>
          <p:nvPr/>
        </p:nvSpPr>
        <p:spPr>
          <a:xfrm>
            <a:off x="457200" y="3886200"/>
            <a:ext cx="457200" cy="457200"/>
          </a:xfrm>
          <a:prstGeom prst="rect">
            <a:avLst/>
          </a:prstGeom>
          <a:noFill/>
          <a:ln/>
        </p:spPr>
        <p:txBody>
          <a:bodyPr wrap="square" lIns="0" tIns="0" rIns="0" bIns="0" rtlCol="0" anchor="ctr"/>
          <a:lstStyle/>
          <a:p>
            <a:pPr algn="ctr" indent="0" marL="0">
              <a:buNone/>
            </a:pPr>
            <a:r>
              <a:rPr lang="en-US" sz="1800" b="1" dirty="0">
                <a:solidFill>
                  <a:srgbClr val="001E3C"/>
                </a:solidFill>
                <a:latin typeface="Inter" pitchFamily="34" charset="0"/>
                <a:ea typeface="Inter" pitchFamily="34" charset="-122"/>
                <a:cs typeface="Inter" pitchFamily="34" charset="-120"/>
              </a:rPr>
              <a:t>?</a:t>
            </a:r>
            <a:endParaRPr lang="en-US" sz="1800" dirty="0"/>
          </a:p>
        </p:txBody>
      </p:sp>
      <p:sp>
        <p:nvSpPr>
          <p:cNvPr id="22" name="Text 20"/>
          <p:cNvSpPr txBox="1"/>
          <p:nvPr/>
        </p:nvSpPr>
        <p:spPr>
          <a:xfrm>
            <a:off x="1097280" y="3849624"/>
            <a:ext cx="7589520" cy="292608"/>
          </a:xfrm>
          <a:prstGeom prst="rect">
            <a:avLst/>
          </a:prstGeom>
          <a:noFill/>
          <a:ln/>
        </p:spPr>
        <p:txBody>
          <a:bodyPr wrap="square" lIns="0" tIns="0" rIns="0" bIns="0" rtlCol="0" anchor="ctr"/>
          <a:lstStyle/>
          <a:p>
            <a:pPr indent="0" marL="0">
              <a:buNone/>
            </a:pPr>
            <a:r>
              <a:rPr lang="en-US" sz="1600" b="1" dirty="0">
                <a:solidFill>
                  <a:srgbClr val="1B2533"/>
                </a:solidFill>
                <a:latin typeface="Inter" pitchFamily="34" charset="0"/>
                <a:ea typeface="Inter" pitchFamily="34" charset="-122"/>
                <a:cs typeface="Inter" pitchFamily="34" charset="-120"/>
              </a:rPr>
              <a:t>Then: who starts on which line</a:t>
            </a:r>
            <a:endParaRPr lang="en-US" sz="1600" dirty="0"/>
          </a:p>
        </p:txBody>
      </p:sp>
      <p:sp>
        <p:nvSpPr>
          <p:cNvPr id="23" name="Text 21"/>
          <p:cNvSpPr txBox="1"/>
          <p:nvPr/>
        </p:nvSpPr>
        <p:spPr>
          <a:xfrm>
            <a:off x="1097280" y="4133088"/>
            <a:ext cx="7589520" cy="274320"/>
          </a:xfrm>
          <a:prstGeom prst="rect">
            <a:avLst/>
          </a:prstGeom>
          <a:noFill/>
          <a:ln/>
        </p:spPr>
        <p:txBody>
          <a:bodyPr wrap="square" lIns="0" tIns="0" rIns="0" bIns="0" rtlCol="0" anchor="ctr"/>
          <a:lstStyle/>
          <a:p>
            <a:pPr indent="0" marL="0">
              <a:buNone/>
            </a:pPr>
            <a:r>
              <a:rPr lang="en-US" sz="1300" dirty="0">
                <a:solidFill>
                  <a:srgbClr val="5B6778"/>
                </a:solidFill>
                <a:latin typeface="Inter" pitchFamily="34" charset="0"/>
                <a:ea typeface="Inter" pitchFamily="34" charset="-122"/>
                <a:cs typeface="Inter" pitchFamily="34" charset="-120"/>
              </a:rPr>
              <a:t>Who begins on which week of the link.</a:t>
            </a:r>
            <a:endParaRPr lang="en-US" sz="1300" dirty="0"/>
          </a:p>
        </p:txBody>
      </p:sp>
      <p:sp>
        <p:nvSpPr>
          <p:cNvPr id="24" name="Text 22"/>
          <p:cNvSpPr txBox="1"/>
          <p:nvPr/>
        </p:nvSpPr>
        <p:spPr>
          <a:xfrm>
            <a:off x="457200" y="4800600"/>
            <a:ext cx="8229600" cy="228600"/>
          </a:xfrm>
          <a:prstGeom prst="rect">
            <a:avLst/>
          </a:prstGeom>
          <a:noFill/>
          <a:ln/>
        </p:spPr>
        <p:txBody>
          <a:bodyPr wrap="square" lIns="0" tIns="0" rIns="0" bIns="0" rtlCol="0" anchor="ctr"/>
          <a:lstStyle/>
          <a:p>
            <a:pPr indent="0" marL="0">
              <a:buNone/>
            </a:pPr>
            <a:r>
              <a:rPr lang="en-US" sz="900" dirty="0">
                <a:solidFill>
                  <a:srgbClr val="5B6778"/>
                </a:solidFill>
                <a:latin typeface="Inter" pitchFamily="34" charset="0"/>
                <a:ea typeface="Inter" pitchFamily="34" charset="-122"/>
                <a:cs typeface="Inter" pitchFamily="34" charset="-120"/>
              </a:rPr>
              <a:t>Familiar Nine · December 2026 CEA link · for managers · 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E3C"/>
        </a:solidFill>
      </p:bgPr>
    </p:bg>
    <p:spTree>
      <p:nvGrpSpPr>
        <p:cNvPr id="1" name=""/>
        <p:cNvGrpSpPr/>
        <p:nvPr/>
      </p:nvGrpSpPr>
      <p:grpSpPr>
        <a:xfrm>
          <a:off x="0" y="0"/>
          <a:ext cx="0" cy="0"/>
          <a:chOff x="0" y="0"/>
          <a:chExt cx="0" cy="0"/>
        </a:xfrm>
      </p:grpSpPr>
      <p:sp>
        <p:nvSpPr>
          <p:cNvPr id="2" name="Shape 0"/>
          <p:cNvSpPr/>
          <p:nvPr/>
        </p:nvSpPr>
        <p:spPr>
          <a:xfrm>
            <a:off x="548640" y="640080"/>
            <a:ext cx="731520" cy="731520"/>
          </a:xfrm>
          <a:prstGeom prst="ellipse">
            <a:avLst/>
          </a:prstGeom>
          <a:solidFill>
            <a:srgbClr val="F5C800"/>
          </a:solidFill>
          <a:ln w="12700">
            <a:solidFill>
              <a:srgbClr val="F5C800"/>
            </a:solidFill>
            <a:prstDash val="solid"/>
          </a:ln>
        </p:spPr>
      </p:sp>
      <p:pic>
        <p:nvPicPr>
          <p:cNvPr id="3" name="Image 0" descr="preencoded.png">    </p:cNvPr>
          <p:cNvPicPr>
            <a:picLocks noChangeAspect="1"/>
          </p:cNvPicPr>
          <p:nvPr/>
        </p:nvPicPr>
        <p:blipFill>
          <a:blip r:embed="rId1"/>
          <a:stretch>
            <a:fillRect/>
          </a:stretch>
        </p:blipFill>
        <p:spPr>
          <a:xfrm>
            <a:off x="709574" y="801014"/>
            <a:ext cx="409651" cy="409651"/>
          </a:xfrm>
          <a:prstGeom prst="rect">
            <a:avLst/>
          </a:prstGeom>
        </p:spPr>
      </p:pic>
      <p:sp>
        <p:nvSpPr>
          <p:cNvPr id="4" name="Text 1"/>
          <p:cNvSpPr txBox="1"/>
          <p:nvPr/>
        </p:nvSpPr>
        <p:spPr>
          <a:xfrm>
            <a:off x="548640" y="1600200"/>
            <a:ext cx="8046720" cy="73152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The detail</a:t>
            </a:r>
            <a:endParaRPr lang="en-US" sz="4000" dirty="0"/>
          </a:p>
        </p:txBody>
      </p:sp>
      <p:sp>
        <p:nvSpPr>
          <p:cNvPr id="5" name="Text 2"/>
          <p:cNvSpPr txBox="1"/>
          <p:nvPr/>
        </p:nvSpPr>
        <p:spPr>
          <a:xfrm>
            <a:off x="548640" y="2468880"/>
            <a:ext cx="8046720" cy="1463040"/>
          </a:xfrm>
          <a:prstGeom prst="rect">
            <a:avLst/>
          </a:prstGeom>
          <a:noFill/>
          <a:ln/>
        </p:spPr>
        <p:txBody>
          <a:bodyPr wrap="square" lIns="0" tIns="0" rIns="0" bIns="0" rtlCol="0" anchor="ctr"/>
          <a:lstStyle/>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week of the link, day by day</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Staff on duty hour by hour, against the trains</a:t>
            </a:r>
            <a:endParaRPr lang="en-US" sz="1800" dirty="0"/>
          </a:p>
          <a:p>
            <a:pPr marL="203200" indent="-203200">
              <a:spcAft>
                <a:spcPts val="800"/>
              </a:spcAft>
              <a:buSzPct val="100000"/>
              <a:buChar char="•"/>
            </a:pPr>
            <a:r>
              <a:rPr lang="en-US" sz="1800" dirty="0">
                <a:solidFill>
                  <a:srgbClr val="FFFFFF"/>
                </a:solidFill>
                <a:latin typeface="Inter" pitchFamily="34" charset="0"/>
                <a:ea typeface="Inter" pitchFamily="34" charset="-122"/>
                <a:cs typeface="Inter" pitchFamily="34" charset="-120"/>
              </a:rPr>
              <a:t>Every December rule and fatigue check, worked through</a:t>
            </a:r>
            <a:endParaRPr lang="en-US" sz="1800" dirty="0"/>
          </a:p>
        </p:txBody>
      </p:sp>
      <p:sp>
        <p:nvSpPr>
          <p:cNvPr id="6" name="Text 3"/>
          <p:cNvSpPr txBox="1"/>
          <p:nvPr/>
        </p:nvSpPr>
        <p:spPr>
          <a:xfrm>
            <a:off x="548640" y="4343400"/>
            <a:ext cx="8046720" cy="365760"/>
          </a:xfrm>
          <a:prstGeom prst="rect">
            <a:avLst/>
          </a:prstGeom>
          <a:noFill/>
          <a:ln/>
        </p:spPr>
        <p:txBody>
          <a:bodyPr wrap="square" lIns="0" tIns="0" rIns="0" bIns="0" rtlCol="0" anchor="ctr"/>
          <a:lstStyle/>
          <a:p>
            <a:pPr indent="0" marL="0">
              <a:buNone/>
            </a:pPr>
            <a:r>
              <a:rPr lang="en-US" sz="1300" dirty="0">
                <a:solidFill>
                  <a:srgbClr val="F5C800"/>
                </a:solidFill>
                <a:latin typeface="Inter" pitchFamily="34" charset="0"/>
                <a:ea typeface="Inter" pitchFamily="34" charset="-122"/>
                <a:cs typeface="Inter" pitchFamily="34" charset="-120"/>
              </a:rPr>
              <a:t>All in the eight-page proposal sheet · Familiar Nine · F9-24-K31s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Familiar Nine — the December 2026 CEA link, for managers</dc:title>
  <dc:subject>PptxGenJS Presentation</dc:subject>
  <dc:creator>PptxGenJS</dc:creator>
  <cp:lastModifiedBy>PptxGenJS</cp:lastModifiedBy>
  <cp:revision>1</cp:revision>
  <dcterms:created xsi:type="dcterms:W3CDTF">2026-09-30T09:26:59Z</dcterms:created>
  <dcterms:modified xsi:type="dcterms:W3CDTF">2026-09-30T09:26:59Z</dcterms:modified>
</cp:coreProperties>
</file>