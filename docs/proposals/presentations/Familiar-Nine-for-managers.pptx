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31.3</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ten-page proposal sheet, and every number here was worked out from the rota by the Marylebone Roster app,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rules are the December 2026 staffing levels, as confirmed: at least four at the open, three to the close, five after 22:00, 14 on a Saturday and 10 on a Sunday, four evenly spaced cover weeks, the ticket office in fixed pairs, 15:45 weekday closers, two on the floor at all times, handovers, 8–9 hour Sundays and no more shift times than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11 December rules; Familiar Nine meets all 11.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movements.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working week pays exactly 35 hours Monday to Saturday — 42,000 minutes across the link — so no overtime is built into the rota. Sunday is not contracted, so the ten Sunday duties are worked as rest-day overtime, exactly as today’s eight are. Cover weeks stay at four, which is a slightly smaller share of a longer link: worth deciding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35 hours; the average shift is six minutes longer (8h20 against 8h14), which is what pays for the two fewer days. Annual leave works the same way, and a cover week still counts as four days of leave. Expect the late finishes to be the main objection: three to the close and five after 22:00 put about 20 more a year on each person —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11 of 11</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staffing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no overtime built in</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fatigue warning signs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staffing level you set, within the contract, with no fatigue warnings — on 24 people.</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Nearly twice as close to the timetable on weekdays; more than twice at weekends.</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cost</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and safety</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ORR fatigue warning signs in the design</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two shifts (at least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limit met with room to spare, and none of the ORR’s warning signs.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staff accept it?</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things colleagues ask first</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01752"/>
          </a:xfrm>
          <a:prstGeom prst="roundRect">
            <a:avLst>
              <a:gd name="adj" fmla="val 18182"/>
            </a:avLst>
          </a:prstGeom>
          <a:solidFill>
            <a:srgbClr val="EEF2F7"/>
          </a:solidFill>
          <a:ln w="12700">
            <a:solidFill>
              <a:srgbClr val="EEF2F7"/>
            </a:solidFill>
            <a:prstDash val="solid"/>
          </a:ln>
        </p:spPr>
      </p:sp>
      <p:sp>
        <p:nvSpPr>
          <p:cNvPr id="7" name="Text 5"/>
          <p:cNvSpPr txBox="1"/>
          <p:nvPr/>
        </p:nvSpPr>
        <p:spPr>
          <a:xfrm>
            <a:off x="640080" y="1801368"/>
            <a:ext cx="3657600" cy="301752"/>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Shift times people already work</a:t>
            </a:r>
            <a:endParaRPr lang="en-US" sz="1400" dirty="0"/>
          </a:p>
        </p:txBody>
      </p:sp>
      <p:sp>
        <p:nvSpPr>
          <p:cNvPr id="8" name="Text 6"/>
          <p:cNvSpPr txBox="1"/>
          <p:nvPr/>
        </p:nvSpPr>
        <p:spPr>
          <a:xfrm>
            <a:off x="4297680" y="1801368"/>
            <a:ext cx="2194560" cy="301752"/>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a:t>
            </a:r>
            <a:endParaRPr lang="en-US" sz="1600" dirty="0"/>
          </a:p>
        </p:txBody>
      </p:sp>
      <p:sp>
        <p:nvSpPr>
          <p:cNvPr id="9" name="Text 7"/>
          <p:cNvSpPr txBox="1"/>
          <p:nvPr/>
        </p:nvSpPr>
        <p:spPr>
          <a:xfrm>
            <a:off x="6492240" y="1801368"/>
            <a:ext cx="2194560" cy="301752"/>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 of 15</a:t>
            </a:r>
            <a:endParaRPr lang="en-US" sz="1800" dirty="0"/>
          </a:p>
        </p:txBody>
      </p:sp>
      <p:sp>
        <p:nvSpPr>
          <p:cNvPr id="10" name="Shape 8"/>
          <p:cNvSpPr/>
          <p:nvPr/>
        </p:nvSpPr>
        <p:spPr>
          <a:xfrm>
            <a:off x="457200" y="2194560"/>
            <a:ext cx="8229600" cy="301752"/>
          </a:xfrm>
          <a:prstGeom prst="roundRect">
            <a:avLst>
              <a:gd name="adj" fmla="val 18182"/>
            </a:avLst>
          </a:prstGeom>
          <a:solidFill>
            <a:srgbClr val="FFFFFF"/>
          </a:solidFill>
          <a:ln w="12700">
            <a:solidFill>
              <a:srgbClr val="DDE3EA"/>
            </a:solidFill>
            <a:prstDash val="solid"/>
          </a:ln>
        </p:spPr>
      </p:sp>
      <p:sp>
        <p:nvSpPr>
          <p:cNvPr id="11" name="Text 9"/>
          <p:cNvSpPr txBox="1"/>
          <p:nvPr/>
        </p:nvSpPr>
        <p:spPr>
          <a:xfrm>
            <a:off x="640080" y="2194560"/>
            <a:ext cx="3657600" cy="301752"/>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2" name="Text 10"/>
          <p:cNvSpPr txBox="1"/>
          <p:nvPr/>
        </p:nvSpPr>
        <p:spPr>
          <a:xfrm>
            <a:off x="4297680" y="2194560"/>
            <a:ext cx="2194560" cy="301752"/>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13" name="Text 11"/>
          <p:cNvSpPr txBox="1"/>
          <p:nvPr/>
        </p:nvSpPr>
        <p:spPr>
          <a:xfrm>
            <a:off x="6492240" y="2194560"/>
            <a:ext cx="2194560" cy="301752"/>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4" name="Shape 12"/>
          <p:cNvSpPr/>
          <p:nvPr/>
        </p:nvSpPr>
        <p:spPr>
          <a:xfrm>
            <a:off x="457200" y="2587752"/>
            <a:ext cx="8229600" cy="301752"/>
          </a:xfrm>
          <a:prstGeom prst="roundRect">
            <a:avLst>
              <a:gd name="adj" fmla="val 18182"/>
            </a:avLst>
          </a:prstGeom>
          <a:solidFill>
            <a:srgbClr val="EEF2F7"/>
          </a:solidFill>
          <a:ln w="12700">
            <a:solidFill>
              <a:srgbClr val="EEF2F7"/>
            </a:solidFill>
            <a:prstDash val="solid"/>
          </a:ln>
        </p:spPr>
      </p:sp>
      <p:sp>
        <p:nvSpPr>
          <p:cNvPr id="15" name="Text 13"/>
          <p:cNvSpPr txBox="1"/>
          <p:nvPr/>
        </p:nvSpPr>
        <p:spPr>
          <a:xfrm>
            <a:off x="640080" y="2587752"/>
            <a:ext cx="3657600" cy="301752"/>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at work a year</a:t>
            </a:r>
            <a:endParaRPr lang="en-US" sz="1400" dirty="0"/>
          </a:p>
        </p:txBody>
      </p:sp>
      <p:sp>
        <p:nvSpPr>
          <p:cNvPr id="16" name="Text 14"/>
          <p:cNvSpPr txBox="1"/>
          <p:nvPr/>
        </p:nvSpPr>
        <p:spPr>
          <a:xfrm>
            <a:off x="4297680" y="2587752"/>
            <a:ext cx="2194560" cy="301752"/>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587752"/>
            <a:ext cx="2194560" cy="301752"/>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2980944"/>
            <a:ext cx="8229600" cy="301752"/>
          </a:xfrm>
          <a:prstGeom prst="roundRect">
            <a:avLst>
              <a:gd name="adj" fmla="val 18182"/>
            </a:avLst>
          </a:prstGeom>
          <a:solidFill>
            <a:srgbClr val="FFFFFF"/>
          </a:solidFill>
          <a:ln w="12700">
            <a:solidFill>
              <a:srgbClr val="DDE3EA"/>
            </a:solidFill>
            <a:prstDash val="solid"/>
          </a:ln>
        </p:spPr>
      </p:sp>
      <p:sp>
        <p:nvSpPr>
          <p:cNvPr id="19" name="Text 17"/>
          <p:cNvSpPr txBox="1"/>
          <p:nvPr/>
        </p:nvSpPr>
        <p:spPr>
          <a:xfrm>
            <a:off x="640080" y="2980944"/>
            <a:ext cx="3657600" cy="301752"/>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shift time all week</a:t>
            </a:r>
            <a:endParaRPr lang="en-US" sz="1400" dirty="0"/>
          </a:p>
        </p:txBody>
      </p:sp>
      <p:sp>
        <p:nvSpPr>
          <p:cNvPr id="20" name="Text 18"/>
          <p:cNvSpPr txBox="1"/>
          <p:nvPr/>
        </p:nvSpPr>
        <p:spPr>
          <a:xfrm>
            <a:off x="4297680" y="2980944"/>
            <a:ext cx="2194560" cy="301752"/>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1" name="Text 19"/>
          <p:cNvSpPr txBox="1"/>
          <p:nvPr/>
        </p:nvSpPr>
        <p:spPr>
          <a:xfrm>
            <a:off x="6492240" y="2980944"/>
            <a:ext cx="2194560" cy="301752"/>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2" name="Shape 20"/>
          <p:cNvSpPr/>
          <p:nvPr/>
        </p:nvSpPr>
        <p:spPr>
          <a:xfrm>
            <a:off x="457200" y="3374136"/>
            <a:ext cx="8229600" cy="301752"/>
          </a:xfrm>
          <a:prstGeom prst="roundRect">
            <a:avLst>
              <a:gd name="adj" fmla="val 18182"/>
            </a:avLst>
          </a:prstGeom>
          <a:solidFill>
            <a:srgbClr val="EEF2F7"/>
          </a:solidFill>
          <a:ln w="12700">
            <a:solidFill>
              <a:srgbClr val="EEF2F7"/>
            </a:solidFill>
            <a:prstDash val="solid"/>
          </a:ln>
        </p:spPr>
      </p:sp>
      <p:sp>
        <p:nvSpPr>
          <p:cNvPr id="23" name="Text 21"/>
          <p:cNvSpPr txBox="1"/>
          <p:nvPr/>
        </p:nvSpPr>
        <p:spPr>
          <a:xfrm>
            <a:off x="640080" y="3374136"/>
            <a:ext cx="3657600" cy="301752"/>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Closing shift: weekday · Sat · Sun</a:t>
            </a:r>
            <a:endParaRPr lang="en-US" sz="1400" dirty="0"/>
          </a:p>
        </p:txBody>
      </p:sp>
      <p:sp>
        <p:nvSpPr>
          <p:cNvPr id="24" name="Text 22"/>
          <p:cNvSpPr txBox="1"/>
          <p:nvPr/>
        </p:nvSpPr>
        <p:spPr>
          <a:xfrm>
            <a:off x="4297680" y="3374136"/>
            <a:ext cx="2194560" cy="301752"/>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 · 9h10 · 8h55</a:t>
            </a:r>
            <a:endParaRPr lang="en-US" sz="1600" dirty="0"/>
          </a:p>
        </p:txBody>
      </p:sp>
      <p:sp>
        <p:nvSpPr>
          <p:cNvPr id="25" name="Text 23"/>
          <p:cNvSpPr txBox="1"/>
          <p:nvPr/>
        </p:nvSpPr>
        <p:spPr>
          <a:xfrm>
            <a:off x="6492240" y="3374136"/>
            <a:ext cx="2194560" cy="301752"/>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 · 8h40 · 8h10</a:t>
            </a:r>
            <a:endParaRPr lang="en-US" sz="1800" dirty="0"/>
          </a:p>
        </p:txBody>
      </p:sp>
      <p:sp>
        <p:nvSpPr>
          <p:cNvPr id="26" name="Shape 24"/>
          <p:cNvSpPr/>
          <p:nvPr/>
        </p:nvSpPr>
        <p:spPr>
          <a:xfrm>
            <a:off x="457200" y="3767328"/>
            <a:ext cx="8229600" cy="301752"/>
          </a:xfrm>
          <a:prstGeom prst="roundRect">
            <a:avLst>
              <a:gd name="adj" fmla="val 18182"/>
            </a:avLst>
          </a:prstGeom>
          <a:solidFill>
            <a:srgbClr val="FFFFFF"/>
          </a:solidFill>
          <a:ln w="12700">
            <a:solidFill>
              <a:srgbClr val="DDE3EA"/>
            </a:solidFill>
            <a:prstDash val="solid"/>
          </a:ln>
        </p:spPr>
      </p:sp>
      <p:sp>
        <p:nvSpPr>
          <p:cNvPr id="27" name="Text 25"/>
          <p:cNvSpPr txBox="1"/>
          <p:nvPr/>
        </p:nvSpPr>
        <p:spPr>
          <a:xfrm>
            <a:off x="640080" y="3767328"/>
            <a:ext cx="3657600" cy="301752"/>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28" name="Text 26"/>
          <p:cNvSpPr txBox="1"/>
          <p:nvPr/>
        </p:nvSpPr>
        <p:spPr>
          <a:xfrm>
            <a:off x="4297680" y="3767328"/>
            <a:ext cx="2194560" cy="301752"/>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29" name="Text 27"/>
          <p:cNvSpPr txBox="1"/>
          <p:nvPr/>
        </p:nvSpPr>
        <p:spPr>
          <a:xfrm>
            <a:off x="6492240" y="3767328"/>
            <a:ext cx="2194560" cy="301752"/>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30" name="Shape 2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31" name="Text 2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Familiar times, shorter closers, more weekends, fewer days at work — easier to agree.</a:t>
            </a:r>
            <a:endParaRPr lang="en-US" sz="1400" dirty="0"/>
          </a:p>
        </p:txBody>
      </p:sp>
      <p:sp>
        <p:nvSpPr>
          <p:cNvPr id="32" name="Text 3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one decision left</a:t>
            </a:r>
            <a:endParaRPr lang="en-US" sz="1500" dirty="0"/>
          </a:p>
        </p:txBody>
      </p:sp>
      <p:sp>
        <p:nvSpPr>
          <p:cNvPr id="4" name="Shape 2"/>
          <p:cNvSpPr/>
          <p:nvPr/>
        </p:nvSpPr>
        <p:spPr>
          <a:xfrm>
            <a:off x="457200" y="137160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71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Staffing levels — confirmed</a:t>
            </a:r>
            <a:endParaRPr lang="en-US" sz="1600" dirty="0"/>
          </a:p>
        </p:txBody>
      </p:sp>
      <p:sp>
        <p:nvSpPr>
          <p:cNvPr id="7" name="Text 5"/>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eleven December rules. Everything here is built on them.</a:t>
            </a:r>
            <a:endParaRPr lang="en-US" sz="1300" dirty="0"/>
          </a:p>
        </p:txBody>
      </p:sp>
      <p:sp>
        <p:nvSpPr>
          <p:cNvPr id="8" name="Shape 6"/>
          <p:cNvSpPr/>
          <p:nvPr/>
        </p:nvSpPr>
        <p:spPr>
          <a:xfrm>
            <a:off x="457200" y="2029968"/>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20299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88336"/>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883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346704"/>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346704"/>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Still to decide: who goes on which line</a:t>
            </a:r>
            <a:endParaRPr lang="en-US" sz="1600" dirty="0"/>
          </a:p>
        </p:txBody>
      </p:sp>
      <p:sp>
        <p:nvSpPr>
          <p:cNvPr id="19" name="Text 17"/>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starts on which week of the link.</a:t>
            </a:r>
            <a:endParaRPr lang="en-US" sz="13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Each staffing rule and each ORR factor, checked</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ten-page proposal sheet · Familiar Nine · F9-24-K31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2026-09-29T10:13:37Z</dcterms:created>
  <dcterms:modified xsi:type="dcterms:W3CDTF">2026-09-29T10:13:37Z</dcterms:modified>
</cp:coreProperties>
</file>