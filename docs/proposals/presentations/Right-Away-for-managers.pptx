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Today</c:v>
                </c:pt>
              </c:strCache>
            </c:strRef>
          </c:tx>
          <c:spPr>
            <a:solidFill>
              <a:srgbClr val="A9B3C1"/>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Sheet1!$B$2:$B$4</c:f>
              <c:numCache>
                <c:formatCode>General</c:formatCode>
                <c:ptCount val="3"/>
                <c:pt idx="0">
                  <c:v>52</c:v>
                </c:pt>
                <c:pt idx="1">
                  <c:v>65.9</c:v>
                </c:pt>
                <c:pt idx="2">
                  <c:v>71.7</c:v>
                </c:pt>
              </c:numCache>
            </c:numRef>
          </c:val>
        </c:ser>
        <c:ser>
          <c:idx val="1"/>
          <c:order val="1"/>
          <c:tx>
            <c:strRef>
              <c:f>Sheet1!$C$1</c:f>
              <c:strCache>
                <c:ptCount val="1"/>
                <c:pt idx="0">
                  <c:v>Right Away</c:v>
                </c:pt>
              </c:strCache>
            </c:strRef>
          </c:tx>
          <c:spPr>
            <a:solidFill>
              <a:srgbClr val="001E3C"/>
            </a:solidFill>
            <a:effectLst/>
          </c:spPr>
          <c:invertIfNegative val="0"/>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cat>
            <c:multiLvlStrRef>
              <c:f>Sheet1!$A$2:$A$4</c:f>
              <c:multiLvlStrCache>
                <c:ptCount val="3"/>
                <c:lvl>
                  <c:pt idx="0">
                    <c:v>Weekday</c:v>
                  </c:pt>
                  <c:pt idx="1">
                    <c:v>Saturday</c:v>
                  </c:pt>
                  <c:pt idx="2">
                    <c:v>Sunday</c:v>
                  </c:pt>
                </c:lvl>
              </c:multiLvlStrCache>
            </c:multiLvlStrRef>
          </c:cat>
          <c:val>
            <c:numRef>
              <c:f>Sheet1!$C$2:$C$4</c:f>
              <c:numCache>
                <c:formatCode>General</c:formatCode>
                <c:ptCount val="3"/>
                <c:pt idx="0">
                  <c:v>26.5</c:v>
                </c:pt>
                <c:pt idx="1">
                  <c:v>14.6</c:v>
                </c:pt>
                <c:pt idx="2">
                  <c:v>26.4</c:v>
                </c:pt>
              </c:numCache>
            </c:numRef>
          </c:val>
        </c:ser>
        <c:dLbls>
          <c:numFmt formatCode="0.0" sourceLinked="0"/>
          <c:txPr>
            <a:bodyPr/>
            <a:lstStyle/>
            <a:p>
              <a:pPr>
                <a:defRPr b="0" i="0" strike="noStrike" sz="1200" u="none">
                  <a:solidFill>
                    <a:srgbClr val="1B2533"/>
                  </a:solidFill>
                  <a:latin typeface="Inter"/>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533"/>
                </a:solidFill>
                <a:latin typeface="Inter"/>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figures only. Everything week-by-week, hour-by-hour and rule-by-rule is on the eight-page proposal sheet, and every number here comes from the Marylebone Roster app’s rota calculations and has been independently checked; the slides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rules are the December 2026 rules, as confirmed: at least four at the open, three to the close, five after 22:00, 10 on a Sunday, the ticket office in fixed pairs, two on the floor at all times, handovers, 8–9 hour Sundays and no more shift times than today. Behind them sit three flexible rules that are aimed for when designing but not scored on: 14 on a Saturday, cover weeks evenly spaced, and weekday closers starting at 15:45. Right Away meets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link meets 4 of the 9 December rules; Right Away meets all 9, and the three flexible ones as well (14 on a Saturday, evenly spaced cover weeks, 15:45 weekday closers). Someone finishing at exactly 22:00 is not counted as still on after 22:00. The floor figure leaves out the ticket office, except its second person at the quiet ends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compares, hour by hour, the share of the day’s floor staff on duty with the share of the day’s train service, each train weighted by its length. 0 would be a perfect match. It is a guide to shape, not a staffing requirement — the rules on the previous slide are the requirement. This is what Right Away was built for: with the ticket office rostered in fixed pairs, every other duty was timed so the floor follows the trains. Against today’s link it is about half as far off on weekdays, about a fifth on a Saturday and about two-fifths on a Sunday.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weeks average exactly 35 hours Monday to Saturday — 42,000 minutes across the 20 working weeks — so no overtime is needed to balance the Monday-to-Saturday week. Individual weeks range from 24h 30m to 41h 50m; only the average is the contract, as today. Ask the room: are four cover weeks enough for leave and sickness in a 24-person link? Sunday is not contracted, so the ten Sunday duties are worked as rest-day overtime, exactly as today’s eight are. Cover weeks stay at four, which is a slightly smaller share of a longer link: worth deciding deliberately. The two extra Sunday overtime duties a week come from the confirmed Sunday staffing of ten, not from Right Away — any link that meets the rules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ORR factors are good practice, not pass/fail limits, and this is not a fatigue risk assessment. Two factors — early starts at a 06:20 station and a weekly rotation — come with every weekly link, so they are recorded on the proposal sheet for information and not counted. One definition, successive start times varying by more than two hours, is counted on our reading and should be confirmed by whoever assesses it. The longest shift, 9h 30m, is a Saturday early (07:15–16:45); no early runs past 10 hours, which is the ORR’s threshold, and every Sunday duty stays between 8 and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slide. It meets every December rule, and with the ticket office rostered in fixed pairs, every other duty was timed so the people on the floor follow the December trains through the day. The honest costs: five of today’s eighteen shift times stay and twelve are new, some earlies run longer (the longest is 9h 30m), and late finishes rise — the December staffing needs three to the close and five after 22:00, so finishes at 23:00 or later go from about 39 to 59 a year each. Every closing shift is 30 to 60 minutes shorter, which softens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at work fall from 219 to 217 a year (Monday to Saturday; Sunday is overtime). The late finishes come from the December staffing — three to the close and five after 22:00, where today’s weekdays have two and four — so any link that meets the rules will have more of them; they average about 20 more a year each, one extra every two or three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Sunday finish stays at 23:25 — that is agreed practice. The 13-day limit used in the checks is Chiltern practice; its written source is still to be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sheet with them. Questions about a particular week or hour are answered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Right Away</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The December 2026 CEA link — the proposal in ten minutes</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For managers · 24 weeks · code FR-24-F34s · the full proposal sheet has the detail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Four numbers</a:t>
            </a:r>
            <a:endParaRPr lang="en-US" sz="1500" dirty="0"/>
          </a:p>
        </p:txBody>
      </p:sp>
      <p:sp>
        <p:nvSpPr>
          <p:cNvPr id="4" name="Shape 2"/>
          <p:cNvSpPr/>
          <p:nvPr/>
        </p:nvSpPr>
        <p:spPr>
          <a:xfrm>
            <a:off x="457200" y="1463040"/>
            <a:ext cx="1874520" cy="2377440"/>
          </a:xfrm>
          <a:prstGeom prst="roundRect">
            <a:avLst>
              <a:gd name="adj" fmla="val 5854"/>
            </a:avLst>
          </a:prstGeom>
          <a:solidFill>
            <a:srgbClr val="EEF2F7"/>
          </a:solidFill>
          <a:ln w="12700">
            <a:solidFill>
              <a:srgbClr val="EEF2F7"/>
            </a:solidFill>
            <a:prstDash val="solid"/>
          </a:ln>
        </p:spPr>
      </p:sp>
      <p:sp>
        <p:nvSpPr>
          <p:cNvPr id="5" name="Text 3"/>
          <p:cNvSpPr txBox="1"/>
          <p:nvPr/>
        </p:nvSpPr>
        <p:spPr>
          <a:xfrm>
            <a:off x="45720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9 of 9</a:t>
            </a:r>
            <a:endParaRPr lang="en-US" sz="3400" dirty="0"/>
          </a:p>
        </p:txBody>
      </p:sp>
      <p:sp>
        <p:nvSpPr>
          <p:cNvPr id="6" name="Text 4"/>
          <p:cNvSpPr txBox="1"/>
          <p:nvPr/>
        </p:nvSpPr>
        <p:spPr>
          <a:xfrm>
            <a:off x="59436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December rules met</a:t>
            </a:r>
            <a:endParaRPr lang="en-US" sz="1500" dirty="0"/>
          </a:p>
        </p:txBody>
      </p:sp>
      <p:sp>
        <p:nvSpPr>
          <p:cNvPr id="7" name="Text 5"/>
          <p:cNvSpPr txBox="1"/>
          <p:nvPr/>
        </p:nvSpPr>
        <p:spPr>
          <a:xfrm>
            <a:off x="59436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4</a:t>
            </a:r>
            <a:endParaRPr lang="en-US" sz="1300" dirty="0"/>
          </a:p>
        </p:txBody>
      </p:sp>
      <p:sp>
        <p:nvSpPr>
          <p:cNvPr id="8" name="Shape 6"/>
          <p:cNvSpPr/>
          <p:nvPr/>
        </p:nvSpPr>
        <p:spPr>
          <a:xfrm>
            <a:off x="2560320" y="1463040"/>
            <a:ext cx="1874520" cy="2377440"/>
          </a:xfrm>
          <a:prstGeom prst="roundRect">
            <a:avLst>
              <a:gd name="adj" fmla="val 5854"/>
            </a:avLst>
          </a:prstGeom>
          <a:solidFill>
            <a:srgbClr val="EEF2F7"/>
          </a:solidFill>
          <a:ln w="12700">
            <a:solidFill>
              <a:srgbClr val="EEF2F7"/>
            </a:solidFill>
            <a:prstDash val="solid"/>
          </a:ln>
        </p:spPr>
      </p:sp>
      <p:sp>
        <p:nvSpPr>
          <p:cNvPr id="9" name="Text 7"/>
          <p:cNvSpPr txBox="1"/>
          <p:nvPr/>
        </p:nvSpPr>
        <p:spPr>
          <a:xfrm>
            <a:off x="256032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35h</a:t>
            </a:r>
            <a:endParaRPr lang="en-US" sz="3400" dirty="0"/>
          </a:p>
        </p:txBody>
      </p:sp>
      <p:sp>
        <p:nvSpPr>
          <p:cNvPr id="10" name="Text 8"/>
          <p:cNvSpPr txBox="1"/>
          <p:nvPr/>
        </p:nvSpPr>
        <p:spPr>
          <a:xfrm>
            <a:off x="269748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contract paid exactly</a:t>
            </a:r>
            <a:endParaRPr lang="en-US" sz="1500" dirty="0"/>
          </a:p>
        </p:txBody>
      </p:sp>
      <p:sp>
        <p:nvSpPr>
          <p:cNvPr id="11" name="Text 9"/>
          <p:cNvSpPr txBox="1"/>
          <p:nvPr/>
        </p:nvSpPr>
        <p:spPr>
          <a:xfrm>
            <a:off x="269748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Monday to Saturday</a:t>
            </a:r>
            <a:endParaRPr lang="en-US" sz="1300" dirty="0"/>
          </a:p>
        </p:txBody>
      </p:sp>
      <p:sp>
        <p:nvSpPr>
          <p:cNvPr id="12" name="Shape 10"/>
          <p:cNvSpPr/>
          <p:nvPr/>
        </p:nvSpPr>
        <p:spPr>
          <a:xfrm>
            <a:off x="4663440" y="1463040"/>
            <a:ext cx="1874520" cy="2377440"/>
          </a:xfrm>
          <a:prstGeom prst="roundRect">
            <a:avLst>
              <a:gd name="adj" fmla="val 5854"/>
            </a:avLst>
          </a:prstGeom>
          <a:solidFill>
            <a:srgbClr val="EEF2F7"/>
          </a:solidFill>
          <a:ln w="12700">
            <a:solidFill>
              <a:srgbClr val="EEF2F7"/>
            </a:solidFill>
            <a:prstDash val="solid"/>
          </a:ln>
        </p:spPr>
      </p:sp>
      <p:sp>
        <p:nvSpPr>
          <p:cNvPr id="13" name="Text 11"/>
          <p:cNvSpPr txBox="1"/>
          <p:nvPr/>
        </p:nvSpPr>
        <p:spPr>
          <a:xfrm>
            <a:off x="466344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0</a:t>
            </a:r>
            <a:endParaRPr lang="en-US" sz="3400" dirty="0"/>
          </a:p>
        </p:txBody>
      </p:sp>
      <p:sp>
        <p:nvSpPr>
          <p:cNvPr id="14" name="Text 12"/>
          <p:cNvSpPr txBox="1"/>
          <p:nvPr/>
        </p:nvSpPr>
        <p:spPr>
          <a:xfrm>
            <a:off x="480060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avoidable fatigue warnings</a:t>
            </a:r>
            <a:endParaRPr lang="en-US" sz="1500" dirty="0"/>
          </a:p>
        </p:txBody>
      </p:sp>
      <p:sp>
        <p:nvSpPr>
          <p:cNvPr id="15" name="Text 13"/>
          <p:cNvSpPr txBox="1"/>
          <p:nvPr/>
        </p:nvSpPr>
        <p:spPr>
          <a:xfrm>
            <a:off x="480060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today’s link: 5</a:t>
            </a:r>
            <a:endParaRPr lang="en-US" sz="1300" dirty="0"/>
          </a:p>
        </p:txBody>
      </p:sp>
      <p:sp>
        <p:nvSpPr>
          <p:cNvPr id="16" name="Shape 14"/>
          <p:cNvSpPr/>
          <p:nvPr/>
        </p:nvSpPr>
        <p:spPr>
          <a:xfrm>
            <a:off x="6766560" y="1463040"/>
            <a:ext cx="1874520" cy="2377440"/>
          </a:xfrm>
          <a:prstGeom prst="roundRect">
            <a:avLst>
              <a:gd name="adj" fmla="val 5854"/>
            </a:avLst>
          </a:prstGeom>
          <a:solidFill>
            <a:srgbClr val="EEF2F7"/>
          </a:solidFill>
          <a:ln w="12700">
            <a:solidFill>
              <a:srgbClr val="EEF2F7"/>
            </a:solidFill>
            <a:prstDash val="solid"/>
          </a:ln>
        </p:spPr>
      </p:sp>
      <p:sp>
        <p:nvSpPr>
          <p:cNvPr id="17" name="Text 15"/>
          <p:cNvSpPr txBox="1"/>
          <p:nvPr/>
        </p:nvSpPr>
        <p:spPr>
          <a:xfrm>
            <a:off x="6766560" y="1645920"/>
            <a:ext cx="1874520" cy="868680"/>
          </a:xfrm>
          <a:prstGeom prst="rect">
            <a:avLst/>
          </a:prstGeom>
          <a:noFill/>
          <a:ln/>
        </p:spPr>
        <p:txBody>
          <a:bodyPr wrap="square" lIns="0" tIns="0" rIns="0" bIns="0" rtlCol="0" anchor="ctr">
            <a:normAutofit/>
          </a:bodyPr>
          <a:lstStyle/>
          <a:p>
            <a:pPr algn="ctr" indent="0" marL="0">
              <a:buNone/>
            </a:pPr>
            <a:r>
              <a:rPr lang="en-US" sz="3400" b="1" dirty="0">
                <a:solidFill>
                  <a:srgbClr val="001E3C"/>
                </a:solidFill>
                <a:latin typeface="Inter" pitchFamily="34" charset="0"/>
                <a:ea typeface="Inter" pitchFamily="34" charset="-122"/>
                <a:cs typeface="Inter" pitchFamily="34" charset="-120"/>
              </a:rPr>
              <a:t>24</a:t>
            </a:r>
            <a:endParaRPr lang="en-US" sz="3400" dirty="0"/>
          </a:p>
        </p:txBody>
      </p:sp>
      <p:sp>
        <p:nvSpPr>
          <p:cNvPr id="18" name="Text 16"/>
          <p:cNvSpPr txBox="1"/>
          <p:nvPr/>
        </p:nvSpPr>
        <p:spPr>
          <a:xfrm>
            <a:off x="6903720" y="2560320"/>
            <a:ext cx="1600200" cy="640080"/>
          </a:xfrm>
          <a:prstGeom prst="rect">
            <a:avLst/>
          </a:prstGeom>
          <a:noFill/>
          <a:ln/>
        </p:spPr>
        <p:txBody>
          <a:bodyPr wrap="square" lIns="0" tIns="0" rIns="0" bIns="0" rtlCol="0" anchor="ctr"/>
          <a:lstStyle/>
          <a:p>
            <a:pPr algn="ctr" indent="0" marL="0">
              <a:buNone/>
            </a:pPr>
            <a:r>
              <a:rPr lang="en-US" sz="1500" b="1" dirty="0">
                <a:solidFill>
                  <a:srgbClr val="1B2533"/>
                </a:solidFill>
                <a:latin typeface="Inter" pitchFamily="34" charset="0"/>
                <a:ea typeface="Inter" pitchFamily="34" charset="-122"/>
                <a:cs typeface="Inter" pitchFamily="34" charset="-120"/>
              </a:rPr>
              <a:t>people on the link</a:t>
            </a:r>
            <a:endParaRPr lang="en-US" sz="1500" dirty="0"/>
          </a:p>
        </p:txBody>
      </p:sp>
      <p:sp>
        <p:nvSpPr>
          <p:cNvPr id="19" name="Text 17"/>
          <p:cNvSpPr txBox="1"/>
          <p:nvPr/>
        </p:nvSpPr>
        <p:spPr>
          <a:xfrm>
            <a:off x="6903720" y="3200400"/>
            <a:ext cx="1600200" cy="457200"/>
          </a:xfrm>
          <a:prstGeom prst="rect">
            <a:avLst/>
          </a:prstGeom>
          <a:noFill/>
          <a:ln/>
        </p:spPr>
        <p:txBody>
          <a:bodyPr wrap="square" lIns="0" tIns="0" rIns="0" bIns="0" rtlCol="0" anchor="ctr"/>
          <a:lstStyle/>
          <a:p>
            <a:pPr algn="ctr" indent="0" marL="0">
              <a:buNone/>
            </a:pPr>
            <a:r>
              <a:rPr lang="en-US" sz="1300" dirty="0">
                <a:solidFill>
                  <a:srgbClr val="5B6778"/>
                </a:solidFill>
                <a:latin typeface="Inter" pitchFamily="34" charset="0"/>
                <a:ea typeface="Inter" pitchFamily="34" charset="-122"/>
                <a:cs typeface="Inter" pitchFamily="34" charset="-120"/>
              </a:rPr>
              <a:t>today: 20</a:t>
            </a:r>
            <a:endParaRPr lang="en-US" sz="1300" dirty="0"/>
          </a:p>
        </p:txBody>
      </p:sp>
      <p:sp>
        <p:nvSpPr>
          <p:cNvPr id="20" name="Shape 18"/>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9"/>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December rule met, within the contract, with no avoidable fatigue warnings.</a:t>
            </a:r>
            <a:endParaRPr lang="en-US" sz="140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staffing you asked for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Weekday · Saturday · Sunday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during the day</a:t>
            </a:r>
            <a:endParaRPr lang="en-US" sz="1400" dirty="0"/>
          </a:p>
        </p:txBody>
      </p:sp>
      <p:sp>
        <p:nvSpPr>
          <p:cNvPr id="8" name="Text 6"/>
          <p:cNvSpPr txBox="1"/>
          <p:nvPr/>
        </p:nvSpPr>
        <p:spPr>
          <a:xfrm>
            <a:off x="4297680" y="18013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 · 10 · 8</a:t>
            </a:r>
            <a:endParaRPr lang="en-US" sz="1600" dirty="0"/>
          </a:p>
        </p:txBody>
      </p:sp>
      <p:sp>
        <p:nvSpPr>
          <p:cNvPr id="9" name="Text 7"/>
          <p:cNvSpPr txBox="1"/>
          <p:nvPr/>
        </p:nvSpPr>
        <p:spPr>
          <a:xfrm>
            <a:off x="6492240" y="18013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14 · 10</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At the open (06:20, Sunday 07:15)</a:t>
            </a:r>
            <a:endParaRPr lang="en-US" sz="1400" dirty="0"/>
          </a:p>
        </p:txBody>
      </p:sp>
      <p:sp>
        <p:nvSpPr>
          <p:cNvPr id="12" name="Text 10"/>
          <p:cNvSpPr txBox="1"/>
          <p:nvPr/>
        </p:nvSpPr>
        <p:spPr>
          <a:xfrm>
            <a:off x="4297680" y="22585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4 · 3</a:t>
            </a:r>
            <a:endParaRPr lang="en-US" sz="1600" dirty="0"/>
          </a:p>
        </p:txBody>
      </p:sp>
      <p:sp>
        <p:nvSpPr>
          <p:cNvPr id="13" name="Text 11"/>
          <p:cNvSpPr txBox="1"/>
          <p:nvPr/>
        </p:nvSpPr>
        <p:spPr>
          <a:xfrm>
            <a:off x="6492240" y="22585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5 · 5 · 4</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Still on after 22:00</a:t>
            </a:r>
            <a:endParaRPr lang="en-US" sz="1400" dirty="0"/>
          </a:p>
        </p:txBody>
      </p:sp>
      <p:sp>
        <p:nvSpPr>
          <p:cNvPr id="16" name="Text 14"/>
          <p:cNvSpPr txBox="1"/>
          <p:nvPr/>
        </p:nvSpPr>
        <p:spPr>
          <a:xfrm>
            <a:off x="4297680" y="27157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2 · 3</a:t>
            </a:r>
            <a:endParaRPr lang="en-US" sz="1600" dirty="0"/>
          </a:p>
        </p:txBody>
      </p:sp>
      <p:sp>
        <p:nvSpPr>
          <p:cNvPr id="17" name="Text 15"/>
          <p:cNvSpPr txBox="1"/>
          <p:nvPr/>
        </p:nvSpPr>
        <p:spPr>
          <a:xfrm>
            <a:off x="6492240" y="27157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 · 5 · 5</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Through to the close</a:t>
            </a:r>
            <a:endParaRPr lang="en-US" sz="1400" dirty="0"/>
          </a:p>
        </p:txBody>
      </p:sp>
      <p:sp>
        <p:nvSpPr>
          <p:cNvPr id="20" name="Text 18"/>
          <p:cNvSpPr txBox="1"/>
          <p:nvPr/>
        </p:nvSpPr>
        <p:spPr>
          <a:xfrm>
            <a:off x="4297680" y="31729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3</a:t>
            </a:r>
            <a:endParaRPr lang="en-US" sz="1600" dirty="0"/>
          </a:p>
        </p:txBody>
      </p:sp>
      <p:sp>
        <p:nvSpPr>
          <p:cNvPr id="21" name="Text 19"/>
          <p:cNvSpPr txBox="1"/>
          <p:nvPr/>
        </p:nvSpPr>
        <p:spPr>
          <a:xfrm>
            <a:off x="6492240" y="31729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4 · 4 · 3</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365760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ever on the floor</a:t>
            </a:r>
            <a:endParaRPr lang="en-US" sz="1400" dirty="0"/>
          </a:p>
        </p:txBody>
      </p:sp>
      <p:sp>
        <p:nvSpPr>
          <p:cNvPr id="24" name="Text 22"/>
          <p:cNvSpPr txBox="1"/>
          <p:nvPr/>
        </p:nvSpPr>
        <p:spPr>
          <a:xfrm>
            <a:off x="4297680" y="3630168"/>
            <a:ext cx="219456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 · 2 · 2</a:t>
            </a:r>
            <a:endParaRPr lang="en-US" sz="1600" dirty="0"/>
          </a:p>
        </p:txBody>
      </p:sp>
      <p:sp>
        <p:nvSpPr>
          <p:cNvPr id="25" name="Text 23"/>
          <p:cNvSpPr txBox="1"/>
          <p:nvPr/>
        </p:nvSpPr>
        <p:spPr>
          <a:xfrm>
            <a:off x="6492240" y="3630168"/>
            <a:ext cx="219456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4 · 3 · 3</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level met on every day — and the ticket office staffed in pairs, including Sundays.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where the trains are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How far the floor staffing is from the shape of the December timetable — lower is better</a:t>
            </a:r>
            <a:endParaRPr lang="en-US" sz="1500" dirty="0"/>
          </a:p>
        </p:txBody>
      </p:sp>
      <p:graphicFrame>
        <p:nvGraphicFramePr>
          <p:cNvPr id="4" name="Chart 0" descr=""/>
          <p:cNvGraphicFramePr/>
          <p:nvPr/>
        </p:nvGraphicFramePr>
        <p:xfrm>
          <a:off x="457200" y="1325880"/>
          <a:ext cx="8229600" cy="2697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closer to the December pattern on weekdays, Saturday and Sunday.</a:t>
            </a:r>
            <a:endParaRPr lang="en-US" sz="1400" dirty="0"/>
          </a:p>
        </p:txBody>
      </p:sp>
      <p:sp>
        <p:nvSpPr>
          <p:cNvPr id="7" name="Text 4"/>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A measure of the day’s shape only — not a staffing requirement or a passenger forecast.</a:t>
            </a:r>
            <a:endParaRPr lang="en-US" sz="85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People and hours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it takes to run</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on the link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24</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Cover weeks (for leave and sickness)</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 1 week in 5</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 — 1 week in 6</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People needed each Sunday (overtime)</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10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Four more people, the contract paid exactly — Sundays still rely on overtime.</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Fatigue checks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Against the Office of Rail and Road’s good-practice list and the rail industry’s own checks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5</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in a row (limit 13)</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rest between shifts (limit 12h)</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05m</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9h 30m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rest and run limits met with room to spare, and no avoidable fatigue warnings.</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Early starts and a weekly rotation come with every link, so are not counted. The written source of the 13-day limit is still to be confirmed.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Right Away?</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It meets the brief and puts the floor staff where the trains are</a:t>
            </a:r>
            <a:endParaRPr lang="en-US" sz="1500" dirty="0"/>
          </a:p>
        </p:txBody>
      </p:sp>
      <p:sp>
        <p:nvSpPr>
          <p:cNvPr id="4" name="Shape 2"/>
          <p:cNvSpPr/>
          <p:nvPr/>
        </p:nvSpPr>
        <p:spPr>
          <a:xfrm>
            <a:off x="457200" y="1325880"/>
            <a:ext cx="292608" cy="292608"/>
          </a:xfrm>
          <a:prstGeom prst="ellipse">
            <a:avLst/>
          </a:prstGeom>
          <a:solidFill>
            <a:srgbClr val="1E7B4B"/>
          </a:solidFill>
          <a:ln w="12700">
            <a:solidFill>
              <a:srgbClr val="1E7B4B"/>
            </a:solidFill>
            <a:prstDash val="solid"/>
          </a:ln>
        </p:spPr>
      </p:sp>
      <p:sp>
        <p:nvSpPr>
          <p:cNvPr id="5" name="Text 3"/>
          <p:cNvSpPr txBox="1"/>
          <p:nvPr/>
        </p:nvSpPr>
        <p:spPr>
          <a:xfrm>
            <a:off x="457200" y="13258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6" name="Text 4"/>
          <p:cNvSpPr txBox="1"/>
          <p:nvPr/>
        </p:nvSpPr>
        <p:spPr>
          <a:xfrm>
            <a:off x="914400" y="130759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Meets all 9 December rules, and all 3 flexible ones</a:t>
            </a:r>
            <a:endParaRPr lang="en-US" sz="1500" dirty="0"/>
          </a:p>
        </p:txBody>
      </p:sp>
      <p:sp>
        <p:nvSpPr>
          <p:cNvPr id="7" name="Shape 5"/>
          <p:cNvSpPr/>
          <p:nvPr/>
        </p:nvSpPr>
        <p:spPr>
          <a:xfrm>
            <a:off x="457200" y="1728216"/>
            <a:ext cx="292608" cy="292608"/>
          </a:xfrm>
          <a:prstGeom prst="ellipse">
            <a:avLst/>
          </a:prstGeom>
          <a:solidFill>
            <a:srgbClr val="1E7B4B"/>
          </a:solidFill>
          <a:ln w="12700">
            <a:solidFill>
              <a:srgbClr val="1E7B4B"/>
            </a:solidFill>
            <a:prstDash val="solid"/>
          </a:ln>
        </p:spPr>
      </p:sp>
      <p:sp>
        <p:nvSpPr>
          <p:cNvPr id="8" name="Text 6"/>
          <p:cNvSpPr txBox="1"/>
          <p:nvPr/>
        </p:nvSpPr>
        <p:spPr>
          <a:xfrm>
            <a:off x="457200" y="1728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9" name="Text 7"/>
          <p:cNvSpPr txBox="1"/>
          <p:nvPr/>
        </p:nvSpPr>
        <p:spPr>
          <a:xfrm>
            <a:off x="914400" y="1709928"/>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Floor staff follow the trains — about half as far off as today on weekdays</a:t>
            </a:r>
            <a:endParaRPr lang="en-US" sz="1500" dirty="0"/>
          </a:p>
        </p:txBody>
      </p:sp>
      <p:sp>
        <p:nvSpPr>
          <p:cNvPr id="10" name="Shape 8"/>
          <p:cNvSpPr/>
          <p:nvPr/>
        </p:nvSpPr>
        <p:spPr>
          <a:xfrm>
            <a:off x="457200" y="2130552"/>
            <a:ext cx="292608" cy="292608"/>
          </a:xfrm>
          <a:prstGeom prst="ellipse">
            <a:avLst/>
          </a:prstGeom>
          <a:solidFill>
            <a:srgbClr val="1E7B4B"/>
          </a:solidFill>
          <a:ln w="12700">
            <a:solidFill>
              <a:srgbClr val="1E7B4B"/>
            </a:solidFill>
            <a:prstDash val="solid"/>
          </a:ln>
        </p:spPr>
      </p:sp>
      <p:sp>
        <p:nvSpPr>
          <p:cNvPr id="11" name="Text 9"/>
          <p:cNvSpPr txBox="1"/>
          <p:nvPr/>
        </p:nvSpPr>
        <p:spPr>
          <a:xfrm>
            <a:off x="457200" y="21305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2" name="Text 10"/>
          <p:cNvSpPr txBox="1"/>
          <p:nvPr/>
        </p:nvSpPr>
        <p:spPr>
          <a:xfrm>
            <a:off x="914400" y="2112264"/>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A full weekend off one week in four — today one in five</a:t>
            </a:r>
            <a:endParaRPr lang="en-US" sz="1500" dirty="0"/>
          </a:p>
        </p:txBody>
      </p:sp>
      <p:sp>
        <p:nvSpPr>
          <p:cNvPr id="13" name="Shape 11"/>
          <p:cNvSpPr/>
          <p:nvPr/>
        </p:nvSpPr>
        <p:spPr>
          <a:xfrm>
            <a:off x="457200" y="2532888"/>
            <a:ext cx="292608" cy="292608"/>
          </a:xfrm>
          <a:prstGeom prst="ellipse">
            <a:avLst/>
          </a:prstGeom>
          <a:solidFill>
            <a:srgbClr val="1E7B4B"/>
          </a:solidFill>
          <a:ln w="12700">
            <a:solidFill>
              <a:srgbClr val="1E7B4B"/>
            </a:solidFill>
            <a:prstDash val="solid"/>
          </a:ln>
        </p:spPr>
      </p:sp>
      <p:sp>
        <p:nvSpPr>
          <p:cNvPr id="14" name="Text 12"/>
          <p:cNvSpPr txBox="1"/>
          <p:nvPr/>
        </p:nvSpPr>
        <p:spPr>
          <a:xfrm>
            <a:off x="457200" y="2532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5" name="Text 13"/>
          <p:cNvSpPr txBox="1"/>
          <p:nvPr/>
        </p:nvSpPr>
        <p:spPr>
          <a:xfrm>
            <a:off x="914400" y="2514600"/>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Never more than 6 days in a row — today 9</a:t>
            </a:r>
            <a:endParaRPr lang="en-US" sz="1500" dirty="0"/>
          </a:p>
        </p:txBody>
      </p:sp>
      <p:sp>
        <p:nvSpPr>
          <p:cNvPr id="16" name="Shape 14"/>
          <p:cNvSpPr/>
          <p:nvPr/>
        </p:nvSpPr>
        <p:spPr>
          <a:xfrm>
            <a:off x="457200" y="2935224"/>
            <a:ext cx="292608" cy="292608"/>
          </a:xfrm>
          <a:prstGeom prst="ellipse">
            <a:avLst/>
          </a:prstGeom>
          <a:solidFill>
            <a:srgbClr val="1E7B4B"/>
          </a:solidFill>
          <a:ln w="12700">
            <a:solidFill>
              <a:srgbClr val="1E7B4B"/>
            </a:solidFill>
            <a:prstDash val="solid"/>
          </a:ln>
        </p:spPr>
      </p:sp>
      <p:sp>
        <p:nvSpPr>
          <p:cNvPr id="17" name="Text 15"/>
          <p:cNvSpPr txBox="1"/>
          <p:nvPr/>
        </p:nvSpPr>
        <p:spPr>
          <a:xfrm>
            <a:off x="457200" y="293522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18" name="Text 16"/>
          <p:cNvSpPr txBox="1"/>
          <p:nvPr/>
        </p:nvSpPr>
        <p:spPr>
          <a:xfrm>
            <a:off x="914400" y="2916936"/>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Every closing shift 30 to 60 minutes shorter</a:t>
            </a:r>
            <a:endParaRPr lang="en-US" sz="1500" dirty="0"/>
          </a:p>
        </p:txBody>
      </p:sp>
      <p:sp>
        <p:nvSpPr>
          <p:cNvPr id="19" name="Shape 17"/>
          <p:cNvSpPr/>
          <p:nvPr/>
        </p:nvSpPr>
        <p:spPr>
          <a:xfrm>
            <a:off x="457200" y="3337560"/>
            <a:ext cx="292608" cy="292608"/>
          </a:xfrm>
          <a:prstGeom prst="ellipse">
            <a:avLst/>
          </a:prstGeom>
          <a:solidFill>
            <a:srgbClr val="1E7B4B"/>
          </a:solidFill>
          <a:ln w="12700">
            <a:solidFill>
              <a:srgbClr val="1E7B4B"/>
            </a:solidFill>
            <a:prstDash val="solid"/>
          </a:ln>
        </p:spPr>
      </p:sp>
      <p:sp>
        <p:nvSpPr>
          <p:cNvPr id="20" name="Text 18"/>
          <p:cNvSpPr txBox="1"/>
          <p:nvPr/>
        </p:nvSpPr>
        <p:spPr>
          <a:xfrm>
            <a:off x="457200" y="3337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t>
            </a:r>
            <a:endParaRPr lang="en-US" sz="1200" dirty="0"/>
          </a:p>
        </p:txBody>
      </p:sp>
      <p:sp>
        <p:nvSpPr>
          <p:cNvPr id="21" name="Text 19"/>
          <p:cNvSpPr txBox="1"/>
          <p:nvPr/>
        </p:nvSpPr>
        <p:spPr>
          <a:xfrm>
            <a:off x="914400" y="3319272"/>
            <a:ext cx="7772400" cy="329184"/>
          </a:xfrm>
          <a:prstGeom prst="rect">
            <a:avLst/>
          </a:prstGeom>
          <a:noFill/>
          <a:ln/>
        </p:spPr>
        <p:txBody>
          <a:bodyPr wrap="square" lIns="0" tIns="0" rIns="0" bIns="0" rtlCol="0" anchor="ctr"/>
          <a:lstStyle/>
          <a:p>
            <a:pPr indent="0" marL="0">
              <a:buNone/>
            </a:pPr>
            <a:r>
              <a:rPr lang="en-US" sz="1500" dirty="0">
                <a:solidFill>
                  <a:srgbClr val="1B2533"/>
                </a:solidFill>
                <a:latin typeface="Inter" pitchFamily="34" charset="0"/>
                <a:ea typeface="Inter" pitchFamily="34" charset="-122"/>
                <a:cs typeface="Inter" pitchFamily="34" charset="-120"/>
              </a:rPr>
              <a:t>No avoidable fatigue warnings</a:t>
            </a:r>
            <a:endParaRPr lang="en-US" sz="15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The trade-offs: 12 new shift times to learn, and more late finishes.</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What colleagues will notice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good and the not so good — the colleague presentation shows both</a:t>
            </a:r>
            <a:endParaRPr lang="en-US" sz="1500" dirty="0"/>
          </a:p>
        </p:txBody>
      </p:sp>
      <p:sp>
        <p:nvSpPr>
          <p:cNvPr id="4" name="Shape 2"/>
          <p:cNvSpPr/>
          <p:nvPr/>
        </p:nvSpPr>
        <p:spPr>
          <a:xfrm>
            <a:off x="457200" y="1325880"/>
            <a:ext cx="4023360" cy="2697480"/>
          </a:xfrm>
          <a:prstGeom prst="roundRect">
            <a:avLst>
              <a:gd name="adj" fmla="val 3390"/>
            </a:avLst>
          </a:prstGeom>
          <a:solidFill>
            <a:srgbClr val="EEF2F7"/>
          </a:solidFill>
          <a:ln w="12700">
            <a:solidFill>
              <a:srgbClr val="EEF2F7"/>
            </a:solidFill>
            <a:prstDash val="solid"/>
          </a:ln>
        </p:spPr>
      </p:sp>
      <p:sp>
        <p:nvSpPr>
          <p:cNvPr id="5" name="Shape 3"/>
          <p:cNvSpPr/>
          <p:nvPr/>
        </p:nvSpPr>
        <p:spPr>
          <a:xfrm>
            <a:off x="457200" y="1325880"/>
            <a:ext cx="73152" cy="2697480"/>
          </a:xfrm>
          <a:prstGeom prst="rect">
            <a:avLst/>
          </a:prstGeom>
          <a:solidFill>
            <a:srgbClr val="1E7B4B"/>
          </a:solidFill>
          <a:ln w="12700">
            <a:solidFill>
              <a:srgbClr val="1E7B4B"/>
            </a:solidFill>
            <a:prstDash val="solid"/>
          </a:ln>
        </p:spPr>
      </p:sp>
      <p:sp>
        <p:nvSpPr>
          <p:cNvPr id="6" name="Text 4"/>
          <p:cNvSpPr txBox="1"/>
          <p:nvPr/>
        </p:nvSpPr>
        <p:spPr>
          <a:xfrm>
            <a:off x="731520" y="1463040"/>
            <a:ext cx="3566160" cy="365760"/>
          </a:xfrm>
          <a:prstGeom prst="rect">
            <a:avLst/>
          </a:prstGeom>
          <a:noFill/>
          <a:ln/>
        </p:spPr>
        <p:txBody>
          <a:bodyPr wrap="square" lIns="0" tIns="0" rIns="0" bIns="0" rtlCol="0" anchor="ctr"/>
          <a:lstStyle/>
          <a:p>
            <a:pPr indent="0" marL="0">
              <a:buNone/>
            </a:pPr>
            <a:r>
              <a:rPr lang="en-US" sz="1600" b="1" dirty="0">
                <a:solidFill>
                  <a:srgbClr val="1E7B4B"/>
                </a:solidFill>
                <a:latin typeface="Inter" pitchFamily="34" charset="0"/>
                <a:ea typeface="Inter" pitchFamily="34" charset="-122"/>
                <a:cs typeface="Inter" pitchFamily="34" charset="-120"/>
              </a:rPr>
              <a:t>Likely to welcome</a:t>
            </a:r>
            <a:endParaRPr lang="en-US" sz="1600" dirty="0"/>
          </a:p>
        </p:txBody>
      </p:sp>
      <p:sp>
        <p:nvSpPr>
          <p:cNvPr id="7" name="Text 5"/>
          <p:cNvSpPr txBox="1"/>
          <p:nvPr/>
        </p:nvSpPr>
        <p:spPr>
          <a:xfrm>
            <a:off x="73152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 weekend off one week in four (today one in five)</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At most 6 days in a row (today 9)</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Every closing shift 30–60 minutes shorter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Never fewer than 3 on the floor (today 2)</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Shortest rest 14h 05m (today 12h 30m)</a:t>
            </a:r>
            <a:endParaRPr lang="en-US" sz="1300" dirty="0"/>
          </a:p>
        </p:txBody>
      </p:sp>
      <p:sp>
        <p:nvSpPr>
          <p:cNvPr id="8" name="Shape 6"/>
          <p:cNvSpPr/>
          <p:nvPr/>
        </p:nvSpPr>
        <p:spPr>
          <a:xfrm>
            <a:off x="4663440" y="1325880"/>
            <a:ext cx="4023360" cy="2697480"/>
          </a:xfrm>
          <a:prstGeom prst="roundRect">
            <a:avLst>
              <a:gd name="adj" fmla="val 3390"/>
            </a:avLst>
          </a:prstGeom>
          <a:solidFill>
            <a:srgbClr val="EEF2F7"/>
          </a:solidFill>
          <a:ln w="12700">
            <a:solidFill>
              <a:srgbClr val="EEF2F7"/>
            </a:solidFill>
            <a:prstDash val="solid"/>
          </a:ln>
        </p:spPr>
      </p:sp>
      <p:sp>
        <p:nvSpPr>
          <p:cNvPr id="9" name="Shape 7"/>
          <p:cNvSpPr/>
          <p:nvPr/>
        </p:nvSpPr>
        <p:spPr>
          <a:xfrm>
            <a:off x="4663440" y="1325880"/>
            <a:ext cx="73152" cy="2697480"/>
          </a:xfrm>
          <a:prstGeom prst="rect">
            <a:avLst/>
          </a:prstGeom>
          <a:solidFill>
            <a:srgbClr val="A15C00"/>
          </a:solidFill>
          <a:ln w="12700">
            <a:solidFill>
              <a:srgbClr val="A15C00"/>
            </a:solidFill>
            <a:prstDash val="solid"/>
          </a:ln>
        </p:spPr>
      </p:sp>
      <p:sp>
        <p:nvSpPr>
          <p:cNvPr id="10" name="Text 8"/>
          <p:cNvSpPr txBox="1"/>
          <p:nvPr/>
        </p:nvSpPr>
        <p:spPr>
          <a:xfrm>
            <a:off x="4937760" y="1463040"/>
            <a:ext cx="3566160" cy="365760"/>
          </a:xfrm>
          <a:prstGeom prst="rect">
            <a:avLst/>
          </a:prstGeom>
          <a:noFill/>
          <a:ln/>
        </p:spPr>
        <p:txBody>
          <a:bodyPr wrap="square" lIns="0" tIns="0" rIns="0" bIns="0" rtlCol="0" anchor="ctr"/>
          <a:lstStyle/>
          <a:p>
            <a:pPr indent="0" marL="0">
              <a:buNone/>
            </a:pPr>
            <a:r>
              <a:rPr lang="en-US" sz="1600" b="1" dirty="0">
                <a:solidFill>
                  <a:srgbClr val="A15C00"/>
                </a:solidFill>
                <a:latin typeface="Inter" pitchFamily="34" charset="0"/>
                <a:ea typeface="Inter" pitchFamily="34" charset="-122"/>
                <a:cs typeface="Inter" pitchFamily="34" charset="-120"/>
              </a:rPr>
              <a:t>Likely to worry about</a:t>
            </a:r>
            <a:endParaRPr lang="en-US" sz="1600" dirty="0"/>
          </a:p>
        </p:txBody>
      </p:sp>
      <p:sp>
        <p:nvSpPr>
          <p:cNvPr id="11" name="Text 9"/>
          <p:cNvSpPr txBox="1"/>
          <p:nvPr/>
        </p:nvSpPr>
        <p:spPr>
          <a:xfrm>
            <a:off x="4937760" y="1901952"/>
            <a:ext cx="3611880" cy="20116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12 new shift times; 5 of today’s stay</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About one extra late finish every 2–3 weeks</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Longest shift 9h 30m (today 9h 10m)</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Average shift 6 minutes longer</a:t>
            </a:r>
            <a:endParaRPr lang="en-US" sz="1300" dirty="0"/>
          </a:p>
          <a:p>
            <a:pPr marL="152400" indent="-152400">
              <a:spcAft>
                <a:spcPts val="600"/>
              </a:spcAft>
              <a:buSzPct val="100000"/>
              <a:buChar char="•"/>
            </a:pPr>
            <a:r>
              <a:rPr lang="en-US" sz="1300" dirty="0">
                <a:solidFill>
                  <a:srgbClr val="1B2533"/>
                </a:solidFill>
                <a:latin typeface="Inter" pitchFamily="34" charset="0"/>
                <a:ea typeface="Inter" pitchFamily="34" charset="-122"/>
                <a:cs typeface="Inter" pitchFamily="34" charset="-120"/>
              </a:rPr>
              <a:t>Best 14-day leave stretch 28 days, not 30</a:t>
            </a:r>
            <a:endParaRPr lang="en-US" sz="1300" dirty="0"/>
          </a:p>
        </p:txBody>
      </p:sp>
      <p:sp>
        <p:nvSpPr>
          <p:cNvPr id="12"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3"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Expect questions on new times and late finishes — the colleague deck answers both.</a:t>
            </a:r>
            <a:endParaRPr lang="en-US" sz="1400" dirty="0"/>
          </a:p>
        </p:txBody>
      </p:sp>
      <p:sp>
        <p:nvSpPr>
          <p:cNvPr id="14"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Where it stands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Three things confirmed, two decisions left</a:t>
            </a:r>
            <a:endParaRPr lang="en-US" sz="1500" dirty="0"/>
          </a:p>
        </p:txBody>
      </p:sp>
      <p:sp>
        <p:nvSpPr>
          <p:cNvPr id="4" name="Shape 2"/>
          <p:cNvSpPr/>
          <p:nvPr/>
        </p:nvSpPr>
        <p:spPr>
          <a:xfrm>
            <a:off x="457200" y="1325880"/>
            <a:ext cx="457200" cy="457200"/>
          </a:xfrm>
          <a:prstGeom prst="ellipse">
            <a:avLst/>
          </a:prstGeom>
          <a:solidFill>
            <a:srgbClr val="1E7B4B"/>
          </a:solidFill>
          <a:ln w="12700">
            <a:solidFill>
              <a:srgbClr val="1E7B4B"/>
            </a:solidFill>
            <a:prstDash val="solid"/>
          </a:ln>
        </p:spPr>
      </p:sp>
      <p:sp>
        <p:nvSpPr>
          <p:cNvPr id="5" name="Text 3"/>
          <p:cNvSpPr txBox="1"/>
          <p:nvPr/>
        </p:nvSpPr>
        <p:spPr>
          <a:xfrm>
            <a:off x="457200" y="1325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6" name="Text 4"/>
          <p:cNvSpPr txBox="1"/>
          <p:nvPr/>
        </p:nvSpPr>
        <p:spPr>
          <a:xfrm>
            <a:off x="1097280" y="128930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December rules — confirmed</a:t>
            </a:r>
            <a:endParaRPr lang="en-US" sz="1600" dirty="0"/>
          </a:p>
        </p:txBody>
      </p:sp>
      <p:sp>
        <p:nvSpPr>
          <p:cNvPr id="7" name="Text 5"/>
          <p:cNvSpPr txBox="1"/>
          <p:nvPr/>
        </p:nvSpPr>
        <p:spPr>
          <a:xfrm>
            <a:off x="1097280" y="157276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The nine December rules. Everything here is built on them.</a:t>
            </a:r>
            <a:endParaRPr lang="en-US" sz="1300" dirty="0"/>
          </a:p>
        </p:txBody>
      </p:sp>
      <p:sp>
        <p:nvSpPr>
          <p:cNvPr id="8" name="Shape 6"/>
          <p:cNvSpPr/>
          <p:nvPr/>
        </p:nvSpPr>
        <p:spPr>
          <a:xfrm>
            <a:off x="457200" y="1965960"/>
            <a:ext cx="457200" cy="457200"/>
          </a:xfrm>
          <a:prstGeom prst="ellipse">
            <a:avLst/>
          </a:prstGeom>
          <a:solidFill>
            <a:srgbClr val="1E7B4B"/>
          </a:solidFill>
          <a:ln w="12700">
            <a:solidFill>
              <a:srgbClr val="1E7B4B"/>
            </a:solidFill>
            <a:prstDash val="solid"/>
          </a:ln>
        </p:spPr>
      </p:sp>
      <p:sp>
        <p:nvSpPr>
          <p:cNvPr id="9" name="Text 7"/>
          <p:cNvSpPr txBox="1"/>
          <p:nvPr/>
        </p:nvSpPr>
        <p:spPr>
          <a:xfrm>
            <a:off x="45720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0" name="Text 8"/>
          <p:cNvSpPr txBox="1"/>
          <p:nvPr/>
        </p:nvSpPr>
        <p:spPr>
          <a:xfrm>
            <a:off x="1097280" y="192938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24 people on the link — confirmed</a:t>
            </a:r>
            <a:endParaRPr lang="en-US" sz="1600" dirty="0"/>
          </a:p>
        </p:txBody>
      </p:sp>
      <p:sp>
        <p:nvSpPr>
          <p:cNvPr id="11" name="Text 9"/>
          <p:cNvSpPr txBox="1"/>
          <p:nvPr/>
        </p:nvSpPr>
        <p:spPr>
          <a:xfrm>
            <a:off x="1097280" y="221284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Four more than today.</a:t>
            </a:r>
            <a:endParaRPr lang="en-US" sz="1300" dirty="0"/>
          </a:p>
        </p:txBody>
      </p:sp>
      <p:sp>
        <p:nvSpPr>
          <p:cNvPr id="12" name="Shape 10"/>
          <p:cNvSpPr/>
          <p:nvPr/>
        </p:nvSpPr>
        <p:spPr>
          <a:xfrm>
            <a:off x="457200" y="2606040"/>
            <a:ext cx="457200" cy="457200"/>
          </a:xfrm>
          <a:prstGeom prst="ellipse">
            <a:avLst/>
          </a:prstGeom>
          <a:solidFill>
            <a:srgbClr val="1E7B4B"/>
          </a:solidFill>
          <a:ln w="12700">
            <a:solidFill>
              <a:srgbClr val="1E7B4B"/>
            </a:solidFill>
            <a:prstDash val="solid"/>
          </a:ln>
        </p:spPr>
      </p:sp>
      <p:sp>
        <p:nvSpPr>
          <p:cNvPr id="13" name="Text 11"/>
          <p:cNvSpPr txBox="1"/>
          <p:nvPr/>
        </p:nvSpPr>
        <p:spPr>
          <a:xfrm>
            <a:off x="457200" y="2606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4" name="Text 12"/>
          <p:cNvSpPr txBox="1"/>
          <p:nvPr/>
        </p:nvSpPr>
        <p:spPr>
          <a:xfrm>
            <a:off x="1097280" y="256946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 cover — confirmed</a:t>
            </a:r>
            <a:endParaRPr lang="en-US" sz="1600" dirty="0"/>
          </a:p>
        </p:txBody>
      </p:sp>
      <p:sp>
        <p:nvSpPr>
          <p:cNvPr id="15" name="Text 13"/>
          <p:cNvSpPr txBox="1"/>
          <p:nvPr/>
        </p:nvSpPr>
        <p:spPr>
          <a:xfrm>
            <a:off x="1097280" y="285292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Ten on a Sunday, worked as overtime, as today.</a:t>
            </a:r>
            <a:endParaRPr lang="en-US" sz="1300" dirty="0"/>
          </a:p>
        </p:txBody>
      </p:sp>
      <p:sp>
        <p:nvSpPr>
          <p:cNvPr id="16" name="Shape 14"/>
          <p:cNvSpPr/>
          <p:nvPr/>
        </p:nvSpPr>
        <p:spPr>
          <a:xfrm>
            <a:off x="457200" y="3246120"/>
            <a:ext cx="457200" cy="457200"/>
          </a:xfrm>
          <a:prstGeom prst="ellipse">
            <a:avLst/>
          </a:prstGeom>
          <a:solidFill>
            <a:srgbClr val="F5C800"/>
          </a:solidFill>
          <a:ln w="12700">
            <a:solidFill>
              <a:srgbClr val="F5C800"/>
            </a:solidFill>
            <a:prstDash val="solid"/>
          </a:ln>
        </p:spPr>
      </p:sp>
      <p:sp>
        <p:nvSpPr>
          <p:cNvPr id="17" name="Text 15"/>
          <p:cNvSpPr txBox="1"/>
          <p:nvPr/>
        </p:nvSpPr>
        <p:spPr>
          <a:xfrm>
            <a:off x="457200" y="324612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18" name="Text 16"/>
          <p:cNvSpPr txBox="1"/>
          <p:nvPr/>
        </p:nvSpPr>
        <p:spPr>
          <a:xfrm>
            <a:off x="1097280" y="320954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To decide: which link we use</a:t>
            </a:r>
            <a:endParaRPr lang="en-US" sz="1600" dirty="0"/>
          </a:p>
        </p:txBody>
      </p:sp>
      <p:sp>
        <p:nvSpPr>
          <p:cNvPr id="19" name="Text 17"/>
          <p:cNvSpPr txBox="1"/>
          <p:nvPr/>
        </p:nvSpPr>
        <p:spPr>
          <a:xfrm>
            <a:off x="1097280" y="349300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Colleagues’ views come first.</a:t>
            </a:r>
            <a:endParaRPr lang="en-US" sz="1300" dirty="0"/>
          </a:p>
        </p:txBody>
      </p:sp>
      <p:sp>
        <p:nvSpPr>
          <p:cNvPr id="20" name="Shape 18"/>
          <p:cNvSpPr/>
          <p:nvPr/>
        </p:nvSpPr>
        <p:spPr>
          <a:xfrm>
            <a:off x="457200" y="3886200"/>
            <a:ext cx="457200" cy="457200"/>
          </a:xfrm>
          <a:prstGeom prst="ellipse">
            <a:avLst/>
          </a:prstGeom>
          <a:solidFill>
            <a:srgbClr val="F5C800"/>
          </a:solidFill>
          <a:ln w="12700">
            <a:solidFill>
              <a:srgbClr val="F5C800"/>
            </a:solidFill>
            <a:prstDash val="solid"/>
          </a:ln>
        </p:spPr>
      </p:sp>
      <p:sp>
        <p:nvSpPr>
          <p:cNvPr id="21" name="Text 19"/>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a:t>
            </a:r>
            <a:endParaRPr lang="en-US" sz="1800" dirty="0"/>
          </a:p>
        </p:txBody>
      </p:sp>
      <p:sp>
        <p:nvSpPr>
          <p:cNvPr id="22" name="Text 20"/>
          <p:cNvSpPr txBox="1"/>
          <p:nvPr/>
        </p:nvSpPr>
        <p:spPr>
          <a:xfrm>
            <a:off x="1097280" y="38496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Then: who starts on which line</a:t>
            </a:r>
            <a:endParaRPr lang="en-US" sz="1600" dirty="0"/>
          </a:p>
        </p:txBody>
      </p:sp>
      <p:sp>
        <p:nvSpPr>
          <p:cNvPr id="23" name="Text 21"/>
          <p:cNvSpPr txBox="1"/>
          <p:nvPr/>
        </p:nvSpPr>
        <p:spPr>
          <a:xfrm>
            <a:off x="1097280" y="41330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Who begins on which week of the link.</a:t>
            </a:r>
            <a:endParaRPr lang="en-US" sz="13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CEA link · for managers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detail</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week of the link, day by day</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Staff on duty hour by hour, against the trains</a:t>
            </a:r>
            <a:endParaRPr lang="en-US" sz="1800" dirty="0"/>
          </a:p>
          <a:p>
            <a:pPr marL="203200" indent="-203200">
              <a:spcAft>
                <a:spcPts val="800"/>
              </a:spcAft>
              <a:buSzPct val="100000"/>
              <a:buChar char="•"/>
            </a:pPr>
            <a:r>
              <a:rPr lang="en-US" sz="1800" dirty="0">
                <a:solidFill>
                  <a:srgbClr val="FFFFFF"/>
                </a:solidFill>
                <a:latin typeface="Inter" pitchFamily="34" charset="0"/>
                <a:ea typeface="Inter" pitchFamily="34" charset="-122"/>
                <a:cs typeface="Inter" pitchFamily="34" charset="-120"/>
              </a:rPr>
              <a:t>Every December rule and fatigue check, worked through</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300" dirty="0">
                <a:solidFill>
                  <a:srgbClr val="F5C800"/>
                </a:solidFill>
                <a:latin typeface="Inter" pitchFamily="34" charset="0"/>
                <a:ea typeface="Inter" pitchFamily="34" charset="-122"/>
                <a:cs typeface="Inter" pitchFamily="34" charset="-120"/>
              </a:rPr>
              <a:t>All in the eight-page proposal sheet · Right Away · FR-24-F34s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 Away — the December 2026 CEA link, for managers</dc:title>
  <dc:subject>PptxGenJS Presentation</dc:subject>
  <dc:creator>PptxGenJS</dc:creator>
  <cp:lastModifiedBy>PptxGenJS</cp:lastModifiedBy>
  <cp:revision>1</cp:revision>
  <dcterms:created xsi:type="dcterms:W3CDTF">2026-09-30T08:58:02Z</dcterms:created>
  <dcterms:modified xsi:type="dcterms:W3CDTF">2026-09-30T08:58:02Z</dcterms:modified>
</cp:coreProperties>
</file>