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room. Say straight away this is a proposal, not a decision. The aim tonight is to answer the questions people actually ask about a new link: will I work more, will my shifts be longer, will I know the times, what happens to my weekends and my leave. Every number in these slides comes from the rota calculations and has been independently checked; the slides themselves present those results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pitch on one slide. Same 35-hour week as now. Never more than six days in a row. One full weekend off in every four weeks, against one in five today — though each person works about four more Saturdays a year. Eight of the sixteen shift times are ones people already work. And every closing shift is shorter: the weekday and Saturday closers by 30 minutes, the Sunday closer by 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change is coming whatever we do: the December 2026 timetable and the new staffing levels mean the link has to be redrawn. The question is which version we want. The staffing levels, the 24 people and the Sunday cover were confirmed verbally on 29 September 2026: nine rules the proposal is scored on. Fourteen on a Saturday is one of three flexible aims, worked towards but not scored.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Monday to Saturday, counting a cover week as four days worked, the same way the clerks do. Sundays are overtime by agreement, so they are not in these figures — today or in Familiar Nine. If asked: counting Sunday overtime too, it is about one fewer day a year rather than two. Fewer days is possible because the average shift is a few minutes longer, which is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Basic pay follows the 35-hour week, which does not change; overtime and premium duties vary person to person. The Saturday and Sunday counts are the link’s fixed duties and leave out anything later given in a cover week. Saturdays in the contract are paid at time and a quarter, and on average a person is rostered about 30 a year instead of 26. Sundays stay overtime: 10 a week shared among 24 people instead of 8 among 20, so about the same each. These are averages across the whole link — your own depends on which line you start on — and they are not a payslip; the Pay Calculator in the app does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closers: they are the shifts people dislike most, and every one of them is shorter. Weekday 15:45 to 23:55 instead of 15:15 (8h 10m, not 8h 40m); Saturday 15:15 instead of 14:45 (8h 40m, not 9h 10m); Sunday 15:15 to 23:25 instead of 14:30 (8h 10m, not 8h 55m). Be upfront about the six minutes on the average: that is what pays for working two fewer days a year. If asked: there is also a weekday 14:30–23:25, five a week — the same times as today’s Sunday closer, so it is not new, and it finishes half an hour before the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straight about this one — it is the change people will notice most. About 20 more a year each finish at 23:00 or later. Only part of that is the December rules: three on duty to the close every day, where today’s weekdays have two, adds about six or seven a year each once it is spread over 24 people. The rest comes from how this design places its late shifts, not from the rules, so it is a fair question to ask. Early 06:20 starts hardly change. And because the shortest gap between two shifts is 14h 20m, nobody finishes late and starts early the next morning.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Familiar Nine was built specifically to keep the times people already work wherever that cost little. Eight of its sixteen are worked today, and it uses fewer different times overall than today’s eighteen.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full weekend is Saturday and the following Sunday both off. Today that is 4 weekends in a 20-week cycle — one in five; Familiar Nine gives 6 in 24 — one in four. Most weeks now keep the same shift time Monday to Friday, and all earlies or all lates, so you are not bouncing between earlies and lates inside a week. Rest days nearly always come in pairs now — 22 of the 24 rest-day breaks are two days or more, against 13 of 17 today — and there are no six-day weeks (today there 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Earlies here means a start before 11:00. Sundays: today 8 Sunday duties across 16 working weeks, Familiar Nine 10 across 20 — the same one-in-two share of working weeks. Because cover weeks come round a little less often, that is about one more Sunday a year each (22 against 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is only needed on working days Monday to Saturday; rest days and Sundays cost nothing. Today there is one unusual stretch of the roster where 14 days buys 30 days off — Familiar Nine spreads rest days more evenly, so its best is 28. On average it is about the same, and at its worst it is never worse than today. Four full weeks off (Sunday to Saturday) takes at least 15 days of leave, instead of 14 at best today. The exact averages depend on where you count a booking as starting, so quote them as “about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Office of Rail and Road and the rail industry publish lists of rota patterns that tend to tire people. Today’s link shows four of them in the fixed rota (up to five where a cover week falls badly); Familiar Nine shows none. Two more — early starts and a weekly rotation — come with every weekly link at a 06:20 station, so they are listed on the sheet for information but not counted against any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Saying the downsides out loud is what makes the rest believable. None of these is hidden on the full proposal sheet 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to leave on screen during questions. Every figure is on the earlier slides and on the full proposal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out or point people at the eight-page proposal sheet. Collect questions — the ones nobody asks in the room are usually about a particular week, so encourage people to look up the line they would start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548640" y="640080"/>
            <a:ext cx="731520" cy="731520"/>
          </a:xfrm>
          <a:prstGeom prst="ellipse">
            <a:avLst/>
          </a:prstGeom>
          <a:solidFill>
            <a:srgbClr val="F5C800"/>
          </a:solidFill>
          <a:ln w="12700">
            <a:solidFill>
              <a:srgbClr val="F5C800"/>
            </a:solidFill>
            <a:prstDash val="solid"/>
          </a:ln>
        </p:spPr>
      </p:sp>
      <p:pic>
        <p:nvPicPr>
          <p:cNvPr id="3" name="Image 0" descr="preencoded.png">    </p:cNvPr>
          <p:cNvPicPr>
            <a:picLocks noChangeAspect="1"/>
          </p:cNvPicPr>
          <p:nvPr/>
        </p:nvPicPr>
        <p:blipFill>
          <a:blip r:embed="rId1"/>
          <a:stretch>
            <a:fillRect/>
          </a:stretch>
        </p:blipFill>
        <p:spPr>
          <a:xfrm>
            <a:off x="709574" y="801014"/>
            <a:ext cx="409651" cy="409651"/>
          </a:xfrm>
          <a:prstGeom prst="rect">
            <a:avLst/>
          </a:prstGeom>
        </p:spPr>
      </p:pic>
      <p:sp>
        <p:nvSpPr>
          <p:cNvPr id="4" name="Text 1"/>
          <p:cNvSpPr txBox="1"/>
          <p:nvPr/>
        </p:nvSpPr>
        <p:spPr>
          <a:xfrm>
            <a:off x="548640" y="1600200"/>
            <a:ext cx="8046720" cy="914400"/>
          </a:xfrm>
          <a:prstGeom prst="rect">
            <a:avLst/>
          </a:prstGeom>
          <a:noFill/>
          <a:ln/>
        </p:spPr>
        <p:txBody>
          <a:bodyPr wrap="square" lIns="0" tIns="0" rIns="0" bIns="0" rtlCol="0" anchor="ctr"/>
          <a:lstStyle/>
          <a:p>
            <a:pPr indent="0" marL="0">
              <a:buNone/>
            </a:pPr>
            <a:r>
              <a:rPr lang="en-US" sz="4800" b="1" dirty="0">
                <a:solidFill>
                  <a:srgbClr val="FFFFFF"/>
                </a:solidFill>
                <a:latin typeface="Inter" pitchFamily="34" charset="0"/>
                <a:ea typeface="Inter" pitchFamily="34" charset="-122"/>
                <a:cs typeface="Inter" pitchFamily="34" charset="-120"/>
              </a:rPr>
              <a:t>Familiar Nine</a:t>
            </a:r>
            <a:endParaRPr lang="en-US" sz="4800" dirty="0"/>
          </a:p>
        </p:txBody>
      </p:sp>
      <p:sp>
        <p:nvSpPr>
          <p:cNvPr id="5" name="Text 2"/>
          <p:cNvSpPr txBox="1"/>
          <p:nvPr/>
        </p:nvSpPr>
        <p:spPr>
          <a:xfrm>
            <a:off x="548640" y="2514600"/>
            <a:ext cx="8046720" cy="548640"/>
          </a:xfrm>
          <a:prstGeom prst="rect">
            <a:avLst/>
          </a:prstGeom>
          <a:noFill/>
          <a:ln/>
        </p:spPr>
        <p:txBody>
          <a:bodyPr wrap="square" lIns="0" tIns="0" rIns="0" bIns="0" rtlCol="0" anchor="ctr"/>
          <a:lstStyle/>
          <a:p>
            <a:pPr indent="0" marL="0">
              <a:buNone/>
            </a:pPr>
            <a:r>
              <a:rPr lang="en-US" sz="2000" dirty="0">
                <a:solidFill>
                  <a:srgbClr val="F5C800"/>
                </a:solidFill>
                <a:latin typeface="Inter" pitchFamily="34" charset="0"/>
                <a:ea typeface="Inter" pitchFamily="34" charset="-122"/>
                <a:cs typeface="Inter" pitchFamily="34" charset="-120"/>
              </a:rPr>
              <a:t>Our December 2026 link — what changes for you, in plain English</a:t>
            </a:r>
            <a:endParaRPr lang="en-US" sz="2000" dirty="0"/>
          </a:p>
        </p:txBody>
      </p:sp>
      <p:sp>
        <p:nvSpPr>
          <p:cNvPr id="6" name="Text 3"/>
          <p:cNvSpPr txBox="1"/>
          <p:nvPr/>
        </p:nvSpPr>
        <p:spPr>
          <a:xfrm>
            <a:off x="548640" y="4206240"/>
            <a:ext cx="8046720" cy="365760"/>
          </a:xfrm>
          <a:prstGeom prst="rect">
            <a:avLst/>
          </a:prstGeom>
          <a:noFill/>
          <a:ln/>
        </p:spPr>
        <p:txBody>
          <a:bodyPr wrap="square" lIns="0" tIns="0" rIns="0" bIns="0" rtlCol="0" anchor="ctr"/>
          <a:lstStyle/>
          <a:p>
            <a:pPr indent="0" marL="0">
              <a:buNone/>
            </a:pPr>
            <a:r>
              <a:rPr lang="en-US" sz="1300" dirty="0">
                <a:solidFill>
                  <a:srgbClr val="C9D3E0"/>
                </a:solidFill>
                <a:latin typeface="Inter" pitchFamily="34" charset="0"/>
                <a:ea typeface="Inter" pitchFamily="34" charset="-122"/>
                <a:cs typeface="Inter" pitchFamily="34" charset="-120"/>
              </a:rPr>
              <a:t>A proposal for discussion · CEA link · 24 weeks · code F9-24-K31s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The short version</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Five things to take away if you remember nothing else</a:t>
            </a:r>
            <a:endParaRPr lang="en-US" sz="1500" dirty="0"/>
          </a:p>
        </p:txBody>
      </p:sp>
      <p:sp>
        <p:nvSpPr>
          <p:cNvPr id="4" name="Shape 2"/>
          <p:cNvSpPr/>
          <p:nvPr/>
        </p:nvSpPr>
        <p:spPr>
          <a:xfrm>
            <a:off x="457200" y="1463040"/>
            <a:ext cx="1536192" cy="2377440"/>
          </a:xfrm>
          <a:prstGeom prst="roundRect">
            <a:avLst>
              <a:gd name="adj" fmla="val 7143"/>
            </a:avLst>
          </a:prstGeom>
          <a:solidFill>
            <a:srgbClr val="EEF2F7"/>
          </a:solidFill>
          <a:ln w="12700">
            <a:solidFill>
              <a:srgbClr val="EEF2F7"/>
            </a:solidFill>
            <a:prstDash val="solid"/>
          </a:ln>
        </p:spPr>
      </p:sp>
      <p:sp>
        <p:nvSpPr>
          <p:cNvPr id="5" name="Text 3"/>
          <p:cNvSpPr txBox="1"/>
          <p:nvPr/>
        </p:nvSpPr>
        <p:spPr>
          <a:xfrm>
            <a:off x="457200" y="1645920"/>
            <a:ext cx="1536192" cy="868680"/>
          </a:xfrm>
          <a:prstGeom prst="rect">
            <a:avLst/>
          </a:prstGeom>
          <a:noFill/>
          <a:ln/>
        </p:spPr>
        <p:txBody>
          <a:bodyPr wrap="square" lIns="0" tIns="0" rIns="0" bIns="0" rtlCol="0" anchor="ctr">
            <a:normAutofit/>
          </a:bodyPr>
          <a:lstStyle/>
          <a:p>
            <a:pPr algn="ctr" indent="0" marL="0">
              <a:buNone/>
            </a:pPr>
            <a:r>
              <a:rPr lang="en-US" sz="3000" b="1" dirty="0">
                <a:solidFill>
                  <a:srgbClr val="001E3C"/>
                </a:solidFill>
                <a:latin typeface="Inter" pitchFamily="34" charset="0"/>
                <a:ea typeface="Inter" pitchFamily="34" charset="-122"/>
                <a:cs typeface="Inter" pitchFamily="34" charset="-120"/>
              </a:rPr>
              <a:t>35h</a:t>
            </a:r>
            <a:endParaRPr lang="en-US" sz="3000" dirty="0"/>
          </a:p>
        </p:txBody>
      </p:sp>
      <p:sp>
        <p:nvSpPr>
          <p:cNvPr id="6" name="Text 4"/>
          <p:cNvSpPr txBox="1"/>
          <p:nvPr/>
        </p:nvSpPr>
        <p:spPr>
          <a:xfrm>
            <a:off x="548640" y="2560320"/>
            <a:ext cx="1353312" cy="640080"/>
          </a:xfrm>
          <a:prstGeom prst="rect">
            <a:avLst/>
          </a:prstGeom>
          <a:noFill/>
          <a:ln/>
        </p:spPr>
        <p:txBody>
          <a:bodyPr wrap="square" lIns="0" tIns="0" rIns="0" bIns="0" rtlCol="0" anchor="ctr"/>
          <a:lstStyle/>
          <a:p>
            <a:pPr algn="ctr" indent="0" marL="0">
              <a:buNone/>
            </a:pPr>
            <a:r>
              <a:rPr lang="en-US" sz="1400" b="1" dirty="0">
                <a:solidFill>
                  <a:srgbClr val="1B2533"/>
                </a:solidFill>
                <a:latin typeface="Inter" pitchFamily="34" charset="0"/>
                <a:ea typeface="Inter" pitchFamily="34" charset="-122"/>
                <a:cs typeface="Inter" pitchFamily="34" charset="-120"/>
              </a:rPr>
              <a:t>the same contracted week</a:t>
            </a:r>
            <a:endParaRPr lang="en-US" sz="1400" dirty="0"/>
          </a:p>
        </p:txBody>
      </p:sp>
      <p:sp>
        <p:nvSpPr>
          <p:cNvPr id="7" name="Text 5"/>
          <p:cNvSpPr txBox="1"/>
          <p:nvPr/>
        </p:nvSpPr>
        <p:spPr>
          <a:xfrm>
            <a:off x="548640" y="3200400"/>
            <a:ext cx="1353312" cy="457200"/>
          </a:xfrm>
          <a:prstGeom prst="rect">
            <a:avLst/>
          </a:prstGeom>
          <a:noFill/>
          <a:ln/>
        </p:spPr>
        <p:txBody>
          <a:bodyPr wrap="square" lIns="0" tIns="0" rIns="0" bIns="0" rtlCol="0" anchor="ctr"/>
          <a:lstStyle/>
          <a:p>
            <a:pPr algn="ctr" indent="0" marL="0">
              <a:buNone/>
            </a:pPr>
            <a:r>
              <a:rPr lang="en-US" sz="1200" dirty="0">
                <a:solidFill>
                  <a:srgbClr val="5B6778"/>
                </a:solidFill>
                <a:latin typeface="Inter" pitchFamily="34" charset="0"/>
                <a:ea typeface="Inter" pitchFamily="34" charset="-122"/>
                <a:cs typeface="Inter" pitchFamily="34" charset="-120"/>
              </a:rPr>
              <a:t>no extra contracted hours</a:t>
            </a:r>
            <a:endParaRPr lang="en-US" sz="1200" dirty="0"/>
          </a:p>
        </p:txBody>
      </p:sp>
      <p:sp>
        <p:nvSpPr>
          <p:cNvPr id="8" name="Shape 6"/>
          <p:cNvSpPr/>
          <p:nvPr/>
        </p:nvSpPr>
        <p:spPr>
          <a:xfrm>
            <a:off x="2130552" y="1463040"/>
            <a:ext cx="1536192" cy="2377440"/>
          </a:xfrm>
          <a:prstGeom prst="roundRect">
            <a:avLst>
              <a:gd name="adj" fmla="val 7143"/>
            </a:avLst>
          </a:prstGeom>
          <a:solidFill>
            <a:srgbClr val="EEF2F7"/>
          </a:solidFill>
          <a:ln w="12700">
            <a:solidFill>
              <a:srgbClr val="EEF2F7"/>
            </a:solidFill>
            <a:prstDash val="solid"/>
          </a:ln>
        </p:spPr>
      </p:sp>
      <p:sp>
        <p:nvSpPr>
          <p:cNvPr id="9" name="Text 7"/>
          <p:cNvSpPr txBox="1"/>
          <p:nvPr/>
        </p:nvSpPr>
        <p:spPr>
          <a:xfrm>
            <a:off x="2130552" y="1645920"/>
            <a:ext cx="1536192" cy="868680"/>
          </a:xfrm>
          <a:prstGeom prst="rect">
            <a:avLst/>
          </a:prstGeom>
          <a:noFill/>
          <a:ln/>
        </p:spPr>
        <p:txBody>
          <a:bodyPr wrap="square" lIns="0" tIns="0" rIns="0" bIns="0" rtlCol="0" anchor="ctr">
            <a:normAutofit/>
          </a:bodyPr>
          <a:lstStyle/>
          <a:p>
            <a:pPr algn="ctr" indent="0" marL="0">
              <a:buNone/>
            </a:pPr>
            <a:r>
              <a:rPr lang="en-US" sz="3000" b="1" dirty="0">
                <a:solidFill>
                  <a:srgbClr val="001E3C"/>
                </a:solidFill>
                <a:latin typeface="Inter" pitchFamily="34" charset="0"/>
                <a:ea typeface="Inter" pitchFamily="34" charset="-122"/>
                <a:cs typeface="Inter" pitchFamily="34" charset="-120"/>
              </a:rPr>
              <a:t>6</a:t>
            </a:r>
            <a:endParaRPr lang="en-US" sz="3000" dirty="0"/>
          </a:p>
        </p:txBody>
      </p:sp>
      <p:sp>
        <p:nvSpPr>
          <p:cNvPr id="10" name="Text 8"/>
          <p:cNvSpPr txBox="1"/>
          <p:nvPr/>
        </p:nvSpPr>
        <p:spPr>
          <a:xfrm>
            <a:off x="2221992" y="2560320"/>
            <a:ext cx="1353312" cy="640080"/>
          </a:xfrm>
          <a:prstGeom prst="rect">
            <a:avLst/>
          </a:prstGeom>
          <a:noFill/>
          <a:ln/>
        </p:spPr>
        <p:txBody>
          <a:bodyPr wrap="square" lIns="0" tIns="0" rIns="0" bIns="0" rtlCol="0" anchor="ctr"/>
          <a:lstStyle/>
          <a:p>
            <a:pPr algn="ctr" indent="0" marL="0">
              <a:buNone/>
            </a:pPr>
            <a:r>
              <a:rPr lang="en-US" sz="1400" b="1" dirty="0">
                <a:solidFill>
                  <a:srgbClr val="1B2533"/>
                </a:solidFill>
                <a:latin typeface="Inter" pitchFamily="34" charset="0"/>
                <a:ea typeface="Inter" pitchFamily="34" charset="-122"/>
                <a:cs typeface="Inter" pitchFamily="34" charset="-120"/>
              </a:rPr>
              <a:t>most days in a row</a:t>
            </a:r>
            <a:endParaRPr lang="en-US" sz="1400" dirty="0"/>
          </a:p>
        </p:txBody>
      </p:sp>
      <p:sp>
        <p:nvSpPr>
          <p:cNvPr id="11" name="Text 9"/>
          <p:cNvSpPr txBox="1"/>
          <p:nvPr/>
        </p:nvSpPr>
        <p:spPr>
          <a:xfrm>
            <a:off x="2221992" y="3200400"/>
            <a:ext cx="1353312" cy="457200"/>
          </a:xfrm>
          <a:prstGeom prst="rect">
            <a:avLst/>
          </a:prstGeom>
          <a:noFill/>
          <a:ln/>
        </p:spPr>
        <p:txBody>
          <a:bodyPr wrap="square" lIns="0" tIns="0" rIns="0" bIns="0" rtlCol="0" anchor="ctr"/>
          <a:lstStyle/>
          <a:p>
            <a:pPr algn="ctr" indent="0" marL="0">
              <a:buNone/>
            </a:pPr>
            <a:r>
              <a:rPr lang="en-US" sz="1200" dirty="0">
                <a:solidFill>
                  <a:srgbClr val="5B6778"/>
                </a:solidFill>
                <a:latin typeface="Inter" pitchFamily="34" charset="0"/>
                <a:ea typeface="Inter" pitchFamily="34" charset="-122"/>
                <a:cs typeface="Inter" pitchFamily="34" charset="-120"/>
              </a:rPr>
              <a:t>today 7, up to 9</a:t>
            </a:r>
            <a:endParaRPr lang="en-US" sz="1200" dirty="0"/>
          </a:p>
        </p:txBody>
      </p:sp>
      <p:sp>
        <p:nvSpPr>
          <p:cNvPr id="12" name="Shape 10"/>
          <p:cNvSpPr/>
          <p:nvPr/>
        </p:nvSpPr>
        <p:spPr>
          <a:xfrm>
            <a:off x="3803904" y="1463040"/>
            <a:ext cx="1536192" cy="2377440"/>
          </a:xfrm>
          <a:prstGeom prst="roundRect">
            <a:avLst>
              <a:gd name="adj" fmla="val 7143"/>
            </a:avLst>
          </a:prstGeom>
          <a:solidFill>
            <a:srgbClr val="EEF2F7"/>
          </a:solidFill>
          <a:ln w="12700">
            <a:solidFill>
              <a:srgbClr val="EEF2F7"/>
            </a:solidFill>
            <a:prstDash val="solid"/>
          </a:ln>
        </p:spPr>
      </p:sp>
      <p:sp>
        <p:nvSpPr>
          <p:cNvPr id="13" name="Text 11"/>
          <p:cNvSpPr txBox="1"/>
          <p:nvPr/>
        </p:nvSpPr>
        <p:spPr>
          <a:xfrm>
            <a:off x="3803904" y="1645920"/>
            <a:ext cx="1536192" cy="868680"/>
          </a:xfrm>
          <a:prstGeom prst="rect">
            <a:avLst/>
          </a:prstGeom>
          <a:noFill/>
          <a:ln/>
        </p:spPr>
        <p:txBody>
          <a:bodyPr wrap="square" lIns="0" tIns="0" rIns="0" bIns="0" rtlCol="0" anchor="ctr">
            <a:normAutofit/>
          </a:bodyPr>
          <a:lstStyle/>
          <a:p>
            <a:pPr algn="ctr" indent="0" marL="0">
              <a:buNone/>
            </a:pPr>
            <a:r>
              <a:rPr lang="en-US" sz="3000" b="1" dirty="0">
                <a:solidFill>
                  <a:srgbClr val="001E3C"/>
                </a:solidFill>
                <a:latin typeface="Inter" pitchFamily="34" charset="0"/>
                <a:ea typeface="Inter" pitchFamily="34" charset="-122"/>
                <a:cs typeface="Inter" pitchFamily="34" charset="-120"/>
              </a:rPr>
              <a:t>6 in 24</a:t>
            </a:r>
            <a:endParaRPr lang="en-US" sz="3000" dirty="0"/>
          </a:p>
        </p:txBody>
      </p:sp>
      <p:sp>
        <p:nvSpPr>
          <p:cNvPr id="14" name="Text 12"/>
          <p:cNvSpPr txBox="1"/>
          <p:nvPr/>
        </p:nvSpPr>
        <p:spPr>
          <a:xfrm>
            <a:off x="3895344" y="2560320"/>
            <a:ext cx="1353312" cy="640080"/>
          </a:xfrm>
          <a:prstGeom prst="rect">
            <a:avLst/>
          </a:prstGeom>
          <a:noFill/>
          <a:ln/>
        </p:spPr>
        <p:txBody>
          <a:bodyPr wrap="square" lIns="0" tIns="0" rIns="0" bIns="0" rtlCol="0" anchor="ctr"/>
          <a:lstStyle/>
          <a:p>
            <a:pPr algn="ctr" indent="0" marL="0">
              <a:buNone/>
            </a:pPr>
            <a:r>
              <a:rPr lang="en-US" sz="1400" b="1" dirty="0">
                <a:solidFill>
                  <a:srgbClr val="1B2533"/>
                </a:solidFill>
                <a:latin typeface="Inter" pitchFamily="34" charset="0"/>
                <a:ea typeface="Inter" pitchFamily="34" charset="-122"/>
                <a:cs typeface="Inter" pitchFamily="34" charset="-120"/>
              </a:rPr>
              <a:t>full weekends off</a:t>
            </a:r>
            <a:endParaRPr lang="en-US" sz="1400" dirty="0"/>
          </a:p>
        </p:txBody>
      </p:sp>
      <p:sp>
        <p:nvSpPr>
          <p:cNvPr id="15" name="Text 13"/>
          <p:cNvSpPr txBox="1"/>
          <p:nvPr/>
        </p:nvSpPr>
        <p:spPr>
          <a:xfrm>
            <a:off x="3895344" y="3200400"/>
            <a:ext cx="1353312" cy="457200"/>
          </a:xfrm>
          <a:prstGeom prst="rect">
            <a:avLst/>
          </a:prstGeom>
          <a:noFill/>
          <a:ln/>
        </p:spPr>
        <p:txBody>
          <a:bodyPr wrap="square" lIns="0" tIns="0" rIns="0" bIns="0" rtlCol="0" anchor="ctr"/>
          <a:lstStyle/>
          <a:p>
            <a:pPr algn="ctr" indent="0" marL="0">
              <a:buNone/>
            </a:pPr>
            <a:r>
              <a:rPr lang="en-US" sz="1200" dirty="0">
                <a:solidFill>
                  <a:srgbClr val="5B6778"/>
                </a:solidFill>
                <a:latin typeface="Inter" pitchFamily="34" charset="0"/>
                <a:ea typeface="Inter" pitchFamily="34" charset="-122"/>
                <a:cs typeface="Inter" pitchFamily="34" charset="-120"/>
              </a:rPr>
              <a:t>one in four, not one in five</a:t>
            </a:r>
            <a:endParaRPr lang="en-US" sz="1200" dirty="0"/>
          </a:p>
        </p:txBody>
      </p:sp>
      <p:sp>
        <p:nvSpPr>
          <p:cNvPr id="16" name="Shape 14"/>
          <p:cNvSpPr/>
          <p:nvPr/>
        </p:nvSpPr>
        <p:spPr>
          <a:xfrm>
            <a:off x="5477256" y="1463040"/>
            <a:ext cx="1536192" cy="2377440"/>
          </a:xfrm>
          <a:prstGeom prst="roundRect">
            <a:avLst>
              <a:gd name="adj" fmla="val 7143"/>
            </a:avLst>
          </a:prstGeom>
          <a:solidFill>
            <a:srgbClr val="EEF2F7"/>
          </a:solidFill>
          <a:ln w="12700">
            <a:solidFill>
              <a:srgbClr val="EEF2F7"/>
            </a:solidFill>
            <a:prstDash val="solid"/>
          </a:ln>
        </p:spPr>
      </p:sp>
      <p:sp>
        <p:nvSpPr>
          <p:cNvPr id="17" name="Text 15"/>
          <p:cNvSpPr txBox="1"/>
          <p:nvPr/>
        </p:nvSpPr>
        <p:spPr>
          <a:xfrm>
            <a:off x="5477256" y="1645920"/>
            <a:ext cx="1536192" cy="868680"/>
          </a:xfrm>
          <a:prstGeom prst="rect">
            <a:avLst/>
          </a:prstGeom>
          <a:noFill/>
          <a:ln/>
        </p:spPr>
        <p:txBody>
          <a:bodyPr wrap="square" lIns="0" tIns="0" rIns="0" bIns="0" rtlCol="0" anchor="ctr">
            <a:normAutofit/>
          </a:bodyPr>
          <a:lstStyle/>
          <a:p>
            <a:pPr algn="ctr" indent="0" marL="0">
              <a:buNone/>
            </a:pPr>
            <a:r>
              <a:rPr lang="en-US" sz="3000" b="1" dirty="0">
                <a:solidFill>
                  <a:srgbClr val="001E3C"/>
                </a:solidFill>
                <a:latin typeface="Inter" pitchFamily="34" charset="0"/>
                <a:ea typeface="Inter" pitchFamily="34" charset="-122"/>
                <a:cs typeface="Inter" pitchFamily="34" charset="-120"/>
              </a:rPr>
              <a:t>8 of 16</a:t>
            </a:r>
            <a:endParaRPr lang="en-US" sz="3000" dirty="0"/>
          </a:p>
        </p:txBody>
      </p:sp>
      <p:sp>
        <p:nvSpPr>
          <p:cNvPr id="18" name="Text 16"/>
          <p:cNvSpPr txBox="1"/>
          <p:nvPr/>
        </p:nvSpPr>
        <p:spPr>
          <a:xfrm>
            <a:off x="5568696" y="2560320"/>
            <a:ext cx="1353312" cy="640080"/>
          </a:xfrm>
          <a:prstGeom prst="rect">
            <a:avLst/>
          </a:prstGeom>
          <a:noFill/>
          <a:ln/>
        </p:spPr>
        <p:txBody>
          <a:bodyPr wrap="square" lIns="0" tIns="0" rIns="0" bIns="0" rtlCol="0" anchor="ctr"/>
          <a:lstStyle/>
          <a:p>
            <a:pPr algn="ctr" indent="0" marL="0">
              <a:buNone/>
            </a:pPr>
            <a:r>
              <a:rPr lang="en-US" sz="1400" b="1" dirty="0">
                <a:solidFill>
                  <a:srgbClr val="1B2533"/>
                </a:solidFill>
                <a:latin typeface="Inter" pitchFamily="34" charset="0"/>
                <a:ea typeface="Inter" pitchFamily="34" charset="-122"/>
                <a:cs typeface="Inter" pitchFamily="34" charset="-120"/>
              </a:rPr>
              <a:t>shift times you already work</a:t>
            </a:r>
            <a:endParaRPr lang="en-US" sz="1400" dirty="0"/>
          </a:p>
        </p:txBody>
      </p:sp>
      <p:sp>
        <p:nvSpPr>
          <p:cNvPr id="19" name="Text 17"/>
          <p:cNvSpPr txBox="1"/>
          <p:nvPr/>
        </p:nvSpPr>
        <p:spPr>
          <a:xfrm>
            <a:off x="5568696" y="3200400"/>
            <a:ext cx="1353312" cy="457200"/>
          </a:xfrm>
          <a:prstGeom prst="rect">
            <a:avLst/>
          </a:prstGeom>
          <a:noFill/>
          <a:ln/>
        </p:spPr>
        <p:txBody>
          <a:bodyPr wrap="square" lIns="0" tIns="0" rIns="0" bIns="0" rtlCol="0" anchor="ctr"/>
          <a:lstStyle/>
          <a:p>
            <a:pPr algn="ctr" indent="0" marL="0">
              <a:buNone/>
            </a:pPr>
            <a:r>
              <a:rPr lang="en-US" sz="1200" dirty="0">
                <a:solidFill>
                  <a:srgbClr val="5B6778"/>
                </a:solidFill>
                <a:latin typeface="Inter" pitchFamily="34" charset="0"/>
                <a:ea typeface="Inter" pitchFamily="34" charset="-122"/>
                <a:cs typeface="Inter" pitchFamily="34" charset="-120"/>
              </a:rPr>
              <a:t>8 new ones</a:t>
            </a:r>
            <a:endParaRPr lang="en-US" sz="1200" dirty="0"/>
          </a:p>
        </p:txBody>
      </p:sp>
      <p:sp>
        <p:nvSpPr>
          <p:cNvPr id="20" name="Shape 18"/>
          <p:cNvSpPr/>
          <p:nvPr/>
        </p:nvSpPr>
        <p:spPr>
          <a:xfrm>
            <a:off x="7150608" y="1463040"/>
            <a:ext cx="1536192" cy="2377440"/>
          </a:xfrm>
          <a:prstGeom prst="roundRect">
            <a:avLst>
              <a:gd name="adj" fmla="val 7143"/>
            </a:avLst>
          </a:prstGeom>
          <a:solidFill>
            <a:srgbClr val="EEF2F7"/>
          </a:solidFill>
          <a:ln w="12700">
            <a:solidFill>
              <a:srgbClr val="EEF2F7"/>
            </a:solidFill>
            <a:prstDash val="solid"/>
          </a:ln>
        </p:spPr>
      </p:sp>
      <p:sp>
        <p:nvSpPr>
          <p:cNvPr id="21" name="Text 19"/>
          <p:cNvSpPr txBox="1"/>
          <p:nvPr/>
        </p:nvSpPr>
        <p:spPr>
          <a:xfrm>
            <a:off x="7150608" y="1645920"/>
            <a:ext cx="1536192" cy="868680"/>
          </a:xfrm>
          <a:prstGeom prst="rect">
            <a:avLst/>
          </a:prstGeom>
          <a:noFill/>
          <a:ln/>
        </p:spPr>
        <p:txBody>
          <a:bodyPr wrap="square" lIns="0" tIns="0" rIns="0" bIns="0" rtlCol="0" anchor="ctr">
            <a:normAutofit/>
          </a:bodyPr>
          <a:lstStyle/>
          <a:p>
            <a:pPr algn="ctr" indent="0" marL="0">
              <a:buNone/>
            </a:pPr>
            <a:r>
              <a:rPr lang="en-US" sz="3000" b="1" dirty="0">
                <a:solidFill>
                  <a:srgbClr val="001E3C"/>
                </a:solidFill>
                <a:latin typeface="Inter" pitchFamily="34" charset="0"/>
                <a:ea typeface="Inter" pitchFamily="34" charset="-122"/>
                <a:cs typeface="Inter" pitchFamily="34" charset="-120"/>
              </a:rPr>
              <a:t>30 min</a:t>
            </a:r>
            <a:endParaRPr lang="en-US" sz="3000" dirty="0"/>
          </a:p>
        </p:txBody>
      </p:sp>
      <p:sp>
        <p:nvSpPr>
          <p:cNvPr id="22" name="Text 20"/>
          <p:cNvSpPr txBox="1"/>
          <p:nvPr/>
        </p:nvSpPr>
        <p:spPr>
          <a:xfrm>
            <a:off x="7242048" y="2560320"/>
            <a:ext cx="1353312" cy="640080"/>
          </a:xfrm>
          <a:prstGeom prst="rect">
            <a:avLst/>
          </a:prstGeom>
          <a:noFill/>
          <a:ln/>
        </p:spPr>
        <p:txBody>
          <a:bodyPr wrap="square" lIns="0" tIns="0" rIns="0" bIns="0" rtlCol="0" anchor="ctr"/>
          <a:lstStyle/>
          <a:p>
            <a:pPr algn="ctr" indent="0" marL="0">
              <a:buNone/>
            </a:pPr>
            <a:r>
              <a:rPr lang="en-US" sz="1400" b="1" dirty="0">
                <a:solidFill>
                  <a:srgbClr val="1B2533"/>
                </a:solidFill>
                <a:latin typeface="Inter" pitchFamily="34" charset="0"/>
                <a:ea typeface="Inter" pitchFamily="34" charset="-122"/>
                <a:cs typeface="Inter" pitchFamily="34" charset="-120"/>
              </a:rPr>
              <a:t>shorter on every closing shift</a:t>
            </a:r>
            <a:endParaRPr lang="en-US" sz="1400" dirty="0"/>
          </a:p>
        </p:txBody>
      </p:sp>
      <p:sp>
        <p:nvSpPr>
          <p:cNvPr id="23" name="Text 21"/>
          <p:cNvSpPr txBox="1"/>
          <p:nvPr/>
        </p:nvSpPr>
        <p:spPr>
          <a:xfrm>
            <a:off x="7242048" y="3200400"/>
            <a:ext cx="1353312" cy="457200"/>
          </a:xfrm>
          <a:prstGeom prst="rect">
            <a:avLst/>
          </a:prstGeom>
          <a:noFill/>
          <a:ln/>
        </p:spPr>
        <p:txBody>
          <a:bodyPr wrap="square" lIns="0" tIns="0" rIns="0" bIns="0" rtlCol="0" anchor="ctr"/>
          <a:lstStyle/>
          <a:p>
            <a:pPr algn="ctr" indent="0" marL="0">
              <a:buNone/>
            </a:pPr>
            <a:r>
              <a:rPr lang="en-US" sz="1200" dirty="0">
                <a:solidFill>
                  <a:srgbClr val="5B6778"/>
                </a:solidFill>
                <a:latin typeface="Inter" pitchFamily="34" charset="0"/>
                <a:ea typeface="Inter" pitchFamily="34" charset="-122"/>
                <a:cs typeface="Inter" pitchFamily="34" charset="-120"/>
              </a:rPr>
              <a:t>45 min on a Sunday</a:t>
            </a:r>
            <a:endParaRPr lang="en-US" sz="1200" dirty="0"/>
          </a:p>
        </p:txBody>
      </p:sp>
      <p:sp>
        <p:nvSpPr>
          <p:cNvPr id="24" name="Shape 22"/>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5" name="Text 23"/>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Same hours, shorter closers, more full weekends off — and half the times familiar.</a:t>
            </a:r>
            <a:endParaRPr lang="en-US" sz="1400" dirty="0"/>
          </a:p>
        </p:txBody>
      </p:sp>
      <p:sp>
        <p:nvSpPr>
          <p:cNvPr id="26" name="Text 24"/>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Familiar Nine · December 2026 link proposal ·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Why the link has to change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Nobody is changing it for the sake of it</a:t>
            </a:r>
            <a:endParaRPr lang="en-US" sz="1500" dirty="0"/>
          </a:p>
        </p:txBody>
      </p:sp>
      <p:sp>
        <p:nvSpPr>
          <p:cNvPr id="4" name="Shape 2"/>
          <p:cNvSpPr/>
          <p:nvPr/>
        </p:nvSpPr>
        <p:spPr>
          <a:xfrm>
            <a:off x="457200" y="1371600"/>
            <a:ext cx="457200" cy="457200"/>
          </a:xfrm>
          <a:prstGeom prst="ellipse">
            <a:avLst/>
          </a:prstGeom>
          <a:solidFill>
            <a:srgbClr val="F5C800"/>
          </a:solidFill>
          <a:ln w="12700">
            <a:solidFill>
              <a:srgbClr val="F5C800"/>
            </a:solidFill>
            <a:prstDash val="solid"/>
          </a:ln>
        </p:spPr>
      </p:sp>
      <p:pic>
        <p:nvPicPr>
          <p:cNvPr id="5" name="Image 0" descr="preencoded.png">    </p:cNvPr>
          <p:cNvPicPr>
            <a:picLocks noChangeAspect="1"/>
          </p:cNvPicPr>
          <p:nvPr/>
        </p:nvPicPr>
        <p:blipFill>
          <a:blip r:embed="rId1"/>
          <a:stretch>
            <a:fillRect/>
          </a:stretch>
        </p:blipFill>
        <p:spPr>
          <a:xfrm>
            <a:off x="557784" y="1472184"/>
            <a:ext cx="256032" cy="256032"/>
          </a:xfrm>
          <a:prstGeom prst="rect">
            <a:avLst/>
          </a:prstGeom>
        </p:spPr>
      </p:pic>
      <p:sp>
        <p:nvSpPr>
          <p:cNvPr id="6" name="Text 3"/>
          <p:cNvSpPr txBox="1"/>
          <p:nvPr/>
        </p:nvSpPr>
        <p:spPr>
          <a:xfrm>
            <a:off x="1097280" y="133502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A new timetable in December 2026</a:t>
            </a:r>
            <a:endParaRPr lang="en-US" sz="1600" dirty="0"/>
          </a:p>
        </p:txBody>
      </p:sp>
      <p:sp>
        <p:nvSpPr>
          <p:cNvPr id="7" name="Text 4"/>
          <p:cNvSpPr txBox="1"/>
          <p:nvPr/>
        </p:nvSpPr>
        <p:spPr>
          <a:xfrm>
            <a:off x="1097280" y="161848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More trains, at new times — the link has to follow them.</a:t>
            </a:r>
            <a:endParaRPr lang="en-US" sz="1300" dirty="0"/>
          </a:p>
        </p:txBody>
      </p:sp>
      <p:sp>
        <p:nvSpPr>
          <p:cNvPr id="8" name="Shape 5"/>
          <p:cNvSpPr/>
          <p:nvPr/>
        </p:nvSpPr>
        <p:spPr>
          <a:xfrm>
            <a:off x="457200" y="2233968"/>
            <a:ext cx="457200" cy="457200"/>
          </a:xfrm>
          <a:prstGeom prst="ellipse">
            <a:avLst/>
          </a:prstGeom>
          <a:solidFill>
            <a:srgbClr val="F5C800"/>
          </a:solidFill>
          <a:ln w="12700">
            <a:solidFill>
              <a:srgbClr val="F5C800"/>
            </a:solidFill>
            <a:prstDash val="solid"/>
          </a:ln>
        </p:spPr>
      </p:sp>
      <p:pic>
        <p:nvPicPr>
          <p:cNvPr id="9" name="Image 1" descr="preencoded.png">    </p:cNvPr>
          <p:cNvPicPr>
            <a:picLocks noChangeAspect="1"/>
          </p:cNvPicPr>
          <p:nvPr/>
        </p:nvPicPr>
        <p:blipFill>
          <a:blip r:embed="rId2"/>
          <a:stretch>
            <a:fillRect/>
          </a:stretch>
        </p:blipFill>
        <p:spPr>
          <a:xfrm>
            <a:off x="557784" y="2334552"/>
            <a:ext cx="256032" cy="256032"/>
          </a:xfrm>
          <a:prstGeom prst="rect">
            <a:avLst/>
          </a:prstGeom>
        </p:spPr>
      </p:pic>
      <p:sp>
        <p:nvSpPr>
          <p:cNvPr id="10" name="Text 6"/>
          <p:cNvSpPr txBox="1"/>
          <p:nvPr/>
        </p:nvSpPr>
        <p:spPr>
          <a:xfrm>
            <a:off x="1097280" y="2197392"/>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More of us on the link</a:t>
            </a:r>
            <a:endParaRPr lang="en-US" sz="1600" dirty="0"/>
          </a:p>
        </p:txBody>
      </p:sp>
      <p:sp>
        <p:nvSpPr>
          <p:cNvPr id="11" name="Text 7"/>
          <p:cNvSpPr txBox="1"/>
          <p:nvPr/>
        </p:nvSpPr>
        <p:spPr>
          <a:xfrm>
            <a:off x="1097280" y="2480856"/>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It grows from 20 weeks to 24, so four more colleagues join it.</a:t>
            </a:r>
            <a:endParaRPr lang="en-US" sz="1300" dirty="0"/>
          </a:p>
        </p:txBody>
      </p:sp>
      <p:sp>
        <p:nvSpPr>
          <p:cNvPr id="12" name="Shape 8"/>
          <p:cNvSpPr/>
          <p:nvPr/>
        </p:nvSpPr>
        <p:spPr>
          <a:xfrm>
            <a:off x="457200" y="3096336"/>
            <a:ext cx="457200" cy="457200"/>
          </a:xfrm>
          <a:prstGeom prst="ellipse">
            <a:avLst/>
          </a:prstGeom>
          <a:solidFill>
            <a:srgbClr val="F5C800"/>
          </a:solidFill>
          <a:ln w="12700">
            <a:solidFill>
              <a:srgbClr val="F5C800"/>
            </a:solidFill>
            <a:prstDash val="solid"/>
          </a:ln>
        </p:spPr>
      </p:sp>
      <p:pic>
        <p:nvPicPr>
          <p:cNvPr id="13" name="Image 2" descr="preencoded.png">    </p:cNvPr>
          <p:cNvPicPr>
            <a:picLocks noChangeAspect="1"/>
          </p:cNvPicPr>
          <p:nvPr/>
        </p:nvPicPr>
        <p:blipFill>
          <a:blip r:embed="rId3"/>
          <a:stretch>
            <a:fillRect/>
          </a:stretch>
        </p:blipFill>
        <p:spPr>
          <a:xfrm>
            <a:off x="557784" y="3196920"/>
            <a:ext cx="256032" cy="256032"/>
          </a:xfrm>
          <a:prstGeom prst="rect">
            <a:avLst/>
          </a:prstGeom>
        </p:spPr>
      </p:pic>
      <p:sp>
        <p:nvSpPr>
          <p:cNvPr id="14" name="Text 9"/>
          <p:cNvSpPr txBox="1"/>
          <p:nvPr/>
        </p:nvSpPr>
        <p:spPr>
          <a:xfrm>
            <a:off x="1097280" y="3059760"/>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New staffing levels</a:t>
            </a:r>
            <a:endParaRPr lang="en-US" sz="1600" dirty="0"/>
          </a:p>
        </p:txBody>
      </p:sp>
      <p:sp>
        <p:nvSpPr>
          <p:cNvPr id="15" name="Text 10"/>
          <p:cNvSpPr txBox="1"/>
          <p:nvPr/>
        </p:nvSpPr>
        <p:spPr>
          <a:xfrm>
            <a:off x="1097280" y="3343224"/>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At least 10 on a Sunday, and more at the open and the close. We also aim for 14 on a Saturday.</a:t>
            </a:r>
            <a:endParaRPr lang="en-US" sz="1300" dirty="0"/>
          </a:p>
        </p:txBody>
      </p:sp>
      <p:sp>
        <p:nvSpPr>
          <p:cNvPr id="16" name="Shape 11"/>
          <p:cNvSpPr/>
          <p:nvPr/>
        </p:nvSpPr>
        <p:spPr>
          <a:xfrm>
            <a:off x="457200" y="3958704"/>
            <a:ext cx="457200" cy="457200"/>
          </a:xfrm>
          <a:prstGeom prst="ellipse">
            <a:avLst/>
          </a:prstGeom>
          <a:solidFill>
            <a:srgbClr val="F5C800"/>
          </a:solidFill>
          <a:ln w="12700">
            <a:solidFill>
              <a:srgbClr val="F5C800"/>
            </a:solidFill>
            <a:prstDash val="solid"/>
          </a:ln>
        </p:spPr>
      </p:sp>
      <p:pic>
        <p:nvPicPr>
          <p:cNvPr id="17" name="Image 3" descr="preencoded.png">    </p:cNvPr>
          <p:cNvPicPr>
            <a:picLocks noChangeAspect="1"/>
          </p:cNvPicPr>
          <p:nvPr/>
        </p:nvPicPr>
        <p:blipFill>
          <a:blip r:embed="rId4"/>
          <a:stretch>
            <a:fillRect/>
          </a:stretch>
        </p:blipFill>
        <p:spPr>
          <a:xfrm>
            <a:off x="557784" y="4059288"/>
            <a:ext cx="256032" cy="256032"/>
          </a:xfrm>
          <a:prstGeom prst="rect">
            <a:avLst/>
          </a:prstGeom>
        </p:spPr>
      </p:pic>
      <p:sp>
        <p:nvSpPr>
          <p:cNvPr id="18" name="Text 12"/>
          <p:cNvSpPr txBox="1"/>
          <p:nvPr/>
        </p:nvSpPr>
        <p:spPr>
          <a:xfrm>
            <a:off x="1097280" y="3922128"/>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The ticket office in fixed pairs</a:t>
            </a:r>
            <a:endParaRPr lang="en-US" sz="1600" dirty="0"/>
          </a:p>
        </p:txBody>
      </p:sp>
      <p:sp>
        <p:nvSpPr>
          <p:cNvPr id="19" name="Text 13"/>
          <p:cNvSpPr txBox="1"/>
          <p:nvPr/>
        </p:nvSpPr>
        <p:spPr>
          <a:xfrm>
            <a:off x="1097280" y="4205592"/>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Two early and two late, on the same shifts, every day.</a:t>
            </a:r>
            <a:endParaRPr lang="en-US" sz="1300" dirty="0"/>
          </a:p>
        </p:txBody>
      </p:sp>
      <p:sp>
        <p:nvSpPr>
          <p:cNvPr id="20" name="Text 14"/>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Familiar Nine · December 2026 link proposal ·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Will I work more?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The first thing everyone asks</a:t>
            </a:r>
            <a:endParaRPr lang="en-US" sz="1500" dirty="0"/>
          </a:p>
        </p:txBody>
      </p:sp>
      <p:sp>
        <p:nvSpPr>
          <p:cNvPr id="4" name="Text 2"/>
          <p:cNvSpPr txBox="1"/>
          <p:nvPr/>
        </p:nvSpPr>
        <p:spPr>
          <a:xfrm>
            <a:off x="4297680" y="1417320"/>
            <a:ext cx="219456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492240" y="1417320"/>
            <a:ext cx="219456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Familiar Nine</a:t>
            </a:r>
            <a:endParaRPr lang="en-US" sz="1300" dirty="0"/>
          </a:p>
        </p:txBody>
      </p:sp>
      <p:sp>
        <p:nvSpPr>
          <p:cNvPr id="6" name="Shape 4"/>
          <p:cNvSpPr/>
          <p:nvPr/>
        </p:nvSpPr>
        <p:spPr>
          <a:xfrm>
            <a:off x="457200" y="1801368"/>
            <a:ext cx="8229600" cy="475488"/>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Contracted hours a week</a:t>
            </a:r>
            <a:endParaRPr lang="en-US" sz="1400" dirty="0"/>
          </a:p>
        </p:txBody>
      </p:sp>
      <p:sp>
        <p:nvSpPr>
          <p:cNvPr id="8" name="Text 6"/>
          <p:cNvSpPr txBox="1"/>
          <p:nvPr/>
        </p:nvSpPr>
        <p:spPr>
          <a:xfrm>
            <a:off x="4297680" y="1801368"/>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35h</a:t>
            </a:r>
            <a:endParaRPr lang="en-US" sz="1600" dirty="0"/>
          </a:p>
        </p:txBody>
      </p:sp>
      <p:sp>
        <p:nvSpPr>
          <p:cNvPr id="9" name="Text 7"/>
          <p:cNvSpPr txBox="1"/>
          <p:nvPr/>
        </p:nvSpPr>
        <p:spPr>
          <a:xfrm>
            <a:off x="6492240" y="1801368"/>
            <a:ext cx="2194560" cy="475488"/>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35h</a:t>
            </a:r>
            <a:endParaRPr lang="en-US" sz="1800" dirty="0"/>
          </a:p>
        </p:txBody>
      </p:sp>
      <p:sp>
        <p:nvSpPr>
          <p:cNvPr id="10" name="Shape 8"/>
          <p:cNvSpPr/>
          <p:nvPr/>
        </p:nvSpPr>
        <p:spPr>
          <a:xfrm>
            <a:off x="457200" y="2368296"/>
            <a:ext cx="8229600" cy="475488"/>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368296"/>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Contracted days at work a week</a:t>
            </a:r>
            <a:endParaRPr lang="en-US" sz="1400" dirty="0"/>
          </a:p>
        </p:txBody>
      </p:sp>
      <p:sp>
        <p:nvSpPr>
          <p:cNvPr id="12" name="Text 10"/>
          <p:cNvSpPr txBox="1"/>
          <p:nvPr/>
        </p:nvSpPr>
        <p:spPr>
          <a:xfrm>
            <a:off x="4297680" y="2368296"/>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4.2</a:t>
            </a:r>
            <a:endParaRPr lang="en-US" sz="1600" dirty="0"/>
          </a:p>
        </p:txBody>
      </p:sp>
      <p:sp>
        <p:nvSpPr>
          <p:cNvPr id="13" name="Text 11"/>
          <p:cNvSpPr txBox="1"/>
          <p:nvPr/>
        </p:nvSpPr>
        <p:spPr>
          <a:xfrm>
            <a:off x="6492240" y="2368296"/>
            <a:ext cx="219456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4.17</a:t>
            </a:r>
            <a:endParaRPr lang="en-US" sz="1800" dirty="0"/>
          </a:p>
        </p:txBody>
      </p:sp>
      <p:sp>
        <p:nvSpPr>
          <p:cNvPr id="14" name="Shape 12"/>
          <p:cNvSpPr/>
          <p:nvPr/>
        </p:nvSpPr>
        <p:spPr>
          <a:xfrm>
            <a:off x="457200" y="2935224"/>
            <a:ext cx="8229600" cy="475488"/>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935224"/>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Contracted days at work a year</a:t>
            </a:r>
            <a:endParaRPr lang="en-US" sz="1400" dirty="0"/>
          </a:p>
        </p:txBody>
      </p:sp>
      <p:sp>
        <p:nvSpPr>
          <p:cNvPr id="16" name="Text 14"/>
          <p:cNvSpPr txBox="1"/>
          <p:nvPr/>
        </p:nvSpPr>
        <p:spPr>
          <a:xfrm>
            <a:off x="4297680" y="2935224"/>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219</a:t>
            </a:r>
            <a:endParaRPr lang="en-US" sz="1600" dirty="0"/>
          </a:p>
        </p:txBody>
      </p:sp>
      <p:sp>
        <p:nvSpPr>
          <p:cNvPr id="17" name="Text 15"/>
          <p:cNvSpPr txBox="1"/>
          <p:nvPr/>
        </p:nvSpPr>
        <p:spPr>
          <a:xfrm>
            <a:off x="6492240" y="2935224"/>
            <a:ext cx="219456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217</a:t>
            </a:r>
            <a:endParaRPr lang="en-US" sz="1800" dirty="0"/>
          </a:p>
        </p:txBody>
      </p:sp>
      <p:sp>
        <p:nvSpPr>
          <p:cNvPr id="18" name="Shape 16"/>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19" name="Text 17"/>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No. Exactly the same 35-hour week — and about 2 fewer contracted days a year.</a:t>
            </a:r>
            <a:endParaRPr lang="en-US" sz="1400" dirty="0"/>
          </a:p>
        </p:txBody>
      </p:sp>
      <p:sp>
        <p:nvSpPr>
          <p:cNvPr id="20" name="Text 18"/>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Familiar Nine · December 2026 link proposal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Will my basic pay change?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Basic pay follows your contracted hours</a:t>
            </a:r>
            <a:endParaRPr lang="en-US" sz="1500" dirty="0"/>
          </a:p>
        </p:txBody>
      </p:sp>
      <p:sp>
        <p:nvSpPr>
          <p:cNvPr id="4" name="Text 2"/>
          <p:cNvSpPr txBox="1"/>
          <p:nvPr/>
        </p:nvSpPr>
        <p:spPr>
          <a:xfrm>
            <a:off x="4846320" y="1417320"/>
            <a:ext cx="192024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766560" y="1417320"/>
            <a:ext cx="192024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Familiar Nine</a:t>
            </a:r>
            <a:endParaRPr lang="en-US" sz="1300" dirty="0"/>
          </a:p>
        </p:txBody>
      </p:sp>
      <p:sp>
        <p:nvSpPr>
          <p:cNvPr id="6" name="Shape 4"/>
          <p:cNvSpPr/>
          <p:nvPr/>
        </p:nvSpPr>
        <p:spPr>
          <a:xfrm>
            <a:off x="457200" y="1801368"/>
            <a:ext cx="8229600" cy="475488"/>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420624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Contracted hours a week</a:t>
            </a:r>
            <a:endParaRPr lang="en-US" sz="1400" dirty="0"/>
          </a:p>
        </p:txBody>
      </p:sp>
      <p:sp>
        <p:nvSpPr>
          <p:cNvPr id="8" name="Text 6"/>
          <p:cNvSpPr txBox="1"/>
          <p:nvPr/>
        </p:nvSpPr>
        <p:spPr>
          <a:xfrm>
            <a:off x="4846320" y="1801368"/>
            <a:ext cx="192024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35h</a:t>
            </a:r>
            <a:endParaRPr lang="en-US" sz="1600" dirty="0"/>
          </a:p>
        </p:txBody>
      </p:sp>
      <p:sp>
        <p:nvSpPr>
          <p:cNvPr id="9" name="Text 7"/>
          <p:cNvSpPr txBox="1"/>
          <p:nvPr/>
        </p:nvSpPr>
        <p:spPr>
          <a:xfrm>
            <a:off x="6766560" y="1801368"/>
            <a:ext cx="1920240" cy="475488"/>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35h</a:t>
            </a:r>
            <a:endParaRPr lang="en-US" sz="1800" dirty="0"/>
          </a:p>
        </p:txBody>
      </p:sp>
      <p:sp>
        <p:nvSpPr>
          <p:cNvPr id="10" name="Shape 8"/>
          <p:cNvSpPr/>
          <p:nvPr/>
        </p:nvSpPr>
        <p:spPr>
          <a:xfrm>
            <a:off x="457200" y="2368296"/>
            <a:ext cx="8229600" cy="475488"/>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368296"/>
            <a:ext cx="420624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Saturdays a year, at time and a quarter</a:t>
            </a:r>
            <a:endParaRPr lang="en-US" sz="1400" dirty="0"/>
          </a:p>
        </p:txBody>
      </p:sp>
      <p:sp>
        <p:nvSpPr>
          <p:cNvPr id="12" name="Text 10"/>
          <p:cNvSpPr txBox="1"/>
          <p:nvPr/>
        </p:nvSpPr>
        <p:spPr>
          <a:xfrm>
            <a:off x="4846320" y="2368296"/>
            <a:ext cx="192024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26</a:t>
            </a:r>
            <a:endParaRPr lang="en-US" sz="1600" dirty="0"/>
          </a:p>
        </p:txBody>
      </p:sp>
      <p:sp>
        <p:nvSpPr>
          <p:cNvPr id="13" name="Text 11"/>
          <p:cNvSpPr txBox="1"/>
          <p:nvPr/>
        </p:nvSpPr>
        <p:spPr>
          <a:xfrm>
            <a:off x="6766560" y="2368296"/>
            <a:ext cx="1920240" cy="475488"/>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30</a:t>
            </a:r>
            <a:endParaRPr lang="en-US" sz="1800" dirty="0"/>
          </a:p>
        </p:txBody>
      </p:sp>
      <p:sp>
        <p:nvSpPr>
          <p:cNvPr id="14" name="Shape 12"/>
          <p:cNvSpPr/>
          <p:nvPr/>
        </p:nvSpPr>
        <p:spPr>
          <a:xfrm>
            <a:off x="457200" y="2935224"/>
            <a:ext cx="8229600" cy="475488"/>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935224"/>
            <a:ext cx="420624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Sunday overtime to share — each, a year</a:t>
            </a:r>
            <a:endParaRPr lang="en-US" sz="1400" dirty="0"/>
          </a:p>
        </p:txBody>
      </p:sp>
      <p:sp>
        <p:nvSpPr>
          <p:cNvPr id="16" name="Text 14"/>
          <p:cNvSpPr txBox="1"/>
          <p:nvPr/>
        </p:nvSpPr>
        <p:spPr>
          <a:xfrm>
            <a:off x="4846320" y="2935224"/>
            <a:ext cx="192024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21</a:t>
            </a:r>
            <a:endParaRPr lang="en-US" sz="1600" dirty="0"/>
          </a:p>
        </p:txBody>
      </p:sp>
      <p:sp>
        <p:nvSpPr>
          <p:cNvPr id="17" name="Text 15"/>
          <p:cNvSpPr txBox="1"/>
          <p:nvPr/>
        </p:nvSpPr>
        <p:spPr>
          <a:xfrm>
            <a:off x="6766560" y="2935224"/>
            <a:ext cx="1920240" cy="475488"/>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22</a:t>
            </a:r>
            <a:endParaRPr lang="en-US" sz="1800" dirty="0"/>
          </a:p>
        </p:txBody>
      </p:sp>
      <p:sp>
        <p:nvSpPr>
          <p:cNvPr id="18" name="Shape 16"/>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19" name="Text 17"/>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No. The same 35-hour week — plus about four more Saturdays at time and a quarter.</a:t>
            </a:r>
            <a:endParaRPr lang="en-US" sz="1400" dirty="0"/>
          </a:p>
        </p:txBody>
      </p:sp>
      <p:sp>
        <p:nvSpPr>
          <p:cNvPr id="20" name="Text 18"/>
          <p:cNvSpPr txBox="1"/>
          <p:nvPr/>
        </p:nvSpPr>
        <p:spPr>
          <a:xfrm>
            <a:off x="4023360" y="4754880"/>
            <a:ext cx="4663440" cy="310896"/>
          </a:xfrm>
          <a:prstGeom prst="rect">
            <a:avLst/>
          </a:prstGeom>
          <a:noFill/>
          <a:ln/>
        </p:spPr>
        <p:txBody>
          <a:bodyPr wrap="square" lIns="0" tIns="0" rIns="0" bIns="0" rtlCol="0" anchor="t"/>
          <a:lstStyle/>
          <a:p>
            <a:pPr algn="r" indent="0" marL="0">
              <a:buNone/>
            </a:pPr>
            <a:r>
              <a:rPr lang="en-US" sz="850" i="1" dirty="0">
                <a:solidFill>
                  <a:srgbClr val="5B6778"/>
                </a:solidFill>
                <a:latin typeface="Inter" pitchFamily="34" charset="0"/>
                <a:ea typeface="Inter" pitchFamily="34" charset="-122"/>
                <a:cs typeface="Inter" pitchFamily="34" charset="-120"/>
              </a:rPr>
              <a:t>Yearly figures are averages from the fixed rota; cover-week duties are not included.</a:t>
            </a:r>
            <a:endParaRPr lang="en-US" sz="850" dirty="0"/>
          </a:p>
        </p:txBody>
      </p:sp>
      <p:sp>
        <p:nvSpPr>
          <p:cNvPr id="21" name="Text 19"/>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Familiar Nine · December 2026 link proposal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Will my shifts be longer?</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Every closing shift gets shorter — the average goes up six minutes</a:t>
            </a:r>
            <a:endParaRPr lang="en-US" sz="1500" dirty="0"/>
          </a:p>
        </p:txBody>
      </p:sp>
      <p:sp>
        <p:nvSpPr>
          <p:cNvPr id="4" name="Text 2"/>
          <p:cNvSpPr txBox="1"/>
          <p:nvPr/>
        </p:nvSpPr>
        <p:spPr>
          <a:xfrm>
            <a:off x="4663440" y="1417320"/>
            <a:ext cx="201168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675120" y="1417320"/>
            <a:ext cx="201168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Familiar Nine</a:t>
            </a:r>
            <a:endParaRPr lang="en-US" sz="1300" dirty="0"/>
          </a:p>
        </p:txBody>
      </p:sp>
      <p:sp>
        <p:nvSpPr>
          <p:cNvPr id="6" name="Shape 4"/>
          <p:cNvSpPr/>
          <p:nvPr/>
        </p:nvSpPr>
        <p:spPr>
          <a:xfrm>
            <a:off x="457200" y="1801368"/>
            <a:ext cx="8229600" cy="365760"/>
          </a:xfrm>
          <a:prstGeom prst="roundRect">
            <a:avLst>
              <a:gd name="adj" fmla="val 15000"/>
            </a:avLst>
          </a:prstGeom>
          <a:solidFill>
            <a:srgbClr val="EEF2F7"/>
          </a:solidFill>
          <a:ln w="12700">
            <a:solidFill>
              <a:srgbClr val="EEF2F7"/>
            </a:solidFill>
            <a:prstDash val="solid"/>
          </a:ln>
        </p:spPr>
      </p:sp>
      <p:sp>
        <p:nvSpPr>
          <p:cNvPr id="7" name="Text 5"/>
          <p:cNvSpPr txBox="1"/>
          <p:nvPr/>
        </p:nvSpPr>
        <p:spPr>
          <a:xfrm>
            <a:off x="640080" y="18013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Weekday closer — starts 15:45, not 15:15</a:t>
            </a:r>
            <a:endParaRPr lang="en-US" sz="1400" dirty="0"/>
          </a:p>
        </p:txBody>
      </p:sp>
      <p:sp>
        <p:nvSpPr>
          <p:cNvPr id="8" name="Text 6"/>
          <p:cNvSpPr txBox="1"/>
          <p:nvPr/>
        </p:nvSpPr>
        <p:spPr>
          <a:xfrm>
            <a:off x="4663440" y="18013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8h 40m</a:t>
            </a:r>
            <a:endParaRPr lang="en-US" sz="1600" dirty="0"/>
          </a:p>
        </p:txBody>
      </p:sp>
      <p:sp>
        <p:nvSpPr>
          <p:cNvPr id="9" name="Text 7"/>
          <p:cNvSpPr txBox="1"/>
          <p:nvPr/>
        </p:nvSpPr>
        <p:spPr>
          <a:xfrm>
            <a:off x="6675120" y="18013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8h 10m</a:t>
            </a:r>
            <a:endParaRPr lang="en-US" sz="1800" dirty="0"/>
          </a:p>
        </p:txBody>
      </p:sp>
      <p:sp>
        <p:nvSpPr>
          <p:cNvPr id="10" name="Shape 8"/>
          <p:cNvSpPr/>
          <p:nvPr/>
        </p:nvSpPr>
        <p:spPr>
          <a:xfrm>
            <a:off x="457200" y="2258568"/>
            <a:ext cx="8229600" cy="365760"/>
          </a:xfrm>
          <a:prstGeom prst="roundRect">
            <a:avLst>
              <a:gd name="adj" fmla="val 15000"/>
            </a:avLst>
          </a:prstGeom>
          <a:solidFill>
            <a:srgbClr val="FFFFFF"/>
          </a:solidFill>
          <a:ln w="12700">
            <a:solidFill>
              <a:srgbClr val="DDE3EA"/>
            </a:solidFill>
            <a:prstDash val="solid"/>
          </a:ln>
        </p:spPr>
      </p:sp>
      <p:sp>
        <p:nvSpPr>
          <p:cNvPr id="11" name="Text 9"/>
          <p:cNvSpPr txBox="1"/>
          <p:nvPr/>
        </p:nvSpPr>
        <p:spPr>
          <a:xfrm>
            <a:off x="640080" y="22585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Saturday closer — starts 15:15, not 14:45</a:t>
            </a:r>
            <a:endParaRPr lang="en-US" sz="1400" dirty="0"/>
          </a:p>
        </p:txBody>
      </p:sp>
      <p:sp>
        <p:nvSpPr>
          <p:cNvPr id="12" name="Text 10"/>
          <p:cNvSpPr txBox="1"/>
          <p:nvPr/>
        </p:nvSpPr>
        <p:spPr>
          <a:xfrm>
            <a:off x="4663440" y="22585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9h 10m</a:t>
            </a:r>
            <a:endParaRPr lang="en-US" sz="1600" dirty="0"/>
          </a:p>
        </p:txBody>
      </p:sp>
      <p:sp>
        <p:nvSpPr>
          <p:cNvPr id="13" name="Text 11"/>
          <p:cNvSpPr txBox="1"/>
          <p:nvPr/>
        </p:nvSpPr>
        <p:spPr>
          <a:xfrm>
            <a:off x="6675120" y="22585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8h 40m</a:t>
            </a:r>
            <a:endParaRPr lang="en-US" sz="1800" dirty="0"/>
          </a:p>
        </p:txBody>
      </p:sp>
      <p:sp>
        <p:nvSpPr>
          <p:cNvPr id="14" name="Shape 12"/>
          <p:cNvSpPr/>
          <p:nvPr/>
        </p:nvSpPr>
        <p:spPr>
          <a:xfrm>
            <a:off x="457200" y="2715768"/>
            <a:ext cx="8229600" cy="365760"/>
          </a:xfrm>
          <a:prstGeom prst="roundRect">
            <a:avLst>
              <a:gd name="adj" fmla="val 15000"/>
            </a:avLst>
          </a:prstGeom>
          <a:solidFill>
            <a:srgbClr val="EEF2F7"/>
          </a:solidFill>
          <a:ln w="12700">
            <a:solidFill>
              <a:srgbClr val="EEF2F7"/>
            </a:solidFill>
            <a:prstDash val="solid"/>
          </a:ln>
        </p:spPr>
      </p:sp>
      <p:sp>
        <p:nvSpPr>
          <p:cNvPr id="15" name="Text 13"/>
          <p:cNvSpPr txBox="1"/>
          <p:nvPr/>
        </p:nvSpPr>
        <p:spPr>
          <a:xfrm>
            <a:off x="640080" y="27157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Sunday closer — starts 15:15, not 14:30</a:t>
            </a:r>
            <a:endParaRPr lang="en-US" sz="1400" dirty="0"/>
          </a:p>
        </p:txBody>
      </p:sp>
      <p:sp>
        <p:nvSpPr>
          <p:cNvPr id="16" name="Text 14"/>
          <p:cNvSpPr txBox="1"/>
          <p:nvPr/>
        </p:nvSpPr>
        <p:spPr>
          <a:xfrm>
            <a:off x="4663440" y="27157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8h 55m</a:t>
            </a:r>
            <a:endParaRPr lang="en-US" sz="1600" dirty="0"/>
          </a:p>
        </p:txBody>
      </p:sp>
      <p:sp>
        <p:nvSpPr>
          <p:cNvPr id="17" name="Text 15"/>
          <p:cNvSpPr txBox="1"/>
          <p:nvPr/>
        </p:nvSpPr>
        <p:spPr>
          <a:xfrm>
            <a:off x="6675120" y="27157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8h 10m</a:t>
            </a:r>
            <a:endParaRPr lang="en-US" sz="1800" dirty="0"/>
          </a:p>
        </p:txBody>
      </p:sp>
      <p:sp>
        <p:nvSpPr>
          <p:cNvPr id="18" name="Shape 16"/>
          <p:cNvSpPr/>
          <p:nvPr/>
        </p:nvSpPr>
        <p:spPr>
          <a:xfrm>
            <a:off x="457200" y="3172968"/>
            <a:ext cx="8229600" cy="365760"/>
          </a:xfrm>
          <a:prstGeom prst="roundRect">
            <a:avLst>
              <a:gd name="adj" fmla="val 15000"/>
            </a:avLst>
          </a:prstGeom>
          <a:solidFill>
            <a:srgbClr val="FFFFFF"/>
          </a:solidFill>
          <a:ln w="12700">
            <a:solidFill>
              <a:srgbClr val="DDE3EA"/>
            </a:solidFill>
            <a:prstDash val="solid"/>
          </a:ln>
        </p:spPr>
      </p:sp>
      <p:sp>
        <p:nvSpPr>
          <p:cNvPr id="19" name="Text 17"/>
          <p:cNvSpPr txBox="1"/>
          <p:nvPr/>
        </p:nvSpPr>
        <p:spPr>
          <a:xfrm>
            <a:off x="640080" y="31729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Longest shift anywhere</a:t>
            </a:r>
            <a:endParaRPr lang="en-US" sz="1400" dirty="0"/>
          </a:p>
        </p:txBody>
      </p:sp>
      <p:sp>
        <p:nvSpPr>
          <p:cNvPr id="20" name="Text 18"/>
          <p:cNvSpPr txBox="1"/>
          <p:nvPr/>
        </p:nvSpPr>
        <p:spPr>
          <a:xfrm>
            <a:off x="4663440" y="31729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9h 10m</a:t>
            </a:r>
            <a:endParaRPr lang="en-US" sz="1600" dirty="0"/>
          </a:p>
        </p:txBody>
      </p:sp>
      <p:sp>
        <p:nvSpPr>
          <p:cNvPr id="21" name="Text 19"/>
          <p:cNvSpPr txBox="1"/>
          <p:nvPr/>
        </p:nvSpPr>
        <p:spPr>
          <a:xfrm>
            <a:off x="6675120" y="31729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9h 00m</a:t>
            </a:r>
            <a:endParaRPr lang="en-US" sz="1800" dirty="0"/>
          </a:p>
        </p:txBody>
      </p:sp>
      <p:sp>
        <p:nvSpPr>
          <p:cNvPr id="22" name="Shape 20"/>
          <p:cNvSpPr/>
          <p:nvPr/>
        </p:nvSpPr>
        <p:spPr>
          <a:xfrm>
            <a:off x="457200" y="3630168"/>
            <a:ext cx="8229600" cy="365760"/>
          </a:xfrm>
          <a:prstGeom prst="roundRect">
            <a:avLst>
              <a:gd name="adj" fmla="val 15000"/>
            </a:avLst>
          </a:prstGeom>
          <a:solidFill>
            <a:srgbClr val="EEF2F7"/>
          </a:solidFill>
          <a:ln w="12700">
            <a:solidFill>
              <a:srgbClr val="EEF2F7"/>
            </a:solidFill>
            <a:prstDash val="solid"/>
          </a:ln>
        </p:spPr>
      </p:sp>
      <p:sp>
        <p:nvSpPr>
          <p:cNvPr id="23" name="Text 21"/>
          <p:cNvSpPr txBox="1"/>
          <p:nvPr/>
        </p:nvSpPr>
        <p:spPr>
          <a:xfrm>
            <a:off x="640080" y="36301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Average shift</a:t>
            </a:r>
            <a:endParaRPr lang="en-US" sz="1400" dirty="0"/>
          </a:p>
        </p:txBody>
      </p:sp>
      <p:sp>
        <p:nvSpPr>
          <p:cNvPr id="24" name="Text 22"/>
          <p:cNvSpPr txBox="1"/>
          <p:nvPr/>
        </p:nvSpPr>
        <p:spPr>
          <a:xfrm>
            <a:off x="4663440" y="36301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8h 14m</a:t>
            </a:r>
            <a:endParaRPr lang="en-US" sz="1600" dirty="0"/>
          </a:p>
        </p:txBody>
      </p:sp>
      <p:sp>
        <p:nvSpPr>
          <p:cNvPr id="25" name="Text 23"/>
          <p:cNvSpPr txBox="1"/>
          <p:nvPr/>
        </p:nvSpPr>
        <p:spPr>
          <a:xfrm>
            <a:off x="6675120" y="3630168"/>
            <a:ext cx="2011680" cy="365760"/>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8h 20m</a:t>
            </a:r>
            <a:endParaRPr lang="en-US" sz="1800" dirty="0"/>
          </a:p>
        </p:txBody>
      </p:sp>
      <p:sp>
        <p:nvSpPr>
          <p:cNvPr id="26" name="Shape 24"/>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7" name="Text 25"/>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Every closing shift is 30 to 45 minutes shorter, and nothing runs over 9 hours.</a:t>
            </a:r>
            <a:endParaRPr lang="en-US" sz="1400" dirty="0"/>
          </a:p>
        </p:txBody>
      </p:sp>
      <p:sp>
        <p:nvSpPr>
          <p:cNvPr id="28" name="Text 26"/>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Familiar Nine · December 2026 link proposal ·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Will I finish late more often?</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Yes — about one extra late finish every two or three weeks</a:t>
            </a:r>
            <a:endParaRPr lang="en-US" sz="1500" dirty="0"/>
          </a:p>
        </p:txBody>
      </p:sp>
      <p:sp>
        <p:nvSpPr>
          <p:cNvPr id="4" name="Text 2"/>
          <p:cNvSpPr txBox="1"/>
          <p:nvPr/>
        </p:nvSpPr>
        <p:spPr>
          <a:xfrm>
            <a:off x="4846320" y="1417320"/>
            <a:ext cx="192024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766560" y="1417320"/>
            <a:ext cx="192024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Familiar Nine</a:t>
            </a:r>
            <a:endParaRPr lang="en-US" sz="1300" dirty="0"/>
          </a:p>
        </p:txBody>
      </p:sp>
      <p:sp>
        <p:nvSpPr>
          <p:cNvPr id="6" name="Shape 4"/>
          <p:cNvSpPr/>
          <p:nvPr/>
        </p:nvSpPr>
        <p:spPr>
          <a:xfrm>
            <a:off x="457200" y="1801368"/>
            <a:ext cx="8229600" cy="475488"/>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420624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Finishing at 23:00 or later — each, a year</a:t>
            </a:r>
            <a:endParaRPr lang="en-US" sz="1400" dirty="0"/>
          </a:p>
        </p:txBody>
      </p:sp>
      <p:sp>
        <p:nvSpPr>
          <p:cNvPr id="8" name="Text 6"/>
          <p:cNvSpPr txBox="1"/>
          <p:nvPr/>
        </p:nvSpPr>
        <p:spPr>
          <a:xfrm>
            <a:off x="4846320" y="1801368"/>
            <a:ext cx="192024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39</a:t>
            </a:r>
            <a:endParaRPr lang="en-US" sz="1600" dirty="0"/>
          </a:p>
        </p:txBody>
      </p:sp>
      <p:sp>
        <p:nvSpPr>
          <p:cNvPr id="9" name="Text 7"/>
          <p:cNvSpPr txBox="1"/>
          <p:nvPr/>
        </p:nvSpPr>
        <p:spPr>
          <a:xfrm>
            <a:off x="6766560" y="1801368"/>
            <a:ext cx="1920240" cy="475488"/>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59</a:t>
            </a:r>
            <a:endParaRPr lang="en-US" sz="1800" dirty="0"/>
          </a:p>
        </p:txBody>
      </p:sp>
      <p:sp>
        <p:nvSpPr>
          <p:cNvPr id="10" name="Shape 8"/>
          <p:cNvSpPr/>
          <p:nvPr/>
        </p:nvSpPr>
        <p:spPr>
          <a:xfrm>
            <a:off x="457200" y="2368296"/>
            <a:ext cx="8229600" cy="475488"/>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368296"/>
            <a:ext cx="420624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Finishing at 22:00 or later — each, a year</a:t>
            </a:r>
            <a:endParaRPr lang="en-US" sz="1400" dirty="0"/>
          </a:p>
        </p:txBody>
      </p:sp>
      <p:sp>
        <p:nvSpPr>
          <p:cNvPr id="12" name="Text 10"/>
          <p:cNvSpPr txBox="1"/>
          <p:nvPr/>
        </p:nvSpPr>
        <p:spPr>
          <a:xfrm>
            <a:off x="4846320" y="2368296"/>
            <a:ext cx="192024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78</a:t>
            </a:r>
            <a:endParaRPr lang="en-US" sz="1600" dirty="0"/>
          </a:p>
        </p:txBody>
      </p:sp>
      <p:sp>
        <p:nvSpPr>
          <p:cNvPr id="13" name="Text 11"/>
          <p:cNvSpPr txBox="1"/>
          <p:nvPr/>
        </p:nvSpPr>
        <p:spPr>
          <a:xfrm>
            <a:off x="6766560" y="2368296"/>
            <a:ext cx="1920240" cy="475488"/>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91</a:t>
            </a:r>
            <a:endParaRPr lang="en-US" sz="1800" dirty="0"/>
          </a:p>
        </p:txBody>
      </p:sp>
      <p:sp>
        <p:nvSpPr>
          <p:cNvPr id="14" name="Shape 12"/>
          <p:cNvSpPr/>
          <p:nvPr/>
        </p:nvSpPr>
        <p:spPr>
          <a:xfrm>
            <a:off x="457200" y="2935224"/>
            <a:ext cx="8229600" cy="475488"/>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935224"/>
            <a:ext cx="420624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Starting at 06:20 — each, a year</a:t>
            </a:r>
            <a:endParaRPr lang="en-US" sz="1400" dirty="0"/>
          </a:p>
        </p:txBody>
      </p:sp>
      <p:sp>
        <p:nvSpPr>
          <p:cNvPr id="16" name="Text 14"/>
          <p:cNvSpPr txBox="1"/>
          <p:nvPr/>
        </p:nvSpPr>
        <p:spPr>
          <a:xfrm>
            <a:off x="4846320" y="2935224"/>
            <a:ext cx="192024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62</a:t>
            </a:r>
            <a:endParaRPr lang="en-US" sz="1600" dirty="0"/>
          </a:p>
        </p:txBody>
      </p:sp>
      <p:sp>
        <p:nvSpPr>
          <p:cNvPr id="17" name="Text 15"/>
          <p:cNvSpPr txBox="1"/>
          <p:nvPr/>
        </p:nvSpPr>
        <p:spPr>
          <a:xfrm>
            <a:off x="6766560" y="2935224"/>
            <a:ext cx="1920240" cy="475488"/>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65</a:t>
            </a:r>
            <a:endParaRPr lang="en-US" sz="1800" dirty="0"/>
          </a:p>
        </p:txBody>
      </p:sp>
      <p:sp>
        <p:nvSpPr>
          <p:cNvPr id="18" name="Shape 16"/>
          <p:cNvSpPr/>
          <p:nvPr/>
        </p:nvSpPr>
        <p:spPr>
          <a:xfrm>
            <a:off x="457200" y="3502152"/>
            <a:ext cx="8229600" cy="475488"/>
          </a:xfrm>
          <a:prstGeom prst="roundRect">
            <a:avLst>
              <a:gd name="adj" fmla="val 11538"/>
            </a:avLst>
          </a:prstGeom>
          <a:solidFill>
            <a:srgbClr val="FFFFFF"/>
          </a:solidFill>
          <a:ln w="12700">
            <a:solidFill>
              <a:srgbClr val="DDE3EA"/>
            </a:solidFill>
            <a:prstDash val="solid"/>
          </a:ln>
        </p:spPr>
      </p:sp>
      <p:sp>
        <p:nvSpPr>
          <p:cNvPr id="19" name="Text 17"/>
          <p:cNvSpPr txBox="1"/>
          <p:nvPr/>
        </p:nvSpPr>
        <p:spPr>
          <a:xfrm>
            <a:off x="640080" y="3502152"/>
            <a:ext cx="420624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Shortest gap between two shifts</a:t>
            </a:r>
            <a:endParaRPr lang="en-US" sz="1400" dirty="0"/>
          </a:p>
        </p:txBody>
      </p:sp>
      <p:sp>
        <p:nvSpPr>
          <p:cNvPr id="20" name="Text 18"/>
          <p:cNvSpPr txBox="1"/>
          <p:nvPr/>
        </p:nvSpPr>
        <p:spPr>
          <a:xfrm>
            <a:off x="4846320" y="3502152"/>
            <a:ext cx="192024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12h 30m</a:t>
            </a:r>
            <a:endParaRPr lang="en-US" sz="1600" dirty="0"/>
          </a:p>
        </p:txBody>
      </p:sp>
      <p:sp>
        <p:nvSpPr>
          <p:cNvPr id="21" name="Text 19"/>
          <p:cNvSpPr txBox="1"/>
          <p:nvPr/>
        </p:nvSpPr>
        <p:spPr>
          <a:xfrm>
            <a:off x="6766560" y="3502152"/>
            <a:ext cx="192024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14h 20m</a:t>
            </a:r>
            <a:endParaRPr lang="en-US" sz="18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More late finishes, only partly from the rules — but every closing shift is shorter.</a:t>
            </a:r>
            <a:endParaRPr lang="en-US" sz="1400" dirty="0"/>
          </a:p>
        </p:txBody>
      </p:sp>
      <p:sp>
        <p:nvSpPr>
          <p:cNvPr id="24" name="Text 22"/>
          <p:cNvSpPr txBox="1"/>
          <p:nvPr/>
        </p:nvSpPr>
        <p:spPr>
          <a:xfrm>
            <a:off x="4023360" y="4754880"/>
            <a:ext cx="4663440" cy="310896"/>
          </a:xfrm>
          <a:prstGeom prst="rect">
            <a:avLst/>
          </a:prstGeom>
          <a:noFill/>
          <a:ln/>
        </p:spPr>
        <p:txBody>
          <a:bodyPr wrap="square" lIns="0" tIns="0" rIns="0" bIns="0" rtlCol="0" anchor="t"/>
          <a:lstStyle/>
          <a:p>
            <a:pPr algn="r" indent="0" marL="0">
              <a:buNone/>
            </a:pPr>
            <a:r>
              <a:rPr lang="en-US" sz="850" i="1" dirty="0">
                <a:solidFill>
                  <a:srgbClr val="5B6778"/>
                </a:solidFill>
                <a:latin typeface="Inter" pitchFamily="34" charset="0"/>
                <a:ea typeface="Inter" pitchFamily="34" charset="-122"/>
                <a:cs typeface="Inter" pitchFamily="34" charset="-120"/>
              </a:rPr>
              <a:t>Yearly figures are averages from the fixed rota; cover-week duties are not included.</a:t>
            </a:r>
            <a:endParaRPr lang="en-US" sz="850" dirty="0"/>
          </a:p>
        </p:txBody>
      </p:sp>
      <p:sp>
        <p:nvSpPr>
          <p:cNvPr id="25" name="Text 23"/>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Familiar Nine · December 2026 link proposal ·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Will I know the times?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16 shift times in all — 8 of them you already work</a:t>
            </a:r>
            <a:endParaRPr lang="en-US" sz="1500" dirty="0"/>
          </a:p>
        </p:txBody>
      </p:sp>
      <p:sp>
        <p:nvSpPr>
          <p:cNvPr id="4" name="Shape 2"/>
          <p:cNvSpPr/>
          <p:nvPr/>
        </p:nvSpPr>
        <p:spPr>
          <a:xfrm>
            <a:off x="457200" y="1371600"/>
            <a:ext cx="3291840" cy="2651760"/>
          </a:xfrm>
          <a:prstGeom prst="roundRect">
            <a:avLst>
              <a:gd name="adj" fmla="val 3448"/>
            </a:avLst>
          </a:prstGeom>
          <a:solidFill>
            <a:srgbClr val="EEF2F7"/>
          </a:solidFill>
          <a:ln w="12700">
            <a:solidFill>
              <a:srgbClr val="EEF2F7"/>
            </a:solidFill>
            <a:prstDash val="solid"/>
          </a:ln>
        </p:spPr>
      </p:sp>
      <p:sp>
        <p:nvSpPr>
          <p:cNvPr id="5" name="Shape 3"/>
          <p:cNvSpPr/>
          <p:nvPr/>
        </p:nvSpPr>
        <p:spPr>
          <a:xfrm>
            <a:off x="640080" y="1508760"/>
            <a:ext cx="411480" cy="411480"/>
          </a:xfrm>
          <a:prstGeom prst="ellipse">
            <a:avLst/>
          </a:prstGeom>
          <a:solidFill>
            <a:srgbClr val="F5C800"/>
          </a:solidFill>
          <a:ln w="12700">
            <a:solidFill>
              <a:srgbClr val="F5C800"/>
            </a:solidFill>
            <a:prstDash val="solid"/>
          </a:ln>
        </p:spPr>
      </p:sp>
      <p:pic>
        <p:nvPicPr>
          <p:cNvPr id="6" name="Image 0" descr="preencoded.png">    </p:cNvPr>
          <p:cNvPicPr>
            <a:picLocks noChangeAspect="1"/>
          </p:cNvPicPr>
          <p:nvPr/>
        </p:nvPicPr>
        <p:blipFill>
          <a:blip r:embed="rId1"/>
          <a:stretch>
            <a:fillRect/>
          </a:stretch>
        </p:blipFill>
        <p:spPr>
          <a:xfrm>
            <a:off x="730606" y="1599286"/>
            <a:ext cx="230429" cy="230429"/>
          </a:xfrm>
          <a:prstGeom prst="rect">
            <a:avLst/>
          </a:prstGeom>
        </p:spPr>
      </p:pic>
      <p:sp>
        <p:nvSpPr>
          <p:cNvPr id="7" name="Text 4"/>
          <p:cNvSpPr txBox="1"/>
          <p:nvPr/>
        </p:nvSpPr>
        <p:spPr>
          <a:xfrm>
            <a:off x="1188720" y="1508760"/>
            <a:ext cx="2377440" cy="411480"/>
          </a:xfrm>
          <a:prstGeom prst="rect">
            <a:avLst/>
          </a:prstGeom>
          <a:noFill/>
          <a:ln/>
        </p:spPr>
        <p:txBody>
          <a:bodyPr wrap="square" lIns="0" tIns="0" rIns="0" bIns="0" rtlCol="0" anchor="ctr"/>
          <a:lstStyle/>
          <a:p>
            <a:pPr indent="0" marL="0">
              <a:buNone/>
            </a:pPr>
            <a:r>
              <a:rPr lang="en-US" sz="1500" b="1" dirty="0">
                <a:solidFill>
                  <a:srgbClr val="1E7B4B"/>
                </a:solidFill>
                <a:latin typeface="Inter" pitchFamily="34" charset="0"/>
                <a:ea typeface="Inter" pitchFamily="34" charset="-122"/>
                <a:cs typeface="Inter" pitchFamily="34" charset="-120"/>
              </a:rPr>
              <a:t>You work these today (8)</a:t>
            </a:r>
            <a:endParaRPr lang="en-US" sz="1500" dirty="0"/>
          </a:p>
        </p:txBody>
      </p:sp>
      <p:sp>
        <p:nvSpPr>
          <p:cNvPr id="8" name="Text 5"/>
          <p:cNvSpPr txBox="1"/>
          <p:nvPr/>
        </p:nvSpPr>
        <p:spPr>
          <a:xfrm>
            <a:off x="685800" y="2011680"/>
            <a:ext cx="2926080" cy="1965960"/>
          </a:xfrm>
          <a:prstGeom prst="rect">
            <a:avLst/>
          </a:prstGeom>
          <a:noFill/>
          <a:ln/>
        </p:spPr>
        <p:txBody>
          <a:bodyPr wrap="square" lIns="0" tIns="0" rIns="0" bIns="0" rtlCol="0" anchor="t"/>
          <a:lstStyle/>
          <a:p>
            <a:pPr marL="152400" indent="-152400">
              <a:spcAft>
                <a:spcPts val="200"/>
              </a:spcAft>
              <a:buSzPct val="100000"/>
              <a:buChar char="•"/>
            </a:pPr>
            <a:r>
              <a:rPr lang="en-US" sz="1200" dirty="0">
                <a:solidFill>
                  <a:srgbClr val="1B2533"/>
                </a:solidFill>
                <a:latin typeface="Inter" pitchFamily="34" charset="0"/>
                <a:ea typeface="Inter" pitchFamily="34" charset="-122"/>
                <a:cs typeface="Inter" pitchFamily="34" charset="-120"/>
              </a:rPr>
              <a:t>06:20–13:35 · 06:20–14:20</a:t>
            </a:r>
            <a:endParaRPr lang="en-US" sz="1200" dirty="0"/>
          </a:p>
          <a:p>
            <a:pPr marL="152400" indent="-152400">
              <a:spcAft>
                <a:spcPts val="200"/>
              </a:spcAft>
              <a:buSzPct val="100000"/>
              <a:buChar char="•"/>
            </a:pPr>
            <a:r>
              <a:rPr lang="en-US" sz="1200" dirty="0">
                <a:solidFill>
                  <a:srgbClr val="1B2533"/>
                </a:solidFill>
                <a:latin typeface="Inter" pitchFamily="34" charset="0"/>
                <a:ea typeface="Inter" pitchFamily="34" charset="-122"/>
                <a:cs typeface="Inter" pitchFamily="34" charset="-120"/>
              </a:rPr>
              <a:t>06:20–14:50 · 13:30–21:00</a:t>
            </a:r>
            <a:endParaRPr lang="en-US" sz="1200" dirty="0"/>
          </a:p>
          <a:p>
            <a:pPr marL="152400" indent="-152400">
              <a:spcAft>
                <a:spcPts val="200"/>
              </a:spcAft>
              <a:buSzPct val="100000"/>
              <a:buChar char="•"/>
            </a:pPr>
            <a:r>
              <a:rPr lang="en-US" sz="1200" dirty="0">
                <a:solidFill>
                  <a:srgbClr val="1B2533"/>
                </a:solidFill>
                <a:latin typeface="Inter" pitchFamily="34" charset="0"/>
                <a:ea typeface="Inter" pitchFamily="34" charset="-122"/>
                <a:cs typeface="Inter" pitchFamily="34" charset="-120"/>
              </a:rPr>
              <a:t>14:00–22:30 · 14:30–22:00</a:t>
            </a:r>
            <a:endParaRPr lang="en-US" sz="1200" dirty="0"/>
          </a:p>
          <a:p>
            <a:pPr marL="152400" indent="-152400">
              <a:spcAft>
                <a:spcPts val="200"/>
              </a:spcAft>
              <a:buSzPct val="100000"/>
              <a:buChar char="•"/>
            </a:pPr>
            <a:r>
              <a:rPr lang="en-US" sz="1200" dirty="0">
                <a:solidFill>
                  <a:srgbClr val="1B2533"/>
                </a:solidFill>
                <a:latin typeface="Inter" pitchFamily="34" charset="0"/>
                <a:ea typeface="Inter" pitchFamily="34" charset="-122"/>
                <a:cs typeface="Inter" pitchFamily="34" charset="-120"/>
              </a:rPr>
              <a:t>14:30–23:25 · 15:15–23:55</a:t>
            </a:r>
            <a:endParaRPr lang="en-US" sz="1200" dirty="0"/>
          </a:p>
        </p:txBody>
      </p:sp>
      <p:sp>
        <p:nvSpPr>
          <p:cNvPr id="9" name="Shape 6"/>
          <p:cNvSpPr/>
          <p:nvPr/>
        </p:nvSpPr>
        <p:spPr>
          <a:xfrm>
            <a:off x="3931920" y="1371600"/>
            <a:ext cx="4754880" cy="2651760"/>
          </a:xfrm>
          <a:prstGeom prst="roundRect">
            <a:avLst>
              <a:gd name="adj" fmla="val 3448"/>
            </a:avLst>
          </a:prstGeom>
          <a:solidFill>
            <a:srgbClr val="EEF2F7"/>
          </a:solidFill>
          <a:ln w="12700">
            <a:solidFill>
              <a:srgbClr val="EEF2F7"/>
            </a:solidFill>
            <a:prstDash val="solid"/>
          </a:ln>
        </p:spPr>
      </p:sp>
      <p:sp>
        <p:nvSpPr>
          <p:cNvPr id="10" name="Shape 7"/>
          <p:cNvSpPr/>
          <p:nvPr/>
        </p:nvSpPr>
        <p:spPr>
          <a:xfrm>
            <a:off x="4114800" y="1508760"/>
            <a:ext cx="411480" cy="411480"/>
          </a:xfrm>
          <a:prstGeom prst="ellipse">
            <a:avLst/>
          </a:prstGeom>
          <a:solidFill>
            <a:srgbClr val="F5C800"/>
          </a:solidFill>
          <a:ln w="12700">
            <a:solidFill>
              <a:srgbClr val="F5C800"/>
            </a:solidFill>
            <a:prstDash val="solid"/>
          </a:ln>
        </p:spPr>
      </p:sp>
      <p:pic>
        <p:nvPicPr>
          <p:cNvPr id="11" name="Image 1" descr="preencoded.png">    </p:cNvPr>
          <p:cNvPicPr>
            <a:picLocks noChangeAspect="1"/>
          </p:cNvPicPr>
          <p:nvPr/>
        </p:nvPicPr>
        <p:blipFill>
          <a:blip r:embed="rId2"/>
          <a:stretch>
            <a:fillRect/>
          </a:stretch>
        </p:blipFill>
        <p:spPr>
          <a:xfrm>
            <a:off x="4205326" y="1599286"/>
            <a:ext cx="230429" cy="230429"/>
          </a:xfrm>
          <a:prstGeom prst="rect">
            <a:avLst/>
          </a:prstGeom>
        </p:spPr>
      </p:pic>
      <p:sp>
        <p:nvSpPr>
          <p:cNvPr id="12" name="Text 8"/>
          <p:cNvSpPr txBox="1"/>
          <p:nvPr/>
        </p:nvSpPr>
        <p:spPr>
          <a:xfrm>
            <a:off x="4663440" y="1508760"/>
            <a:ext cx="3840480" cy="411480"/>
          </a:xfrm>
          <a:prstGeom prst="rect">
            <a:avLst/>
          </a:prstGeom>
          <a:noFill/>
          <a:ln/>
        </p:spPr>
        <p:txBody>
          <a:bodyPr wrap="square" lIns="0" tIns="0" rIns="0" bIns="0" rtlCol="0" anchor="ctr"/>
          <a:lstStyle/>
          <a:p>
            <a:pPr indent="0" marL="0">
              <a:buNone/>
            </a:pPr>
            <a:r>
              <a:rPr lang="en-US" sz="1500" b="1" dirty="0">
                <a:solidFill>
                  <a:srgbClr val="001E3C"/>
                </a:solidFill>
                <a:latin typeface="Inter" pitchFamily="34" charset="0"/>
                <a:ea typeface="Inter" pitchFamily="34" charset="-122"/>
                <a:cs typeface="Inter" pitchFamily="34" charset="-120"/>
              </a:rPr>
              <a:t>New times (8)</a:t>
            </a:r>
            <a:endParaRPr lang="en-US" sz="1500" dirty="0"/>
          </a:p>
        </p:txBody>
      </p:sp>
      <p:sp>
        <p:nvSpPr>
          <p:cNvPr id="13" name="Text 9"/>
          <p:cNvSpPr txBox="1"/>
          <p:nvPr/>
        </p:nvSpPr>
        <p:spPr>
          <a:xfrm>
            <a:off x="4160520" y="2011680"/>
            <a:ext cx="4389120" cy="1965960"/>
          </a:xfrm>
          <a:prstGeom prst="rect">
            <a:avLst/>
          </a:prstGeom>
          <a:noFill/>
          <a:ln/>
        </p:spPr>
        <p:txBody>
          <a:bodyPr wrap="square" lIns="0" tIns="0" rIns="0" bIns="0" rtlCol="0" anchor="t"/>
          <a:lstStyle/>
          <a:p>
            <a:pPr indent="0" marL="0">
              <a:spcAft>
                <a:spcPts val="100"/>
              </a:spcAft>
              <a:buNone/>
            </a:pPr>
            <a:r>
              <a:rPr lang="en-US" sz="1050" b="1" dirty="0">
                <a:solidFill>
                  <a:srgbClr val="001E3C"/>
                </a:solidFill>
                <a:latin typeface="Inter" pitchFamily="34" charset="0"/>
                <a:ea typeface="Inter" pitchFamily="34" charset="-122"/>
                <a:cs typeface="Inter" pitchFamily="34" charset="-120"/>
              </a:rPr>
              <a:t>Weekdays</a:t>
            </a:r>
            <a:endParaRPr lang="en-US" sz="1050" dirty="0"/>
          </a:p>
          <a:p>
            <a:pPr marL="152400" indent="-152400">
              <a:spcAft>
                <a:spcPts val="100"/>
              </a:spcAft>
              <a:buSzPct val="100000"/>
              <a:buChar char="•"/>
            </a:pPr>
            <a:r>
              <a:rPr lang="en-US" sz="1050" dirty="0">
                <a:solidFill>
                  <a:srgbClr val="1B2533"/>
                </a:solidFill>
                <a:latin typeface="Inter" pitchFamily="34" charset="0"/>
                <a:ea typeface="Inter" pitchFamily="34" charset="-122"/>
                <a:cs typeface="Inter" pitchFamily="34" charset="-120"/>
              </a:rPr>
              <a:t>07:00–16:00 — a new early</a:t>
            </a:r>
            <a:endParaRPr lang="en-US" sz="1050" dirty="0"/>
          </a:p>
          <a:p>
            <a:pPr marL="152400" indent="-152400">
              <a:spcAft>
                <a:spcPts val="100"/>
              </a:spcAft>
              <a:buSzPct val="100000"/>
              <a:buChar char="•"/>
            </a:pPr>
            <a:r>
              <a:rPr lang="en-US" sz="1050" dirty="0">
                <a:solidFill>
                  <a:srgbClr val="1B2533"/>
                </a:solidFill>
                <a:latin typeface="Inter" pitchFamily="34" charset="0"/>
                <a:ea typeface="Inter" pitchFamily="34" charset="-122"/>
                <a:cs typeface="Inter" pitchFamily="34" charset="-120"/>
              </a:rPr>
              <a:t>15:45–23:55 — the closer, 30 minutes later than 15:15</a:t>
            </a:r>
            <a:endParaRPr lang="en-US" sz="1050" dirty="0"/>
          </a:p>
          <a:p>
            <a:pPr indent="0" marL="0">
              <a:spcBef>
                <a:spcPts val="400"/>
              </a:spcBef>
              <a:spcAft>
                <a:spcPts val="100"/>
              </a:spcAft>
              <a:buNone/>
            </a:pPr>
            <a:r>
              <a:rPr lang="en-US" sz="1050" b="1" dirty="0">
                <a:solidFill>
                  <a:srgbClr val="001E3C"/>
                </a:solidFill>
                <a:latin typeface="Inter" pitchFamily="34" charset="0"/>
                <a:ea typeface="Inter" pitchFamily="34" charset="-122"/>
                <a:cs typeface="Inter" pitchFamily="34" charset="-120"/>
              </a:rPr>
              <a:t>Saturday</a:t>
            </a:r>
            <a:endParaRPr lang="en-US" sz="1050" dirty="0"/>
          </a:p>
          <a:p>
            <a:pPr marL="152400" indent="-152400">
              <a:spcAft>
                <a:spcPts val="100"/>
              </a:spcAft>
              <a:buSzPct val="100000"/>
              <a:buChar char="•"/>
            </a:pPr>
            <a:r>
              <a:rPr lang="en-US" sz="1050" dirty="0">
                <a:solidFill>
                  <a:srgbClr val="1B2533"/>
                </a:solidFill>
                <a:latin typeface="Inter" pitchFamily="34" charset="0"/>
                <a:ea typeface="Inter" pitchFamily="34" charset="-122"/>
                <a:cs typeface="Inter" pitchFamily="34" charset="-120"/>
              </a:rPr>
              <a:t>06:20–15:00 — ten minutes on from 06:20–14:50</a:t>
            </a:r>
            <a:endParaRPr lang="en-US" sz="1050" dirty="0"/>
          </a:p>
          <a:p>
            <a:pPr marL="152400" indent="-152400">
              <a:spcAft>
                <a:spcPts val="100"/>
              </a:spcAft>
              <a:buSzPct val="100000"/>
              <a:buChar char="•"/>
            </a:pPr>
            <a:r>
              <a:rPr lang="en-US" sz="1050" dirty="0">
                <a:solidFill>
                  <a:srgbClr val="1B2533"/>
                </a:solidFill>
                <a:latin typeface="Inter" pitchFamily="34" charset="0"/>
                <a:ea typeface="Inter" pitchFamily="34" charset="-122"/>
                <a:cs typeface="Inter" pitchFamily="34" charset="-120"/>
              </a:rPr>
              <a:t>07:30–16:30 — a new early</a:t>
            </a:r>
            <a:endParaRPr lang="en-US" sz="1050" dirty="0"/>
          </a:p>
          <a:p>
            <a:pPr indent="0" marL="0">
              <a:spcBef>
                <a:spcPts val="400"/>
              </a:spcBef>
              <a:spcAft>
                <a:spcPts val="100"/>
              </a:spcAft>
              <a:buNone/>
            </a:pPr>
            <a:r>
              <a:rPr lang="en-US" sz="1050" b="1" dirty="0">
                <a:solidFill>
                  <a:srgbClr val="001E3C"/>
                </a:solidFill>
                <a:latin typeface="Inter" pitchFamily="34" charset="0"/>
                <a:ea typeface="Inter" pitchFamily="34" charset="-122"/>
                <a:cs typeface="Inter" pitchFamily="34" charset="-120"/>
              </a:rPr>
              <a:t>Sunday</a:t>
            </a:r>
            <a:endParaRPr lang="en-US" sz="1050" dirty="0"/>
          </a:p>
          <a:p>
            <a:pPr marL="152400" indent="-152400">
              <a:spcAft>
                <a:spcPts val="100"/>
              </a:spcAft>
              <a:buSzPct val="100000"/>
              <a:buChar char="•"/>
            </a:pPr>
            <a:r>
              <a:rPr lang="en-US" sz="1050" dirty="0">
                <a:solidFill>
                  <a:srgbClr val="1B2533"/>
                </a:solidFill>
                <a:latin typeface="Inter" pitchFamily="34" charset="0"/>
                <a:ea typeface="Inter" pitchFamily="34" charset="-122"/>
                <a:cs typeface="Inter" pitchFamily="34" charset="-120"/>
              </a:rPr>
              <a:t>07:15–15:30 — the opener, 15 minutes shorter</a:t>
            </a:r>
            <a:endParaRPr lang="en-US" sz="1050" dirty="0"/>
          </a:p>
          <a:p>
            <a:pPr marL="152400" indent="-152400">
              <a:spcAft>
                <a:spcPts val="100"/>
              </a:spcAft>
              <a:buSzPct val="100000"/>
              <a:buChar char="•"/>
            </a:pPr>
            <a:r>
              <a:rPr lang="en-US" sz="1050" dirty="0">
                <a:solidFill>
                  <a:srgbClr val="1B2533"/>
                </a:solidFill>
                <a:latin typeface="Inter" pitchFamily="34" charset="0"/>
                <a:ea typeface="Inter" pitchFamily="34" charset="-122"/>
                <a:cs typeface="Inter" pitchFamily="34" charset="-120"/>
              </a:rPr>
              <a:t>15:15–23:25 — the closer, 45 minutes later than 14:30</a:t>
            </a:r>
            <a:endParaRPr lang="en-US" sz="1050" dirty="0"/>
          </a:p>
          <a:p>
            <a:pPr marL="152400" indent="-152400">
              <a:spcAft>
                <a:spcPts val="100"/>
              </a:spcAft>
              <a:buSzPct val="100000"/>
              <a:buChar char="•"/>
            </a:pPr>
            <a:r>
              <a:rPr lang="en-US" sz="1050" dirty="0">
                <a:solidFill>
                  <a:srgbClr val="1B2533"/>
                </a:solidFill>
                <a:latin typeface="Inter" pitchFamily="34" charset="0"/>
                <a:ea typeface="Inter" pitchFamily="34" charset="-122"/>
                <a:cs typeface="Inter" pitchFamily="34" charset="-120"/>
              </a:rPr>
              <a:t>09:00–18:00 — a new early, 9 hours</a:t>
            </a:r>
            <a:endParaRPr lang="en-US" sz="1050" dirty="0"/>
          </a:p>
          <a:p>
            <a:pPr marL="152400" indent="-152400">
              <a:spcAft>
                <a:spcPts val="100"/>
              </a:spcAft>
              <a:buSzPct val="100000"/>
              <a:buChar char="•"/>
            </a:pPr>
            <a:r>
              <a:rPr lang="en-US" sz="1050" dirty="0">
                <a:solidFill>
                  <a:srgbClr val="1B2533"/>
                </a:solidFill>
                <a:latin typeface="Inter" pitchFamily="34" charset="0"/>
                <a:ea typeface="Inter" pitchFamily="34" charset="-122"/>
                <a:cs typeface="Inter" pitchFamily="34" charset="-120"/>
              </a:rPr>
              <a:t>14:30–22:30 — the ticket-office late</a:t>
            </a:r>
            <a:endParaRPr lang="en-US" sz="1050" dirty="0"/>
          </a:p>
        </p:txBody>
      </p:sp>
      <p:sp>
        <p:nvSpPr>
          <p:cNvPr id="14" name="Shape 1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15" name="Text 1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Fewer shift times than today (16, not 18) — and most new ones are a small nudge.</a:t>
            </a:r>
            <a:endParaRPr lang="en-US" sz="1400" dirty="0"/>
          </a:p>
        </p:txBody>
      </p:sp>
      <p:sp>
        <p:nvSpPr>
          <p:cNvPr id="16" name="Text 1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Familiar Nine · December 2026 link proposal ·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Rest and weekends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The biggest improvement over today</a:t>
            </a:r>
            <a:endParaRPr lang="en-US" sz="1500" dirty="0"/>
          </a:p>
        </p:txBody>
      </p:sp>
      <p:sp>
        <p:nvSpPr>
          <p:cNvPr id="4" name="Text 2"/>
          <p:cNvSpPr txBox="1"/>
          <p:nvPr/>
        </p:nvSpPr>
        <p:spPr>
          <a:xfrm>
            <a:off x="4663440" y="1417320"/>
            <a:ext cx="201168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675120" y="1417320"/>
            <a:ext cx="201168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Familiar Nine</a:t>
            </a:r>
            <a:endParaRPr lang="en-US" sz="1300" dirty="0"/>
          </a:p>
        </p:txBody>
      </p:sp>
      <p:sp>
        <p:nvSpPr>
          <p:cNvPr id="6" name="Shape 4"/>
          <p:cNvSpPr/>
          <p:nvPr/>
        </p:nvSpPr>
        <p:spPr>
          <a:xfrm>
            <a:off x="457200" y="1801368"/>
            <a:ext cx="8229600" cy="365760"/>
          </a:xfrm>
          <a:prstGeom prst="roundRect">
            <a:avLst>
              <a:gd name="adj" fmla="val 15000"/>
            </a:avLst>
          </a:prstGeom>
          <a:solidFill>
            <a:srgbClr val="EEF2F7"/>
          </a:solidFill>
          <a:ln w="12700">
            <a:solidFill>
              <a:srgbClr val="EEF2F7"/>
            </a:solidFill>
            <a:prstDash val="solid"/>
          </a:ln>
        </p:spPr>
      </p:sp>
      <p:sp>
        <p:nvSpPr>
          <p:cNvPr id="7" name="Text 5"/>
          <p:cNvSpPr txBox="1"/>
          <p:nvPr/>
        </p:nvSpPr>
        <p:spPr>
          <a:xfrm>
            <a:off x="640080" y="18013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Full weekends off</a:t>
            </a:r>
            <a:endParaRPr lang="en-US" sz="1400" dirty="0"/>
          </a:p>
        </p:txBody>
      </p:sp>
      <p:sp>
        <p:nvSpPr>
          <p:cNvPr id="8" name="Text 6"/>
          <p:cNvSpPr txBox="1"/>
          <p:nvPr/>
        </p:nvSpPr>
        <p:spPr>
          <a:xfrm>
            <a:off x="4663440" y="18013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 in 20</a:t>
            </a:r>
            <a:endParaRPr lang="en-US" sz="1600" dirty="0"/>
          </a:p>
        </p:txBody>
      </p:sp>
      <p:sp>
        <p:nvSpPr>
          <p:cNvPr id="9" name="Text 7"/>
          <p:cNvSpPr txBox="1"/>
          <p:nvPr/>
        </p:nvSpPr>
        <p:spPr>
          <a:xfrm>
            <a:off x="6675120" y="18013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6 in 24</a:t>
            </a:r>
            <a:endParaRPr lang="en-US" sz="1800" dirty="0"/>
          </a:p>
        </p:txBody>
      </p:sp>
      <p:sp>
        <p:nvSpPr>
          <p:cNvPr id="10" name="Shape 8"/>
          <p:cNvSpPr/>
          <p:nvPr/>
        </p:nvSpPr>
        <p:spPr>
          <a:xfrm>
            <a:off x="457200" y="2258568"/>
            <a:ext cx="8229600" cy="365760"/>
          </a:xfrm>
          <a:prstGeom prst="roundRect">
            <a:avLst>
              <a:gd name="adj" fmla="val 15000"/>
            </a:avLst>
          </a:prstGeom>
          <a:solidFill>
            <a:srgbClr val="FFFFFF"/>
          </a:solidFill>
          <a:ln w="12700">
            <a:solidFill>
              <a:srgbClr val="DDE3EA"/>
            </a:solidFill>
            <a:prstDash val="solid"/>
          </a:ln>
        </p:spPr>
      </p:sp>
      <p:sp>
        <p:nvSpPr>
          <p:cNvPr id="11" name="Text 9"/>
          <p:cNvSpPr txBox="1"/>
          <p:nvPr/>
        </p:nvSpPr>
        <p:spPr>
          <a:xfrm>
            <a:off x="640080" y="22585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Most days worked in a row</a:t>
            </a:r>
            <a:endParaRPr lang="en-US" sz="1400" dirty="0"/>
          </a:p>
        </p:txBody>
      </p:sp>
      <p:sp>
        <p:nvSpPr>
          <p:cNvPr id="12" name="Text 10"/>
          <p:cNvSpPr txBox="1"/>
          <p:nvPr/>
        </p:nvSpPr>
        <p:spPr>
          <a:xfrm>
            <a:off x="4663440" y="22585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7 (up to 9)</a:t>
            </a:r>
            <a:endParaRPr lang="en-US" sz="1600" dirty="0"/>
          </a:p>
        </p:txBody>
      </p:sp>
      <p:sp>
        <p:nvSpPr>
          <p:cNvPr id="13" name="Text 11"/>
          <p:cNvSpPr txBox="1"/>
          <p:nvPr/>
        </p:nvSpPr>
        <p:spPr>
          <a:xfrm>
            <a:off x="6675120" y="22585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6</a:t>
            </a:r>
            <a:endParaRPr lang="en-US" sz="1800" dirty="0"/>
          </a:p>
        </p:txBody>
      </p:sp>
      <p:sp>
        <p:nvSpPr>
          <p:cNvPr id="14" name="Shape 12"/>
          <p:cNvSpPr/>
          <p:nvPr/>
        </p:nvSpPr>
        <p:spPr>
          <a:xfrm>
            <a:off x="457200" y="2715768"/>
            <a:ext cx="8229600" cy="365760"/>
          </a:xfrm>
          <a:prstGeom prst="roundRect">
            <a:avLst>
              <a:gd name="adj" fmla="val 15000"/>
            </a:avLst>
          </a:prstGeom>
          <a:solidFill>
            <a:srgbClr val="EEF2F7"/>
          </a:solidFill>
          <a:ln w="12700">
            <a:solidFill>
              <a:srgbClr val="EEF2F7"/>
            </a:solidFill>
            <a:prstDash val="solid"/>
          </a:ln>
        </p:spPr>
      </p:sp>
      <p:sp>
        <p:nvSpPr>
          <p:cNvPr id="15" name="Text 13"/>
          <p:cNvSpPr txBox="1"/>
          <p:nvPr/>
        </p:nvSpPr>
        <p:spPr>
          <a:xfrm>
            <a:off x="640080" y="27157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Rest-day breaks of two days or more</a:t>
            </a:r>
            <a:endParaRPr lang="en-US" sz="1400" dirty="0"/>
          </a:p>
        </p:txBody>
      </p:sp>
      <p:sp>
        <p:nvSpPr>
          <p:cNvPr id="16" name="Text 14"/>
          <p:cNvSpPr txBox="1"/>
          <p:nvPr/>
        </p:nvSpPr>
        <p:spPr>
          <a:xfrm>
            <a:off x="4663440" y="27157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13 of 17</a:t>
            </a:r>
            <a:endParaRPr lang="en-US" sz="1600" dirty="0"/>
          </a:p>
        </p:txBody>
      </p:sp>
      <p:sp>
        <p:nvSpPr>
          <p:cNvPr id="17" name="Text 15"/>
          <p:cNvSpPr txBox="1"/>
          <p:nvPr/>
        </p:nvSpPr>
        <p:spPr>
          <a:xfrm>
            <a:off x="6675120" y="27157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22 of 24</a:t>
            </a:r>
            <a:endParaRPr lang="en-US" sz="1800" dirty="0"/>
          </a:p>
        </p:txBody>
      </p:sp>
      <p:sp>
        <p:nvSpPr>
          <p:cNvPr id="18" name="Shape 16"/>
          <p:cNvSpPr/>
          <p:nvPr/>
        </p:nvSpPr>
        <p:spPr>
          <a:xfrm>
            <a:off x="457200" y="3172968"/>
            <a:ext cx="8229600" cy="365760"/>
          </a:xfrm>
          <a:prstGeom prst="roundRect">
            <a:avLst>
              <a:gd name="adj" fmla="val 15000"/>
            </a:avLst>
          </a:prstGeom>
          <a:solidFill>
            <a:srgbClr val="FFFFFF"/>
          </a:solidFill>
          <a:ln w="12700">
            <a:solidFill>
              <a:srgbClr val="DDE3EA"/>
            </a:solidFill>
            <a:prstDash val="solid"/>
          </a:ln>
        </p:spPr>
      </p:sp>
      <p:sp>
        <p:nvSpPr>
          <p:cNvPr id="19" name="Text 17"/>
          <p:cNvSpPr txBox="1"/>
          <p:nvPr/>
        </p:nvSpPr>
        <p:spPr>
          <a:xfrm>
            <a:off x="640080" y="31729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Shortest gap between two shifts</a:t>
            </a:r>
            <a:endParaRPr lang="en-US" sz="1400" dirty="0"/>
          </a:p>
        </p:txBody>
      </p:sp>
      <p:sp>
        <p:nvSpPr>
          <p:cNvPr id="20" name="Text 18"/>
          <p:cNvSpPr txBox="1"/>
          <p:nvPr/>
        </p:nvSpPr>
        <p:spPr>
          <a:xfrm>
            <a:off x="4663440" y="31729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12h 30m</a:t>
            </a:r>
            <a:endParaRPr lang="en-US" sz="1600" dirty="0"/>
          </a:p>
        </p:txBody>
      </p:sp>
      <p:sp>
        <p:nvSpPr>
          <p:cNvPr id="21" name="Text 19"/>
          <p:cNvSpPr txBox="1"/>
          <p:nvPr/>
        </p:nvSpPr>
        <p:spPr>
          <a:xfrm>
            <a:off x="6675120" y="31729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14h 20m</a:t>
            </a:r>
            <a:endParaRPr lang="en-US" sz="1800" dirty="0"/>
          </a:p>
        </p:txBody>
      </p:sp>
      <p:sp>
        <p:nvSpPr>
          <p:cNvPr id="22" name="Shape 20"/>
          <p:cNvSpPr/>
          <p:nvPr/>
        </p:nvSpPr>
        <p:spPr>
          <a:xfrm>
            <a:off x="457200" y="3630168"/>
            <a:ext cx="8229600" cy="365760"/>
          </a:xfrm>
          <a:prstGeom prst="roundRect">
            <a:avLst>
              <a:gd name="adj" fmla="val 15000"/>
            </a:avLst>
          </a:prstGeom>
          <a:solidFill>
            <a:srgbClr val="EEF2F7"/>
          </a:solidFill>
          <a:ln w="12700">
            <a:solidFill>
              <a:srgbClr val="EEF2F7"/>
            </a:solidFill>
            <a:prstDash val="solid"/>
          </a:ln>
        </p:spPr>
      </p:sp>
      <p:sp>
        <p:nvSpPr>
          <p:cNvPr id="23" name="Text 21"/>
          <p:cNvSpPr txBox="1"/>
          <p:nvPr/>
        </p:nvSpPr>
        <p:spPr>
          <a:xfrm>
            <a:off x="640080" y="36301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Weeks on one turn, Monday to Friday</a:t>
            </a:r>
            <a:endParaRPr lang="en-US" sz="1400" dirty="0"/>
          </a:p>
        </p:txBody>
      </p:sp>
      <p:sp>
        <p:nvSpPr>
          <p:cNvPr id="24" name="Text 22"/>
          <p:cNvSpPr txBox="1"/>
          <p:nvPr/>
        </p:nvSpPr>
        <p:spPr>
          <a:xfrm>
            <a:off x="4663440" y="36301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7 of 16</a:t>
            </a:r>
            <a:endParaRPr lang="en-US" sz="1600" dirty="0"/>
          </a:p>
        </p:txBody>
      </p:sp>
      <p:sp>
        <p:nvSpPr>
          <p:cNvPr id="25" name="Text 23"/>
          <p:cNvSpPr txBox="1"/>
          <p:nvPr/>
        </p:nvSpPr>
        <p:spPr>
          <a:xfrm>
            <a:off x="6675120" y="36301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14 of 20</a:t>
            </a:r>
            <a:endParaRPr lang="en-US" sz="1800" dirty="0"/>
          </a:p>
        </p:txBody>
      </p:sp>
      <p:sp>
        <p:nvSpPr>
          <p:cNvPr id="26" name="Shape 24"/>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7" name="Text 25"/>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A weekend off one week in four, never more than six days on, and more rest.</a:t>
            </a:r>
            <a:endParaRPr lang="en-US" sz="1400" dirty="0"/>
          </a:p>
        </p:txBody>
      </p:sp>
      <p:sp>
        <p:nvSpPr>
          <p:cNvPr id="28" name="Text 26"/>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Familiar Nine · December 2026 link proposal ·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Earlies, lates and Sundays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The balance you have now stays the same</a:t>
            </a:r>
            <a:endParaRPr lang="en-US" sz="1500" dirty="0"/>
          </a:p>
        </p:txBody>
      </p:sp>
      <p:sp>
        <p:nvSpPr>
          <p:cNvPr id="4" name="Shape 2"/>
          <p:cNvSpPr/>
          <p:nvPr/>
        </p:nvSpPr>
        <p:spPr>
          <a:xfrm>
            <a:off x="457200" y="1417320"/>
            <a:ext cx="2606040" cy="2514600"/>
          </a:xfrm>
          <a:prstGeom prst="roundRect">
            <a:avLst>
              <a:gd name="adj" fmla="val 3636"/>
            </a:avLst>
          </a:prstGeom>
          <a:solidFill>
            <a:srgbClr val="EEF2F7"/>
          </a:solidFill>
          <a:ln w="12700">
            <a:solidFill>
              <a:srgbClr val="EEF2F7"/>
            </a:solidFill>
            <a:prstDash val="solid"/>
          </a:ln>
        </p:spPr>
      </p:sp>
      <p:sp>
        <p:nvSpPr>
          <p:cNvPr id="5" name="Shape 3"/>
          <p:cNvSpPr/>
          <p:nvPr/>
        </p:nvSpPr>
        <p:spPr>
          <a:xfrm>
            <a:off x="640080" y="1600200"/>
            <a:ext cx="502920" cy="502920"/>
          </a:xfrm>
          <a:prstGeom prst="ellipse">
            <a:avLst/>
          </a:prstGeom>
          <a:solidFill>
            <a:srgbClr val="F5C800"/>
          </a:solidFill>
          <a:ln w="12700">
            <a:solidFill>
              <a:srgbClr val="F5C800"/>
            </a:solidFill>
            <a:prstDash val="solid"/>
          </a:ln>
        </p:spPr>
      </p:sp>
      <p:pic>
        <p:nvPicPr>
          <p:cNvPr id="6" name="Image 0" descr="preencoded.png">    </p:cNvPr>
          <p:cNvPicPr>
            <a:picLocks noChangeAspect="1"/>
          </p:cNvPicPr>
          <p:nvPr/>
        </p:nvPicPr>
        <p:blipFill>
          <a:blip r:embed="rId1"/>
          <a:stretch>
            <a:fillRect/>
          </a:stretch>
        </p:blipFill>
        <p:spPr>
          <a:xfrm>
            <a:off x="750722" y="1710842"/>
            <a:ext cx="281635" cy="281635"/>
          </a:xfrm>
          <a:prstGeom prst="rect">
            <a:avLst/>
          </a:prstGeom>
        </p:spPr>
      </p:pic>
      <p:sp>
        <p:nvSpPr>
          <p:cNvPr id="7" name="Text 4"/>
          <p:cNvSpPr txBox="1"/>
          <p:nvPr/>
        </p:nvSpPr>
        <p:spPr>
          <a:xfrm>
            <a:off x="640080" y="2240280"/>
            <a:ext cx="2240280" cy="548640"/>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Half earlies, half lates</a:t>
            </a:r>
            <a:endParaRPr lang="en-US" sz="1600" dirty="0"/>
          </a:p>
        </p:txBody>
      </p:sp>
      <p:sp>
        <p:nvSpPr>
          <p:cNvPr id="8" name="Text 5"/>
          <p:cNvSpPr txBox="1"/>
          <p:nvPr/>
        </p:nvSpPr>
        <p:spPr>
          <a:xfrm>
            <a:off x="640080" y="2788920"/>
            <a:ext cx="2240280" cy="1097280"/>
          </a:xfrm>
          <a:prstGeom prst="rect">
            <a:avLst/>
          </a:prstGeom>
          <a:noFill/>
          <a:ln/>
        </p:spPr>
        <p:txBody>
          <a:bodyPr wrap="square" lIns="0" tIns="0" rIns="0" bIns="0" rtlCol="0" anchor="t"/>
          <a:lstStyle/>
          <a:p>
            <a:pPr indent="0" marL="0">
              <a:buNone/>
            </a:pPr>
            <a:r>
              <a:rPr lang="en-US" sz="1300" dirty="0">
                <a:solidFill>
                  <a:srgbClr val="5B6778"/>
                </a:solidFill>
                <a:latin typeface="Inter" pitchFamily="34" charset="0"/>
                <a:ea typeface="Inter" pitchFamily="34" charset="-122"/>
                <a:cs typeface="Inter" pitchFamily="34" charset="-120"/>
              </a:rPr>
              <a:t>The same split as today: every early Monday to Saturday is matched by a late.</a:t>
            </a:r>
            <a:endParaRPr lang="en-US" sz="1300" dirty="0"/>
          </a:p>
        </p:txBody>
      </p:sp>
      <p:sp>
        <p:nvSpPr>
          <p:cNvPr id="9" name="Shape 6"/>
          <p:cNvSpPr/>
          <p:nvPr/>
        </p:nvSpPr>
        <p:spPr>
          <a:xfrm>
            <a:off x="3246120" y="1417320"/>
            <a:ext cx="2606040" cy="2514600"/>
          </a:xfrm>
          <a:prstGeom prst="roundRect">
            <a:avLst>
              <a:gd name="adj" fmla="val 3636"/>
            </a:avLst>
          </a:prstGeom>
          <a:solidFill>
            <a:srgbClr val="EEF2F7"/>
          </a:solidFill>
          <a:ln w="12700">
            <a:solidFill>
              <a:srgbClr val="EEF2F7"/>
            </a:solidFill>
            <a:prstDash val="solid"/>
          </a:ln>
        </p:spPr>
      </p:sp>
      <p:sp>
        <p:nvSpPr>
          <p:cNvPr id="10" name="Shape 7"/>
          <p:cNvSpPr/>
          <p:nvPr/>
        </p:nvSpPr>
        <p:spPr>
          <a:xfrm>
            <a:off x="3429000" y="1600200"/>
            <a:ext cx="502920" cy="502920"/>
          </a:xfrm>
          <a:prstGeom prst="ellipse">
            <a:avLst/>
          </a:prstGeom>
          <a:solidFill>
            <a:srgbClr val="F5C800"/>
          </a:solidFill>
          <a:ln w="12700">
            <a:solidFill>
              <a:srgbClr val="F5C800"/>
            </a:solidFill>
            <a:prstDash val="solid"/>
          </a:ln>
        </p:spPr>
      </p:sp>
      <p:pic>
        <p:nvPicPr>
          <p:cNvPr id="11" name="Image 1" descr="preencoded.png">    </p:cNvPr>
          <p:cNvPicPr>
            <a:picLocks noChangeAspect="1"/>
          </p:cNvPicPr>
          <p:nvPr/>
        </p:nvPicPr>
        <p:blipFill>
          <a:blip r:embed="rId2"/>
          <a:stretch>
            <a:fillRect/>
          </a:stretch>
        </p:blipFill>
        <p:spPr>
          <a:xfrm>
            <a:off x="3539642" y="1710842"/>
            <a:ext cx="281635" cy="281635"/>
          </a:xfrm>
          <a:prstGeom prst="rect">
            <a:avLst/>
          </a:prstGeom>
        </p:spPr>
      </p:pic>
      <p:sp>
        <p:nvSpPr>
          <p:cNvPr id="12" name="Text 8"/>
          <p:cNvSpPr txBox="1"/>
          <p:nvPr/>
        </p:nvSpPr>
        <p:spPr>
          <a:xfrm>
            <a:off x="3429000" y="2240280"/>
            <a:ext cx="2240280" cy="548640"/>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Sundays are still overtime</a:t>
            </a:r>
            <a:endParaRPr lang="en-US" sz="1600" dirty="0"/>
          </a:p>
        </p:txBody>
      </p:sp>
      <p:sp>
        <p:nvSpPr>
          <p:cNvPr id="13" name="Text 9"/>
          <p:cNvSpPr txBox="1"/>
          <p:nvPr/>
        </p:nvSpPr>
        <p:spPr>
          <a:xfrm>
            <a:off x="3429000" y="2788920"/>
            <a:ext cx="2240280" cy="1097280"/>
          </a:xfrm>
          <a:prstGeom prst="rect">
            <a:avLst/>
          </a:prstGeom>
          <a:noFill/>
          <a:ln/>
        </p:spPr>
        <p:txBody>
          <a:bodyPr wrap="square" lIns="0" tIns="0" rIns="0" bIns="0" rtlCol="0" anchor="t"/>
          <a:lstStyle/>
          <a:p>
            <a:pPr indent="0" marL="0">
              <a:buNone/>
            </a:pPr>
            <a:r>
              <a:rPr lang="en-US" sz="1300" dirty="0">
                <a:solidFill>
                  <a:srgbClr val="5B6778"/>
                </a:solidFill>
                <a:latin typeface="Inter" pitchFamily="34" charset="0"/>
                <a:ea typeface="Inter" pitchFamily="34" charset="-122"/>
                <a:cs typeface="Inter" pitchFamily="34" charset="-120"/>
              </a:rPr>
              <a:t>Not part of the contract, same as now — and about the same number of Sundays as today.</a:t>
            </a:r>
            <a:endParaRPr lang="en-US" sz="1300" dirty="0"/>
          </a:p>
        </p:txBody>
      </p:sp>
      <p:sp>
        <p:nvSpPr>
          <p:cNvPr id="14" name="Shape 10"/>
          <p:cNvSpPr/>
          <p:nvPr/>
        </p:nvSpPr>
        <p:spPr>
          <a:xfrm>
            <a:off x="6035040" y="1417320"/>
            <a:ext cx="2606040" cy="2514600"/>
          </a:xfrm>
          <a:prstGeom prst="roundRect">
            <a:avLst>
              <a:gd name="adj" fmla="val 3636"/>
            </a:avLst>
          </a:prstGeom>
          <a:solidFill>
            <a:srgbClr val="EEF2F7"/>
          </a:solidFill>
          <a:ln w="12700">
            <a:solidFill>
              <a:srgbClr val="EEF2F7"/>
            </a:solidFill>
            <a:prstDash val="solid"/>
          </a:ln>
        </p:spPr>
      </p:sp>
      <p:sp>
        <p:nvSpPr>
          <p:cNvPr id="15" name="Shape 11"/>
          <p:cNvSpPr/>
          <p:nvPr/>
        </p:nvSpPr>
        <p:spPr>
          <a:xfrm>
            <a:off x="6217920" y="1600200"/>
            <a:ext cx="502920" cy="502920"/>
          </a:xfrm>
          <a:prstGeom prst="ellipse">
            <a:avLst/>
          </a:prstGeom>
          <a:solidFill>
            <a:srgbClr val="F5C800"/>
          </a:solidFill>
          <a:ln w="12700">
            <a:solidFill>
              <a:srgbClr val="F5C800"/>
            </a:solidFill>
            <a:prstDash val="solid"/>
          </a:ln>
        </p:spPr>
      </p:sp>
      <p:pic>
        <p:nvPicPr>
          <p:cNvPr id="16" name="Image 2" descr="preencoded.png">    </p:cNvPr>
          <p:cNvPicPr>
            <a:picLocks noChangeAspect="1"/>
          </p:cNvPicPr>
          <p:nvPr/>
        </p:nvPicPr>
        <p:blipFill>
          <a:blip r:embed="rId3"/>
          <a:stretch>
            <a:fillRect/>
          </a:stretch>
        </p:blipFill>
        <p:spPr>
          <a:xfrm>
            <a:off x="6328562" y="1710842"/>
            <a:ext cx="281635" cy="281635"/>
          </a:xfrm>
          <a:prstGeom prst="rect">
            <a:avLst/>
          </a:prstGeom>
        </p:spPr>
      </p:pic>
      <p:sp>
        <p:nvSpPr>
          <p:cNvPr id="17" name="Text 12"/>
          <p:cNvSpPr txBox="1"/>
          <p:nvPr/>
        </p:nvSpPr>
        <p:spPr>
          <a:xfrm>
            <a:off x="6217920" y="2240280"/>
            <a:ext cx="2240280" cy="548640"/>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Nobody past 23:25 on a Sunday</a:t>
            </a:r>
            <a:endParaRPr lang="en-US" sz="1600" dirty="0"/>
          </a:p>
        </p:txBody>
      </p:sp>
      <p:sp>
        <p:nvSpPr>
          <p:cNvPr id="18" name="Text 13"/>
          <p:cNvSpPr txBox="1"/>
          <p:nvPr/>
        </p:nvSpPr>
        <p:spPr>
          <a:xfrm>
            <a:off x="6217920" y="2788920"/>
            <a:ext cx="2240280" cy="1097280"/>
          </a:xfrm>
          <a:prstGeom prst="rect">
            <a:avLst/>
          </a:prstGeom>
          <a:noFill/>
          <a:ln/>
        </p:spPr>
        <p:txBody>
          <a:bodyPr wrap="square" lIns="0" tIns="0" rIns="0" bIns="0" rtlCol="0" anchor="t"/>
          <a:lstStyle/>
          <a:p>
            <a:pPr indent="0" marL="0">
              <a:buNone/>
            </a:pPr>
            <a:r>
              <a:rPr lang="en-US" sz="1300" dirty="0">
                <a:solidFill>
                  <a:srgbClr val="5B6778"/>
                </a:solidFill>
                <a:latin typeface="Inter" pitchFamily="34" charset="0"/>
                <a:ea typeface="Inter" pitchFamily="34" charset="-122"/>
                <a:cs typeface="Inter" pitchFamily="34" charset="-120"/>
              </a:rPr>
              <a:t>The Sunday finish stays where it is. That is agreed practice (settled 28 Sep 2026).</a:t>
            </a:r>
            <a:endParaRPr lang="en-US" sz="1300" dirty="0"/>
          </a:p>
        </p:txBody>
      </p:sp>
      <p:sp>
        <p:nvSpPr>
          <p:cNvPr id="19" name="Shape 14"/>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0" name="Text 15"/>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No shift in the balance of earlies and lates. Sundays stay overtime and still finish at 23:25.</a:t>
            </a:r>
            <a:endParaRPr lang="en-US" sz="1400" dirty="0"/>
          </a:p>
        </p:txBody>
      </p:sp>
      <p:sp>
        <p:nvSpPr>
          <p:cNvPr id="21" name="Text 16"/>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Familiar Nine · December 2026 link proposal · 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Booking leave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What 14 days of annual leave buys you, with Sundays off</a:t>
            </a:r>
            <a:endParaRPr lang="en-US" sz="1500" dirty="0"/>
          </a:p>
        </p:txBody>
      </p:sp>
      <p:sp>
        <p:nvSpPr>
          <p:cNvPr id="4" name="Text 2"/>
          <p:cNvSpPr txBox="1"/>
          <p:nvPr/>
        </p:nvSpPr>
        <p:spPr>
          <a:xfrm>
            <a:off x="4297680" y="1417320"/>
            <a:ext cx="219456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492240" y="1417320"/>
            <a:ext cx="219456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Familiar Nine</a:t>
            </a:r>
            <a:endParaRPr lang="en-US" sz="1300" dirty="0"/>
          </a:p>
        </p:txBody>
      </p:sp>
      <p:sp>
        <p:nvSpPr>
          <p:cNvPr id="6" name="Shape 4"/>
          <p:cNvSpPr/>
          <p:nvPr/>
        </p:nvSpPr>
        <p:spPr>
          <a:xfrm>
            <a:off x="457200" y="1801368"/>
            <a:ext cx="8229600" cy="475488"/>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Days off in a row — best place to book</a:t>
            </a:r>
            <a:endParaRPr lang="en-US" sz="1400" dirty="0"/>
          </a:p>
        </p:txBody>
      </p:sp>
      <p:sp>
        <p:nvSpPr>
          <p:cNvPr id="8" name="Text 6"/>
          <p:cNvSpPr txBox="1"/>
          <p:nvPr/>
        </p:nvSpPr>
        <p:spPr>
          <a:xfrm>
            <a:off x="4297680" y="1801368"/>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30</a:t>
            </a:r>
            <a:endParaRPr lang="en-US" sz="1600" dirty="0"/>
          </a:p>
        </p:txBody>
      </p:sp>
      <p:sp>
        <p:nvSpPr>
          <p:cNvPr id="9" name="Text 7"/>
          <p:cNvSpPr txBox="1"/>
          <p:nvPr/>
        </p:nvSpPr>
        <p:spPr>
          <a:xfrm>
            <a:off x="6492240" y="1801368"/>
            <a:ext cx="2194560" cy="475488"/>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28</a:t>
            </a:r>
            <a:endParaRPr lang="en-US" sz="1800" dirty="0"/>
          </a:p>
        </p:txBody>
      </p:sp>
      <p:sp>
        <p:nvSpPr>
          <p:cNvPr id="10" name="Shape 8"/>
          <p:cNvSpPr/>
          <p:nvPr/>
        </p:nvSpPr>
        <p:spPr>
          <a:xfrm>
            <a:off x="457200" y="2368296"/>
            <a:ext cx="8229600" cy="475488"/>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368296"/>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Days off in a row — on average</a:t>
            </a:r>
            <a:endParaRPr lang="en-US" sz="1400" dirty="0"/>
          </a:p>
        </p:txBody>
      </p:sp>
      <p:sp>
        <p:nvSpPr>
          <p:cNvPr id="12" name="Text 10"/>
          <p:cNvSpPr txBox="1"/>
          <p:nvPr/>
        </p:nvSpPr>
        <p:spPr>
          <a:xfrm>
            <a:off x="4297680" y="2368296"/>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23.4</a:t>
            </a:r>
            <a:endParaRPr lang="en-US" sz="1600" dirty="0"/>
          </a:p>
        </p:txBody>
      </p:sp>
      <p:sp>
        <p:nvSpPr>
          <p:cNvPr id="13" name="Text 11"/>
          <p:cNvSpPr txBox="1"/>
          <p:nvPr/>
        </p:nvSpPr>
        <p:spPr>
          <a:xfrm>
            <a:off x="6492240" y="2368296"/>
            <a:ext cx="2194560" cy="475488"/>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23.6</a:t>
            </a:r>
            <a:endParaRPr lang="en-US" sz="1800" dirty="0"/>
          </a:p>
        </p:txBody>
      </p:sp>
      <p:sp>
        <p:nvSpPr>
          <p:cNvPr id="14" name="Shape 12"/>
          <p:cNvSpPr/>
          <p:nvPr/>
        </p:nvSpPr>
        <p:spPr>
          <a:xfrm>
            <a:off x="457200" y="2935224"/>
            <a:ext cx="8229600" cy="475488"/>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935224"/>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Days off in a row — worst place</a:t>
            </a:r>
            <a:endParaRPr lang="en-US" sz="1400" dirty="0"/>
          </a:p>
        </p:txBody>
      </p:sp>
      <p:sp>
        <p:nvSpPr>
          <p:cNvPr id="16" name="Text 14"/>
          <p:cNvSpPr txBox="1"/>
          <p:nvPr/>
        </p:nvSpPr>
        <p:spPr>
          <a:xfrm>
            <a:off x="4297680" y="2935224"/>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19</a:t>
            </a:r>
            <a:endParaRPr lang="en-US" sz="1600" dirty="0"/>
          </a:p>
        </p:txBody>
      </p:sp>
      <p:sp>
        <p:nvSpPr>
          <p:cNvPr id="17" name="Text 15"/>
          <p:cNvSpPr txBox="1"/>
          <p:nvPr/>
        </p:nvSpPr>
        <p:spPr>
          <a:xfrm>
            <a:off x="6492240" y="2935224"/>
            <a:ext cx="219456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20</a:t>
            </a:r>
            <a:endParaRPr lang="en-US" sz="1800" dirty="0"/>
          </a:p>
        </p:txBody>
      </p:sp>
      <p:sp>
        <p:nvSpPr>
          <p:cNvPr id="18" name="Shape 16"/>
          <p:cNvSpPr/>
          <p:nvPr/>
        </p:nvSpPr>
        <p:spPr>
          <a:xfrm>
            <a:off x="457200" y="3502152"/>
            <a:ext cx="8229600" cy="475488"/>
          </a:xfrm>
          <a:prstGeom prst="roundRect">
            <a:avLst>
              <a:gd name="adj" fmla="val 11538"/>
            </a:avLst>
          </a:prstGeom>
          <a:solidFill>
            <a:srgbClr val="FFFFFF"/>
          </a:solidFill>
          <a:ln w="12700">
            <a:solidFill>
              <a:srgbClr val="DDE3EA"/>
            </a:solidFill>
            <a:prstDash val="solid"/>
          </a:ln>
        </p:spPr>
      </p:sp>
      <p:sp>
        <p:nvSpPr>
          <p:cNvPr id="19" name="Text 17"/>
          <p:cNvSpPr txBox="1"/>
          <p:nvPr/>
        </p:nvSpPr>
        <p:spPr>
          <a:xfrm>
            <a:off x="640080" y="3502152"/>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Leave for four full weeks off, at best</a:t>
            </a:r>
            <a:endParaRPr lang="en-US" sz="1400" dirty="0"/>
          </a:p>
        </p:txBody>
      </p:sp>
      <p:sp>
        <p:nvSpPr>
          <p:cNvPr id="20" name="Text 18"/>
          <p:cNvSpPr txBox="1"/>
          <p:nvPr/>
        </p:nvSpPr>
        <p:spPr>
          <a:xfrm>
            <a:off x="4297680" y="3502152"/>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14</a:t>
            </a:r>
            <a:endParaRPr lang="en-US" sz="1600" dirty="0"/>
          </a:p>
        </p:txBody>
      </p:sp>
      <p:sp>
        <p:nvSpPr>
          <p:cNvPr id="21" name="Text 19"/>
          <p:cNvSpPr txBox="1"/>
          <p:nvPr/>
        </p:nvSpPr>
        <p:spPr>
          <a:xfrm>
            <a:off x="6492240" y="3502152"/>
            <a:ext cx="2194560" cy="475488"/>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15</a:t>
            </a:r>
            <a:endParaRPr lang="en-US" sz="18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About the same. A cover week still counts as at most 4 days of leave, as now.</a:t>
            </a:r>
            <a:endParaRPr lang="en-US" sz="1400" dirty="0"/>
          </a:p>
        </p:txBody>
      </p:sp>
      <p:sp>
        <p:nvSpPr>
          <p:cNvPr id="24" name="Text 2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Familiar Nine · December 2026 link proposal · 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More staff on the floor</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More people rostered every day, at the open and the close</a:t>
            </a:r>
            <a:endParaRPr lang="en-US" sz="1500" dirty="0"/>
          </a:p>
        </p:txBody>
      </p:sp>
      <p:sp>
        <p:nvSpPr>
          <p:cNvPr id="4" name="Text 2"/>
          <p:cNvSpPr txBox="1"/>
          <p:nvPr/>
        </p:nvSpPr>
        <p:spPr>
          <a:xfrm>
            <a:off x="4297680" y="1417320"/>
            <a:ext cx="219456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492240" y="1417320"/>
            <a:ext cx="219456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Familiar Nine</a:t>
            </a:r>
            <a:endParaRPr lang="en-US" sz="1300" dirty="0"/>
          </a:p>
        </p:txBody>
      </p:sp>
      <p:sp>
        <p:nvSpPr>
          <p:cNvPr id="6" name="Shape 4"/>
          <p:cNvSpPr/>
          <p:nvPr/>
        </p:nvSpPr>
        <p:spPr>
          <a:xfrm>
            <a:off x="457200" y="1801368"/>
            <a:ext cx="8229600" cy="475488"/>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On duty on a weekday</a:t>
            </a:r>
            <a:endParaRPr lang="en-US" sz="1400" dirty="0"/>
          </a:p>
        </p:txBody>
      </p:sp>
      <p:sp>
        <p:nvSpPr>
          <p:cNvPr id="8" name="Text 6"/>
          <p:cNvSpPr txBox="1"/>
          <p:nvPr/>
        </p:nvSpPr>
        <p:spPr>
          <a:xfrm>
            <a:off x="4297680" y="1801368"/>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11–12</a:t>
            </a:r>
            <a:endParaRPr lang="en-US" sz="1600" dirty="0"/>
          </a:p>
        </p:txBody>
      </p:sp>
      <p:sp>
        <p:nvSpPr>
          <p:cNvPr id="9" name="Text 7"/>
          <p:cNvSpPr txBox="1"/>
          <p:nvPr/>
        </p:nvSpPr>
        <p:spPr>
          <a:xfrm>
            <a:off x="6492240" y="1801368"/>
            <a:ext cx="219456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14</a:t>
            </a:r>
            <a:endParaRPr lang="en-US" sz="1800" dirty="0"/>
          </a:p>
        </p:txBody>
      </p:sp>
      <p:sp>
        <p:nvSpPr>
          <p:cNvPr id="10" name="Shape 8"/>
          <p:cNvSpPr/>
          <p:nvPr/>
        </p:nvSpPr>
        <p:spPr>
          <a:xfrm>
            <a:off x="457200" y="2368296"/>
            <a:ext cx="8229600" cy="475488"/>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368296"/>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On duty on a Saturday / Sunday</a:t>
            </a:r>
            <a:endParaRPr lang="en-US" sz="1400" dirty="0"/>
          </a:p>
        </p:txBody>
      </p:sp>
      <p:sp>
        <p:nvSpPr>
          <p:cNvPr id="12" name="Text 10"/>
          <p:cNvSpPr txBox="1"/>
          <p:nvPr/>
        </p:nvSpPr>
        <p:spPr>
          <a:xfrm>
            <a:off x="4297680" y="2368296"/>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10 / 8</a:t>
            </a:r>
            <a:endParaRPr lang="en-US" sz="1600" dirty="0"/>
          </a:p>
        </p:txBody>
      </p:sp>
      <p:sp>
        <p:nvSpPr>
          <p:cNvPr id="13" name="Text 11"/>
          <p:cNvSpPr txBox="1"/>
          <p:nvPr/>
        </p:nvSpPr>
        <p:spPr>
          <a:xfrm>
            <a:off x="6492240" y="2368296"/>
            <a:ext cx="219456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14 / 10</a:t>
            </a:r>
            <a:endParaRPr lang="en-US" sz="1800" dirty="0"/>
          </a:p>
        </p:txBody>
      </p:sp>
      <p:sp>
        <p:nvSpPr>
          <p:cNvPr id="14" name="Shape 12"/>
          <p:cNvSpPr/>
          <p:nvPr/>
        </p:nvSpPr>
        <p:spPr>
          <a:xfrm>
            <a:off x="457200" y="2935224"/>
            <a:ext cx="8229600" cy="475488"/>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935224"/>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Fewest rostered on the floor</a:t>
            </a:r>
            <a:endParaRPr lang="en-US" sz="1400" dirty="0"/>
          </a:p>
        </p:txBody>
      </p:sp>
      <p:sp>
        <p:nvSpPr>
          <p:cNvPr id="16" name="Text 14"/>
          <p:cNvSpPr txBox="1"/>
          <p:nvPr/>
        </p:nvSpPr>
        <p:spPr>
          <a:xfrm>
            <a:off x="4297680" y="2935224"/>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a:t>
            </a:r>
            <a:endParaRPr lang="en-US" sz="1600" dirty="0"/>
          </a:p>
        </p:txBody>
      </p:sp>
      <p:sp>
        <p:nvSpPr>
          <p:cNvPr id="17" name="Text 15"/>
          <p:cNvSpPr txBox="1"/>
          <p:nvPr/>
        </p:nvSpPr>
        <p:spPr>
          <a:xfrm>
            <a:off x="6492240" y="2935224"/>
            <a:ext cx="219456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3</a:t>
            </a:r>
            <a:endParaRPr lang="en-US" sz="1800" dirty="0"/>
          </a:p>
        </p:txBody>
      </p:sp>
      <p:sp>
        <p:nvSpPr>
          <p:cNvPr id="18" name="Shape 16"/>
          <p:cNvSpPr/>
          <p:nvPr/>
        </p:nvSpPr>
        <p:spPr>
          <a:xfrm>
            <a:off x="457200" y="3502152"/>
            <a:ext cx="8229600" cy="475488"/>
          </a:xfrm>
          <a:prstGeom prst="roundRect">
            <a:avLst>
              <a:gd name="adj" fmla="val 11538"/>
            </a:avLst>
          </a:prstGeom>
          <a:solidFill>
            <a:srgbClr val="FFFFFF"/>
          </a:solidFill>
          <a:ln w="12700">
            <a:solidFill>
              <a:srgbClr val="DDE3EA"/>
            </a:solidFill>
            <a:prstDash val="solid"/>
          </a:ln>
        </p:spPr>
      </p:sp>
      <p:sp>
        <p:nvSpPr>
          <p:cNvPr id="19" name="Text 17"/>
          <p:cNvSpPr txBox="1"/>
          <p:nvPr/>
        </p:nvSpPr>
        <p:spPr>
          <a:xfrm>
            <a:off x="640080" y="3502152"/>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Avoidable fatigue warnings in the fixed rota</a:t>
            </a:r>
            <a:endParaRPr lang="en-US" sz="1400" dirty="0"/>
          </a:p>
        </p:txBody>
      </p:sp>
      <p:sp>
        <p:nvSpPr>
          <p:cNvPr id="20" name="Text 18"/>
          <p:cNvSpPr txBox="1"/>
          <p:nvPr/>
        </p:nvSpPr>
        <p:spPr>
          <a:xfrm>
            <a:off x="4297680" y="3502152"/>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 (up to 5)</a:t>
            </a:r>
            <a:endParaRPr lang="en-US" sz="1600" dirty="0"/>
          </a:p>
        </p:txBody>
      </p:sp>
      <p:sp>
        <p:nvSpPr>
          <p:cNvPr id="21" name="Text 19"/>
          <p:cNvSpPr txBox="1"/>
          <p:nvPr/>
        </p:nvSpPr>
        <p:spPr>
          <a:xfrm>
            <a:off x="6492240" y="3502152"/>
            <a:ext cx="219456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0</a:t>
            </a:r>
            <a:endParaRPr lang="en-US" sz="18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At least three rostered on the floor, and no avoidable fatigue warnings in the fixed rota.</a:t>
            </a:r>
            <a:endParaRPr lang="en-US" sz="1400" dirty="0"/>
          </a:p>
        </p:txBody>
      </p:sp>
      <p:sp>
        <p:nvSpPr>
          <p:cNvPr id="24" name="Text 2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Familiar Nine · December 2026 link proposal · 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The honest trade-offs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Nothing is free — here is what it costs</a:t>
            </a:r>
            <a:endParaRPr lang="en-US" sz="1500" dirty="0"/>
          </a:p>
        </p:txBody>
      </p:sp>
      <p:sp>
        <p:nvSpPr>
          <p:cNvPr id="4" name="Shape 2"/>
          <p:cNvSpPr/>
          <p:nvPr/>
        </p:nvSpPr>
        <p:spPr>
          <a:xfrm>
            <a:off x="457200" y="1371600"/>
            <a:ext cx="4023360" cy="975272"/>
          </a:xfrm>
          <a:prstGeom prst="roundRect">
            <a:avLst>
              <a:gd name="adj" fmla="val 9091"/>
            </a:avLst>
          </a:prstGeom>
          <a:solidFill>
            <a:srgbClr val="EEF2F7"/>
          </a:solidFill>
          <a:ln w="12700">
            <a:solidFill>
              <a:srgbClr val="EEF2F7"/>
            </a:solidFill>
            <a:prstDash val="solid"/>
          </a:ln>
        </p:spPr>
      </p:sp>
      <p:sp>
        <p:nvSpPr>
          <p:cNvPr id="5" name="Text 3"/>
          <p:cNvSpPr txBox="1"/>
          <p:nvPr/>
        </p:nvSpPr>
        <p:spPr>
          <a:xfrm>
            <a:off x="640080" y="1530052"/>
            <a:ext cx="3703320" cy="310896"/>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Eight new shift times to learn</a:t>
            </a:r>
            <a:endParaRPr lang="en-US" sz="1400" dirty="0"/>
          </a:p>
        </p:txBody>
      </p:sp>
      <p:sp>
        <p:nvSpPr>
          <p:cNvPr id="6" name="Text 4"/>
          <p:cNvSpPr txBox="1"/>
          <p:nvPr/>
        </p:nvSpPr>
        <p:spPr>
          <a:xfrm>
            <a:off x="640080" y="1840948"/>
            <a:ext cx="3657600" cy="347472"/>
          </a:xfrm>
          <a:prstGeom prst="rect">
            <a:avLst/>
          </a:prstGeom>
          <a:noFill/>
          <a:ln/>
        </p:spPr>
        <p:txBody>
          <a:bodyPr anchor="t" wrap="square" lIns="0" tIns="0" rIns="0" bIns="0" rtlCol="0"/>
          <a:lstStyle/>
          <a:p>
            <a:pPr indent="0" marL="0">
              <a:buNone/>
            </a:pPr>
            <a:r>
              <a:rPr lang="en-US" sz="1250" dirty="0">
                <a:solidFill>
                  <a:srgbClr val="5B6778"/>
                </a:solidFill>
                <a:latin typeface="Inter" pitchFamily="34" charset="0"/>
                <a:ea typeface="Inter" pitchFamily="34" charset="-122"/>
                <a:cs typeface="Inter" pitchFamily="34" charset="-120"/>
              </a:rPr>
              <a:t>Most are within 10–30 minutes of a time we already work.</a:t>
            </a:r>
            <a:endParaRPr lang="en-US" sz="1250" dirty="0"/>
          </a:p>
        </p:txBody>
      </p:sp>
      <p:sp>
        <p:nvSpPr>
          <p:cNvPr id="7" name="Shape 5"/>
          <p:cNvSpPr/>
          <p:nvPr/>
        </p:nvSpPr>
        <p:spPr>
          <a:xfrm>
            <a:off x="4663440" y="1371600"/>
            <a:ext cx="4023360" cy="975272"/>
          </a:xfrm>
          <a:prstGeom prst="roundRect">
            <a:avLst>
              <a:gd name="adj" fmla="val 9091"/>
            </a:avLst>
          </a:prstGeom>
          <a:solidFill>
            <a:srgbClr val="EEF2F7"/>
          </a:solidFill>
          <a:ln w="12700">
            <a:solidFill>
              <a:srgbClr val="EEF2F7"/>
            </a:solidFill>
            <a:prstDash val="solid"/>
          </a:ln>
        </p:spPr>
      </p:sp>
      <p:sp>
        <p:nvSpPr>
          <p:cNvPr id="8" name="Text 6"/>
          <p:cNvSpPr txBox="1"/>
          <p:nvPr/>
        </p:nvSpPr>
        <p:spPr>
          <a:xfrm>
            <a:off x="4846320" y="1530052"/>
            <a:ext cx="3703320" cy="310896"/>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Shifts 6 minutes longer on average</a:t>
            </a:r>
            <a:endParaRPr lang="en-US" sz="1400" dirty="0"/>
          </a:p>
        </p:txBody>
      </p:sp>
      <p:sp>
        <p:nvSpPr>
          <p:cNvPr id="9" name="Text 7"/>
          <p:cNvSpPr txBox="1"/>
          <p:nvPr/>
        </p:nvSpPr>
        <p:spPr>
          <a:xfrm>
            <a:off x="4846320" y="1840948"/>
            <a:ext cx="3657600" cy="347472"/>
          </a:xfrm>
          <a:prstGeom prst="rect">
            <a:avLst/>
          </a:prstGeom>
          <a:noFill/>
          <a:ln/>
        </p:spPr>
        <p:txBody>
          <a:bodyPr anchor="t" wrap="square" lIns="0" tIns="0" rIns="0" bIns="0" rtlCol="0"/>
          <a:lstStyle/>
          <a:p>
            <a:pPr indent="0" marL="0">
              <a:buNone/>
            </a:pPr>
            <a:r>
              <a:rPr lang="en-US" sz="1250" dirty="0">
                <a:solidFill>
                  <a:srgbClr val="5B6778"/>
                </a:solidFill>
                <a:latin typeface="Inter" pitchFamily="34" charset="0"/>
                <a:ea typeface="Inter" pitchFamily="34" charset="-122"/>
                <a:cs typeface="Inter" pitchFamily="34" charset="-120"/>
              </a:rPr>
              <a:t>That is what buys two fewer contracted days.</a:t>
            </a:r>
            <a:endParaRPr lang="en-US" sz="1250" dirty="0"/>
          </a:p>
        </p:txBody>
      </p:sp>
      <p:sp>
        <p:nvSpPr>
          <p:cNvPr id="10" name="Shape 8"/>
          <p:cNvSpPr/>
          <p:nvPr/>
        </p:nvSpPr>
        <p:spPr>
          <a:xfrm>
            <a:off x="457200" y="2456600"/>
            <a:ext cx="4023360" cy="975272"/>
          </a:xfrm>
          <a:prstGeom prst="roundRect">
            <a:avLst>
              <a:gd name="adj" fmla="val 9091"/>
            </a:avLst>
          </a:prstGeom>
          <a:solidFill>
            <a:srgbClr val="EEF2F7"/>
          </a:solidFill>
          <a:ln w="12700">
            <a:solidFill>
              <a:srgbClr val="EEF2F7"/>
            </a:solidFill>
            <a:prstDash val="solid"/>
          </a:ln>
        </p:spPr>
      </p:sp>
      <p:sp>
        <p:nvSpPr>
          <p:cNvPr id="11" name="Text 9"/>
          <p:cNvSpPr txBox="1"/>
          <p:nvPr/>
        </p:nvSpPr>
        <p:spPr>
          <a:xfrm>
            <a:off x="640080" y="2615052"/>
            <a:ext cx="3703320" cy="310896"/>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Best leave stretch: 28 days, not 30</a:t>
            </a:r>
            <a:endParaRPr lang="en-US" sz="1400" dirty="0"/>
          </a:p>
        </p:txBody>
      </p:sp>
      <p:sp>
        <p:nvSpPr>
          <p:cNvPr id="12" name="Text 10"/>
          <p:cNvSpPr txBox="1"/>
          <p:nvPr/>
        </p:nvSpPr>
        <p:spPr>
          <a:xfrm>
            <a:off x="640080" y="2925948"/>
            <a:ext cx="3657600" cy="347472"/>
          </a:xfrm>
          <a:prstGeom prst="rect">
            <a:avLst/>
          </a:prstGeom>
          <a:noFill/>
          <a:ln/>
        </p:spPr>
        <p:txBody>
          <a:bodyPr anchor="t" wrap="square" lIns="0" tIns="0" rIns="0" bIns="0" rtlCol="0"/>
          <a:lstStyle/>
          <a:p>
            <a:pPr indent="0" marL="0">
              <a:buNone/>
            </a:pPr>
            <a:r>
              <a:rPr lang="en-US" sz="1250" dirty="0">
                <a:solidFill>
                  <a:srgbClr val="5B6778"/>
                </a:solidFill>
                <a:latin typeface="Inter" pitchFamily="34" charset="0"/>
                <a:ea typeface="Inter" pitchFamily="34" charset="-122"/>
                <a:cs typeface="Inter" pitchFamily="34" charset="-120"/>
              </a:rPr>
              <a:t>Average and worst: about the same as today.</a:t>
            </a:r>
            <a:endParaRPr lang="en-US" sz="1250" dirty="0"/>
          </a:p>
        </p:txBody>
      </p:sp>
      <p:sp>
        <p:nvSpPr>
          <p:cNvPr id="13" name="Shape 11"/>
          <p:cNvSpPr/>
          <p:nvPr/>
        </p:nvSpPr>
        <p:spPr>
          <a:xfrm>
            <a:off x="4663440" y="2456600"/>
            <a:ext cx="4023360" cy="975272"/>
          </a:xfrm>
          <a:prstGeom prst="roundRect">
            <a:avLst>
              <a:gd name="adj" fmla="val 9091"/>
            </a:avLst>
          </a:prstGeom>
          <a:solidFill>
            <a:srgbClr val="EEF2F7"/>
          </a:solidFill>
          <a:ln w="12700">
            <a:solidFill>
              <a:srgbClr val="EEF2F7"/>
            </a:solidFill>
            <a:prstDash val="solid"/>
          </a:ln>
        </p:spPr>
      </p:sp>
      <p:sp>
        <p:nvSpPr>
          <p:cNvPr id="14" name="Text 12"/>
          <p:cNvSpPr txBox="1"/>
          <p:nvPr/>
        </p:nvSpPr>
        <p:spPr>
          <a:xfrm>
            <a:off x="4846320" y="2615052"/>
            <a:ext cx="3703320" cy="310896"/>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Four cover weeks remain</a:t>
            </a:r>
            <a:endParaRPr lang="en-US" sz="1400" dirty="0"/>
          </a:p>
        </p:txBody>
      </p:sp>
      <p:sp>
        <p:nvSpPr>
          <p:cNvPr id="15" name="Text 13"/>
          <p:cNvSpPr txBox="1"/>
          <p:nvPr/>
        </p:nvSpPr>
        <p:spPr>
          <a:xfrm>
            <a:off x="4846320" y="2925948"/>
            <a:ext cx="3657600" cy="347472"/>
          </a:xfrm>
          <a:prstGeom prst="rect">
            <a:avLst/>
          </a:prstGeom>
          <a:noFill/>
          <a:ln/>
        </p:spPr>
        <p:txBody>
          <a:bodyPr anchor="t" wrap="square" lIns="0" tIns="0" rIns="0" bIns="0" rtlCol="0"/>
          <a:lstStyle/>
          <a:p>
            <a:pPr indent="0" marL="0">
              <a:buNone/>
            </a:pPr>
            <a:r>
              <a:rPr lang="en-US" sz="1250" dirty="0">
                <a:solidFill>
                  <a:srgbClr val="5B6778"/>
                </a:solidFill>
                <a:latin typeface="Inter" pitchFamily="34" charset="0"/>
                <a:ea typeface="Inter" pitchFamily="34" charset="-122"/>
                <a:cs typeface="Inter" pitchFamily="34" charset="-120"/>
              </a:rPr>
              <a:t>Evenly spaced — every sixth week (1, 7, 13, 19).</a:t>
            </a:r>
            <a:endParaRPr lang="en-US" sz="1250" dirty="0"/>
          </a:p>
        </p:txBody>
      </p:sp>
      <p:sp>
        <p:nvSpPr>
          <p:cNvPr id="16" name="Shape 14"/>
          <p:cNvSpPr/>
          <p:nvPr/>
        </p:nvSpPr>
        <p:spPr>
          <a:xfrm>
            <a:off x="457200" y="3541600"/>
            <a:ext cx="4023360" cy="975272"/>
          </a:xfrm>
          <a:prstGeom prst="roundRect">
            <a:avLst>
              <a:gd name="adj" fmla="val 9091"/>
            </a:avLst>
          </a:prstGeom>
          <a:solidFill>
            <a:srgbClr val="EEF2F7"/>
          </a:solidFill>
          <a:ln w="12700">
            <a:solidFill>
              <a:srgbClr val="EEF2F7"/>
            </a:solidFill>
            <a:prstDash val="solid"/>
          </a:ln>
        </p:spPr>
      </p:sp>
      <p:sp>
        <p:nvSpPr>
          <p:cNvPr id="17" name="Text 15"/>
          <p:cNvSpPr txBox="1"/>
          <p:nvPr/>
        </p:nvSpPr>
        <p:spPr>
          <a:xfrm>
            <a:off x="640080" y="3700052"/>
            <a:ext cx="3703320" cy="310896"/>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More late finishes</a:t>
            </a:r>
            <a:endParaRPr lang="en-US" sz="1400" dirty="0"/>
          </a:p>
        </p:txBody>
      </p:sp>
      <p:sp>
        <p:nvSpPr>
          <p:cNvPr id="18" name="Text 16"/>
          <p:cNvSpPr txBox="1"/>
          <p:nvPr/>
        </p:nvSpPr>
        <p:spPr>
          <a:xfrm>
            <a:off x="640080" y="4010948"/>
            <a:ext cx="3657600" cy="347472"/>
          </a:xfrm>
          <a:prstGeom prst="rect">
            <a:avLst/>
          </a:prstGeom>
          <a:noFill/>
          <a:ln/>
        </p:spPr>
        <p:txBody>
          <a:bodyPr anchor="t" wrap="square" lIns="0" tIns="0" rIns="0" bIns="0" rtlCol="0"/>
          <a:lstStyle/>
          <a:p>
            <a:pPr indent="0" marL="0">
              <a:buNone/>
            </a:pPr>
            <a:r>
              <a:rPr lang="en-US" sz="1250" dirty="0">
                <a:solidFill>
                  <a:srgbClr val="5B6778"/>
                </a:solidFill>
                <a:latin typeface="Inter" pitchFamily="34" charset="0"/>
                <a:ea typeface="Inter" pitchFamily="34" charset="-122"/>
                <a:cs typeface="Inter" pitchFamily="34" charset="-120"/>
              </a:rPr>
              <a:t>About 59 a year each at 23:00 or later on the fixed rota, against 39 today.</a:t>
            </a:r>
            <a:endParaRPr lang="en-US" sz="1250" dirty="0"/>
          </a:p>
        </p:txBody>
      </p:sp>
      <p:sp>
        <p:nvSpPr>
          <p:cNvPr id="19" name="Shape 17"/>
          <p:cNvSpPr/>
          <p:nvPr/>
        </p:nvSpPr>
        <p:spPr>
          <a:xfrm>
            <a:off x="4663440" y="3541600"/>
            <a:ext cx="4023360" cy="975272"/>
          </a:xfrm>
          <a:prstGeom prst="roundRect">
            <a:avLst>
              <a:gd name="adj" fmla="val 9091"/>
            </a:avLst>
          </a:prstGeom>
          <a:solidFill>
            <a:srgbClr val="EEF2F7"/>
          </a:solidFill>
          <a:ln w="12700">
            <a:solidFill>
              <a:srgbClr val="EEF2F7"/>
            </a:solidFill>
            <a:prstDash val="solid"/>
          </a:ln>
        </p:spPr>
      </p:sp>
      <p:sp>
        <p:nvSpPr>
          <p:cNvPr id="20" name="Text 18"/>
          <p:cNvSpPr txBox="1"/>
          <p:nvPr/>
        </p:nvSpPr>
        <p:spPr>
          <a:xfrm>
            <a:off x="4846320" y="3700052"/>
            <a:ext cx="3703320" cy="310896"/>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Still a proposal</a:t>
            </a:r>
            <a:endParaRPr lang="en-US" sz="1400" dirty="0"/>
          </a:p>
        </p:txBody>
      </p:sp>
      <p:sp>
        <p:nvSpPr>
          <p:cNvPr id="21" name="Text 19"/>
          <p:cNvSpPr txBox="1"/>
          <p:nvPr/>
        </p:nvSpPr>
        <p:spPr>
          <a:xfrm>
            <a:off x="4846320" y="4010948"/>
            <a:ext cx="3657600" cy="347472"/>
          </a:xfrm>
          <a:prstGeom prst="rect">
            <a:avLst/>
          </a:prstGeom>
          <a:noFill/>
          <a:ln/>
        </p:spPr>
        <p:txBody>
          <a:bodyPr anchor="t" wrap="square" lIns="0" tIns="0" rIns="0" bIns="0" rtlCol="0"/>
          <a:lstStyle/>
          <a:p>
            <a:pPr indent="0" marL="0">
              <a:buNone/>
            </a:pPr>
            <a:r>
              <a:rPr lang="en-US" sz="1250" dirty="0">
                <a:solidFill>
                  <a:srgbClr val="5B6778"/>
                </a:solidFill>
                <a:latin typeface="Inter" pitchFamily="34" charset="0"/>
                <a:ea typeface="Inter" pitchFamily="34" charset="-122"/>
                <a:cs typeface="Inter" pitchFamily="34" charset="-120"/>
              </a:rPr>
              <a:t>Your views count before a link is chosen, and who goes on which line is not decided.</a:t>
            </a:r>
            <a:endParaRPr lang="en-US" sz="1250" dirty="0"/>
          </a:p>
        </p:txBody>
      </p:sp>
      <p:sp>
        <p:nvSpPr>
          <p:cNvPr id="22" name="Text 20"/>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Familiar Nine · December 2026 link proposal · 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At a glance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Today’s roster and Familiar Nine, side by side</a:t>
            </a:r>
            <a:endParaRPr lang="en-US" sz="15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3840480"/>
                <a:gridCol w="2194560"/>
                <a:gridCol w="2194560"/>
              </a:tblGrid>
              <a:tr h="246888">
                <a:tc>
                  <a:txBody>
                    <a:bodyPr/>
                    <a:lstStyle/>
                    <a:p>
                      <a:pPr algn="ctr" indent="0" marL="0">
                        <a:buNone/>
                      </a:pP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EEF2F7"/>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Today</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EEF2F7"/>
                    </a:solidFill>
                  </a:tcPr>
                </a:tc>
                <a:tc>
                  <a:txBody>
                    <a:bodyPr/>
                    <a:lstStyle/>
                    <a:p>
                      <a:pPr algn="ctr" indent="0" marL="0">
                        <a:buNone/>
                      </a:pPr>
                      <a:r>
                        <a:rPr lang="en-US" sz="1200" b="1" dirty="0">
                          <a:solidFill>
                            <a:srgbClr val="FFFFFF"/>
                          </a:solidFill>
                          <a:latin typeface="Inter" pitchFamily="34" charset="0"/>
                          <a:ea typeface="Inter" pitchFamily="34" charset="-122"/>
                          <a:cs typeface="Inter" pitchFamily="34" charset="-120"/>
                        </a:rPr>
                        <a:t>Familiar Nine</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001E3C"/>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Contracted hours a week</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35h</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35h</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Contracted days at work a year</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219</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217</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Average shift · longest shift</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8h 14m · 9h 10m</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8h 20m · 9h 00m</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Closing shift: weekday · Saturday · Sunday</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8h 40m · 9h 10m · 8h 55m</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8h 10m · 8h 40m · 8h 10m</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Full weekends off</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4 in 20 (one in five)</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6 in 24 (one in four)</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Most days worked in a row</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7 (up to 9)</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6</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Shortest gap between two shifts</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12h 30m</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14h 20m</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Different shift times</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18</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16 (8 you know)</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On duty weekday · Saturday · Sunday</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11–12 · 10 · 8</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14 · 14 · 10</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Avoidable fatigue warnings in the fixed rota</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4 (up to 5)</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0</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r>
            </a:tbl>
          </a:graphicData>
        </a:graphic>
      </p:graphicFrame>
      <p:sp>
        <p:nvSpPr>
          <p:cNvPr id="5" name="Shape 2"/>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6" name="Text 3"/>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Same hours, fewer contracted days, shorter closers, more full weekends off.</a:t>
            </a:r>
            <a:endParaRPr lang="en-US" sz="1400" dirty="0"/>
          </a:p>
        </p:txBody>
      </p:sp>
      <p:sp>
        <p:nvSpPr>
          <p:cNvPr id="7" name="Text 4"/>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Familiar Nine · December 2026 link proposal · 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548640" y="640080"/>
            <a:ext cx="731520" cy="731520"/>
          </a:xfrm>
          <a:prstGeom prst="ellipse">
            <a:avLst/>
          </a:prstGeom>
          <a:solidFill>
            <a:srgbClr val="F5C800"/>
          </a:solidFill>
          <a:ln w="12700">
            <a:solidFill>
              <a:srgbClr val="F5C800"/>
            </a:solidFill>
            <a:prstDash val="solid"/>
          </a:ln>
        </p:spPr>
      </p:sp>
      <p:pic>
        <p:nvPicPr>
          <p:cNvPr id="3" name="Image 0" descr="preencoded.png">    </p:cNvPr>
          <p:cNvPicPr>
            <a:picLocks noChangeAspect="1"/>
          </p:cNvPicPr>
          <p:nvPr/>
        </p:nvPicPr>
        <p:blipFill>
          <a:blip r:embed="rId1"/>
          <a:stretch>
            <a:fillRect/>
          </a:stretch>
        </p:blipFill>
        <p:spPr>
          <a:xfrm>
            <a:off x="709574" y="801014"/>
            <a:ext cx="409651" cy="409651"/>
          </a:xfrm>
          <a:prstGeom prst="rect">
            <a:avLst/>
          </a:prstGeom>
        </p:spPr>
      </p:pic>
      <p:sp>
        <p:nvSpPr>
          <p:cNvPr id="4" name="Text 1"/>
          <p:cNvSpPr txBox="1"/>
          <p:nvPr/>
        </p:nvSpPr>
        <p:spPr>
          <a:xfrm>
            <a:off x="548640" y="1600200"/>
            <a:ext cx="8046720" cy="731520"/>
          </a:xfrm>
          <a:prstGeom prst="rect">
            <a:avLst/>
          </a:prstGeom>
          <a:noFill/>
          <a:ln/>
        </p:spPr>
        <p:txBody>
          <a:bodyPr wrap="square" lIns="0" tIns="0" rIns="0" bIns="0" rtlCol="0" anchor="ctr"/>
          <a:lstStyle/>
          <a:p>
            <a:pPr indent="0" marL="0">
              <a:buNone/>
            </a:pPr>
            <a:r>
              <a:rPr lang="en-US" sz="4000" b="1" dirty="0">
                <a:solidFill>
                  <a:srgbClr val="FFFFFF"/>
                </a:solidFill>
                <a:latin typeface="Inter" pitchFamily="34" charset="0"/>
                <a:ea typeface="Inter" pitchFamily="34" charset="-122"/>
                <a:cs typeface="Inter" pitchFamily="34" charset="-120"/>
              </a:rPr>
              <a:t>What happens next</a:t>
            </a:r>
            <a:endParaRPr lang="en-US" sz="4000" dirty="0"/>
          </a:p>
        </p:txBody>
      </p:sp>
      <p:sp>
        <p:nvSpPr>
          <p:cNvPr id="5" name="Text 2"/>
          <p:cNvSpPr txBox="1"/>
          <p:nvPr/>
        </p:nvSpPr>
        <p:spPr>
          <a:xfrm>
            <a:off x="548640" y="2468880"/>
            <a:ext cx="8046720" cy="1463040"/>
          </a:xfrm>
          <a:prstGeom prst="rect">
            <a:avLst/>
          </a:prstGeom>
          <a:noFill/>
          <a:ln/>
        </p:spPr>
        <p:txBody>
          <a:bodyPr wrap="square" lIns="0" tIns="0" rIns="0" bIns="0" rtlCol="0" anchor="ctr"/>
          <a:lstStyle/>
          <a:p>
            <a:pPr marL="342900" indent="-342900">
              <a:spcAft>
                <a:spcPts val="800"/>
              </a:spcAft>
              <a:buSzPct val="100000"/>
              <a:buFont typeface="+mj-lt"/>
              <a:buAutoNum type="arabicPeriod" startAt="1"/>
            </a:pPr>
            <a:r>
              <a:rPr lang="en-US" sz="1800" dirty="0">
                <a:solidFill>
                  <a:srgbClr val="FFFFFF"/>
                </a:solidFill>
                <a:latin typeface="Inter" pitchFamily="34" charset="0"/>
                <a:ea typeface="Inter" pitchFamily="34" charset="-122"/>
                <a:cs typeface="Inter" pitchFamily="34" charset="-120"/>
              </a:rPr>
              <a:t>Look at the full proposal sheet — page 3 shows every week of the link</a:t>
            </a:r>
            <a:endParaRPr lang="en-US" sz="1800" dirty="0"/>
          </a:p>
          <a:p>
            <a:pPr marL="342900" indent="-342900">
              <a:spcAft>
                <a:spcPts val="800"/>
              </a:spcAft>
              <a:buSzPct val="100000"/>
              <a:buFont typeface="+mj-lt"/>
              <a:buAutoNum type="arabicPeriod" startAt="1"/>
            </a:pPr>
            <a:r>
              <a:rPr lang="en-US" sz="1800" dirty="0">
                <a:solidFill>
                  <a:srgbClr val="FFFFFF"/>
                </a:solidFill>
                <a:latin typeface="Inter" pitchFamily="34" charset="0"/>
                <a:ea typeface="Inter" pitchFamily="34" charset="-122"/>
                <a:cs typeface="Inter" pitchFamily="34" charset="-120"/>
              </a:rPr>
              <a:t>Tell us what worries you, even if it is small</a:t>
            </a:r>
            <a:endParaRPr lang="en-US" sz="1800" dirty="0"/>
          </a:p>
          <a:p>
            <a:pPr marL="342900" indent="-342900">
              <a:spcAft>
                <a:spcPts val="800"/>
              </a:spcAft>
              <a:buSzPct val="100000"/>
              <a:buFont typeface="+mj-lt"/>
              <a:buAutoNum type="arabicPeriod" startAt="1"/>
            </a:pPr>
            <a:r>
              <a:rPr lang="en-US" sz="1800" dirty="0">
                <a:solidFill>
                  <a:srgbClr val="FFFFFF"/>
                </a:solidFill>
                <a:latin typeface="Inter" pitchFamily="34" charset="0"/>
                <a:ea typeface="Inter" pitchFamily="34" charset="-122"/>
                <a:cs typeface="Inter" pitchFamily="34" charset="-120"/>
              </a:rPr>
              <a:t>Your feedback goes to the managers with the proposal</a:t>
            </a:r>
            <a:endParaRPr lang="en-US" sz="1800" dirty="0"/>
          </a:p>
        </p:txBody>
      </p:sp>
      <p:sp>
        <p:nvSpPr>
          <p:cNvPr id="6" name="Text 3"/>
          <p:cNvSpPr txBox="1"/>
          <p:nvPr/>
        </p:nvSpPr>
        <p:spPr>
          <a:xfrm>
            <a:off x="548640" y="4343400"/>
            <a:ext cx="8046720" cy="365760"/>
          </a:xfrm>
          <a:prstGeom prst="rect">
            <a:avLst/>
          </a:prstGeom>
          <a:noFill/>
          <a:ln/>
        </p:spPr>
        <p:txBody>
          <a:bodyPr wrap="square" lIns="0" tIns="0" rIns="0" bIns="0" rtlCol="0" anchor="ctr"/>
          <a:lstStyle/>
          <a:p>
            <a:pPr indent="0" marL="0">
              <a:buNone/>
            </a:pPr>
            <a:r>
              <a:rPr lang="en-US" sz="1200" dirty="0">
                <a:solidFill>
                  <a:srgbClr val="F5C800"/>
                </a:solidFill>
                <a:latin typeface="Inter" pitchFamily="34" charset="0"/>
                <a:ea typeface="Inter" pitchFamily="34" charset="-122"/>
                <a:cs typeface="Inter" pitchFamily="34" charset="-120"/>
              </a:rPr>
              <a:t>Familiar Nine · F9-24-K31s · every figure worked out from the rota by the Marylebone Roster app</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Familiar Nine — the December 2026 link</dc:title>
  <dc:subject>PptxGenJS Presentation</dc:subject>
  <dc:creator>PptxGenJS</dc:creator>
  <cp:lastModifiedBy>PptxGenJS</cp:lastModifiedBy>
  <cp:revision>1</cp:revision>
  <dcterms:created xsi:type="dcterms:W3CDTF">2026-09-30T09:26:59Z</dcterms:created>
  <dcterms:modified xsi:type="dcterms:W3CDTF">2026-09-30T09:26:59Z</dcterms:modified>
</cp:coreProperties>
</file>