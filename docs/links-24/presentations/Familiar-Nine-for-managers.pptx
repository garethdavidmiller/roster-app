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Familiar Nine</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27.7</c:v>
                </c:pt>
                <c:pt idx="1">
                  <c:v>15</c:v>
                </c:pt>
                <c:pt idx="2">
                  <c:v>26.4</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verbally on 29 September 2026: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cover weeks evenly spaced, and weekday closers starting at 15:45. Familiar Nine meets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Familiar Nine meets all 9, and the three flexible ones as well (14 on a Saturday, evenly spaced cover weeks, 15:45 weekday closers). Someone finishing at exactly 22:00 is not counted as still on after 22:00. The floor figure leaves out the ticket office, except its second person at the quiet ends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 the rules on the previous slide are the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42,000 minutes across the 20 working weeks — so no overtime is needed to balance the Monday-to-Saturday week. Individual weeks range from 24h 30m to 41h 45m; only the average is the contract, as today. Ask the room: are four cover weeks enough for leave and sickness in a 24-person link? Sunday is not contracted, so the ten Sunday duties are worked as rest-day overtime, exactly as today’s eight are. Cover weeks stay at four, which is a slightly smaller share of a longer link: worth deciding deliberately. The two extra Sunday overtime duties a week come from the Sunday staffing of ten, confirmed verbally, not from Familiar Nine — any link that meets the rules needs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and should be confirmed by whoever assesses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It meets every December staffing rule, and it was built to keep the shift times people already work wherever that cost little — eight of its sixteen are worked today. The honest cost is late finishes: the December staffing needs three to the close and five after 22:00, so finishes at 23:00 or later go from about 39 to 59 a year each. Every closing shift is 30 to 45 minutes shorter, which softens it. Eight shift times are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fall from 219 to 217 a year (Monday to Saturday; Sunday is overtime). The late finishes average about 20 more a year each, one extra every two or three weeks. Only about six or seven of those come from the December staffing — three to the close, where today’s weekdays have two, spread over 24 people; the rest is how this design places its late shifts, so another link meeting the same rules could have fewer.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Familiar Nine</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24 weeks · code F9-24-K31s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9436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 rules met</a:t>
            </a:r>
            <a:endParaRPr lang="en-US" sz="1500" dirty="0"/>
          </a:p>
        </p:txBody>
      </p:sp>
      <p:sp>
        <p:nvSpPr>
          <p:cNvPr id="7" name="Text 5"/>
          <p:cNvSpPr txBox="1"/>
          <p:nvPr/>
        </p:nvSpPr>
        <p:spPr>
          <a:xfrm>
            <a:off x="59436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9748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 rostered exactly, on average</a:t>
            </a:r>
            <a:endParaRPr lang="en-US" sz="1500" dirty="0"/>
          </a:p>
        </p:txBody>
      </p:sp>
      <p:sp>
        <p:nvSpPr>
          <p:cNvPr id="11" name="Text 9"/>
          <p:cNvSpPr txBox="1"/>
          <p:nvPr/>
        </p:nvSpPr>
        <p:spPr>
          <a:xfrm>
            <a:off x="269748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Monday to Saturday</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80060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 fatigue warnings</a:t>
            </a:r>
            <a:endParaRPr lang="en-US" sz="1500" dirty="0"/>
          </a:p>
        </p:txBody>
      </p:sp>
      <p:sp>
        <p:nvSpPr>
          <p:cNvPr id="15" name="Text 13"/>
          <p:cNvSpPr txBox="1"/>
          <p:nvPr/>
        </p:nvSpPr>
        <p:spPr>
          <a:xfrm>
            <a:off x="480060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in the fixed rota · today 4</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24</a:t>
            </a:r>
            <a:endParaRPr lang="en-US" sz="3400" dirty="0"/>
          </a:p>
        </p:txBody>
      </p:sp>
      <p:sp>
        <p:nvSpPr>
          <p:cNvPr id="18" name="Text 16"/>
          <p:cNvSpPr txBox="1"/>
          <p:nvPr/>
        </p:nvSpPr>
        <p:spPr>
          <a:xfrm>
            <a:off x="690372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 on the link</a:t>
            </a:r>
            <a:endParaRPr lang="en-US" sz="1500" dirty="0"/>
          </a:p>
        </p:txBody>
      </p:sp>
      <p:sp>
        <p:nvSpPr>
          <p:cNvPr id="19" name="Text 17"/>
          <p:cNvSpPr txBox="1"/>
          <p:nvPr/>
        </p:nvSpPr>
        <p:spPr>
          <a:xfrm>
            <a:off x="690372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 and no avoidable fatigue warnings in the fixed rota.</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297680" y="18013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492240" y="18013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14 · 10</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297680" y="22585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492240" y="22585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297680" y="27157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492240" y="27157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 · 5 · 5</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297680" y="31729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492240" y="31729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4 · 3</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24" name="Text 22"/>
          <p:cNvSpPr txBox="1"/>
          <p:nvPr/>
        </p:nvSpPr>
        <p:spPr>
          <a:xfrm>
            <a:off x="4297680" y="36301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492240" y="36301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closer to the December pattern on weekdays, Saturday and Sunday.</a:t>
            </a:r>
            <a:endParaRPr lang="en-US" sz="1400" dirty="0"/>
          </a:p>
        </p:txBody>
      </p:sp>
      <p:sp>
        <p:nvSpPr>
          <p:cNvPr id="7" name="Text 4"/>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A measure of the day’s shape only — not a staffing requirement or a passenger forecast.</a:t>
            </a:r>
            <a:endParaRPr lang="en-US" sz="85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24</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1 week in 5</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 — 1 week in 6</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Four more people, 35 hours a week on average — Sundays still rely on overtime.</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fixed rota</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Rest and run limits met with room to spare; no avoidable fatigue warnings in the fixed rota.</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Early starts and a weekly rotation come with every link, so are not counted. The written source of the 13-day limit is still to be confirmed.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Familiar Nine?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It meets the brief while keeping 8 of its 16 shift times familiar</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Meets all 9 December rules, and all 3 flexible ones</a:t>
            </a:r>
            <a:endParaRPr lang="en-US" sz="1500" dirty="0"/>
          </a:p>
        </p:txBody>
      </p:sp>
      <p:sp>
        <p:nvSpPr>
          <p:cNvPr id="7" name="Shape 5"/>
          <p:cNvSpPr/>
          <p:nvPr/>
        </p:nvSpPr>
        <p:spPr>
          <a:xfrm>
            <a:off x="457200" y="1728216"/>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282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09928"/>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Six full weekends off in 24 weeks — today four in 20</a:t>
            </a:r>
            <a:endParaRPr lang="en-US" sz="1500" dirty="0"/>
          </a:p>
        </p:txBody>
      </p:sp>
      <p:sp>
        <p:nvSpPr>
          <p:cNvPr id="10" name="Shape 8"/>
          <p:cNvSpPr/>
          <p:nvPr/>
        </p:nvSpPr>
        <p:spPr>
          <a:xfrm>
            <a:off x="457200" y="2130552"/>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1305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112264"/>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Never more than 6 days in a row — today 7</a:t>
            </a:r>
            <a:endParaRPr lang="en-US" sz="1500" dirty="0"/>
          </a:p>
        </p:txBody>
      </p:sp>
      <p:sp>
        <p:nvSpPr>
          <p:cNvPr id="13" name="Shape 11"/>
          <p:cNvSpPr/>
          <p:nvPr/>
        </p:nvSpPr>
        <p:spPr>
          <a:xfrm>
            <a:off x="457200" y="2532888"/>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5328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514600"/>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8 of its 16 shift times are worked today</a:t>
            </a:r>
            <a:endParaRPr lang="en-US" sz="1500" dirty="0"/>
          </a:p>
        </p:txBody>
      </p:sp>
      <p:sp>
        <p:nvSpPr>
          <p:cNvPr id="16" name="Shape 14"/>
          <p:cNvSpPr/>
          <p:nvPr/>
        </p:nvSpPr>
        <p:spPr>
          <a:xfrm>
            <a:off x="457200" y="2935224"/>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293522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2916936"/>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No shift over 9 hours, and every closing shift is shorter</a:t>
            </a:r>
            <a:endParaRPr lang="en-US" sz="1500" dirty="0"/>
          </a:p>
        </p:txBody>
      </p:sp>
      <p:sp>
        <p:nvSpPr>
          <p:cNvPr id="19" name="Shape 17"/>
          <p:cNvSpPr/>
          <p:nvPr/>
        </p:nvSpPr>
        <p:spPr>
          <a:xfrm>
            <a:off x="457200" y="3337560"/>
            <a:ext cx="292608" cy="292608"/>
          </a:xfrm>
          <a:prstGeom prst="ellipse">
            <a:avLst/>
          </a:prstGeom>
          <a:solidFill>
            <a:srgbClr val="1E7B4B"/>
          </a:solidFill>
          <a:ln w="12700">
            <a:solidFill>
              <a:srgbClr val="1E7B4B"/>
            </a:solidFill>
            <a:prstDash val="solid"/>
          </a:ln>
        </p:spPr>
      </p:sp>
      <p:sp>
        <p:nvSpPr>
          <p:cNvPr id="20" name="Text 18"/>
          <p:cNvSpPr txBox="1"/>
          <p:nvPr/>
        </p:nvSpPr>
        <p:spPr>
          <a:xfrm>
            <a:off x="457200" y="3337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31927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No avoidable fatigue warnings in the fixed rota</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trade-off: more late finishes — about 59 a year each, against 39 today.</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Weekends off: 6 in 24 (today 4 in 20)</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At most 6 days in a row (today 7)</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Every closing shift 30–45 minutes shorter</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8 of the 16 shift times already worked</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Shortest rest 14h 20m (today 12h 30m)</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Late finishes: 59 a year (today 39)</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8 new shift times to learn</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Average shift 6 minutes longer</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Best 14-day leave stretch 28 days, not 30</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Four weeks off takes 15 days’ leave at best, not 14</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late finishes to be the first question — the colleague deck answers it openly.</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verbally (29 Sep 2026), two decisions left</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96596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9293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24 people on the link — confirmed</a:t>
            </a:r>
            <a:endParaRPr lang="en-US" sz="1600" dirty="0"/>
          </a:p>
        </p:txBody>
      </p:sp>
      <p:sp>
        <p:nvSpPr>
          <p:cNvPr id="11" name="Text 9"/>
          <p:cNvSpPr txBox="1"/>
          <p:nvPr/>
        </p:nvSpPr>
        <p:spPr>
          <a:xfrm>
            <a:off x="1097280" y="22128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Four more than today.</a:t>
            </a:r>
            <a:endParaRPr lang="en-US" sz="1300" dirty="0"/>
          </a:p>
        </p:txBody>
      </p:sp>
      <p:sp>
        <p:nvSpPr>
          <p:cNvPr id="12" name="Shape 10"/>
          <p:cNvSpPr/>
          <p:nvPr/>
        </p:nvSpPr>
        <p:spPr>
          <a:xfrm>
            <a:off x="457200" y="260604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606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5694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8529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 Sunday work stays overtime.</a:t>
            </a:r>
            <a:endParaRPr lang="en-US" sz="1300" dirty="0"/>
          </a:p>
        </p:txBody>
      </p:sp>
      <p:sp>
        <p:nvSpPr>
          <p:cNvPr id="16" name="Shape 14"/>
          <p:cNvSpPr/>
          <p:nvPr/>
        </p:nvSpPr>
        <p:spPr>
          <a:xfrm>
            <a:off x="457200" y="324612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324612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32095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4930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88620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8862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8496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41330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of the link.</a:t>
            </a:r>
            <a:endParaRPr lang="en-US" sz="13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Familiar Nine · F9-24-K31s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Familiar Nine — the December 2026 CEA link, for managers</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