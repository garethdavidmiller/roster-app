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 though each person works about four more Saturdays a year. At least three rostered on the station floor at all times. And every closing shift is shorter: the weekday closer by 30 minutes, the Sunday closer by 45 and the Saturday closer by an hour. Right Away was built so the people on the floor follow the trains through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were confirmed verbally on 29 September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Right Away.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 23:55 instead of 14:45 (8h 10m, not 9h 10m); Sunday 15:15 to 23:25 instead of 14:30 (8h 10m, not 8h 55m). Be upfront about the other side: the minutes taken off the closers are worked earlier in the day instead, so some earlies are longer — the longest is a Saturday 07:15–16:45 (9h 30m), against 9h 10m today, and there are weekday earlies of 9h 15m and 9h 25m. The six minutes on the average is what pays for working two fewer 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About 20 more a year each finish at 23:00 or later. Only part of that is the December rules: three on duty to the close every day, where today’s weekdays have two, adds about six or seven a year each once it is spread over 24 people. The rest comes from how this design places its late shifts, not from the rules, so it is a fair question to ask. Early 06:20 starts hardly change. And because the shortest gap between two shifts is 14h 05m,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was built to follow the trains rather than to keep today’s times, and this is where that shows: five of today’s eighteen times stay, and twelve are new. The next slide lists the twelve, day by day, with how each compares with a time worked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are small nudges — 06:20–14:30 is ten minutes on from 06:20–14:20, and the Sunday opener is fifteen minutes shorter — but some are genuinely new, including longer earlies of 9h 15m to 9h 30m. 15:45–23:55 is one time, the closer on weekdays and on Saturdays, so it appears in both columns. The full list, day by day, is on page 4 of the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Right Away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Right Away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Right Away spreads rest days more evenly, so its best is 28. On average it is about the same, and at its worst it is never worse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puts the people on the floor where the trains are: through the day, the number on the station floor rises and falls with the December timetable far more closely than today’s link does — on weekdays a score about half of today’s, on a Saturday about a fifth (lower is closer). The Office of Rail and Road and the rail industry publish lists of rota patterns that tend to tire people. Today’s link shows four of them in the fixed rota (up to five where a cover week falls badly); Right Away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FR-24-F34s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drop to 2</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30–60</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minutes off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an hour on a Saturday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more full weekends off — and staff where the trains are.</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 but some earlies run longer.</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late finishes, only partly from the rules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17 shift times in all — 5 of them you already work</a:t>
            </a:r>
            <a:endParaRPr lang="en-US" sz="1500" dirty="0"/>
          </a:p>
        </p:txBody>
      </p:sp>
      <p:sp>
        <p:nvSpPr>
          <p:cNvPr id="4" name="Shape 2"/>
          <p:cNvSpPr/>
          <p:nvPr/>
        </p:nvSpPr>
        <p:spPr>
          <a:xfrm>
            <a:off x="457200" y="1325880"/>
            <a:ext cx="2606040" cy="1691640"/>
          </a:xfrm>
          <a:prstGeom prst="roundRect">
            <a:avLst>
              <a:gd name="adj" fmla="val 6486"/>
            </a:avLst>
          </a:prstGeom>
          <a:solidFill>
            <a:srgbClr val="EEF2F7"/>
          </a:solidFill>
          <a:ln w="12700">
            <a:solidFill>
              <a:srgbClr val="EEF2F7"/>
            </a:solidFill>
            <a:prstDash val="solid"/>
          </a:ln>
        </p:spPr>
      </p:sp>
      <p:sp>
        <p:nvSpPr>
          <p:cNvPr id="5" name="Text 3"/>
          <p:cNvSpPr txBox="1"/>
          <p:nvPr/>
        </p:nvSpPr>
        <p:spPr>
          <a:xfrm>
            <a:off x="45720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17</a:t>
            </a:r>
            <a:endParaRPr lang="en-US" sz="4000" dirty="0"/>
          </a:p>
        </p:txBody>
      </p:sp>
      <p:sp>
        <p:nvSpPr>
          <p:cNvPr id="6" name="Text 4"/>
          <p:cNvSpPr txBox="1"/>
          <p:nvPr/>
        </p:nvSpPr>
        <p:spPr>
          <a:xfrm>
            <a:off x="45720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shift times in all</a:t>
            </a:r>
            <a:endParaRPr lang="en-US" sz="1600" dirty="0"/>
          </a:p>
        </p:txBody>
      </p:sp>
      <p:sp>
        <p:nvSpPr>
          <p:cNvPr id="7" name="Text 5"/>
          <p:cNvSpPr txBox="1"/>
          <p:nvPr/>
        </p:nvSpPr>
        <p:spPr>
          <a:xfrm>
            <a:off x="45720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today there are 18</a:t>
            </a:r>
            <a:endParaRPr lang="en-US" sz="1250" dirty="0"/>
          </a:p>
        </p:txBody>
      </p:sp>
      <p:sp>
        <p:nvSpPr>
          <p:cNvPr id="8" name="Shape 6"/>
          <p:cNvSpPr/>
          <p:nvPr/>
        </p:nvSpPr>
        <p:spPr>
          <a:xfrm>
            <a:off x="3246120" y="1325880"/>
            <a:ext cx="2606040" cy="1691640"/>
          </a:xfrm>
          <a:prstGeom prst="roundRect">
            <a:avLst>
              <a:gd name="adj" fmla="val 6486"/>
            </a:avLst>
          </a:prstGeom>
          <a:solidFill>
            <a:srgbClr val="EEF2F7"/>
          </a:solidFill>
          <a:ln w="12700">
            <a:solidFill>
              <a:srgbClr val="EEF2F7"/>
            </a:solidFill>
            <a:prstDash val="solid"/>
          </a:ln>
        </p:spPr>
      </p:sp>
      <p:sp>
        <p:nvSpPr>
          <p:cNvPr id="9" name="Text 7"/>
          <p:cNvSpPr txBox="1"/>
          <p:nvPr/>
        </p:nvSpPr>
        <p:spPr>
          <a:xfrm>
            <a:off x="324612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5</a:t>
            </a:r>
            <a:endParaRPr lang="en-US" sz="4000" dirty="0"/>
          </a:p>
        </p:txBody>
      </p:sp>
      <p:sp>
        <p:nvSpPr>
          <p:cNvPr id="10" name="Text 8"/>
          <p:cNvSpPr txBox="1"/>
          <p:nvPr/>
        </p:nvSpPr>
        <p:spPr>
          <a:xfrm>
            <a:off x="324612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you already work</a:t>
            </a:r>
            <a:endParaRPr lang="en-US" sz="1600" dirty="0"/>
          </a:p>
        </p:txBody>
      </p:sp>
      <p:sp>
        <p:nvSpPr>
          <p:cNvPr id="11" name="Text 9"/>
          <p:cNvSpPr txBox="1"/>
          <p:nvPr/>
        </p:nvSpPr>
        <p:spPr>
          <a:xfrm>
            <a:off x="324612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listed below</a:t>
            </a:r>
            <a:endParaRPr lang="en-US" sz="1250" dirty="0"/>
          </a:p>
        </p:txBody>
      </p:sp>
      <p:sp>
        <p:nvSpPr>
          <p:cNvPr id="12" name="Shape 10"/>
          <p:cNvSpPr/>
          <p:nvPr/>
        </p:nvSpPr>
        <p:spPr>
          <a:xfrm>
            <a:off x="6035040" y="1325880"/>
            <a:ext cx="2606040" cy="1691640"/>
          </a:xfrm>
          <a:prstGeom prst="roundRect">
            <a:avLst>
              <a:gd name="adj" fmla="val 6486"/>
            </a:avLst>
          </a:prstGeom>
          <a:solidFill>
            <a:srgbClr val="EEF2F7"/>
          </a:solidFill>
          <a:ln w="12700">
            <a:solidFill>
              <a:srgbClr val="EEF2F7"/>
            </a:solidFill>
            <a:prstDash val="solid"/>
          </a:ln>
        </p:spPr>
      </p:sp>
      <p:sp>
        <p:nvSpPr>
          <p:cNvPr id="13" name="Text 11"/>
          <p:cNvSpPr txBox="1"/>
          <p:nvPr/>
        </p:nvSpPr>
        <p:spPr>
          <a:xfrm>
            <a:off x="6035040" y="1417320"/>
            <a:ext cx="2606040" cy="777240"/>
          </a:xfrm>
          <a:prstGeom prst="rect">
            <a:avLst/>
          </a:prstGeom>
          <a:noFill/>
          <a:ln/>
        </p:spPr>
        <p:txBody>
          <a:bodyPr wrap="square" lIns="0" tIns="0" rIns="0" bIns="0" rtlCol="0" anchor="ctr"/>
          <a:lstStyle/>
          <a:p>
            <a:pPr algn="ctr" indent="0" marL="0">
              <a:buNone/>
            </a:pPr>
            <a:r>
              <a:rPr lang="en-US" sz="4000" b="1" dirty="0">
                <a:solidFill>
                  <a:srgbClr val="A15C00"/>
                </a:solidFill>
                <a:latin typeface="Inter" pitchFamily="34" charset="0"/>
                <a:ea typeface="Inter" pitchFamily="34" charset="-122"/>
                <a:cs typeface="Inter" pitchFamily="34" charset="-120"/>
              </a:rPr>
              <a:t>12</a:t>
            </a:r>
            <a:endParaRPr lang="en-US" sz="4000" dirty="0"/>
          </a:p>
        </p:txBody>
      </p:sp>
      <p:sp>
        <p:nvSpPr>
          <p:cNvPr id="14" name="Text 12"/>
          <p:cNvSpPr txBox="1"/>
          <p:nvPr/>
        </p:nvSpPr>
        <p:spPr>
          <a:xfrm>
            <a:off x="603504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are new</a:t>
            </a:r>
            <a:endParaRPr lang="en-US" sz="1600" dirty="0"/>
          </a:p>
        </p:txBody>
      </p:sp>
      <p:sp>
        <p:nvSpPr>
          <p:cNvPr id="15" name="Text 13"/>
          <p:cNvSpPr txBox="1"/>
          <p:nvPr/>
        </p:nvSpPr>
        <p:spPr>
          <a:xfrm>
            <a:off x="603504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the next slide lists them</a:t>
            </a:r>
            <a:endParaRPr lang="en-US" sz="1250" dirty="0"/>
          </a:p>
        </p:txBody>
      </p:sp>
      <p:sp>
        <p:nvSpPr>
          <p:cNvPr id="16" name="Shape 14"/>
          <p:cNvSpPr/>
          <p:nvPr/>
        </p:nvSpPr>
        <p:spPr>
          <a:xfrm>
            <a:off x="457200" y="3200400"/>
            <a:ext cx="8229600" cy="777240"/>
          </a:xfrm>
          <a:prstGeom prst="roundRect">
            <a:avLst>
              <a:gd name="adj" fmla="val 11765"/>
            </a:avLst>
          </a:prstGeom>
          <a:solidFill>
            <a:srgbClr val="FFFFFF"/>
          </a:solidFill>
          <a:ln w="12700">
            <a:solidFill>
              <a:srgbClr val="DDE3EA"/>
            </a:solidFill>
            <a:prstDash val="solid"/>
          </a:ln>
        </p:spPr>
      </p:sp>
      <p:sp>
        <p:nvSpPr>
          <p:cNvPr id="17" name="Shape 15"/>
          <p:cNvSpPr/>
          <p:nvPr/>
        </p:nvSpPr>
        <p:spPr>
          <a:xfrm>
            <a:off x="640080" y="3364992"/>
            <a:ext cx="438912" cy="438912"/>
          </a:xfrm>
          <a:prstGeom prst="ellipse">
            <a:avLst/>
          </a:prstGeom>
          <a:solidFill>
            <a:srgbClr val="F5C800"/>
          </a:solidFill>
          <a:ln w="12700">
            <a:solidFill>
              <a:srgbClr val="F5C800"/>
            </a:solidFill>
            <a:prstDash val="solid"/>
          </a:ln>
        </p:spPr>
      </p:sp>
      <p:pic>
        <p:nvPicPr>
          <p:cNvPr id="18" name="Image 0" descr="preencoded.png">    </p:cNvPr>
          <p:cNvPicPr>
            <a:picLocks noChangeAspect="1"/>
          </p:cNvPicPr>
          <p:nvPr/>
        </p:nvPicPr>
        <p:blipFill>
          <a:blip r:embed="rId1"/>
          <a:stretch>
            <a:fillRect/>
          </a:stretch>
        </p:blipFill>
        <p:spPr>
          <a:xfrm>
            <a:off x="736641" y="3461553"/>
            <a:ext cx="245791" cy="245791"/>
          </a:xfrm>
          <a:prstGeom prst="rect">
            <a:avLst/>
          </a:prstGeom>
        </p:spPr>
      </p:pic>
      <p:sp>
        <p:nvSpPr>
          <p:cNvPr id="19" name="Text 16"/>
          <p:cNvSpPr txBox="1"/>
          <p:nvPr/>
        </p:nvSpPr>
        <p:spPr>
          <a:xfrm>
            <a:off x="1234440" y="3200400"/>
            <a:ext cx="7315200" cy="777240"/>
          </a:xfrm>
          <a:prstGeom prst="rect">
            <a:avLst/>
          </a:prstGeom>
          <a:noFill/>
          <a:ln/>
        </p:spPr>
        <p:txBody>
          <a:bodyPr wrap="square" lIns="0" tIns="0" rIns="0" bIns="0" rtlCol="0" anchor="ctr"/>
          <a:lstStyle/>
          <a:p>
            <a:pPr indent="0" marL="0">
              <a:buNone/>
            </a:pPr>
            <a:r>
              <a:rPr lang="en-US" sz="1400" b="1" dirty="0">
                <a:solidFill>
                  <a:srgbClr val="1E7B4B"/>
                </a:solidFill>
                <a:latin typeface="Inter" pitchFamily="34" charset="0"/>
                <a:ea typeface="Inter" pitchFamily="34" charset="-122"/>
                <a:cs typeface="Inter" pitchFamily="34" charset="-120"/>
              </a:rPr>
              <a:t>You work these today</a:t>
            </a:r>
            <a:endParaRPr lang="en-US" sz="1400" dirty="0"/>
          </a:p>
          <a:p>
            <a:pPr indent="0" marL="0">
              <a:buNone/>
            </a:pPr>
            <a:r>
              <a:rPr lang="en-US" sz="1400" dirty="0">
                <a:solidFill>
                  <a:srgbClr val="1B2533"/>
                </a:solidFill>
                <a:latin typeface="Inter" pitchFamily="34" charset="0"/>
                <a:ea typeface="Inter" pitchFamily="34" charset="-122"/>
                <a:cs typeface="Inter" pitchFamily="34" charset="-120"/>
              </a:rPr>
              <a:t>06:20–13:45 · 06:20–14:20 · 06:20–14:50 · 14:00–22:30 · 14:30–22:00</a:t>
            </a:r>
            <a:endParaRPr lang="en-US" sz="1400" dirty="0"/>
          </a:p>
        </p:txBody>
      </p:sp>
      <p:sp>
        <p:nvSpPr>
          <p:cNvPr id="20" name="Shape 17"/>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8"/>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One fewer shift time than today (17, not 18) — but 12 are new, so there is more to learn.</a:t>
            </a:r>
            <a:endParaRPr lang="en-US" sz="1400" dirty="0"/>
          </a:p>
        </p:txBody>
      </p:sp>
      <p:sp>
        <p:nvSpPr>
          <p:cNvPr id="22"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12 new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By day, and how each one compares with today</a:t>
            </a:r>
            <a:endParaRPr lang="en-US" sz="1500" dirty="0"/>
          </a:p>
        </p:txBody>
      </p:sp>
      <p:sp>
        <p:nvSpPr>
          <p:cNvPr id="4" name="Shape 2"/>
          <p:cNvSpPr/>
          <p:nvPr/>
        </p:nvSpPr>
        <p:spPr>
          <a:xfrm>
            <a:off x="457200" y="1325880"/>
            <a:ext cx="2651760" cy="2697480"/>
          </a:xfrm>
          <a:prstGeom prst="roundRect">
            <a:avLst>
              <a:gd name="adj" fmla="val 3448"/>
            </a:avLst>
          </a:prstGeom>
          <a:solidFill>
            <a:srgbClr val="EEF2F7"/>
          </a:solidFill>
          <a:ln w="12700">
            <a:solidFill>
              <a:srgbClr val="EEF2F7"/>
            </a:solidFill>
            <a:prstDash val="solid"/>
          </a:ln>
        </p:spPr>
      </p:sp>
      <p:sp>
        <p:nvSpPr>
          <p:cNvPr id="5" name="Text 3"/>
          <p:cNvSpPr txBox="1"/>
          <p:nvPr/>
        </p:nvSpPr>
        <p:spPr>
          <a:xfrm>
            <a:off x="64008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Weekdays</a:t>
            </a:r>
            <a:endParaRPr lang="en-US" sz="1600" dirty="0"/>
          </a:p>
        </p:txBody>
      </p:sp>
      <p:sp>
        <p:nvSpPr>
          <p:cNvPr id="6" name="Text 4"/>
          <p:cNvSpPr txBox="1"/>
          <p:nvPr/>
        </p:nvSpPr>
        <p:spPr>
          <a:xfrm>
            <a:off x="64008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06:20–14:30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14:30, not 14:20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06:20–15:45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long early, 9h 25m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07:00–16:15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15m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14:00–21:00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short late, 7h</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30 min later</a:t>
            </a:r>
            <a:endParaRPr lang="en-US" sz="1200" dirty="0"/>
          </a:p>
        </p:txBody>
      </p:sp>
      <p:sp>
        <p:nvSpPr>
          <p:cNvPr id="7" name="Shape 5"/>
          <p:cNvSpPr/>
          <p:nvPr/>
        </p:nvSpPr>
        <p:spPr>
          <a:xfrm>
            <a:off x="3246120" y="1325880"/>
            <a:ext cx="2651760" cy="2697480"/>
          </a:xfrm>
          <a:prstGeom prst="roundRect">
            <a:avLst>
              <a:gd name="adj" fmla="val 3448"/>
            </a:avLst>
          </a:prstGeom>
          <a:solidFill>
            <a:srgbClr val="EEF2F7"/>
          </a:solidFill>
          <a:ln w="12700">
            <a:solidFill>
              <a:srgbClr val="EEF2F7"/>
            </a:solidFill>
            <a:prstDash val="solid"/>
          </a:ln>
        </p:spPr>
      </p:sp>
      <p:sp>
        <p:nvSpPr>
          <p:cNvPr id="8" name="Text 6"/>
          <p:cNvSpPr txBox="1"/>
          <p:nvPr/>
        </p:nvSpPr>
        <p:spPr>
          <a:xfrm>
            <a:off x="342900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Saturday</a:t>
            </a:r>
            <a:endParaRPr lang="en-US" sz="1600" dirty="0"/>
          </a:p>
        </p:txBody>
      </p:sp>
      <p:sp>
        <p:nvSpPr>
          <p:cNvPr id="9" name="Text 7"/>
          <p:cNvSpPr txBox="1"/>
          <p:nvPr/>
        </p:nvSpPr>
        <p:spPr>
          <a:xfrm>
            <a:off x="342900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15:30, not 14:50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07:15–16:45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30m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14:45–22:45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late, off by 22:45</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an hour later</a:t>
            </a:r>
            <a:endParaRPr lang="en-US" sz="1200" dirty="0"/>
          </a:p>
        </p:txBody>
      </p:sp>
      <p:sp>
        <p:nvSpPr>
          <p:cNvPr id="10" name="Shape 8"/>
          <p:cNvSpPr/>
          <p:nvPr/>
        </p:nvSpPr>
        <p:spPr>
          <a:xfrm>
            <a:off x="6035040" y="1325880"/>
            <a:ext cx="2651760" cy="2697480"/>
          </a:xfrm>
          <a:prstGeom prst="roundRect">
            <a:avLst>
              <a:gd name="adj" fmla="val 3448"/>
            </a:avLst>
          </a:prstGeom>
          <a:solidFill>
            <a:srgbClr val="EEF2F7"/>
          </a:solidFill>
          <a:ln w="12700">
            <a:solidFill>
              <a:srgbClr val="EEF2F7"/>
            </a:solidFill>
            <a:prstDash val="solid"/>
          </a:ln>
        </p:spPr>
      </p:sp>
      <p:sp>
        <p:nvSpPr>
          <p:cNvPr id="11" name="Text 9"/>
          <p:cNvSpPr txBox="1"/>
          <p:nvPr/>
        </p:nvSpPr>
        <p:spPr>
          <a:xfrm>
            <a:off x="621792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Sunday</a:t>
            </a:r>
            <a:endParaRPr lang="en-US" sz="1600" dirty="0"/>
          </a:p>
        </p:txBody>
      </p:sp>
      <p:sp>
        <p:nvSpPr>
          <p:cNvPr id="12" name="Text 10"/>
          <p:cNvSpPr txBox="1"/>
          <p:nvPr/>
        </p:nvSpPr>
        <p:spPr>
          <a:xfrm>
            <a:off x="621792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07:15–15:30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opener, 15 min shorter</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09:00–18:00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 hours</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14:30–22:30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ticket-office late</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15:15–23:25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45 min later</a:t>
            </a:r>
            <a:endParaRPr lang="en-US" sz="1200" dirty="0"/>
          </a:p>
        </p:txBody>
      </p:sp>
      <p:sp>
        <p:nvSpPr>
          <p:cNvPr id="13" name="Shape 11"/>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4" name="Text 12"/>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Some are small nudges; some are genuinely new, including earlies of 9h 15m to 9h 30m.</a:t>
            </a:r>
            <a:endParaRPr lang="en-US" sz="1400" dirty="0"/>
          </a:p>
        </p:txBody>
      </p:sp>
      <p:sp>
        <p:nvSpPr>
          <p:cNvPr id="15" name="Text 1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Twelve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Five of today’s times stay — slide 9 lists the new.</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Some longer earlies</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longest shift is 9h 30m, a Saturday early (today 9h 10m).</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on the fixed rota, against 39 today.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Right Away, side by side</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Right Away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05m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17 (5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Right Away · FR-24-F34s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link</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