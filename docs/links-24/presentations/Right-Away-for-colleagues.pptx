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Say straight away this is a proposal, not a decision. The aim tonight is to answer the questions people actually ask about a new link: will I work more, will my shifts be longer, will I know the times, what happens to my weekends and my leave. Every number in these slides comes from the rota calculations and has been independently checked; the slides themselves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pitch on one slide. Same 35-hour week as now. Never more than six days in a row. Six full weekends off in every 24 weeks, against four in 20 today — though each person works about four more Saturdays a year. At least three rostered on the station floor at all times. And every closing shift is shorter: the weekday closer by 30 minutes, the Sunday closer by 45 and the Saturday closer by an hour. Right Away was built so the people on the floor follow the trains through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change is coming whatever we do: the December 2026 timetable and the new staffing levels mean the link has to be redrawn. The question is which version we want. The staffing levels, the 24 people and the Sunday cover were confirmed verbally on 29 September 2026: nine rules the proposal is scored on. Fourteen on a Saturday is one of three flexible aims, worked towards but not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Monday to Saturday, counting a cover week as four days worked, the same way the clerks do. Sundays are overtime by agreement, so they are not in these figures — today or in Right Away. If asked: counting Sunday overtime too, it is about one fewer day a year rather than two. Fewer days is possible because the average shift is a few minutes longer,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pay follows the 35-hour week, which does not change; overtime and premium duties vary person to person. The Saturday and Sunday counts are the link’s fixed duties and leave out anything later given in a cover week. Saturdays in the contract are paid at time and a quarter, and on average a person is rostered about 30 a year instead of 26. Sundays stay overtime: 10 a week shared among 24 people instead of 8 among 20, so about the same each. These are averages across the whole link — your own depends on which line you start on — and they are not a payslip; the Pay Calculator in the app does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closers: they are the shifts people dislike most, and every one of them is shorter. Weekday 15:45 to 23:55 instead of 15:15 (8h 10m, not 8h 40m); Saturday 15:45 to 23:55 instead of 14:45 (8h 10m, not 9h 10m); Sunday 15:15 to 23:25 instead of 14:30 (8h 10m, not 8h 55m). Be upfront about the other side: the minutes taken off the closers are worked earlier in the day instead, so some earlies are longer — the longest is a Saturday 07:15–16:45 (9h 30m), against 9h 10m today, and there are weekday earlies of 9h 15m and 9h 25m. The six minutes on the average is what pays for working two fewer days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this one — it is the change people will notice most. About 20 more a year each finish at 23:00 or later. Only part of that is the December rules: three on duty to the close every day, where today’s weekdays have two, adds about six or seven a year each once it is spread over 24 people. The rest comes from how this design places its late shifts, not from the rules, so it is a fair question to ask. Early 06:20 starts hardly change. And because the shortest gap between two shifts is 14h 05m, nobody finishes late and starts early the next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Away was built to follow the trains rather than to keep today’s times, and this is where that shows: five of today’s eighteen times stay, and twelve are new. The next slide lists the twelve, day by day, with how each compares with a time worked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are small nudges — 06:20–14:30 is ten minutes on from 06:20–14:20, and the Sunday opener is fifteen minutes shorter — but some are genuinely new, including longer earlies of 9h 15m to 9h 30m. 15:45–23:55 is one time, the closer on weekdays and on Saturdays, so it appears in both columns. The full list, day by day, is on page 4 of the proposal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weekend is Saturday and the following Sunday both off. Today that is 4 weekends in a 20-week cycle; Right Away gives 6 in 24. They fall unevenly, not every fourth week — never more than seven weeks apart, the same longest wait as today. Most weeks now keep the same shift time Monday to Friday, and all earlies or all lates, so you are not bouncing between earlies and lates inside a week. Rest days nearly always come in pairs now — 22 of the 24 rest-day breaks are two days or more, against 13 of 17 today — and there are no six-day weeks (today there 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Earlies here means a start before 11:00. Sundays: today 8 Sunday duties across 16 working weeks, Right Away 10 across 20 — the same one-in-two share of working weeks. Because cover weeks come round a little less often, that is about one more Sunday a year each (22 against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is only needed on working days Monday to Saturday; rest days and Sundays cost nothing. Today there is one unusual stretch of the roster where 14 days buys 30 days off — Right Away spreads rest days more evenly, so its best is 28. On average it is about the same, and at its worst it is never worse than today. Four full weeks off (Sunday to Saturday) takes at least 15 days of leave, instead of 14 at best today. The exact averages depend on where you count a booking as starting, so quote them as “about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Away puts the people on the floor where the trains are: through the day, the number on the station floor rises and falls with the December timetable far more closely than today’s link does — on weekdays a score about half of today’s, on a Saturday about a fifth (lower is closer). The Office of Rail and Road and the rail industry publish lists of rota patterns that tend to tire people. Today’s link shows four of them in the fixed rota (up to five where a cover week falls badly); Right Away shows none. Two more — early starts and a weekly rotation — come with every weekly link at a 06:20 station, so they are listed on the sheet for information but not counted against any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the downsides out loud is what makes the rest believable. None of these is hidden on the full proposal sheet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to leave on screen during questions. Every figure is on the earlier slides and on the full proposal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or point people at the eight-page proposal sheet. Collect questions — the ones nobody asks in the room are usually about a particular week, so encourage people to look up the line they would start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Right Away</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Our December 2026 link — what changes for you, in plain English</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A proposal for discussion · CEA link · 24 weeks · code FR-24-F34s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Five things to take away if you remember nothing else</a:t>
            </a:r>
            <a:endParaRPr lang="en-US" sz="1500" dirty="0"/>
          </a:p>
        </p:txBody>
      </p:sp>
      <p:sp>
        <p:nvSpPr>
          <p:cNvPr id="4" name="Shape 2"/>
          <p:cNvSpPr/>
          <p:nvPr/>
        </p:nvSpPr>
        <p:spPr>
          <a:xfrm>
            <a:off x="457200" y="1463040"/>
            <a:ext cx="1536192" cy="2377440"/>
          </a:xfrm>
          <a:prstGeom prst="roundRect">
            <a:avLst>
              <a:gd name="adj" fmla="val 7143"/>
            </a:avLst>
          </a:prstGeom>
          <a:solidFill>
            <a:srgbClr val="EEF2F7"/>
          </a:solidFill>
          <a:ln w="12700">
            <a:solidFill>
              <a:srgbClr val="EEF2F7"/>
            </a:solidFill>
            <a:prstDash val="solid"/>
          </a:ln>
        </p:spPr>
      </p:sp>
      <p:sp>
        <p:nvSpPr>
          <p:cNvPr id="5" name="Text 3"/>
          <p:cNvSpPr txBox="1"/>
          <p:nvPr/>
        </p:nvSpPr>
        <p:spPr>
          <a:xfrm>
            <a:off x="457200"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35h</a:t>
            </a:r>
            <a:endParaRPr lang="en-US" sz="3000" dirty="0"/>
          </a:p>
        </p:txBody>
      </p:sp>
      <p:sp>
        <p:nvSpPr>
          <p:cNvPr id="6" name="Text 4"/>
          <p:cNvSpPr txBox="1"/>
          <p:nvPr/>
        </p:nvSpPr>
        <p:spPr>
          <a:xfrm>
            <a:off x="548640"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the same contracted week</a:t>
            </a:r>
            <a:endParaRPr lang="en-US" sz="1400" dirty="0"/>
          </a:p>
        </p:txBody>
      </p:sp>
      <p:sp>
        <p:nvSpPr>
          <p:cNvPr id="7" name="Text 5"/>
          <p:cNvSpPr txBox="1"/>
          <p:nvPr/>
        </p:nvSpPr>
        <p:spPr>
          <a:xfrm>
            <a:off x="548640"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no extra contracted hours</a:t>
            </a:r>
            <a:endParaRPr lang="en-US" sz="1200" dirty="0"/>
          </a:p>
        </p:txBody>
      </p:sp>
      <p:sp>
        <p:nvSpPr>
          <p:cNvPr id="8" name="Shape 6"/>
          <p:cNvSpPr/>
          <p:nvPr/>
        </p:nvSpPr>
        <p:spPr>
          <a:xfrm>
            <a:off x="2130552" y="1463040"/>
            <a:ext cx="1536192" cy="2377440"/>
          </a:xfrm>
          <a:prstGeom prst="roundRect">
            <a:avLst>
              <a:gd name="adj" fmla="val 7143"/>
            </a:avLst>
          </a:prstGeom>
          <a:solidFill>
            <a:srgbClr val="EEF2F7"/>
          </a:solidFill>
          <a:ln w="12700">
            <a:solidFill>
              <a:srgbClr val="EEF2F7"/>
            </a:solidFill>
            <a:prstDash val="solid"/>
          </a:ln>
        </p:spPr>
      </p:sp>
      <p:sp>
        <p:nvSpPr>
          <p:cNvPr id="9" name="Text 7"/>
          <p:cNvSpPr txBox="1"/>
          <p:nvPr/>
        </p:nvSpPr>
        <p:spPr>
          <a:xfrm>
            <a:off x="2130552"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6</a:t>
            </a:r>
            <a:endParaRPr lang="en-US" sz="3000" dirty="0"/>
          </a:p>
        </p:txBody>
      </p:sp>
      <p:sp>
        <p:nvSpPr>
          <p:cNvPr id="10" name="Text 8"/>
          <p:cNvSpPr txBox="1"/>
          <p:nvPr/>
        </p:nvSpPr>
        <p:spPr>
          <a:xfrm>
            <a:off x="2221992"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most days in a row</a:t>
            </a:r>
            <a:endParaRPr lang="en-US" sz="1400" dirty="0"/>
          </a:p>
        </p:txBody>
      </p:sp>
      <p:sp>
        <p:nvSpPr>
          <p:cNvPr id="11" name="Text 9"/>
          <p:cNvSpPr txBox="1"/>
          <p:nvPr/>
        </p:nvSpPr>
        <p:spPr>
          <a:xfrm>
            <a:off x="2221992"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today 7, up to 9</a:t>
            </a:r>
            <a:endParaRPr lang="en-US" sz="1200" dirty="0"/>
          </a:p>
        </p:txBody>
      </p:sp>
      <p:sp>
        <p:nvSpPr>
          <p:cNvPr id="12" name="Shape 10"/>
          <p:cNvSpPr/>
          <p:nvPr/>
        </p:nvSpPr>
        <p:spPr>
          <a:xfrm>
            <a:off x="3803904" y="1463040"/>
            <a:ext cx="1536192" cy="2377440"/>
          </a:xfrm>
          <a:prstGeom prst="roundRect">
            <a:avLst>
              <a:gd name="adj" fmla="val 7143"/>
            </a:avLst>
          </a:prstGeom>
          <a:solidFill>
            <a:srgbClr val="EEF2F7"/>
          </a:solidFill>
          <a:ln w="12700">
            <a:solidFill>
              <a:srgbClr val="EEF2F7"/>
            </a:solidFill>
            <a:prstDash val="solid"/>
          </a:ln>
        </p:spPr>
      </p:sp>
      <p:sp>
        <p:nvSpPr>
          <p:cNvPr id="13" name="Text 11"/>
          <p:cNvSpPr txBox="1"/>
          <p:nvPr/>
        </p:nvSpPr>
        <p:spPr>
          <a:xfrm>
            <a:off x="3803904"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6 in 24</a:t>
            </a:r>
            <a:endParaRPr lang="en-US" sz="3000" dirty="0"/>
          </a:p>
        </p:txBody>
      </p:sp>
      <p:sp>
        <p:nvSpPr>
          <p:cNvPr id="14" name="Text 12"/>
          <p:cNvSpPr txBox="1"/>
          <p:nvPr/>
        </p:nvSpPr>
        <p:spPr>
          <a:xfrm>
            <a:off x="3895344"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full weekends off</a:t>
            </a:r>
            <a:endParaRPr lang="en-US" sz="1400" dirty="0"/>
          </a:p>
        </p:txBody>
      </p:sp>
      <p:sp>
        <p:nvSpPr>
          <p:cNvPr id="15" name="Text 13"/>
          <p:cNvSpPr txBox="1"/>
          <p:nvPr/>
        </p:nvSpPr>
        <p:spPr>
          <a:xfrm>
            <a:off x="3895344"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today 4 in 20</a:t>
            </a:r>
            <a:endParaRPr lang="en-US" sz="1200" dirty="0"/>
          </a:p>
        </p:txBody>
      </p:sp>
      <p:sp>
        <p:nvSpPr>
          <p:cNvPr id="16" name="Shape 14"/>
          <p:cNvSpPr/>
          <p:nvPr/>
        </p:nvSpPr>
        <p:spPr>
          <a:xfrm>
            <a:off x="5477256" y="1463040"/>
            <a:ext cx="1536192" cy="2377440"/>
          </a:xfrm>
          <a:prstGeom prst="roundRect">
            <a:avLst>
              <a:gd name="adj" fmla="val 7143"/>
            </a:avLst>
          </a:prstGeom>
          <a:solidFill>
            <a:srgbClr val="EEF2F7"/>
          </a:solidFill>
          <a:ln w="12700">
            <a:solidFill>
              <a:srgbClr val="EEF2F7"/>
            </a:solidFill>
            <a:prstDash val="solid"/>
          </a:ln>
        </p:spPr>
      </p:sp>
      <p:sp>
        <p:nvSpPr>
          <p:cNvPr id="17" name="Text 15"/>
          <p:cNvSpPr txBox="1"/>
          <p:nvPr/>
        </p:nvSpPr>
        <p:spPr>
          <a:xfrm>
            <a:off x="5477256"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a:t>
            </a:r>
            <a:endParaRPr lang="en-US" sz="3000" dirty="0"/>
          </a:p>
        </p:txBody>
      </p:sp>
      <p:sp>
        <p:nvSpPr>
          <p:cNvPr id="18" name="Text 16"/>
          <p:cNvSpPr txBox="1"/>
          <p:nvPr/>
        </p:nvSpPr>
        <p:spPr>
          <a:xfrm>
            <a:off x="5568696"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19" name="Text 17"/>
          <p:cNvSpPr txBox="1"/>
          <p:nvPr/>
        </p:nvSpPr>
        <p:spPr>
          <a:xfrm>
            <a:off x="5568696"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today it can drop to 2</a:t>
            </a:r>
            <a:endParaRPr lang="en-US" sz="1200" dirty="0"/>
          </a:p>
        </p:txBody>
      </p:sp>
      <p:sp>
        <p:nvSpPr>
          <p:cNvPr id="20" name="Shape 18"/>
          <p:cNvSpPr/>
          <p:nvPr/>
        </p:nvSpPr>
        <p:spPr>
          <a:xfrm>
            <a:off x="7150608" y="1463040"/>
            <a:ext cx="1536192" cy="2377440"/>
          </a:xfrm>
          <a:prstGeom prst="roundRect">
            <a:avLst>
              <a:gd name="adj" fmla="val 7143"/>
            </a:avLst>
          </a:prstGeom>
          <a:solidFill>
            <a:srgbClr val="EEF2F7"/>
          </a:solidFill>
          <a:ln w="12700">
            <a:solidFill>
              <a:srgbClr val="EEF2F7"/>
            </a:solidFill>
            <a:prstDash val="solid"/>
          </a:ln>
        </p:spPr>
      </p:sp>
      <p:sp>
        <p:nvSpPr>
          <p:cNvPr id="21" name="Text 19"/>
          <p:cNvSpPr txBox="1"/>
          <p:nvPr/>
        </p:nvSpPr>
        <p:spPr>
          <a:xfrm>
            <a:off x="7150608"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30–60</a:t>
            </a:r>
            <a:endParaRPr lang="en-US" sz="3000" dirty="0"/>
          </a:p>
        </p:txBody>
      </p:sp>
      <p:sp>
        <p:nvSpPr>
          <p:cNvPr id="22" name="Text 20"/>
          <p:cNvSpPr txBox="1"/>
          <p:nvPr/>
        </p:nvSpPr>
        <p:spPr>
          <a:xfrm>
            <a:off x="7242048"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minutes off every closing shift</a:t>
            </a:r>
            <a:endParaRPr lang="en-US" sz="1400" dirty="0"/>
          </a:p>
        </p:txBody>
      </p:sp>
      <p:sp>
        <p:nvSpPr>
          <p:cNvPr id="23" name="Text 21"/>
          <p:cNvSpPr txBox="1"/>
          <p:nvPr/>
        </p:nvSpPr>
        <p:spPr>
          <a:xfrm>
            <a:off x="7242048"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an hour on a Saturday</a:t>
            </a:r>
            <a:endParaRPr lang="en-US" sz="1200" dirty="0"/>
          </a:p>
        </p:txBody>
      </p:sp>
      <p:sp>
        <p:nvSpPr>
          <p:cNvPr id="24" name="Shape 2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5" name="Text 2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shorter closers, more full weekends off — and staff where the trains are.</a:t>
            </a:r>
            <a:endParaRPr lang="en-US" sz="1400" dirty="0"/>
          </a:p>
        </p:txBody>
      </p:sp>
      <p:sp>
        <p:nvSpPr>
          <p:cNvPr id="26" name="Text 2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the link has to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Nobody is changing it for the sake of it</a:t>
            </a:r>
            <a:endParaRPr lang="en-US" sz="1500" dirty="0"/>
          </a:p>
        </p:txBody>
      </p:sp>
      <p:sp>
        <p:nvSpPr>
          <p:cNvPr id="4" name="Shape 2"/>
          <p:cNvSpPr/>
          <p:nvPr/>
        </p:nvSpPr>
        <p:spPr>
          <a:xfrm>
            <a:off x="457200" y="1371600"/>
            <a:ext cx="457200" cy="457200"/>
          </a:xfrm>
          <a:prstGeom prst="ellipse">
            <a:avLst/>
          </a:prstGeom>
          <a:solidFill>
            <a:srgbClr val="F5C800"/>
          </a:solidFill>
          <a:ln w="12700">
            <a:solidFill>
              <a:srgbClr val="F5C800"/>
            </a:solidFill>
            <a:prstDash val="solid"/>
          </a:ln>
        </p:spPr>
      </p:sp>
      <p:pic>
        <p:nvPicPr>
          <p:cNvPr id="5" name="Image 0" descr="preencoded.png">    </p:cNvPr>
          <p:cNvPicPr>
            <a:picLocks noChangeAspect="1"/>
          </p:cNvPicPr>
          <p:nvPr/>
        </p:nvPicPr>
        <p:blipFill>
          <a:blip r:embed="rId1"/>
          <a:stretch>
            <a:fillRect/>
          </a:stretch>
        </p:blipFill>
        <p:spPr>
          <a:xfrm>
            <a:off x="557784" y="1472184"/>
            <a:ext cx="256032" cy="256032"/>
          </a:xfrm>
          <a:prstGeom prst="rect">
            <a:avLst/>
          </a:prstGeom>
        </p:spPr>
      </p:pic>
      <p:sp>
        <p:nvSpPr>
          <p:cNvPr id="6" name="Text 3"/>
          <p:cNvSpPr txBox="1"/>
          <p:nvPr/>
        </p:nvSpPr>
        <p:spPr>
          <a:xfrm>
            <a:off x="1097280" y="13350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A new timetable in December 2026</a:t>
            </a:r>
            <a:endParaRPr lang="en-US" sz="1600" dirty="0"/>
          </a:p>
        </p:txBody>
      </p:sp>
      <p:sp>
        <p:nvSpPr>
          <p:cNvPr id="7" name="Text 4"/>
          <p:cNvSpPr txBox="1"/>
          <p:nvPr/>
        </p:nvSpPr>
        <p:spPr>
          <a:xfrm>
            <a:off x="1097280" y="16184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More trains, at new times — the link has to follow them.</a:t>
            </a:r>
            <a:endParaRPr lang="en-US" sz="1300" dirty="0"/>
          </a:p>
        </p:txBody>
      </p:sp>
      <p:sp>
        <p:nvSpPr>
          <p:cNvPr id="8" name="Shape 5"/>
          <p:cNvSpPr/>
          <p:nvPr/>
        </p:nvSpPr>
        <p:spPr>
          <a:xfrm>
            <a:off x="457200" y="2233968"/>
            <a:ext cx="457200" cy="457200"/>
          </a:xfrm>
          <a:prstGeom prst="ellipse">
            <a:avLst/>
          </a:prstGeom>
          <a:solidFill>
            <a:srgbClr val="F5C800"/>
          </a:solidFill>
          <a:ln w="12700">
            <a:solidFill>
              <a:srgbClr val="F5C800"/>
            </a:solidFill>
            <a:prstDash val="solid"/>
          </a:ln>
        </p:spPr>
      </p:sp>
      <p:pic>
        <p:nvPicPr>
          <p:cNvPr id="9" name="Image 1" descr="preencoded.png">    </p:cNvPr>
          <p:cNvPicPr>
            <a:picLocks noChangeAspect="1"/>
          </p:cNvPicPr>
          <p:nvPr/>
        </p:nvPicPr>
        <p:blipFill>
          <a:blip r:embed="rId2"/>
          <a:stretch>
            <a:fillRect/>
          </a:stretch>
        </p:blipFill>
        <p:spPr>
          <a:xfrm>
            <a:off x="557784" y="2334552"/>
            <a:ext cx="256032" cy="256032"/>
          </a:xfrm>
          <a:prstGeom prst="rect">
            <a:avLst/>
          </a:prstGeom>
        </p:spPr>
      </p:pic>
      <p:sp>
        <p:nvSpPr>
          <p:cNvPr id="10" name="Text 6"/>
          <p:cNvSpPr txBox="1"/>
          <p:nvPr/>
        </p:nvSpPr>
        <p:spPr>
          <a:xfrm>
            <a:off x="1097280" y="2197392"/>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More of us on the link</a:t>
            </a:r>
            <a:endParaRPr lang="en-US" sz="1600" dirty="0"/>
          </a:p>
        </p:txBody>
      </p:sp>
      <p:sp>
        <p:nvSpPr>
          <p:cNvPr id="11" name="Text 7"/>
          <p:cNvSpPr txBox="1"/>
          <p:nvPr/>
        </p:nvSpPr>
        <p:spPr>
          <a:xfrm>
            <a:off x="1097280" y="2480856"/>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It grows from 20 weeks to 24, so four more colleagues join it.</a:t>
            </a:r>
            <a:endParaRPr lang="en-US" sz="1300" dirty="0"/>
          </a:p>
        </p:txBody>
      </p:sp>
      <p:sp>
        <p:nvSpPr>
          <p:cNvPr id="12" name="Shape 8"/>
          <p:cNvSpPr/>
          <p:nvPr/>
        </p:nvSpPr>
        <p:spPr>
          <a:xfrm>
            <a:off x="457200" y="3096336"/>
            <a:ext cx="457200" cy="457200"/>
          </a:xfrm>
          <a:prstGeom prst="ellipse">
            <a:avLst/>
          </a:prstGeom>
          <a:solidFill>
            <a:srgbClr val="F5C800"/>
          </a:solidFill>
          <a:ln w="12700">
            <a:solidFill>
              <a:srgbClr val="F5C800"/>
            </a:solidFill>
            <a:prstDash val="solid"/>
          </a:ln>
        </p:spPr>
      </p:sp>
      <p:pic>
        <p:nvPicPr>
          <p:cNvPr id="13" name="Image 2" descr="preencoded.png">    </p:cNvPr>
          <p:cNvPicPr>
            <a:picLocks noChangeAspect="1"/>
          </p:cNvPicPr>
          <p:nvPr/>
        </p:nvPicPr>
        <p:blipFill>
          <a:blip r:embed="rId3"/>
          <a:stretch>
            <a:fillRect/>
          </a:stretch>
        </p:blipFill>
        <p:spPr>
          <a:xfrm>
            <a:off x="557784" y="3196920"/>
            <a:ext cx="256032" cy="256032"/>
          </a:xfrm>
          <a:prstGeom prst="rect">
            <a:avLst/>
          </a:prstGeom>
        </p:spPr>
      </p:pic>
      <p:sp>
        <p:nvSpPr>
          <p:cNvPr id="14" name="Text 9"/>
          <p:cNvSpPr txBox="1"/>
          <p:nvPr/>
        </p:nvSpPr>
        <p:spPr>
          <a:xfrm>
            <a:off x="1097280" y="3059760"/>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New staffing levels</a:t>
            </a:r>
            <a:endParaRPr lang="en-US" sz="1600" dirty="0"/>
          </a:p>
        </p:txBody>
      </p:sp>
      <p:sp>
        <p:nvSpPr>
          <p:cNvPr id="15" name="Text 10"/>
          <p:cNvSpPr txBox="1"/>
          <p:nvPr/>
        </p:nvSpPr>
        <p:spPr>
          <a:xfrm>
            <a:off x="1097280" y="3343224"/>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At least 10 on a Sunday, and more at the open and the close. We also aim for 14 on a Saturday.</a:t>
            </a:r>
            <a:endParaRPr lang="en-US" sz="1300" dirty="0"/>
          </a:p>
        </p:txBody>
      </p:sp>
      <p:sp>
        <p:nvSpPr>
          <p:cNvPr id="16" name="Shape 11"/>
          <p:cNvSpPr/>
          <p:nvPr/>
        </p:nvSpPr>
        <p:spPr>
          <a:xfrm>
            <a:off x="457200" y="3958704"/>
            <a:ext cx="457200" cy="457200"/>
          </a:xfrm>
          <a:prstGeom prst="ellipse">
            <a:avLst/>
          </a:prstGeom>
          <a:solidFill>
            <a:srgbClr val="F5C800"/>
          </a:solidFill>
          <a:ln w="12700">
            <a:solidFill>
              <a:srgbClr val="F5C800"/>
            </a:solidFill>
            <a:prstDash val="solid"/>
          </a:ln>
        </p:spPr>
      </p:sp>
      <p:pic>
        <p:nvPicPr>
          <p:cNvPr id="17" name="Image 3" descr="preencoded.png">    </p:cNvPr>
          <p:cNvPicPr>
            <a:picLocks noChangeAspect="1"/>
          </p:cNvPicPr>
          <p:nvPr/>
        </p:nvPicPr>
        <p:blipFill>
          <a:blip r:embed="rId4"/>
          <a:stretch>
            <a:fillRect/>
          </a:stretch>
        </p:blipFill>
        <p:spPr>
          <a:xfrm>
            <a:off x="557784" y="4059288"/>
            <a:ext cx="256032" cy="256032"/>
          </a:xfrm>
          <a:prstGeom prst="rect">
            <a:avLst/>
          </a:prstGeom>
        </p:spPr>
      </p:pic>
      <p:sp>
        <p:nvSpPr>
          <p:cNvPr id="18" name="Text 12"/>
          <p:cNvSpPr txBox="1"/>
          <p:nvPr/>
        </p:nvSpPr>
        <p:spPr>
          <a:xfrm>
            <a:off x="1097280" y="3922128"/>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 ticket office in fixed pairs</a:t>
            </a:r>
            <a:endParaRPr lang="en-US" sz="1600" dirty="0"/>
          </a:p>
        </p:txBody>
      </p:sp>
      <p:sp>
        <p:nvSpPr>
          <p:cNvPr id="19" name="Text 13"/>
          <p:cNvSpPr txBox="1"/>
          <p:nvPr/>
        </p:nvSpPr>
        <p:spPr>
          <a:xfrm>
            <a:off x="1097280" y="4205592"/>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Two early and two late, on the same shifts, every day.</a:t>
            </a:r>
            <a:endParaRPr lang="en-US" sz="1300" dirty="0"/>
          </a:p>
        </p:txBody>
      </p:sp>
      <p:sp>
        <p:nvSpPr>
          <p:cNvPr id="20" name="Text 1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work more?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first thing everyone asks</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Right Away</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days at work a week</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4.2</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4.17</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days at work a year</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219</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217</a:t>
            </a:r>
            <a:endParaRPr lang="en-US" sz="18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Exactly the same 35-hour week — and about 2 fewer contracted days a year.</a:t>
            </a:r>
            <a:endParaRPr lang="en-US" sz="1400" dirty="0"/>
          </a:p>
        </p:txBody>
      </p:sp>
      <p:sp>
        <p:nvSpPr>
          <p:cNvPr id="20" name="Text 18"/>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basic pay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Basic pay follows your contracted hours</a:t>
            </a:r>
            <a:endParaRPr lang="en-US" sz="1500" dirty="0"/>
          </a:p>
        </p:txBody>
      </p:sp>
      <p:sp>
        <p:nvSpPr>
          <p:cNvPr id="4" name="Text 2"/>
          <p:cNvSpPr txBox="1"/>
          <p:nvPr/>
        </p:nvSpPr>
        <p:spPr>
          <a:xfrm>
            <a:off x="4846320" y="1417320"/>
            <a:ext cx="192024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766560" y="1417320"/>
            <a:ext cx="192024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Right Away</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846320" y="1801368"/>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766560" y="1801368"/>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Saturdays a year, at time and a quarter</a:t>
            </a:r>
            <a:endParaRPr lang="en-US" sz="1400" dirty="0"/>
          </a:p>
        </p:txBody>
      </p:sp>
      <p:sp>
        <p:nvSpPr>
          <p:cNvPr id="12" name="Text 10"/>
          <p:cNvSpPr txBox="1"/>
          <p:nvPr/>
        </p:nvSpPr>
        <p:spPr>
          <a:xfrm>
            <a:off x="4846320" y="2368296"/>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26</a:t>
            </a:r>
            <a:endParaRPr lang="en-US" sz="1600" dirty="0"/>
          </a:p>
        </p:txBody>
      </p:sp>
      <p:sp>
        <p:nvSpPr>
          <p:cNvPr id="13" name="Text 11"/>
          <p:cNvSpPr txBox="1"/>
          <p:nvPr/>
        </p:nvSpPr>
        <p:spPr>
          <a:xfrm>
            <a:off x="6766560" y="2368296"/>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30</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overtime to share — each, a year</a:t>
            </a:r>
            <a:endParaRPr lang="en-US" sz="1400" dirty="0"/>
          </a:p>
        </p:txBody>
      </p:sp>
      <p:sp>
        <p:nvSpPr>
          <p:cNvPr id="16" name="Text 14"/>
          <p:cNvSpPr txBox="1"/>
          <p:nvPr/>
        </p:nvSpPr>
        <p:spPr>
          <a:xfrm>
            <a:off x="4846320" y="2935224"/>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a:t>
            </a:r>
            <a:endParaRPr lang="en-US" sz="1600" dirty="0"/>
          </a:p>
        </p:txBody>
      </p:sp>
      <p:sp>
        <p:nvSpPr>
          <p:cNvPr id="17" name="Text 15"/>
          <p:cNvSpPr txBox="1"/>
          <p:nvPr/>
        </p:nvSpPr>
        <p:spPr>
          <a:xfrm>
            <a:off x="6766560" y="2935224"/>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22</a:t>
            </a:r>
            <a:endParaRPr lang="en-US" sz="18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The same 35-hour week — plus about four more Saturdays at time and a quarter.</a:t>
            </a:r>
            <a:endParaRPr lang="en-US" sz="1400" dirty="0"/>
          </a:p>
        </p:txBody>
      </p:sp>
      <p:sp>
        <p:nvSpPr>
          <p:cNvPr id="20" name="Text 18"/>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Yearly figures are averages from the fixed rota; cover-week duties are not included.</a:t>
            </a:r>
            <a:endParaRPr lang="en-US" sz="850" dirty="0"/>
          </a:p>
        </p:txBody>
      </p:sp>
      <p:sp>
        <p:nvSpPr>
          <p:cNvPr id="21" name="Text 19"/>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shifts be longer?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Every closing shift gets shorter — the average goes up six minutes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Right Away</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Weekday closer — starts 15:45, not 15:15</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40m</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0" name="Shape 8"/>
          <p:cNvSpPr/>
          <p:nvPr/>
        </p:nvSpPr>
        <p:spPr>
          <a:xfrm>
            <a:off x="457200" y="2258568"/>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585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 closer — starts 15:45, not 14:45</a:t>
            </a:r>
            <a:endParaRPr lang="en-US" sz="1400" dirty="0"/>
          </a:p>
        </p:txBody>
      </p:sp>
      <p:sp>
        <p:nvSpPr>
          <p:cNvPr id="12" name="Text 10"/>
          <p:cNvSpPr txBox="1"/>
          <p:nvPr/>
        </p:nvSpPr>
        <p:spPr>
          <a:xfrm>
            <a:off x="4663440" y="22585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13" name="Text 11"/>
          <p:cNvSpPr txBox="1"/>
          <p:nvPr/>
        </p:nvSpPr>
        <p:spPr>
          <a:xfrm>
            <a:off x="6675120" y="22585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4" name="Shape 12"/>
          <p:cNvSpPr/>
          <p:nvPr/>
        </p:nvSpPr>
        <p:spPr>
          <a:xfrm>
            <a:off x="457200" y="2715768"/>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7157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closer — starts 15:15, not 14:30</a:t>
            </a:r>
            <a:endParaRPr lang="en-US" sz="1400" dirty="0"/>
          </a:p>
        </p:txBody>
      </p:sp>
      <p:sp>
        <p:nvSpPr>
          <p:cNvPr id="16" name="Text 14"/>
          <p:cNvSpPr txBox="1"/>
          <p:nvPr/>
        </p:nvSpPr>
        <p:spPr>
          <a:xfrm>
            <a:off x="4663440" y="27157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55m</a:t>
            </a:r>
            <a:endParaRPr lang="en-US" sz="1600" dirty="0"/>
          </a:p>
        </p:txBody>
      </p:sp>
      <p:sp>
        <p:nvSpPr>
          <p:cNvPr id="17" name="Text 15"/>
          <p:cNvSpPr txBox="1"/>
          <p:nvPr/>
        </p:nvSpPr>
        <p:spPr>
          <a:xfrm>
            <a:off x="6675120" y="27157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8" name="Shape 16"/>
          <p:cNvSpPr/>
          <p:nvPr/>
        </p:nvSpPr>
        <p:spPr>
          <a:xfrm>
            <a:off x="457200" y="3172968"/>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729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 anywhere</a:t>
            </a:r>
            <a:endParaRPr lang="en-US" sz="1400" dirty="0"/>
          </a:p>
        </p:txBody>
      </p:sp>
      <p:sp>
        <p:nvSpPr>
          <p:cNvPr id="20" name="Text 18"/>
          <p:cNvSpPr txBox="1"/>
          <p:nvPr/>
        </p:nvSpPr>
        <p:spPr>
          <a:xfrm>
            <a:off x="4663440" y="31729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21" name="Text 19"/>
          <p:cNvSpPr txBox="1"/>
          <p:nvPr/>
        </p:nvSpPr>
        <p:spPr>
          <a:xfrm>
            <a:off x="6675120" y="3172968"/>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9h 30m</a:t>
            </a:r>
            <a:endParaRPr lang="en-US" sz="1800" dirty="0"/>
          </a:p>
        </p:txBody>
      </p:sp>
      <p:sp>
        <p:nvSpPr>
          <p:cNvPr id="22" name="Shape 20"/>
          <p:cNvSpPr/>
          <p:nvPr/>
        </p:nvSpPr>
        <p:spPr>
          <a:xfrm>
            <a:off x="457200" y="3630168"/>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6301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Average shift</a:t>
            </a:r>
            <a:endParaRPr lang="en-US" sz="1400" dirty="0"/>
          </a:p>
        </p:txBody>
      </p:sp>
      <p:sp>
        <p:nvSpPr>
          <p:cNvPr id="24" name="Text 22"/>
          <p:cNvSpPr txBox="1"/>
          <p:nvPr/>
        </p:nvSpPr>
        <p:spPr>
          <a:xfrm>
            <a:off x="4663440" y="36301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14m</a:t>
            </a:r>
            <a:endParaRPr lang="en-US" sz="1600" dirty="0"/>
          </a:p>
        </p:txBody>
      </p:sp>
      <p:sp>
        <p:nvSpPr>
          <p:cNvPr id="25" name="Text 23"/>
          <p:cNvSpPr txBox="1"/>
          <p:nvPr/>
        </p:nvSpPr>
        <p:spPr>
          <a:xfrm>
            <a:off x="6675120" y="3630168"/>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8h 20m</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closing shift is 30 to 60 minutes shorter — but some earlies run longer.</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finish late more often?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Yes — about 59 a year each, against 39 today</a:t>
            </a:r>
            <a:endParaRPr lang="en-US" sz="1500" dirty="0"/>
          </a:p>
        </p:txBody>
      </p:sp>
      <p:sp>
        <p:nvSpPr>
          <p:cNvPr id="4" name="Text 2"/>
          <p:cNvSpPr txBox="1"/>
          <p:nvPr/>
        </p:nvSpPr>
        <p:spPr>
          <a:xfrm>
            <a:off x="4846320" y="1417320"/>
            <a:ext cx="192024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766560" y="1417320"/>
            <a:ext cx="192024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Right Away</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23:00 or later — each, a year</a:t>
            </a:r>
            <a:endParaRPr lang="en-US" sz="1400" dirty="0"/>
          </a:p>
        </p:txBody>
      </p:sp>
      <p:sp>
        <p:nvSpPr>
          <p:cNvPr id="8" name="Text 6"/>
          <p:cNvSpPr txBox="1"/>
          <p:nvPr/>
        </p:nvSpPr>
        <p:spPr>
          <a:xfrm>
            <a:off x="4846320" y="1801368"/>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39</a:t>
            </a:r>
            <a:endParaRPr lang="en-US" sz="1600" dirty="0"/>
          </a:p>
        </p:txBody>
      </p:sp>
      <p:sp>
        <p:nvSpPr>
          <p:cNvPr id="9" name="Text 7"/>
          <p:cNvSpPr txBox="1"/>
          <p:nvPr/>
        </p:nvSpPr>
        <p:spPr>
          <a:xfrm>
            <a:off x="6766560" y="1801368"/>
            <a:ext cx="192024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59</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22:00 or later — each, a year</a:t>
            </a:r>
            <a:endParaRPr lang="en-US" sz="1400" dirty="0"/>
          </a:p>
        </p:txBody>
      </p:sp>
      <p:sp>
        <p:nvSpPr>
          <p:cNvPr id="12" name="Text 10"/>
          <p:cNvSpPr txBox="1"/>
          <p:nvPr/>
        </p:nvSpPr>
        <p:spPr>
          <a:xfrm>
            <a:off x="4846320" y="2368296"/>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78</a:t>
            </a:r>
            <a:endParaRPr lang="en-US" sz="1600" dirty="0"/>
          </a:p>
        </p:txBody>
      </p:sp>
      <p:sp>
        <p:nvSpPr>
          <p:cNvPr id="13" name="Text 11"/>
          <p:cNvSpPr txBox="1"/>
          <p:nvPr/>
        </p:nvSpPr>
        <p:spPr>
          <a:xfrm>
            <a:off x="6766560" y="2368296"/>
            <a:ext cx="192024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91</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Starting at 06:20 — each, a year</a:t>
            </a:r>
            <a:endParaRPr lang="en-US" sz="1400" dirty="0"/>
          </a:p>
        </p:txBody>
      </p:sp>
      <p:sp>
        <p:nvSpPr>
          <p:cNvPr id="16" name="Text 14"/>
          <p:cNvSpPr txBox="1"/>
          <p:nvPr/>
        </p:nvSpPr>
        <p:spPr>
          <a:xfrm>
            <a:off x="4846320" y="2935224"/>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62</a:t>
            </a:r>
            <a:endParaRPr lang="en-US" sz="1600" dirty="0"/>
          </a:p>
        </p:txBody>
      </p:sp>
      <p:sp>
        <p:nvSpPr>
          <p:cNvPr id="17" name="Text 15"/>
          <p:cNvSpPr txBox="1"/>
          <p:nvPr/>
        </p:nvSpPr>
        <p:spPr>
          <a:xfrm>
            <a:off x="6766560" y="2935224"/>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65</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846320" y="3502152"/>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766560" y="3502152"/>
            <a:ext cx="192024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05m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More late finishes, only partly from the rules — but every closing shift is shorter.</a:t>
            </a:r>
            <a:endParaRPr lang="en-US" sz="1400" dirty="0"/>
          </a:p>
        </p:txBody>
      </p:sp>
      <p:sp>
        <p:nvSpPr>
          <p:cNvPr id="24" name="Text 22"/>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Yearly figures are averages from the fixed rota; cover-week duties are not included.</a:t>
            </a:r>
            <a:endParaRPr lang="en-US" sz="85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know the times?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17 shift times in all — 5 of them you already work</a:t>
            </a:r>
            <a:endParaRPr lang="en-US" sz="1500" dirty="0"/>
          </a:p>
        </p:txBody>
      </p:sp>
      <p:sp>
        <p:nvSpPr>
          <p:cNvPr id="4" name="Shape 2"/>
          <p:cNvSpPr/>
          <p:nvPr/>
        </p:nvSpPr>
        <p:spPr>
          <a:xfrm>
            <a:off x="457200" y="1325880"/>
            <a:ext cx="2606040" cy="1691640"/>
          </a:xfrm>
          <a:prstGeom prst="roundRect">
            <a:avLst>
              <a:gd name="adj" fmla="val 6486"/>
            </a:avLst>
          </a:prstGeom>
          <a:solidFill>
            <a:srgbClr val="EEF2F7"/>
          </a:solidFill>
          <a:ln w="12700">
            <a:solidFill>
              <a:srgbClr val="EEF2F7"/>
            </a:solidFill>
            <a:prstDash val="solid"/>
          </a:ln>
        </p:spPr>
      </p:sp>
      <p:sp>
        <p:nvSpPr>
          <p:cNvPr id="5" name="Text 3"/>
          <p:cNvSpPr txBox="1"/>
          <p:nvPr/>
        </p:nvSpPr>
        <p:spPr>
          <a:xfrm>
            <a:off x="457200" y="1417320"/>
            <a:ext cx="2606040" cy="777240"/>
          </a:xfrm>
          <a:prstGeom prst="rect">
            <a:avLst/>
          </a:prstGeom>
          <a:noFill/>
          <a:ln/>
        </p:spPr>
        <p:txBody>
          <a:bodyPr wrap="square" lIns="0" tIns="0" rIns="0" bIns="0" rtlCol="0" anchor="ctr"/>
          <a:lstStyle/>
          <a:p>
            <a:pPr algn="ctr" indent="0" marL="0">
              <a:buNone/>
            </a:pPr>
            <a:r>
              <a:rPr lang="en-US" sz="4000" b="1" dirty="0">
                <a:solidFill>
                  <a:srgbClr val="001E3C"/>
                </a:solidFill>
                <a:latin typeface="Inter" pitchFamily="34" charset="0"/>
                <a:ea typeface="Inter" pitchFamily="34" charset="-122"/>
                <a:cs typeface="Inter" pitchFamily="34" charset="-120"/>
              </a:rPr>
              <a:t>17</a:t>
            </a:r>
            <a:endParaRPr lang="en-US" sz="4000" dirty="0"/>
          </a:p>
        </p:txBody>
      </p:sp>
      <p:sp>
        <p:nvSpPr>
          <p:cNvPr id="6" name="Text 4"/>
          <p:cNvSpPr txBox="1"/>
          <p:nvPr/>
        </p:nvSpPr>
        <p:spPr>
          <a:xfrm>
            <a:off x="457200" y="2212848"/>
            <a:ext cx="2606040" cy="365760"/>
          </a:xfrm>
          <a:prstGeom prst="rect">
            <a:avLst/>
          </a:prstGeom>
          <a:noFill/>
          <a:ln/>
        </p:spPr>
        <p:txBody>
          <a:bodyPr wrap="square" lIns="0" tIns="0" rIns="0" bIns="0" rtlCol="0" anchor="ctr"/>
          <a:lstStyle/>
          <a:p>
            <a:pPr algn="ctr" indent="0" marL="0">
              <a:buNone/>
            </a:pPr>
            <a:r>
              <a:rPr lang="en-US" sz="1600" b="1" dirty="0">
                <a:solidFill>
                  <a:srgbClr val="1B2533"/>
                </a:solidFill>
                <a:latin typeface="Inter" pitchFamily="34" charset="0"/>
                <a:ea typeface="Inter" pitchFamily="34" charset="-122"/>
                <a:cs typeface="Inter" pitchFamily="34" charset="-120"/>
              </a:rPr>
              <a:t>shift times in all</a:t>
            </a:r>
            <a:endParaRPr lang="en-US" sz="1600" dirty="0"/>
          </a:p>
        </p:txBody>
      </p:sp>
      <p:sp>
        <p:nvSpPr>
          <p:cNvPr id="7" name="Text 5"/>
          <p:cNvSpPr txBox="1"/>
          <p:nvPr/>
        </p:nvSpPr>
        <p:spPr>
          <a:xfrm>
            <a:off x="457200" y="2578608"/>
            <a:ext cx="2606040" cy="320040"/>
          </a:xfrm>
          <a:prstGeom prst="rect">
            <a:avLst/>
          </a:prstGeom>
          <a:noFill/>
          <a:ln/>
        </p:spPr>
        <p:txBody>
          <a:bodyPr wrap="square" lIns="0" tIns="0" rIns="0" bIns="0" rtlCol="0" anchor="ctr"/>
          <a:lstStyle/>
          <a:p>
            <a:pPr algn="ctr" indent="0" marL="0">
              <a:buNone/>
            </a:pPr>
            <a:r>
              <a:rPr lang="en-US" sz="1250" dirty="0">
                <a:solidFill>
                  <a:srgbClr val="5B6778"/>
                </a:solidFill>
                <a:latin typeface="Inter" pitchFamily="34" charset="0"/>
                <a:ea typeface="Inter" pitchFamily="34" charset="-122"/>
                <a:cs typeface="Inter" pitchFamily="34" charset="-120"/>
              </a:rPr>
              <a:t>today there are 18</a:t>
            </a:r>
            <a:endParaRPr lang="en-US" sz="1250" dirty="0"/>
          </a:p>
        </p:txBody>
      </p:sp>
      <p:sp>
        <p:nvSpPr>
          <p:cNvPr id="8" name="Shape 6"/>
          <p:cNvSpPr/>
          <p:nvPr/>
        </p:nvSpPr>
        <p:spPr>
          <a:xfrm>
            <a:off x="3246120" y="1325880"/>
            <a:ext cx="2606040" cy="1691640"/>
          </a:xfrm>
          <a:prstGeom prst="roundRect">
            <a:avLst>
              <a:gd name="adj" fmla="val 6486"/>
            </a:avLst>
          </a:prstGeom>
          <a:solidFill>
            <a:srgbClr val="EEF2F7"/>
          </a:solidFill>
          <a:ln w="12700">
            <a:solidFill>
              <a:srgbClr val="EEF2F7"/>
            </a:solidFill>
            <a:prstDash val="solid"/>
          </a:ln>
        </p:spPr>
      </p:sp>
      <p:sp>
        <p:nvSpPr>
          <p:cNvPr id="9" name="Text 7"/>
          <p:cNvSpPr txBox="1"/>
          <p:nvPr/>
        </p:nvSpPr>
        <p:spPr>
          <a:xfrm>
            <a:off x="3246120" y="1417320"/>
            <a:ext cx="2606040" cy="777240"/>
          </a:xfrm>
          <a:prstGeom prst="rect">
            <a:avLst/>
          </a:prstGeom>
          <a:noFill/>
          <a:ln/>
        </p:spPr>
        <p:txBody>
          <a:bodyPr wrap="square" lIns="0" tIns="0" rIns="0" bIns="0" rtlCol="0" anchor="ctr"/>
          <a:lstStyle/>
          <a:p>
            <a:pPr algn="ctr" indent="0" marL="0">
              <a:buNone/>
            </a:pPr>
            <a:r>
              <a:rPr lang="en-US" sz="4000" b="1" dirty="0">
                <a:solidFill>
                  <a:srgbClr val="001E3C"/>
                </a:solidFill>
                <a:latin typeface="Inter" pitchFamily="34" charset="0"/>
                <a:ea typeface="Inter" pitchFamily="34" charset="-122"/>
                <a:cs typeface="Inter" pitchFamily="34" charset="-120"/>
              </a:rPr>
              <a:t>5</a:t>
            </a:r>
            <a:endParaRPr lang="en-US" sz="4000" dirty="0"/>
          </a:p>
        </p:txBody>
      </p:sp>
      <p:sp>
        <p:nvSpPr>
          <p:cNvPr id="10" name="Text 8"/>
          <p:cNvSpPr txBox="1"/>
          <p:nvPr/>
        </p:nvSpPr>
        <p:spPr>
          <a:xfrm>
            <a:off x="3246120" y="2212848"/>
            <a:ext cx="2606040" cy="365760"/>
          </a:xfrm>
          <a:prstGeom prst="rect">
            <a:avLst/>
          </a:prstGeom>
          <a:noFill/>
          <a:ln/>
        </p:spPr>
        <p:txBody>
          <a:bodyPr wrap="square" lIns="0" tIns="0" rIns="0" bIns="0" rtlCol="0" anchor="ctr"/>
          <a:lstStyle/>
          <a:p>
            <a:pPr algn="ctr" indent="0" marL="0">
              <a:buNone/>
            </a:pPr>
            <a:r>
              <a:rPr lang="en-US" sz="1600" b="1" dirty="0">
                <a:solidFill>
                  <a:srgbClr val="1B2533"/>
                </a:solidFill>
                <a:latin typeface="Inter" pitchFamily="34" charset="0"/>
                <a:ea typeface="Inter" pitchFamily="34" charset="-122"/>
                <a:cs typeface="Inter" pitchFamily="34" charset="-120"/>
              </a:rPr>
              <a:t>you already work</a:t>
            </a:r>
            <a:endParaRPr lang="en-US" sz="1600" dirty="0"/>
          </a:p>
        </p:txBody>
      </p:sp>
      <p:sp>
        <p:nvSpPr>
          <p:cNvPr id="11" name="Text 9"/>
          <p:cNvSpPr txBox="1"/>
          <p:nvPr/>
        </p:nvSpPr>
        <p:spPr>
          <a:xfrm>
            <a:off x="3246120" y="2578608"/>
            <a:ext cx="2606040" cy="320040"/>
          </a:xfrm>
          <a:prstGeom prst="rect">
            <a:avLst/>
          </a:prstGeom>
          <a:noFill/>
          <a:ln/>
        </p:spPr>
        <p:txBody>
          <a:bodyPr wrap="square" lIns="0" tIns="0" rIns="0" bIns="0" rtlCol="0" anchor="ctr"/>
          <a:lstStyle/>
          <a:p>
            <a:pPr algn="ctr" indent="0" marL="0">
              <a:buNone/>
            </a:pPr>
            <a:r>
              <a:rPr lang="en-US" sz="1250" dirty="0">
                <a:solidFill>
                  <a:srgbClr val="5B6778"/>
                </a:solidFill>
                <a:latin typeface="Inter" pitchFamily="34" charset="0"/>
                <a:ea typeface="Inter" pitchFamily="34" charset="-122"/>
                <a:cs typeface="Inter" pitchFamily="34" charset="-120"/>
              </a:rPr>
              <a:t>listed below</a:t>
            </a:r>
            <a:endParaRPr lang="en-US" sz="1250" dirty="0"/>
          </a:p>
        </p:txBody>
      </p:sp>
      <p:sp>
        <p:nvSpPr>
          <p:cNvPr id="12" name="Shape 10"/>
          <p:cNvSpPr/>
          <p:nvPr/>
        </p:nvSpPr>
        <p:spPr>
          <a:xfrm>
            <a:off x="6035040" y="1325880"/>
            <a:ext cx="2606040" cy="1691640"/>
          </a:xfrm>
          <a:prstGeom prst="roundRect">
            <a:avLst>
              <a:gd name="adj" fmla="val 6486"/>
            </a:avLst>
          </a:prstGeom>
          <a:solidFill>
            <a:srgbClr val="EEF2F7"/>
          </a:solidFill>
          <a:ln w="12700">
            <a:solidFill>
              <a:srgbClr val="EEF2F7"/>
            </a:solidFill>
            <a:prstDash val="solid"/>
          </a:ln>
        </p:spPr>
      </p:sp>
      <p:sp>
        <p:nvSpPr>
          <p:cNvPr id="13" name="Text 11"/>
          <p:cNvSpPr txBox="1"/>
          <p:nvPr/>
        </p:nvSpPr>
        <p:spPr>
          <a:xfrm>
            <a:off x="6035040" y="1417320"/>
            <a:ext cx="2606040" cy="777240"/>
          </a:xfrm>
          <a:prstGeom prst="rect">
            <a:avLst/>
          </a:prstGeom>
          <a:noFill/>
          <a:ln/>
        </p:spPr>
        <p:txBody>
          <a:bodyPr wrap="square" lIns="0" tIns="0" rIns="0" bIns="0" rtlCol="0" anchor="ctr"/>
          <a:lstStyle/>
          <a:p>
            <a:pPr algn="ctr" indent="0" marL="0">
              <a:buNone/>
            </a:pPr>
            <a:r>
              <a:rPr lang="en-US" sz="4000" b="1" dirty="0">
                <a:solidFill>
                  <a:srgbClr val="A15C00"/>
                </a:solidFill>
                <a:latin typeface="Inter" pitchFamily="34" charset="0"/>
                <a:ea typeface="Inter" pitchFamily="34" charset="-122"/>
                <a:cs typeface="Inter" pitchFamily="34" charset="-120"/>
              </a:rPr>
              <a:t>12</a:t>
            </a:r>
            <a:endParaRPr lang="en-US" sz="4000" dirty="0"/>
          </a:p>
        </p:txBody>
      </p:sp>
      <p:sp>
        <p:nvSpPr>
          <p:cNvPr id="14" name="Text 12"/>
          <p:cNvSpPr txBox="1"/>
          <p:nvPr/>
        </p:nvSpPr>
        <p:spPr>
          <a:xfrm>
            <a:off x="6035040" y="2212848"/>
            <a:ext cx="2606040" cy="365760"/>
          </a:xfrm>
          <a:prstGeom prst="rect">
            <a:avLst/>
          </a:prstGeom>
          <a:noFill/>
          <a:ln/>
        </p:spPr>
        <p:txBody>
          <a:bodyPr wrap="square" lIns="0" tIns="0" rIns="0" bIns="0" rtlCol="0" anchor="ctr"/>
          <a:lstStyle/>
          <a:p>
            <a:pPr algn="ctr" indent="0" marL="0">
              <a:buNone/>
            </a:pPr>
            <a:r>
              <a:rPr lang="en-US" sz="1600" b="1" dirty="0">
                <a:solidFill>
                  <a:srgbClr val="1B2533"/>
                </a:solidFill>
                <a:latin typeface="Inter" pitchFamily="34" charset="0"/>
                <a:ea typeface="Inter" pitchFamily="34" charset="-122"/>
                <a:cs typeface="Inter" pitchFamily="34" charset="-120"/>
              </a:rPr>
              <a:t>are new</a:t>
            </a:r>
            <a:endParaRPr lang="en-US" sz="1600" dirty="0"/>
          </a:p>
        </p:txBody>
      </p:sp>
      <p:sp>
        <p:nvSpPr>
          <p:cNvPr id="15" name="Text 13"/>
          <p:cNvSpPr txBox="1"/>
          <p:nvPr/>
        </p:nvSpPr>
        <p:spPr>
          <a:xfrm>
            <a:off x="6035040" y="2578608"/>
            <a:ext cx="2606040" cy="320040"/>
          </a:xfrm>
          <a:prstGeom prst="rect">
            <a:avLst/>
          </a:prstGeom>
          <a:noFill/>
          <a:ln/>
        </p:spPr>
        <p:txBody>
          <a:bodyPr wrap="square" lIns="0" tIns="0" rIns="0" bIns="0" rtlCol="0" anchor="ctr"/>
          <a:lstStyle/>
          <a:p>
            <a:pPr algn="ctr" indent="0" marL="0">
              <a:buNone/>
            </a:pPr>
            <a:r>
              <a:rPr lang="en-US" sz="1250" dirty="0">
                <a:solidFill>
                  <a:srgbClr val="5B6778"/>
                </a:solidFill>
                <a:latin typeface="Inter" pitchFamily="34" charset="0"/>
                <a:ea typeface="Inter" pitchFamily="34" charset="-122"/>
                <a:cs typeface="Inter" pitchFamily="34" charset="-120"/>
              </a:rPr>
              <a:t>the next slide lists them</a:t>
            </a:r>
            <a:endParaRPr lang="en-US" sz="1250" dirty="0"/>
          </a:p>
        </p:txBody>
      </p:sp>
      <p:sp>
        <p:nvSpPr>
          <p:cNvPr id="16" name="Shape 14"/>
          <p:cNvSpPr/>
          <p:nvPr/>
        </p:nvSpPr>
        <p:spPr>
          <a:xfrm>
            <a:off x="457200" y="3200400"/>
            <a:ext cx="8229600" cy="777240"/>
          </a:xfrm>
          <a:prstGeom prst="roundRect">
            <a:avLst>
              <a:gd name="adj" fmla="val 11765"/>
            </a:avLst>
          </a:prstGeom>
          <a:solidFill>
            <a:srgbClr val="FFFFFF"/>
          </a:solidFill>
          <a:ln w="12700">
            <a:solidFill>
              <a:srgbClr val="DDE3EA"/>
            </a:solidFill>
            <a:prstDash val="solid"/>
          </a:ln>
        </p:spPr>
      </p:sp>
      <p:sp>
        <p:nvSpPr>
          <p:cNvPr id="17" name="Shape 15"/>
          <p:cNvSpPr/>
          <p:nvPr/>
        </p:nvSpPr>
        <p:spPr>
          <a:xfrm>
            <a:off x="640080" y="3364992"/>
            <a:ext cx="438912" cy="438912"/>
          </a:xfrm>
          <a:prstGeom prst="ellipse">
            <a:avLst/>
          </a:prstGeom>
          <a:solidFill>
            <a:srgbClr val="F5C800"/>
          </a:solidFill>
          <a:ln w="12700">
            <a:solidFill>
              <a:srgbClr val="F5C800"/>
            </a:solidFill>
            <a:prstDash val="solid"/>
          </a:ln>
        </p:spPr>
      </p:sp>
      <p:pic>
        <p:nvPicPr>
          <p:cNvPr id="18" name="Image 0" descr="preencoded.png">    </p:cNvPr>
          <p:cNvPicPr>
            <a:picLocks noChangeAspect="1"/>
          </p:cNvPicPr>
          <p:nvPr/>
        </p:nvPicPr>
        <p:blipFill>
          <a:blip r:embed="rId1"/>
          <a:stretch>
            <a:fillRect/>
          </a:stretch>
        </p:blipFill>
        <p:spPr>
          <a:xfrm>
            <a:off x="736641" y="3461553"/>
            <a:ext cx="245791" cy="245791"/>
          </a:xfrm>
          <a:prstGeom prst="rect">
            <a:avLst/>
          </a:prstGeom>
        </p:spPr>
      </p:pic>
      <p:sp>
        <p:nvSpPr>
          <p:cNvPr id="19" name="Text 16"/>
          <p:cNvSpPr txBox="1"/>
          <p:nvPr/>
        </p:nvSpPr>
        <p:spPr>
          <a:xfrm>
            <a:off x="1234440" y="3200400"/>
            <a:ext cx="7315200" cy="777240"/>
          </a:xfrm>
          <a:prstGeom prst="rect">
            <a:avLst/>
          </a:prstGeom>
          <a:noFill/>
          <a:ln/>
        </p:spPr>
        <p:txBody>
          <a:bodyPr wrap="square" lIns="0" tIns="0" rIns="0" bIns="0" rtlCol="0" anchor="ctr"/>
          <a:lstStyle/>
          <a:p>
            <a:pPr indent="0" marL="0">
              <a:buNone/>
            </a:pPr>
            <a:r>
              <a:rPr lang="en-US" sz="1400" b="1" dirty="0">
                <a:solidFill>
                  <a:srgbClr val="1E7B4B"/>
                </a:solidFill>
                <a:latin typeface="Inter" pitchFamily="34" charset="0"/>
                <a:ea typeface="Inter" pitchFamily="34" charset="-122"/>
                <a:cs typeface="Inter" pitchFamily="34" charset="-120"/>
              </a:rPr>
              <a:t>You work these today</a:t>
            </a:r>
            <a:endParaRPr lang="en-US" sz="1400" dirty="0"/>
          </a:p>
          <a:p>
            <a:pPr indent="0" marL="0">
              <a:buNone/>
            </a:pPr>
            <a:r>
              <a:rPr lang="en-US" sz="1400" dirty="0">
                <a:solidFill>
                  <a:srgbClr val="1B2533"/>
                </a:solidFill>
                <a:latin typeface="Inter" pitchFamily="34" charset="0"/>
                <a:ea typeface="Inter" pitchFamily="34" charset="-122"/>
                <a:cs typeface="Inter" pitchFamily="34" charset="-120"/>
              </a:rPr>
              <a:t>06:20–13:45 · 06:20–14:20 · 06:20–14:50 · 14:00–22:30 · 14:30–22:00</a:t>
            </a:r>
            <a:endParaRPr lang="en-US" sz="1400" dirty="0"/>
          </a:p>
        </p:txBody>
      </p:sp>
      <p:sp>
        <p:nvSpPr>
          <p:cNvPr id="20" name="Shape 17"/>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1" name="Text 18"/>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One fewer shift time than today (17, not 18) — but 12 are new, so there is more to learn.</a:t>
            </a:r>
            <a:endParaRPr lang="en-US" sz="1400" dirty="0"/>
          </a:p>
        </p:txBody>
      </p:sp>
      <p:sp>
        <p:nvSpPr>
          <p:cNvPr id="22" name="Text 19"/>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12 new times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By day, and how each one compares with today</a:t>
            </a:r>
            <a:endParaRPr lang="en-US" sz="1500" dirty="0"/>
          </a:p>
        </p:txBody>
      </p:sp>
      <p:sp>
        <p:nvSpPr>
          <p:cNvPr id="4" name="Shape 2"/>
          <p:cNvSpPr/>
          <p:nvPr/>
        </p:nvSpPr>
        <p:spPr>
          <a:xfrm>
            <a:off x="457200" y="1325880"/>
            <a:ext cx="2651760" cy="2697480"/>
          </a:xfrm>
          <a:prstGeom prst="roundRect">
            <a:avLst>
              <a:gd name="adj" fmla="val 3448"/>
            </a:avLst>
          </a:prstGeom>
          <a:solidFill>
            <a:srgbClr val="EEF2F7"/>
          </a:solidFill>
          <a:ln w="12700">
            <a:solidFill>
              <a:srgbClr val="EEF2F7"/>
            </a:solidFill>
            <a:prstDash val="solid"/>
          </a:ln>
        </p:spPr>
      </p:sp>
      <p:sp>
        <p:nvSpPr>
          <p:cNvPr id="5" name="Text 3"/>
          <p:cNvSpPr txBox="1"/>
          <p:nvPr/>
        </p:nvSpPr>
        <p:spPr>
          <a:xfrm>
            <a:off x="640080" y="1444752"/>
            <a:ext cx="2286000" cy="365760"/>
          </a:xfrm>
          <a:prstGeom prst="rect">
            <a:avLst/>
          </a:prstGeom>
          <a:noFill/>
          <a:ln/>
        </p:spPr>
        <p:txBody>
          <a:bodyPr wrap="square" lIns="0" tIns="0" rIns="0" bIns="0" rtlCol="0" anchor="ctr"/>
          <a:lstStyle/>
          <a:p>
            <a:pPr indent="0" marL="0">
              <a:buNone/>
            </a:pPr>
            <a:r>
              <a:rPr lang="en-US" sz="1600" b="1" dirty="0">
                <a:solidFill>
                  <a:srgbClr val="001E3C"/>
                </a:solidFill>
                <a:latin typeface="Inter" pitchFamily="34" charset="0"/>
                <a:ea typeface="Inter" pitchFamily="34" charset="-122"/>
                <a:cs typeface="Inter" pitchFamily="34" charset="-120"/>
              </a:rPr>
              <a:t>Weekdays</a:t>
            </a:r>
            <a:endParaRPr lang="en-US" sz="1600" dirty="0"/>
          </a:p>
        </p:txBody>
      </p:sp>
      <p:sp>
        <p:nvSpPr>
          <p:cNvPr id="6" name="Text 4"/>
          <p:cNvSpPr txBox="1"/>
          <p:nvPr/>
        </p:nvSpPr>
        <p:spPr>
          <a:xfrm>
            <a:off x="640080" y="1847088"/>
            <a:ext cx="2331720" cy="2130552"/>
          </a:xfrm>
          <a:prstGeom prst="rect">
            <a:avLst/>
          </a:prstGeom>
          <a:noFill/>
          <a:ln/>
        </p:spPr>
        <p:txBody>
          <a:bodyPr wrap="square" lIns="0" tIns="0" rIns="0" bIns="0" rtlCol="0" anchor="t"/>
          <a:lstStyle/>
          <a:p>
            <a:pPr indent="0" marL="0">
              <a:buNone/>
            </a:pPr>
            <a:r>
              <a:rPr lang="en-US" sz="1200" b="1" dirty="0">
                <a:solidFill>
                  <a:srgbClr val="1B2533"/>
                </a:solidFill>
                <a:latin typeface="Inter" pitchFamily="34" charset="0"/>
                <a:ea typeface="Inter" pitchFamily="34" charset="-122"/>
                <a:cs typeface="Inter" pitchFamily="34" charset="-120"/>
              </a:rPr>
              <a:t>06:20–14:30</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off at 14:30, not 14:20</a:t>
            </a:r>
            <a:endParaRPr lang="en-US" sz="1200" dirty="0"/>
          </a:p>
          <a:p>
            <a:pPr indent="0" marL="0">
              <a:buNone/>
            </a:pPr>
            <a:r>
              <a:rPr lang="en-US" sz="1200" b="1" dirty="0">
                <a:solidFill>
                  <a:srgbClr val="1B2533"/>
                </a:solidFill>
                <a:latin typeface="Inter" pitchFamily="34" charset="0"/>
                <a:ea typeface="Inter" pitchFamily="34" charset="-122"/>
                <a:cs typeface="Inter" pitchFamily="34" charset="-120"/>
              </a:rPr>
              <a:t>06:20–15:45</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a long early, 9h 25m</a:t>
            </a:r>
            <a:endParaRPr lang="en-US" sz="1200" dirty="0"/>
          </a:p>
          <a:p>
            <a:pPr indent="0" marL="0">
              <a:buNone/>
            </a:pPr>
            <a:r>
              <a:rPr lang="en-US" sz="1200" b="1" dirty="0">
                <a:solidFill>
                  <a:srgbClr val="1B2533"/>
                </a:solidFill>
                <a:latin typeface="Inter" pitchFamily="34" charset="0"/>
                <a:ea typeface="Inter" pitchFamily="34" charset="-122"/>
                <a:cs typeface="Inter" pitchFamily="34" charset="-120"/>
              </a:rPr>
              <a:t>07:00–16:15</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a new early, 9h 15m</a:t>
            </a:r>
            <a:endParaRPr lang="en-US" sz="1200" dirty="0"/>
          </a:p>
          <a:p>
            <a:pPr indent="0" marL="0">
              <a:buNone/>
            </a:pPr>
            <a:r>
              <a:rPr lang="en-US" sz="1200" b="1" dirty="0">
                <a:solidFill>
                  <a:srgbClr val="1B2533"/>
                </a:solidFill>
                <a:latin typeface="Inter" pitchFamily="34" charset="0"/>
                <a:ea typeface="Inter" pitchFamily="34" charset="-122"/>
                <a:cs typeface="Inter" pitchFamily="34" charset="-120"/>
              </a:rPr>
              <a:t>14:00–21:00</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a short late, 7h</a:t>
            </a:r>
            <a:endParaRPr lang="en-US" sz="1200" dirty="0"/>
          </a:p>
          <a:p>
            <a:pPr indent="0" marL="0">
              <a:buNone/>
            </a:pPr>
            <a:r>
              <a:rPr lang="en-US" sz="1200" b="1" dirty="0">
                <a:solidFill>
                  <a:srgbClr val="1B2533"/>
                </a:solidFill>
                <a:latin typeface="Inter" pitchFamily="34" charset="0"/>
                <a:ea typeface="Inter" pitchFamily="34" charset="-122"/>
                <a:cs typeface="Inter" pitchFamily="34" charset="-120"/>
              </a:rPr>
              <a:t>15:45–23:55</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the closer, 30 min later</a:t>
            </a:r>
            <a:endParaRPr lang="en-US" sz="1200" dirty="0"/>
          </a:p>
        </p:txBody>
      </p:sp>
      <p:sp>
        <p:nvSpPr>
          <p:cNvPr id="7" name="Shape 5"/>
          <p:cNvSpPr/>
          <p:nvPr/>
        </p:nvSpPr>
        <p:spPr>
          <a:xfrm>
            <a:off x="3246120" y="1325880"/>
            <a:ext cx="2651760" cy="2697480"/>
          </a:xfrm>
          <a:prstGeom prst="roundRect">
            <a:avLst>
              <a:gd name="adj" fmla="val 3448"/>
            </a:avLst>
          </a:prstGeom>
          <a:solidFill>
            <a:srgbClr val="EEF2F7"/>
          </a:solidFill>
          <a:ln w="12700">
            <a:solidFill>
              <a:srgbClr val="EEF2F7"/>
            </a:solidFill>
            <a:prstDash val="solid"/>
          </a:ln>
        </p:spPr>
      </p:sp>
      <p:sp>
        <p:nvSpPr>
          <p:cNvPr id="8" name="Text 6"/>
          <p:cNvSpPr txBox="1"/>
          <p:nvPr/>
        </p:nvSpPr>
        <p:spPr>
          <a:xfrm>
            <a:off x="3429000" y="1444752"/>
            <a:ext cx="2286000" cy="365760"/>
          </a:xfrm>
          <a:prstGeom prst="rect">
            <a:avLst/>
          </a:prstGeom>
          <a:noFill/>
          <a:ln/>
        </p:spPr>
        <p:txBody>
          <a:bodyPr wrap="square" lIns="0" tIns="0" rIns="0" bIns="0" rtlCol="0" anchor="ctr"/>
          <a:lstStyle/>
          <a:p>
            <a:pPr indent="0" marL="0">
              <a:buNone/>
            </a:pPr>
            <a:r>
              <a:rPr lang="en-US" sz="1600" b="1" dirty="0">
                <a:solidFill>
                  <a:srgbClr val="001E3C"/>
                </a:solidFill>
                <a:latin typeface="Inter" pitchFamily="34" charset="0"/>
                <a:ea typeface="Inter" pitchFamily="34" charset="-122"/>
                <a:cs typeface="Inter" pitchFamily="34" charset="-120"/>
              </a:rPr>
              <a:t>Saturday</a:t>
            </a:r>
            <a:endParaRPr lang="en-US" sz="1600" dirty="0"/>
          </a:p>
        </p:txBody>
      </p:sp>
      <p:sp>
        <p:nvSpPr>
          <p:cNvPr id="9" name="Text 7"/>
          <p:cNvSpPr txBox="1"/>
          <p:nvPr/>
        </p:nvSpPr>
        <p:spPr>
          <a:xfrm>
            <a:off x="3429000" y="1847088"/>
            <a:ext cx="2331720" cy="2130552"/>
          </a:xfrm>
          <a:prstGeom prst="rect">
            <a:avLst/>
          </a:prstGeom>
          <a:noFill/>
          <a:ln/>
        </p:spPr>
        <p:txBody>
          <a:bodyPr wrap="square" lIns="0" tIns="0" rIns="0" bIns="0" rtlCol="0" anchor="t"/>
          <a:lstStyle/>
          <a:p>
            <a:pPr indent="0" marL="0">
              <a:buNone/>
            </a:pPr>
            <a:r>
              <a:rPr lang="en-US" sz="1200" b="1" dirty="0">
                <a:solidFill>
                  <a:srgbClr val="1B2533"/>
                </a:solidFill>
                <a:latin typeface="Inter" pitchFamily="34" charset="0"/>
                <a:ea typeface="Inter" pitchFamily="34" charset="-122"/>
                <a:cs typeface="Inter" pitchFamily="34" charset="-120"/>
              </a:rPr>
              <a:t>06:20–15:30</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off at 15:30, not 14:50</a:t>
            </a:r>
            <a:endParaRPr lang="en-US" sz="1200" dirty="0"/>
          </a:p>
          <a:p>
            <a:pPr indent="0" marL="0">
              <a:buNone/>
            </a:pPr>
            <a:r>
              <a:rPr lang="en-US" sz="1200" b="1" dirty="0">
                <a:solidFill>
                  <a:srgbClr val="1B2533"/>
                </a:solidFill>
                <a:latin typeface="Inter" pitchFamily="34" charset="0"/>
                <a:ea typeface="Inter" pitchFamily="34" charset="-122"/>
                <a:cs typeface="Inter" pitchFamily="34" charset="-120"/>
              </a:rPr>
              <a:t>07:15–16:45</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a new early, 9h 30m</a:t>
            </a:r>
            <a:endParaRPr lang="en-US" sz="1200" dirty="0"/>
          </a:p>
          <a:p>
            <a:pPr indent="0" marL="0">
              <a:buNone/>
            </a:pPr>
            <a:r>
              <a:rPr lang="en-US" sz="1200" b="1" dirty="0">
                <a:solidFill>
                  <a:srgbClr val="1B2533"/>
                </a:solidFill>
                <a:latin typeface="Inter" pitchFamily="34" charset="0"/>
                <a:ea typeface="Inter" pitchFamily="34" charset="-122"/>
                <a:cs typeface="Inter" pitchFamily="34" charset="-120"/>
              </a:rPr>
              <a:t>14:45–22:45</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a new late, off by 22:45</a:t>
            </a:r>
            <a:endParaRPr lang="en-US" sz="1200" dirty="0"/>
          </a:p>
          <a:p>
            <a:pPr indent="0" marL="0">
              <a:buNone/>
            </a:pPr>
            <a:r>
              <a:rPr lang="en-US" sz="1200" b="1" dirty="0">
                <a:solidFill>
                  <a:srgbClr val="1B2533"/>
                </a:solidFill>
                <a:latin typeface="Inter" pitchFamily="34" charset="0"/>
                <a:ea typeface="Inter" pitchFamily="34" charset="-122"/>
                <a:cs typeface="Inter" pitchFamily="34" charset="-120"/>
              </a:rPr>
              <a:t>15:45–23:55</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the closer, an hour later</a:t>
            </a:r>
            <a:endParaRPr lang="en-US" sz="1200" dirty="0"/>
          </a:p>
        </p:txBody>
      </p:sp>
      <p:sp>
        <p:nvSpPr>
          <p:cNvPr id="10" name="Shape 8"/>
          <p:cNvSpPr/>
          <p:nvPr/>
        </p:nvSpPr>
        <p:spPr>
          <a:xfrm>
            <a:off x="6035040" y="1325880"/>
            <a:ext cx="2651760" cy="2697480"/>
          </a:xfrm>
          <a:prstGeom prst="roundRect">
            <a:avLst>
              <a:gd name="adj" fmla="val 3448"/>
            </a:avLst>
          </a:prstGeom>
          <a:solidFill>
            <a:srgbClr val="EEF2F7"/>
          </a:solidFill>
          <a:ln w="12700">
            <a:solidFill>
              <a:srgbClr val="EEF2F7"/>
            </a:solidFill>
            <a:prstDash val="solid"/>
          </a:ln>
        </p:spPr>
      </p:sp>
      <p:sp>
        <p:nvSpPr>
          <p:cNvPr id="11" name="Text 9"/>
          <p:cNvSpPr txBox="1"/>
          <p:nvPr/>
        </p:nvSpPr>
        <p:spPr>
          <a:xfrm>
            <a:off x="6217920" y="1444752"/>
            <a:ext cx="2286000" cy="365760"/>
          </a:xfrm>
          <a:prstGeom prst="rect">
            <a:avLst/>
          </a:prstGeom>
          <a:noFill/>
          <a:ln/>
        </p:spPr>
        <p:txBody>
          <a:bodyPr wrap="square" lIns="0" tIns="0" rIns="0" bIns="0" rtlCol="0" anchor="ctr"/>
          <a:lstStyle/>
          <a:p>
            <a:pPr indent="0" marL="0">
              <a:buNone/>
            </a:pPr>
            <a:r>
              <a:rPr lang="en-US" sz="1600" b="1" dirty="0">
                <a:solidFill>
                  <a:srgbClr val="001E3C"/>
                </a:solidFill>
                <a:latin typeface="Inter" pitchFamily="34" charset="0"/>
                <a:ea typeface="Inter" pitchFamily="34" charset="-122"/>
                <a:cs typeface="Inter" pitchFamily="34" charset="-120"/>
              </a:rPr>
              <a:t>Sunday</a:t>
            </a:r>
            <a:endParaRPr lang="en-US" sz="1600" dirty="0"/>
          </a:p>
        </p:txBody>
      </p:sp>
      <p:sp>
        <p:nvSpPr>
          <p:cNvPr id="12" name="Text 10"/>
          <p:cNvSpPr txBox="1"/>
          <p:nvPr/>
        </p:nvSpPr>
        <p:spPr>
          <a:xfrm>
            <a:off x="6217920" y="1847088"/>
            <a:ext cx="2331720" cy="2130552"/>
          </a:xfrm>
          <a:prstGeom prst="rect">
            <a:avLst/>
          </a:prstGeom>
          <a:noFill/>
          <a:ln/>
        </p:spPr>
        <p:txBody>
          <a:bodyPr wrap="square" lIns="0" tIns="0" rIns="0" bIns="0" rtlCol="0" anchor="t"/>
          <a:lstStyle/>
          <a:p>
            <a:pPr indent="0" marL="0">
              <a:buNone/>
            </a:pPr>
            <a:r>
              <a:rPr lang="en-US" sz="1200" b="1" dirty="0">
                <a:solidFill>
                  <a:srgbClr val="1B2533"/>
                </a:solidFill>
                <a:latin typeface="Inter" pitchFamily="34" charset="0"/>
                <a:ea typeface="Inter" pitchFamily="34" charset="-122"/>
                <a:cs typeface="Inter" pitchFamily="34" charset="-120"/>
              </a:rPr>
              <a:t>07:15–15:30</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the opener, 15 min shorter</a:t>
            </a:r>
            <a:endParaRPr lang="en-US" sz="1200" dirty="0"/>
          </a:p>
          <a:p>
            <a:pPr indent="0" marL="0">
              <a:buNone/>
            </a:pPr>
            <a:r>
              <a:rPr lang="en-US" sz="1200" b="1" dirty="0">
                <a:solidFill>
                  <a:srgbClr val="1B2533"/>
                </a:solidFill>
                <a:latin typeface="Inter" pitchFamily="34" charset="0"/>
                <a:ea typeface="Inter" pitchFamily="34" charset="-122"/>
                <a:cs typeface="Inter" pitchFamily="34" charset="-120"/>
              </a:rPr>
              <a:t>09:00–18:00</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a new early, 9 hours</a:t>
            </a:r>
            <a:endParaRPr lang="en-US" sz="1200" dirty="0"/>
          </a:p>
          <a:p>
            <a:pPr indent="0" marL="0">
              <a:buNone/>
            </a:pPr>
            <a:r>
              <a:rPr lang="en-US" sz="1200" b="1" dirty="0">
                <a:solidFill>
                  <a:srgbClr val="1B2533"/>
                </a:solidFill>
                <a:latin typeface="Inter" pitchFamily="34" charset="0"/>
                <a:ea typeface="Inter" pitchFamily="34" charset="-122"/>
                <a:cs typeface="Inter" pitchFamily="34" charset="-120"/>
              </a:rPr>
              <a:t>14:30–22:30</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the ticket-office late</a:t>
            </a:r>
            <a:endParaRPr lang="en-US" sz="1200" dirty="0"/>
          </a:p>
          <a:p>
            <a:pPr indent="0" marL="0">
              <a:buNone/>
            </a:pPr>
            <a:r>
              <a:rPr lang="en-US" sz="1200" b="1" dirty="0">
                <a:solidFill>
                  <a:srgbClr val="1B2533"/>
                </a:solidFill>
                <a:latin typeface="Inter" pitchFamily="34" charset="0"/>
                <a:ea typeface="Inter" pitchFamily="34" charset="-122"/>
                <a:cs typeface="Inter" pitchFamily="34" charset="-120"/>
              </a:rPr>
              <a:t>15:15–23:25</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the closer, 45 min later</a:t>
            </a:r>
            <a:endParaRPr lang="en-US" sz="1200" dirty="0"/>
          </a:p>
        </p:txBody>
      </p:sp>
      <p:sp>
        <p:nvSpPr>
          <p:cNvPr id="13" name="Shape 11"/>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4" name="Text 12"/>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Some are small nudges; some are genuinely new, including earlies of 9h 15m to 9h 30m.</a:t>
            </a:r>
            <a:endParaRPr lang="en-US" sz="1400" dirty="0"/>
          </a:p>
        </p:txBody>
      </p:sp>
      <p:sp>
        <p:nvSpPr>
          <p:cNvPr id="15" name="Text 1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Rest and weekends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biggest improvement over today</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Right Away</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Full weekends off</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in 20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 in 24</a:t>
            </a:r>
            <a:endParaRPr lang="en-US" sz="1800" dirty="0"/>
          </a:p>
        </p:txBody>
      </p:sp>
      <p:sp>
        <p:nvSpPr>
          <p:cNvPr id="10" name="Shape 8"/>
          <p:cNvSpPr/>
          <p:nvPr/>
        </p:nvSpPr>
        <p:spPr>
          <a:xfrm>
            <a:off x="457200" y="2258568"/>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585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worked in a row</a:t>
            </a:r>
            <a:endParaRPr lang="en-US" sz="1400" dirty="0"/>
          </a:p>
        </p:txBody>
      </p:sp>
      <p:sp>
        <p:nvSpPr>
          <p:cNvPr id="12" name="Text 10"/>
          <p:cNvSpPr txBox="1"/>
          <p:nvPr/>
        </p:nvSpPr>
        <p:spPr>
          <a:xfrm>
            <a:off x="4663440" y="22585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(up to 9)</a:t>
            </a:r>
            <a:endParaRPr lang="en-US" sz="1600" dirty="0"/>
          </a:p>
        </p:txBody>
      </p:sp>
      <p:sp>
        <p:nvSpPr>
          <p:cNvPr id="13" name="Text 11"/>
          <p:cNvSpPr txBox="1"/>
          <p:nvPr/>
        </p:nvSpPr>
        <p:spPr>
          <a:xfrm>
            <a:off x="6675120" y="22585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a:t>
            </a:r>
            <a:endParaRPr lang="en-US" sz="1800" dirty="0"/>
          </a:p>
        </p:txBody>
      </p:sp>
      <p:sp>
        <p:nvSpPr>
          <p:cNvPr id="14" name="Shape 12"/>
          <p:cNvSpPr/>
          <p:nvPr/>
        </p:nvSpPr>
        <p:spPr>
          <a:xfrm>
            <a:off x="457200" y="2715768"/>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7157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Rest-day breaks of two days or more</a:t>
            </a:r>
            <a:endParaRPr lang="en-US" sz="1400" dirty="0"/>
          </a:p>
        </p:txBody>
      </p:sp>
      <p:sp>
        <p:nvSpPr>
          <p:cNvPr id="16" name="Text 14"/>
          <p:cNvSpPr txBox="1"/>
          <p:nvPr/>
        </p:nvSpPr>
        <p:spPr>
          <a:xfrm>
            <a:off x="4663440" y="27157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13 of 17</a:t>
            </a:r>
            <a:endParaRPr lang="en-US" sz="1600" dirty="0"/>
          </a:p>
        </p:txBody>
      </p:sp>
      <p:sp>
        <p:nvSpPr>
          <p:cNvPr id="17" name="Text 15"/>
          <p:cNvSpPr txBox="1"/>
          <p:nvPr/>
        </p:nvSpPr>
        <p:spPr>
          <a:xfrm>
            <a:off x="6675120" y="27157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22 of 24</a:t>
            </a:r>
            <a:endParaRPr lang="en-US" sz="1800" dirty="0"/>
          </a:p>
        </p:txBody>
      </p:sp>
      <p:sp>
        <p:nvSpPr>
          <p:cNvPr id="18" name="Shape 16"/>
          <p:cNvSpPr/>
          <p:nvPr/>
        </p:nvSpPr>
        <p:spPr>
          <a:xfrm>
            <a:off x="457200" y="3172968"/>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729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663440" y="31729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675120" y="31729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05m</a:t>
            </a:r>
            <a:endParaRPr lang="en-US" sz="1800" dirty="0"/>
          </a:p>
        </p:txBody>
      </p:sp>
      <p:sp>
        <p:nvSpPr>
          <p:cNvPr id="22" name="Shape 20"/>
          <p:cNvSpPr/>
          <p:nvPr/>
        </p:nvSpPr>
        <p:spPr>
          <a:xfrm>
            <a:off x="457200" y="3630168"/>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6301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Weeks on one turn, Monday to Friday</a:t>
            </a:r>
            <a:endParaRPr lang="en-US" sz="1400" dirty="0"/>
          </a:p>
        </p:txBody>
      </p:sp>
      <p:sp>
        <p:nvSpPr>
          <p:cNvPr id="24" name="Text 22"/>
          <p:cNvSpPr txBox="1"/>
          <p:nvPr/>
        </p:nvSpPr>
        <p:spPr>
          <a:xfrm>
            <a:off x="4663440" y="36301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of 16</a:t>
            </a:r>
            <a:endParaRPr lang="en-US" sz="1600" dirty="0"/>
          </a:p>
        </p:txBody>
      </p:sp>
      <p:sp>
        <p:nvSpPr>
          <p:cNvPr id="25" name="Text 23"/>
          <p:cNvSpPr txBox="1"/>
          <p:nvPr/>
        </p:nvSpPr>
        <p:spPr>
          <a:xfrm>
            <a:off x="6675120" y="36301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 of 20</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Six weekends off in 24 weeks, never more than six days on, and more rest.</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Earlies, lates and Sundays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balance you have now stays the same</a:t>
            </a:r>
            <a:endParaRPr lang="en-US" sz="1500" dirty="0"/>
          </a:p>
        </p:txBody>
      </p:sp>
      <p:sp>
        <p:nvSpPr>
          <p:cNvPr id="4" name="Shape 2"/>
          <p:cNvSpPr/>
          <p:nvPr/>
        </p:nvSpPr>
        <p:spPr>
          <a:xfrm>
            <a:off x="457200" y="1417320"/>
            <a:ext cx="2606040" cy="2514600"/>
          </a:xfrm>
          <a:prstGeom prst="roundRect">
            <a:avLst>
              <a:gd name="adj" fmla="val 3636"/>
            </a:avLst>
          </a:prstGeom>
          <a:solidFill>
            <a:srgbClr val="EEF2F7"/>
          </a:solidFill>
          <a:ln w="12700">
            <a:solidFill>
              <a:srgbClr val="EEF2F7"/>
            </a:solidFill>
            <a:prstDash val="solid"/>
          </a:ln>
        </p:spPr>
      </p:sp>
      <p:sp>
        <p:nvSpPr>
          <p:cNvPr id="5" name="Shape 3"/>
          <p:cNvSpPr/>
          <p:nvPr/>
        </p:nvSpPr>
        <p:spPr>
          <a:xfrm>
            <a:off x="640080" y="1600200"/>
            <a:ext cx="502920" cy="502920"/>
          </a:xfrm>
          <a:prstGeom prst="ellipse">
            <a:avLst/>
          </a:prstGeom>
          <a:solidFill>
            <a:srgbClr val="F5C800"/>
          </a:solidFill>
          <a:ln w="12700">
            <a:solidFill>
              <a:srgbClr val="F5C800"/>
            </a:solidFill>
            <a:prstDash val="solid"/>
          </a:ln>
        </p:spPr>
      </p:sp>
      <p:pic>
        <p:nvPicPr>
          <p:cNvPr id="6" name="Image 0" descr="preencoded.png">    </p:cNvPr>
          <p:cNvPicPr>
            <a:picLocks noChangeAspect="1"/>
          </p:cNvPicPr>
          <p:nvPr/>
        </p:nvPicPr>
        <p:blipFill>
          <a:blip r:embed="rId1"/>
          <a:stretch>
            <a:fillRect/>
          </a:stretch>
        </p:blipFill>
        <p:spPr>
          <a:xfrm>
            <a:off x="750722" y="1710842"/>
            <a:ext cx="281635" cy="281635"/>
          </a:xfrm>
          <a:prstGeom prst="rect">
            <a:avLst/>
          </a:prstGeom>
        </p:spPr>
      </p:pic>
      <p:sp>
        <p:nvSpPr>
          <p:cNvPr id="7" name="Text 4"/>
          <p:cNvSpPr txBox="1"/>
          <p:nvPr/>
        </p:nvSpPr>
        <p:spPr>
          <a:xfrm>
            <a:off x="640080" y="2240280"/>
            <a:ext cx="2240280" cy="548640"/>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Half earlies, half lates</a:t>
            </a:r>
            <a:endParaRPr lang="en-US" sz="1600" dirty="0"/>
          </a:p>
        </p:txBody>
      </p:sp>
      <p:sp>
        <p:nvSpPr>
          <p:cNvPr id="8" name="Text 5"/>
          <p:cNvSpPr txBox="1"/>
          <p:nvPr/>
        </p:nvSpPr>
        <p:spPr>
          <a:xfrm>
            <a:off x="640080" y="2788920"/>
            <a:ext cx="2240280" cy="1097280"/>
          </a:xfrm>
          <a:prstGeom prst="rect">
            <a:avLst/>
          </a:prstGeom>
          <a:noFill/>
          <a:ln/>
        </p:spPr>
        <p:txBody>
          <a:bodyPr wrap="square" lIns="0" tIns="0" rIns="0" bIns="0" rtlCol="0" anchor="t"/>
          <a:lstStyle/>
          <a:p>
            <a:pPr indent="0" marL="0">
              <a:buNone/>
            </a:pPr>
            <a:r>
              <a:rPr lang="en-US" sz="1300" dirty="0">
                <a:solidFill>
                  <a:srgbClr val="5B6778"/>
                </a:solidFill>
                <a:latin typeface="Inter" pitchFamily="34" charset="0"/>
                <a:ea typeface="Inter" pitchFamily="34" charset="-122"/>
                <a:cs typeface="Inter" pitchFamily="34" charset="-120"/>
              </a:rPr>
              <a:t>The same split as today: every early Monday to Saturday is matched by a late.</a:t>
            </a:r>
            <a:endParaRPr lang="en-US" sz="1300" dirty="0"/>
          </a:p>
        </p:txBody>
      </p:sp>
      <p:sp>
        <p:nvSpPr>
          <p:cNvPr id="9" name="Shape 6"/>
          <p:cNvSpPr/>
          <p:nvPr/>
        </p:nvSpPr>
        <p:spPr>
          <a:xfrm>
            <a:off x="3246120" y="1417320"/>
            <a:ext cx="2606040" cy="2514600"/>
          </a:xfrm>
          <a:prstGeom prst="roundRect">
            <a:avLst>
              <a:gd name="adj" fmla="val 3636"/>
            </a:avLst>
          </a:prstGeom>
          <a:solidFill>
            <a:srgbClr val="EEF2F7"/>
          </a:solidFill>
          <a:ln w="12700">
            <a:solidFill>
              <a:srgbClr val="EEF2F7"/>
            </a:solidFill>
            <a:prstDash val="solid"/>
          </a:ln>
        </p:spPr>
      </p:sp>
      <p:sp>
        <p:nvSpPr>
          <p:cNvPr id="10" name="Shape 7"/>
          <p:cNvSpPr/>
          <p:nvPr/>
        </p:nvSpPr>
        <p:spPr>
          <a:xfrm>
            <a:off x="3429000" y="1600200"/>
            <a:ext cx="502920" cy="502920"/>
          </a:xfrm>
          <a:prstGeom prst="ellipse">
            <a:avLst/>
          </a:prstGeom>
          <a:solidFill>
            <a:srgbClr val="F5C800"/>
          </a:solidFill>
          <a:ln w="12700">
            <a:solidFill>
              <a:srgbClr val="F5C800"/>
            </a:solidFill>
            <a:prstDash val="solid"/>
          </a:ln>
        </p:spPr>
      </p:sp>
      <p:pic>
        <p:nvPicPr>
          <p:cNvPr id="11" name="Image 1" descr="preencoded.png">    </p:cNvPr>
          <p:cNvPicPr>
            <a:picLocks noChangeAspect="1"/>
          </p:cNvPicPr>
          <p:nvPr/>
        </p:nvPicPr>
        <p:blipFill>
          <a:blip r:embed="rId2"/>
          <a:stretch>
            <a:fillRect/>
          </a:stretch>
        </p:blipFill>
        <p:spPr>
          <a:xfrm>
            <a:off x="3539642" y="1710842"/>
            <a:ext cx="281635" cy="281635"/>
          </a:xfrm>
          <a:prstGeom prst="rect">
            <a:avLst/>
          </a:prstGeom>
        </p:spPr>
      </p:pic>
      <p:sp>
        <p:nvSpPr>
          <p:cNvPr id="12" name="Text 8"/>
          <p:cNvSpPr txBox="1"/>
          <p:nvPr/>
        </p:nvSpPr>
        <p:spPr>
          <a:xfrm>
            <a:off x="3429000" y="2240280"/>
            <a:ext cx="2240280" cy="548640"/>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Sundays are still overtime</a:t>
            </a:r>
            <a:endParaRPr lang="en-US" sz="1600" dirty="0"/>
          </a:p>
        </p:txBody>
      </p:sp>
      <p:sp>
        <p:nvSpPr>
          <p:cNvPr id="13" name="Text 9"/>
          <p:cNvSpPr txBox="1"/>
          <p:nvPr/>
        </p:nvSpPr>
        <p:spPr>
          <a:xfrm>
            <a:off x="3429000" y="2788920"/>
            <a:ext cx="2240280" cy="1097280"/>
          </a:xfrm>
          <a:prstGeom prst="rect">
            <a:avLst/>
          </a:prstGeom>
          <a:noFill/>
          <a:ln/>
        </p:spPr>
        <p:txBody>
          <a:bodyPr wrap="square" lIns="0" tIns="0" rIns="0" bIns="0" rtlCol="0" anchor="t"/>
          <a:lstStyle/>
          <a:p>
            <a:pPr indent="0" marL="0">
              <a:buNone/>
            </a:pPr>
            <a:r>
              <a:rPr lang="en-US" sz="1300" dirty="0">
                <a:solidFill>
                  <a:srgbClr val="5B6778"/>
                </a:solidFill>
                <a:latin typeface="Inter" pitchFamily="34" charset="0"/>
                <a:ea typeface="Inter" pitchFamily="34" charset="-122"/>
                <a:cs typeface="Inter" pitchFamily="34" charset="-120"/>
              </a:rPr>
              <a:t>Not part of the contract, same as now — and about the same number of Sundays as today.</a:t>
            </a:r>
            <a:endParaRPr lang="en-US" sz="1300" dirty="0"/>
          </a:p>
        </p:txBody>
      </p:sp>
      <p:sp>
        <p:nvSpPr>
          <p:cNvPr id="14" name="Shape 10"/>
          <p:cNvSpPr/>
          <p:nvPr/>
        </p:nvSpPr>
        <p:spPr>
          <a:xfrm>
            <a:off x="6035040" y="1417320"/>
            <a:ext cx="2606040" cy="2514600"/>
          </a:xfrm>
          <a:prstGeom prst="roundRect">
            <a:avLst>
              <a:gd name="adj" fmla="val 3636"/>
            </a:avLst>
          </a:prstGeom>
          <a:solidFill>
            <a:srgbClr val="EEF2F7"/>
          </a:solidFill>
          <a:ln w="12700">
            <a:solidFill>
              <a:srgbClr val="EEF2F7"/>
            </a:solidFill>
            <a:prstDash val="solid"/>
          </a:ln>
        </p:spPr>
      </p:sp>
      <p:sp>
        <p:nvSpPr>
          <p:cNvPr id="15" name="Shape 11"/>
          <p:cNvSpPr/>
          <p:nvPr/>
        </p:nvSpPr>
        <p:spPr>
          <a:xfrm>
            <a:off x="6217920" y="1600200"/>
            <a:ext cx="502920" cy="502920"/>
          </a:xfrm>
          <a:prstGeom prst="ellipse">
            <a:avLst/>
          </a:prstGeom>
          <a:solidFill>
            <a:srgbClr val="F5C800"/>
          </a:solidFill>
          <a:ln w="12700">
            <a:solidFill>
              <a:srgbClr val="F5C800"/>
            </a:solidFill>
            <a:prstDash val="solid"/>
          </a:ln>
        </p:spPr>
      </p:sp>
      <p:pic>
        <p:nvPicPr>
          <p:cNvPr id="16" name="Image 2" descr="preencoded.png">    </p:cNvPr>
          <p:cNvPicPr>
            <a:picLocks noChangeAspect="1"/>
          </p:cNvPicPr>
          <p:nvPr/>
        </p:nvPicPr>
        <p:blipFill>
          <a:blip r:embed="rId3"/>
          <a:stretch>
            <a:fillRect/>
          </a:stretch>
        </p:blipFill>
        <p:spPr>
          <a:xfrm>
            <a:off x="6328562" y="1710842"/>
            <a:ext cx="281635" cy="281635"/>
          </a:xfrm>
          <a:prstGeom prst="rect">
            <a:avLst/>
          </a:prstGeom>
        </p:spPr>
      </p:pic>
      <p:sp>
        <p:nvSpPr>
          <p:cNvPr id="17" name="Text 12"/>
          <p:cNvSpPr txBox="1"/>
          <p:nvPr/>
        </p:nvSpPr>
        <p:spPr>
          <a:xfrm>
            <a:off x="6217920" y="2240280"/>
            <a:ext cx="2240280" cy="548640"/>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Nobody past 23:25 on a Sunday</a:t>
            </a:r>
            <a:endParaRPr lang="en-US" sz="1600" dirty="0"/>
          </a:p>
        </p:txBody>
      </p:sp>
      <p:sp>
        <p:nvSpPr>
          <p:cNvPr id="18" name="Text 13"/>
          <p:cNvSpPr txBox="1"/>
          <p:nvPr/>
        </p:nvSpPr>
        <p:spPr>
          <a:xfrm>
            <a:off x="6217920" y="2788920"/>
            <a:ext cx="2240280" cy="1097280"/>
          </a:xfrm>
          <a:prstGeom prst="rect">
            <a:avLst/>
          </a:prstGeom>
          <a:noFill/>
          <a:ln/>
        </p:spPr>
        <p:txBody>
          <a:bodyPr wrap="square" lIns="0" tIns="0" rIns="0" bIns="0" rtlCol="0" anchor="t"/>
          <a:lstStyle/>
          <a:p>
            <a:pPr indent="0" marL="0">
              <a:buNone/>
            </a:pPr>
            <a:r>
              <a:rPr lang="en-US" sz="1300" dirty="0">
                <a:solidFill>
                  <a:srgbClr val="5B6778"/>
                </a:solidFill>
                <a:latin typeface="Inter" pitchFamily="34" charset="0"/>
                <a:ea typeface="Inter" pitchFamily="34" charset="-122"/>
                <a:cs typeface="Inter" pitchFamily="34" charset="-120"/>
              </a:rPr>
              <a:t>The Sunday finish stays where it is. That is agreed practice (settled 28 Sep 2026).</a:t>
            </a:r>
            <a:endParaRPr lang="en-US" sz="1300" dirty="0"/>
          </a:p>
        </p:txBody>
      </p:sp>
      <p:sp>
        <p:nvSpPr>
          <p:cNvPr id="19" name="Shape 1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0" name="Text 1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shift in the balance of earlies and lates. Sundays stay overtime and still finish at 23:25.</a:t>
            </a:r>
            <a:endParaRPr lang="en-US" sz="1400" dirty="0"/>
          </a:p>
        </p:txBody>
      </p:sp>
      <p:sp>
        <p:nvSpPr>
          <p:cNvPr id="21" name="Text 1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Booking leave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14 days of annual leave buys you, with Sundays off</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Right Away</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best place to book</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30</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28</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on average</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23.4</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23.6</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worst place</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19</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20</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Leave for four full weeks off, at best</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14</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15</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About the same. A cover week still counts as at most 4 days of leave, as now.</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More staff on the floor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More people rostered every day, at the open and the close</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Right Away</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weekday</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Saturday / Sunday</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10 / 8</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 / 10</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 in the fixed rota</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(up to 5)</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At least three rostered on the floor, and no avoidable fatigue warnings in the fixed rota.</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honest trade-offs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Nothing is free — here is what it costs</a:t>
            </a:r>
            <a:endParaRPr lang="en-US" sz="1500" dirty="0"/>
          </a:p>
        </p:txBody>
      </p:sp>
      <p:sp>
        <p:nvSpPr>
          <p:cNvPr id="4" name="Shape 2"/>
          <p:cNvSpPr/>
          <p:nvPr/>
        </p:nvSpPr>
        <p:spPr>
          <a:xfrm>
            <a:off x="457200" y="1371600"/>
            <a:ext cx="4023360" cy="975272"/>
          </a:xfrm>
          <a:prstGeom prst="roundRect">
            <a:avLst>
              <a:gd name="adj" fmla="val 9091"/>
            </a:avLst>
          </a:prstGeom>
          <a:solidFill>
            <a:srgbClr val="EEF2F7"/>
          </a:solidFill>
          <a:ln w="12700">
            <a:solidFill>
              <a:srgbClr val="EEF2F7"/>
            </a:solidFill>
            <a:prstDash val="solid"/>
          </a:ln>
        </p:spPr>
      </p:sp>
      <p:sp>
        <p:nvSpPr>
          <p:cNvPr id="5" name="Text 3"/>
          <p:cNvSpPr txBox="1"/>
          <p:nvPr/>
        </p:nvSpPr>
        <p:spPr>
          <a:xfrm>
            <a:off x="640080" y="1530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Twelve new shift times to learn</a:t>
            </a:r>
            <a:endParaRPr lang="en-US" sz="1400" dirty="0"/>
          </a:p>
        </p:txBody>
      </p:sp>
      <p:sp>
        <p:nvSpPr>
          <p:cNvPr id="6" name="Text 4"/>
          <p:cNvSpPr txBox="1"/>
          <p:nvPr/>
        </p:nvSpPr>
        <p:spPr>
          <a:xfrm>
            <a:off x="640080" y="1840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Five of today’s times stay — slide 9 lists the new.</a:t>
            </a:r>
            <a:endParaRPr lang="en-US" sz="1250" dirty="0"/>
          </a:p>
        </p:txBody>
      </p:sp>
      <p:sp>
        <p:nvSpPr>
          <p:cNvPr id="7" name="Shape 5"/>
          <p:cNvSpPr/>
          <p:nvPr/>
        </p:nvSpPr>
        <p:spPr>
          <a:xfrm>
            <a:off x="4663440" y="1371600"/>
            <a:ext cx="4023360" cy="975272"/>
          </a:xfrm>
          <a:prstGeom prst="roundRect">
            <a:avLst>
              <a:gd name="adj" fmla="val 9091"/>
            </a:avLst>
          </a:prstGeom>
          <a:solidFill>
            <a:srgbClr val="EEF2F7"/>
          </a:solidFill>
          <a:ln w="12700">
            <a:solidFill>
              <a:srgbClr val="EEF2F7"/>
            </a:solidFill>
            <a:prstDash val="solid"/>
          </a:ln>
        </p:spPr>
      </p:sp>
      <p:sp>
        <p:nvSpPr>
          <p:cNvPr id="8" name="Text 6"/>
          <p:cNvSpPr txBox="1"/>
          <p:nvPr/>
        </p:nvSpPr>
        <p:spPr>
          <a:xfrm>
            <a:off x="4846320" y="1530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Some longer earlies</a:t>
            </a:r>
            <a:endParaRPr lang="en-US" sz="1400" dirty="0"/>
          </a:p>
        </p:txBody>
      </p:sp>
      <p:sp>
        <p:nvSpPr>
          <p:cNvPr id="9" name="Text 7"/>
          <p:cNvSpPr txBox="1"/>
          <p:nvPr/>
        </p:nvSpPr>
        <p:spPr>
          <a:xfrm>
            <a:off x="4846320" y="1840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The longest shift is 9h 30m, a Saturday early (today 9h 10m).</a:t>
            </a:r>
            <a:endParaRPr lang="en-US" sz="1250" dirty="0"/>
          </a:p>
        </p:txBody>
      </p:sp>
      <p:sp>
        <p:nvSpPr>
          <p:cNvPr id="10" name="Shape 8"/>
          <p:cNvSpPr/>
          <p:nvPr/>
        </p:nvSpPr>
        <p:spPr>
          <a:xfrm>
            <a:off x="457200" y="2456600"/>
            <a:ext cx="4023360" cy="975272"/>
          </a:xfrm>
          <a:prstGeom prst="roundRect">
            <a:avLst>
              <a:gd name="adj" fmla="val 9091"/>
            </a:avLst>
          </a:prstGeom>
          <a:solidFill>
            <a:srgbClr val="EEF2F7"/>
          </a:solidFill>
          <a:ln w="12700">
            <a:solidFill>
              <a:srgbClr val="EEF2F7"/>
            </a:solidFill>
            <a:prstDash val="solid"/>
          </a:ln>
        </p:spPr>
      </p:sp>
      <p:sp>
        <p:nvSpPr>
          <p:cNvPr id="11" name="Text 9"/>
          <p:cNvSpPr txBox="1"/>
          <p:nvPr/>
        </p:nvSpPr>
        <p:spPr>
          <a:xfrm>
            <a:off x="640080" y="2615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Best leave stretch: 28 days, not 30</a:t>
            </a:r>
            <a:endParaRPr lang="en-US" sz="1400" dirty="0"/>
          </a:p>
        </p:txBody>
      </p:sp>
      <p:sp>
        <p:nvSpPr>
          <p:cNvPr id="12" name="Text 10"/>
          <p:cNvSpPr txBox="1"/>
          <p:nvPr/>
        </p:nvSpPr>
        <p:spPr>
          <a:xfrm>
            <a:off x="640080" y="2925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Average and worst: about the same as today.</a:t>
            </a:r>
            <a:endParaRPr lang="en-US" sz="1250" dirty="0"/>
          </a:p>
        </p:txBody>
      </p:sp>
      <p:sp>
        <p:nvSpPr>
          <p:cNvPr id="13" name="Shape 11"/>
          <p:cNvSpPr/>
          <p:nvPr/>
        </p:nvSpPr>
        <p:spPr>
          <a:xfrm>
            <a:off x="4663440" y="2456600"/>
            <a:ext cx="4023360" cy="975272"/>
          </a:xfrm>
          <a:prstGeom prst="roundRect">
            <a:avLst>
              <a:gd name="adj" fmla="val 9091"/>
            </a:avLst>
          </a:prstGeom>
          <a:solidFill>
            <a:srgbClr val="EEF2F7"/>
          </a:solidFill>
          <a:ln w="12700">
            <a:solidFill>
              <a:srgbClr val="EEF2F7"/>
            </a:solidFill>
            <a:prstDash val="solid"/>
          </a:ln>
        </p:spPr>
      </p:sp>
      <p:sp>
        <p:nvSpPr>
          <p:cNvPr id="14" name="Text 12"/>
          <p:cNvSpPr txBox="1"/>
          <p:nvPr/>
        </p:nvSpPr>
        <p:spPr>
          <a:xfrm>
            <a:off x="4846320" y="2615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Shifts 6 minutes longer on average</a:t>
            </a:r>
            <a:endParaRPr lang="en-US" sz="1400" dirty="0"/>
          </a:p>
        </p:txBody>
      </p:sp>
      <p:sp>
        <p:nvSpPr>
          <p:cNvPr id="15" name="Text 13"/>
          <p:cNvSpPr txBox="1"/>
          <p:nvPr/>
        </p:nvSpPr>
        <p:spPr>
          <a:xfrm>
            <a:off x="4846320" y="2925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That is what buys two fewer contracted days.</a:t>
            </a:r>
            <a:endParaRPr lang="en-US" sz="1250" dirty="0"/>
          </a:p>
        </p:txBody>
      </p:sp>
      <p:sp>
        <p:nvSpPr>
          <p:cNvPr id="16" name="Shape 14"/>
          <p:cNvSpPr/>
          <p:nvPr/>
        </p:nvSpPr>
        <p:spPr>
          <a:xfrm>
            <a:off x="457200" y="3541600"/>
            <a:ext cx="4023360" cy="975272"/>
          </a:xfrm>
          <a:prstGeom prst="roundRect">
            <a:avLst>
              <a:gd name="adj" fmla="val 9091"/>
            </a:avLst>
          </a:prstGeom>
          <a:solidFill>
            <a:srgbClr val="EEF2F7"/>
          </a:solidFill>
          <a:ln w="12700">
            <a:solidFill>
              <a:srgbClr val="EEF2F7"/>
            </a:solidFill>
            <a:prstDash val="solid"/>
          </a:ln>
        </p:spPr>
      </p:sp>
      <p:sp>
        <p:nvSpPr>
          <p:cNvPr id="17" name="Text 15"/>
          <p:cNvSpPr txBox="1"/>
          <p:nvPr/>
        </p:nvSpPr>
        <p:spPr>
          <a:xfrm>
            <a:off x="640080" y="3700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More late finishes</a:t>
            </a:r>
            <a:endParaRPr lang="en-US" sz="1400" dirty="0"/>
          </a:p>
        </p:txBody>
      </p:sp>
      <p:sp>
        <p:nvSpPr>
          <p:cNvPr id="18" name="Text 16"/>
          <p:cNvSpPr txBox="1"/>
          <p:nvPr/>
        </p:nvSpPr>
        <p:spPr>
          <a:xfrm>
            <a:off x="640080" y="4010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About 59 a year each at 23:00 or later on the fixed rota, against 39 today.</a:t>
            </a:r>
            <a:endParaRPr lang="en-US" sz="1250" dirty="0"/>
          </a:p>
        </p:txBody>
      </p:sp>
      <p:sp>
        <p:nvSpPr>
          <p:cNvPr id="19" name="Shape 17"/>
          <p:cNvSpPr/>
          <p:nvPr/>
        </p:nvSpPr>
        <p:spPr>
          <a:xfrm>
            <a:off x="4663440" y="3541600"/>
            <a:ext cx="4023360" cy="975272"/>
          </a:xfrm>
          <a:prstGeom prst="roundRect">
            <a:avLst>
              <a:gd name="adj" fmla="val 9091"/>
            </a:avLst>
          </a:prstGeom>
          <a:solidFill>
            <a:srgbClr val="EEF2F7"/>
          </a:solidFill>
          <a:ln w="12700">
            <a:solidFill>
              <a:srgbClr val="EEF2F7"/>
            </a:solidFill>
            <a:prstDash val="solid"/>
          </a:ln>
        </p:spPr>
      </p:sp>
      <p:sp>
        <p:nvSpPr>
          <p:cNvPr id="20" name="Text 18"/>
          <p:cNvSpPr txBox="1"/>
          <p:nvPr/>
        </p:nvSpPr>
        <p:spPr>
          <a:xfrm>
            <a:off x="4846320" y="3700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Still a proposal</a:t>
            </a:r>
            <a:endParaRPr lang="en-US" sz="1400" dirty="0"/>
          </a:p>
        </p:txBody>
      </p:sp>
      <p:sp>
        <p:nvSpPr>
          <p:cNvPr id="21" name="Text 19"/>
          <p:cNvSpPr txBox="1"/>
          <p:nvPr/>
        </p:nvSpPr>
        <p:spPr>
          <a:xfrm>
            <a:off x="4846320" y="4010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Your views count before a link is chosen, and who goes on which line is not decided.</a:t>
            </a:r>
            <a:endParaRPr lang="en-US" sz="1250" dirty="0"/>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At a glance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Today’s roster and Right Away, side by side</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840480"/>
                <a:gridCol w="2194560"/>
                <a:gridCol w="2194560"/>
              </a:tblGrid>
              <a:tr h="246888">
                <a:tc>
                  <a:txBody>
                    <a:bodyPr/>
                    <a:lstStyle/>
                    <a:p>
                      <a:pPr algn="ctr" indent="0" marL="0">
                        <a:buNone/>
                      </a:pP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Today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FFFFFF"/>
                          </a:solidFill>
                          <a:latin typeface="Inter" pitchFamily="34" charset="0"/>
                          <a:ea typeface="Inter" pitchFamily="34" charset="-122"/>
                          <a:cs typeface="Inter" pitchFamily="34" charset="-120"/>
                        </a:rPr>
                        <a:t>Right Away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001E3C"/>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hours a week</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days at work a year</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219</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217</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Average shift · longest shift</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14m · 9h 10m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 20m · 9h 30m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Closing shift: weekday · Saturday · Sunday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40m · 9h 10m · 8h 55m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 10m · 8h 10m · 8h 10m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Full weekends off</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4 in 20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6 in 24</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Most days worked in a row</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7 (up to 9)</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6</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Shortest gap between two shifts</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12h 30m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14h 05m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Different shift times</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18</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17 (5 you know)</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On duty weekday · Saturday · Sunday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11–12 · 10 · 8</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14 · 14 · 10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Avoidable fatigue warnings in the fixed rota</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4 (up to 5)</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bl>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fewer contracted days, shorter closers, more full weekends off.</a:t>
            </a:r>
            <a:endParaRPr lang="en-US" sz="1400" dirty="0"/>
          </a:p>
        </p:txBody>
      </p:sp>
      <p:sp>
        <p:nvSpPr>
          <p:cNvPr id="7" name="Text 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What happens next</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Look at the full proposal sheet — page 3 shows every week of the link</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Tell us what worries you, even if it is small</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Your feedback goes to the managers with the proposal</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200" dirty="0">
                <a:solidFill>
                  <a:srgbClr val="F5C800"/>
                </a:solidFill>
                <a:latin typeface="Inter" pitchFamily="34" charset="0"/>
                <a:ea typeface="Inter" pitchFamily="34" charset="-122"/>
                <a:cs typeface="Inter" pitchFamily="34" charset="-120"/>
              </a:rPr>
              <a:t>Right Away · FR-24-F34s · every figure worked out from the rota by the Marylebone Roster app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Right Away — the December 2026 link</dc:title>
  <dc:subject>PptxGenJS Presentation</dc:subject>
  <dc:creator>PptxGenJS</dc:creator>
  <cp:lastModifiedBy>PptxGenJS</cp:lastModifiedBy>
  <cp:revision>1</cp:revision>
  <dcterms:created xsi:type="dcterms:W3CDTF">2026-09-30T09:27:00Z</dcterms:created>
  <dcterms:modified xsi:type="dcterms:W3CDTF">2026-09-30T09:27:00Z</dcterms:modified>
</cp:coreProperties>
</file>